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5"/>
    <p:sldMasterId id="214748367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y="5143500" cx="9144000"/>
  <p:notesSz cx="6858000" cy="9144000"/>
  <p:embeddedFontLst>
    <p:embeddedFont>
      <p:font typeface="Roboto"/>
      <p:regular r:id="rId33"/>
      <p:bold r:id="rId34"/>
      <p:italic r:id="rId35"/>
      <p:boldItalic r:id="rId36"/>
    </p:embeddedFont>
    <p:embeddedFont>
      <p:font typeface="Quattrocento Sans"/>
      <p:regular r:id="rId37"/>
      <p:bold r:id="rId38"/>
      <p:italic r:id="rId39"/>
      <p:boldItalic r:id="rId40"/>
    </p:embeddedFont>
    <p:embeddedFont>
      <p:font typeface="Open Sans"/>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5E26657-C28D-4372-B35B-CF2A80E98938}">
  <a:tblStyle styleId="{55E26657-C28D-4372-B35B-CF2A80E9893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QuattrocentoSans-boldItalic.fntdata"/><Relationship Id="rId20" Type="http://schemas.openxmlformats.org/officeDocument/2006/relationships/slide" Target="slides/slide13.xml"/><Relationship Id="rId42" Type="http://schemas.openxmlformats.org/officeDocument/2006/relationships/font" Target="fonts/OpenSans-bold.fntdata"/><Relationship Id="rId41" Type="http://schemas.openxmlformats.org/officeDocument/2006/relationships/font" Target="fonts/OpenSans-regular.fntdata"/><Relationship Id="rId22" Type="http://schemas.openxmlformats.org/officeDocument/2006/relationships/slide" Target="slides/slide15.xml"/><Relationship Id="rId44" Type="http://schemas.openxmlformats.org/officeDocument/2006/relationships/font" Target="fonts/OpenSans-boldItalic.fntdata"/><Relationship Id="rId21" Type="http://schemas.openxmlformats.org/officeDocument/2006/relationships/slide" Target="slides/slide14.xml"/><Relationship Id="rId43" Type="http://schemas.openxmlformats.org/officeDocument/2006/relationships/font" Target="fonts/OpenSans-italic.fntdata"/><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Roboto-regular.fntdata"/><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font" Target="fonts/Roboto-italic.fntdata"/><Relationship Id="rId12" Type="http://schemas.openxmlformats.org/officeDocument/2006/relationships/slide" Target="slides/slide5.xml"/><Relationship Id="rId34" Type="http://schemas.openxmlformats.org/officeDocument/2006/relationships/font" Target="fonts/Roboto-bold.fntdata"/><Relationship Id="rId15" Type="http://schemas.openxmlformats.org/officeDocument/2006/relationships/slide" Target="slides/slide8.xml"/><Relationship Id="rId37" Type="http://schemas.openxmlformats.org/officeDocument/2006/relationships/font" Target="fonts/QuattrocentoSans-regular.fntdata"/><Relationship Id="rId14" Type="http://schemas.openxmlformats.org/officeDocument/2006/relationships/slide" Target="slides/slide7.xml"/><Relationship Id="rId36" Type="http://schemas.openxmlformats.org/officeDocument/2006/relationships/font" Target="fonts/Roboto-boldItalic.fntdata"/><Relationship Id="rId17" Type="http://schemas.openxmlformats.org/officeDocument/2006/relationships/slide" Target="slides/slide10.xml"/><Relationship Id="rId39" Type="http://schemas.openxmlformats.org/officeDocument/2006/relationships/font" Target="fonts/QuattrocentoSans-italic.fntdata"/><Relationship Id="rId16" Type="http://schemas.openxmlformats.org/officeDocument/2006/relationships/slide" Target="slides/slide9.xml"/><Relationship Id="rId38" Type="http://schemas.openxmlformats.org/officeDocument/2006/relationships/font" Target="fonts/QuattrocentoSans-bold.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43ba363ae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g343ba363ae9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g343ba363ae9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43ba363ae9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g343ba363ae9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g343ba363ae9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43ba363ae9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g343ba363ae9_0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343ba363ae9_0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43f194a595_0_28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a:solidFill>
                  <a:schemeClr val="dk1"/>
                </a:solidFill>
              </a:rPr>
              <a:t>Firstly, the </a:t>
            </a:r>
            <a:r>
              <a:rPr b="1" lang="es">
                <a:solidFill>
                  <a:schemeClr val="dk1"/>
                </a:solidFill>
              </a:rPr>
              <a:t>Organic, Company-Owned</a:t>
            </a:r>
            <a:r>
              <a:rPr lang="es">
                <a:solidFill>
                  <a:schemeClr val="dk1"/>
                </a:solidFill>
              </a:rPr>
              <a:t> option involves Porcini’s buying property, building the restaurants, and maintaining complete control over operations and brand quality. Growth, however, would be gradual due to higher capital demands.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Secondly, the </a:t>
            </a:r>
            <a:r>
              <a:rPr b="1" lang="es">
                <a:solidFill>
                  <a:schemeClr val="dk1"/>
                </a:solidFill>
              </a:rPr>
              <a:t>Syndication</a:t>
            </a:r>
            <a:r>
              <a:rPr lang="es">
                <a:solidFill>
                  <a:schemeClr val="dk1"/>
                </a:solidFill>
              </a:rPr>
              <a:t> approach has Porcini’s initially constructing the restaurants, then selling the properties to external investors while continuing to operate them. Investors own the real estate and receive property-related returns, while Porcini’s keeps operational profits and retains control of daily management.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Lastly, the </a:t>
            </a:r>
            <a:r>
              <a:rPr b="1" lang="es">
                <a:solidFill>
                  <a:schemeClr val="dk1"/>
                </a:solidFill>
              </a:rPr>
              <a:t>Franchising</a:t>
            </a:r>
            <a:r>
              <a:rPr lang="es">
                <a:solidFill>
                  <a:schemeClr val="dk1"/>
                </a:solidFill>
              </a:rPr>
              <a:t> model means franchisees independently fund, own, and operate the restaurants under Porcini’s brand guidelines. Porcini’s supports these franchisees by setting strict operational and quality standards and providing marketing resources, but franchisees handle all initial and ongoing expenses."</a:t>
            </a:r>
            <a:endParaRPr>
              <a:solidFill>
                <a:schemeClr val="dk1"/>
              </a:solidFill>
            </a:endParaRPr>
          </a:p>
          <a:p>
            <a:pPr indent="0" lvl="0" marL="0" rtl="0" algn="l">
              <a:lnSpc>
                <a:spcPct val="115000"/>
              </a:lnSpc>
              <a:spcBef>
                <a:spcPts val="1200"/>
              </a:spcBef>
              <a:spcAft>
                <a:spcPts val="0"/>
              </a:spcAft>
              <a:buNone/>
            </a:pPr>
            <a:r>
              <a:t/>
            </a:r>
            <a:endParaRPr b="1">
              <a:solidFill>
                <a:schemeClr val="dk1"/>
              </a:solidFill>
            </a:endParaRPr>
          </a:p>
        </p:txBody>
      </p:sp>
      <p:sp>
        <p:nvSpPr>
          <p:cNvPr id="180" name="Google Shape;180;g343f194a595_0_2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43f194a595_0_2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g343f194a595_0_2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g343f194a595_0_2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43ba363ae9_0_124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s">
                <a:solidFill>
                  <a:schemeClr val="dk1"/>
                </a:solidFill>
              </a:rPr>
              <a:t>Key Competitors for Pizzetta</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Direct Competitors: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National Pizza Chains Focused on Quick Service:</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s">
                <a:solidFill>
                  <a:schemeClr val="dk1"/>
                </a:solidFill>
              </a:rPr>
              <a:t>Domino’s (25 Locations in Charlotte)</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s">
                <a:solidFill>
                  <a:schemeClr val="dk1"/>
                </a:solidFill>
              </a:rPr>
              <a:t>Pizza Hut (18 Locations in Charlotte)</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s">
                <a:solidFill>
                  <a:schemeClr val="dk1"/>
                </a:solidFill>
              </a:rPr>
              <a:t>Papa John’s (18 Locations in Charlotte)</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s">
                <a:solidFill>
                  <a:schemeClr val="dk1"/>
                </a:solidFill>
              </a:rPr>
              <a:t>Little Caesars (8 Locations in Charlotte)</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298450" lvl="0" marL="914400" rtl="0" algn="l">
              <a:lnSpc>
                <a:spcPct val="115000"/>
              </a:lnSpc>
              <a:spcBef>
                <a:spcPts val="0"/>
              </a:spcBef>
              <a:spcAft>
                <a:spcPts val="0"/>
              </a:spcAft>
              <a:buClr>
                <a:schemeClr val="dk1"/>
              </a:buClr>
              <a:buSzPts val="1100"/>
              <a:buChar char="●"/>
            </a:pPr>
            <a:r>
              <a:rPr lang="es">
                <a:solidFill>
                  <a:schemeClr val="dk1"/>
                </a:solidFill>
              </a:rPr>
              <a:t>Regional/Local Pizza Chains:</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s">
                <a:solidFill>
                  <a:schemeClr val="dk1"/>
                </a:solidFill>
              </a:rPr>
              <a:t>Blaze Pizza (2 Locations in Charlotte)</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s">
                <a:solidFill>
                  <a:schemeClr val="dk1"/>
                </a:solidFill>
              </a:rPr>
              <a:t>Mellow Mushroom (2 Locations in Charlotte)</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s">
                <a:solidFill>
                  <a:schemeClr val="dk1"/>
                </a:solidFill>
              </a:rPr>
              <a:t>MOD Pizza (5 Locations in Charlotte)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Local (Independent) Pizzerias: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Aside from the 78 national and regional pizza chains within Charlotte, Pizzetta competes against locally owned independent pizzerias that may be more customer-service and authenticity-focused.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Indirect Competitors: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Sandwich/Sub Shops offer fast and casual dining options that could draw customers away from Pizzetta.</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s">
                <a:solidFill>
                  <a:schemeClr val="dk1"/>
                </a:solidFill>
              </a:rPr>
              <a:t>Subway (30 Locations in Charlotte)</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s">
                <a:solidFill>
                  <a:schemeClr val="dk1"/>
                </a:solidFill>
              </a:rPr>
              <a:t>Jimmy John’s (17 Locations in Charlotte)</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s">
                <a:solidFill>
                  <a:schemeClr val="dk1"/>
                </a:solidFill>
              </a:rPr>
              <a:t>Panera Bread (16 Locations in Charlotte)</a:t>
            </a:r>
            <a:endParaRPr>
              <a:solidFill>
                <a:schemeClr val="dk1"/>
              </a:solidFill>
            </a:endParaRPr>
          </a:p>
          <a:p>
            <a:pPr indent="-298450" lvl="0" marL="914400" rtl="0" algn="l">
              <a:lnSpc>
                <a:spcPct val="115000"/>
              </a:lnSpc>
              <a:spcBef>
                <a:spcPts val="0"/>
              </a:spcBef>
              <a:spcAft>
                <a:spcPts val="0"/>
              </a:spcAft>
              <a:buClr>
                <a:schemeClr val="dk1"/>
              </a:buClr>
              <a:buSzPts val="1100"/>
              <a:buChar char="●"/>
            </a:pPr>
            <a:r>
              <a:rPr lang="es">
                <a:solidFill>
                  <a:schemeClr val="dk1"/>
                </a:solidFill>
              </a:rPr>
              <a:t>Fast &amp; Casual Italian-Style Restaurants</a:t>
            </a:r>
            <a:endParaRPr>
              <a:solidFill>
                <a:schemeClr val="dk1"/>
              </a:solidFill>
            </a:endParaRPr>
          </a:p>
          <a:p>
            <a:pPr indent="-298450" lvl="1" marL="1371600" rtl="0" algn="l">
              <a:lnSpc>
                <a:spcPct val="115000"/>
              </a:lnSpc>
              <a:spcBef>
                <a:spcPts val="0"/>
              </a:spcBef>
              <a:spcAft>
                <a:spcPts val="0"/>
              </a:spcAft>
              <a:buClr>
                <a:schemeClr val="dk1"/>
              </a:buClr>
              <a:buSzPts val="1100"/>
              <a:buChar char="○"/>
            </a:pPr>
            <a:r>
              <a:rPr lang="es">
                <a:solidFill>
                  <a:schemeClr val="dk1"/>
                </a:solidFill>
              </a:rPr>
              <a:t>Olive Garden To-Go</a:t>
            </a:r>
            <a:endParaRPr>
              <a:solidFill>
                <a:schemeClr val="dk1"/>
              </a:solidFill>
            </a:endParaRPr>
          </a:p>
          <a:p>
            <a:pPr indent="-298450" lvl="0" marL="914400" rtl="0" algn="l">
              <a:lnSpc>
                <a:spcPct val="115000"/>
              </a:lnSpc>
              <a:spcBef>
                <a:spcPts val="0"/>
              </a:spcBef>
              <a:spcAft>
                <a:spcPts val="0"/>
              </a:spcAft>
              <a:buClr>
                <a:schemeClr val="dk1"/>
              </a:buClr>
              <a:buSzPts val="1100"/>
              <a:buChar char="●"/>
            </a:pPr>
            <a:r>
              <a:rPr lang="es">
                <a:solidFill>
                  <a:schemeClr val="dk1"/>
                </a:solidFill>
              </a:rPr>
              <a:t>Other Quick Eats</a:t>
            </a:r>
            <a:endParaRPr>
              <a:solidFill>
                <a:schemeClr val="dk1"/>
              </a:solidFill>
            </a:endParaRPr>
          </a:p>
          <a:p>
            <a:pPr indent="-298450" lvl="1" marL="1371600" rtl="0" algn="l">
              <a:lnSpc>
                <a:spcPct val="115000"/>
              </a:lnSpc>
              <a:spcBef>
                <a:spcPts val="0"/>
              </a:spcBef>
              <a:spcAft>
                <a:spcPts val="0"/>
              </a:spcAft>
              <a:buClr>
                <a:schemeClr val="dk1"/>
              </a:buClr>
              <a:buSzPts val="1100"/>
              <a:buChar char="○"/>
            </a:pPr>
            <a:r>
              <a:rPr lang="es">
                <a:solidFill>
                  <a:schemeClr val="dk1"/>
                </a:solidFill>
              </a:rPr>
              <a:t>Culver’s</a:t>
            </a:r>
            <a:endParaRPr>
              <a:solidFill>
                <a:schemeClr val="dk1"/>
              </a:solidFill>
            </a:endParaRPr>
          </a:p>
          <a:p>
            <a:pPr indent="-298450" lvl="1" marL="1371600" rtl="0" algn="l">
              <a:lnSpc>
                <a:spcPct val="115000"/>
              </a:lnSpc>
              <a:spcBef>
                <a:spcPts val="0"/>
              </a:spcBef>
              <a:spcAft>
                <a:spcPts val="0"/>
              </a:spcAft>
              <a:buClr>
                <a:schemeClr val="dk1"/>
              </a:buClr>
              <a:buSzPts val="1100"/>
              <a:buChar char="○"/>
            </a:pPr>
            <a:r>
              <a:rPr lang="es">
                <a:solidFill>
                  <a:schemeClr val="dk1"/>
                </a:solidFill>
              </a:rPr>
              <a:t>Cookout</a:t>
            </a:r>
            <a:endParaRPr>
              <a:solidFill>
                <a:schemeClr val="dk1"/>
              </a:solidFill>
            </a:endParaRPr>
          </a:p>
          <a:p>
            <a:pPr indent="-298450" lvl="1" marL="1371600" rtl="0" algn="l">
              <a:lnSpc>
                <a:spcPct val="115000"/>
              </a:lnSpc>
              <a:spcBef>
                <a:spcPts val="0"/>
              </a:spcBef>
              <a:spcAft>
                <a:spcPts val="0"/>
              </a:spcAft>
              <a:buClr>
                <a:schemeClr val="dk1"/>
              </a:buClr>
              <a:buSzPts val="1100"/>
              <a:buChar char="○"/>
            </a:pPr>
            <a:r>
              <a:rPr lang="es">
                <a:solidFill>
                  <a:schemeClr val="dk1"/>
                </a:solidFill>
              </a:rPr>
              <a:t>Bojangles</a:t>
            </a:r>
            <a:endParaRPr>
              <a:solidFill>
                <a:schemeClr val="dk1"/>
              </a:solidFill>
            </a:endParaRPr>
          </a:p>
          <a:p>
            <a:pPr indent="-298450" lvl="1" marL="1371600" rtl="0" algn="l">
              <a:lnSpc>
                <a:spcPct val="115000"/>
              </a:lnSpc>
              <a:spcBef>
                <a:spcPts val="0"/>
              </a:spcBef>
              <a:spcAft>
                <a:spcPts val="0"/>
              </a:spcAft>
              <a:buClr>
                <a:schemeClr val="dk1"/>
              </a:buClr>
              <a:buSzPts val="1100"/>
              <a:buChar char="○"/>
            </a:pPr>
            <a:r>
              <a:rPr lang="es">
                <a:solidFill>
                  <a:schemeClr val="dk1"/>
                </a:solidFill>
              </a:rPr>
              <a:t>In-n-Out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Local (Independent) Cafés and Delis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Pizzetta competes against locally owned cafés and delis that provide quick, local eats for the neighbourhood.</a:t>
            </a:r>
            <a:endParaRPr>
              <a:solidFill>
                <a:schemeClr val="dk1"/>
              </a:solidFill>
            </a:endParaRPr>
          </a:p>
          <a:p>
            <a:pPr indent="0" lvl="0" marL="0" rtl="0" algn="l">
              <a:spcBef>
                <a:spcPts val="0"/>
              </a:spcBef>
              <a:spcAft>
                <a:spcPts val="0"/>
              </a:spcAft>
              <a:buNone/>
            </a:pPr>
            <a:r>
              <a:t/>
            </a:r>
            <a:endParaRPr/>
          </a:p>
        </p:txBody>
      </p:sp>
      <p:sp>
        <p:nvSpPr>
          <p:cNvPr id="210" name="Google Shape;210;g343ba363ae9_0_12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43ba363ae9_8_41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s">
                <a:solidFill>
                  <a:schemeClr val="dk1"/>
                </a:solidFill>
              </a:rPr>
              <a:t>Shared Core Competencies</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Passion for Authentic Italian Cuisine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Martin Blair has a love for authentic Italian food. As a result, he has brought this cuisine back to the U.S. to share it with his local neighbourhood.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Focus on Customer Experience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Martin Blair has ensured that freshness and a positive and authentic environment are at the forefront of his businesses.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Strong Local Presence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The establishments had lines out the door, displaying the neighbourhood’s excitement about the new venues.</a:t>
            </a:r>
            <a:endParaRPr sz="1400">
              <a:solidFill>
                <a:schemeClr val="dk1"/>
              </a:solidFill>
            </a:endParaRPr>
          </a:p>
          <a:p>
            <a:pPr indent="0" lvl="0" marL="0" rtl="0" algn="l">
              <a:spcBef>
                <a:spcPts val="0"/>
              </a:spcBef>
              <a:spcAft>
                <a:spcPts val="0"/>
              </a:spcAft>
              <a:buNone/>
            </a:pPr>
            <a:r>
              <a:rPr b="1" lang="es" sz="1200">
                <a:solidFill>
                  <a:srgbClr val="404040"/>
                </a:solidFill>
                <a:latin typeface="Roboto"/>
                <a:ea typeface="Roboto"/>
                <a:cs typeface="Roboto"/>
                <a:sym typeface="Roboto"/>
              </a:rPr>
              <a:t>High-End Italian</a:t>
            </a:r>
            <a:r>
              <a:rPr lang="es" sz="1200">
                <a:solidFill>
                  <a:srgbClr val="404040"/>
                </a:solidFill>
                <a:latin typeface="Roboto"/>
                <a:ea typeface="Roboto"/>
                <a:cs typeface="Roboto"/>
                <a:sym typeface="Roboto"/>
              </a:rPr>
              <a:t>: Sophisticated, authentic dining for affluent neighborhoods and special occasions.</a:t>
            </a:r>
            <a:endParaRPr sz="1200">
              <a:solidFill>
                <a:srgbClr val="404040"/>
              </a:solidFill>
              <a:latin typeface="Roboto"/>
              <a:ea typeface="Roboto"/>
              <a:cs typeface="Roboto"/>
              <a:sym typeface="Roboto"/>
            </a:endParaRPr>
          </a:p>
          <a:p>
            <a:pPr indent="0" lvl="0" marL="0" rtl="0" algn="l">
              <a:spcBef>
                <a:spcPts val="0"/>
              </a:spcBef>
              <a:spcAft>
                <a:spcPts val="0"/>
              </a:spcAft>
              <a:buNone/>
            </a:pPr>
            <a:r>
              <a:rPr b="1" lang="es" sz="1200">
                <a:solidFill>
                  <a:srgbClr val="404040"/>
                </a:solidFill>
                <a:latin typeface="Roboto"/>
                <a:ea typeface="Roboto"/>
                <a:cs typeface="Roboto"/>
                <a:sym typeface="Roboto"/>
              </a:rPr>
              <a:t>Casual Fast-Food Italian</a:t>
            </a:r>
            <a:r>
              <a:rPr lang="es" sz="1200">
                <a:solidFill>
                  <a:srgbClr val="404040"/>
                </a:solidFill>
                <a:latin typeface="Roboto"/>
                <a:ea typeface="Roboto"/>
                <a:cs typeface="Roboto"/>
                <a:sym typeface="Roboto"/>
              </a:rPr>
              <a:t>: Affordable, customizable meals for younger demographics and families seeking convenience.</a:t>
            </a:r>
            <a:endParaRPr sz="1200">
              <a:solidFill>
                <a:srgbClr val="404040"/>
              </a:solidFill>
              <a:latin typeface="Roboto"/>
              <a:ea typeface="Roboto"/>
              <a:cs typeface="Roboto"/>
              <a:sym typeface="Roboto"/>
            </a:endParaRPr>
          </a:p>
          <a:p>
            <a:pPr indent="0" lvl="0" marL="0" rtl="0" algn="l">
              <a:spcBef>
                <a:spcPts val="0"/>
              </a:spcBef>
              <a:spcAft>
                <a:spcPts val="0"/>
              </a:spcAft>
              <a:buNone/>
            </a:pPr>
            <a:r>
              <a:t/>
            </a:r>
            <a:endParaRPr sz="1200">
              <a:solidFill>
                <a:srgbClr val="404040"/>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b="1" lang="es">
                <a:solidFill>
                  <a:schemeClr val="dk1"/>
                </a:solidFill>
              </a:rPr>
              <a:t>ore Competencies of Pizzetta</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High-quality, freshly produced and sourced food.</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Pizzetta handmakes its food directly in front of the customer, using only the finest locally or artisanally produced ingredients.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Modern/Hip Atmosphere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Martin Blair created a space that displayed an atmosphere that mirrored the quality and uniqueness of his product.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Quick Service &amp; Affordable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Pizzetta focuses on being less expensive and keeps a simple operational strategy to increase efficiency and service times.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s">
                <a:solidFill>
                  <a:schemeClr val="dk1"/>
                </a:solidFill>
              </a:rPr>
              <a:t>Core Competencies of Viva Italia</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Authentic Italian Trattoria Experience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Martin Blair set out to create a restaurant replicating the atmosphere and preparation of Italian Trattoria restaurants, bringing the authentic Italian experience to the U.S.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Full-Day Operations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Like many restaurants in Italy, Martin Blair developed a menu that would work for breakfast, coffee, lunch and dinner. This allowed him to serve three meals daily while offering lighter options such as pastries and drinks.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Warm, Neighbourly Atmosphere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Real Italian trattorias are often seen as casual neighbourhood restaurants. Martin Blair has attempted to copy this feeling, bringing the warm environment home.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Operational Expertise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Hired a real chef, giving her 10% equity in the company to inspire her to help grow the business.</a:t>
            </a:r>
            <a:endParaRPr sz="1200">
              <a:solidFill>
                <a:srgbClr val="404040"/>
              </a:solidFill>
              <a:latin typeface="Roboto"/>
              <a:ea typeface="Roboto"/>
              <a:cs typeface="Roboto"/>
              <a:sym typeface="Roboto"/>
            </a:endParaRPr>
          </a:p>
        </p:txBody>
      </p:sp>
      <p:sp>
        <p:nvSpPr>
          <p:cNvPr id="237" name="Google Shape;237;g343ba363ae9_8_4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43ba363ae9_0_20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g343ba363ae9_0_20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g343ba363ae9_0_20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43ba363ae9_0_206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a:solidFill>
                  <a:schemeClr val="dk1"/>
                </a:solidFill>
              </a:rPr>
              <a:t>Firstly, the </a:t>
            </a:r>
            <a:r>
              <a:rPr b="1" lang="es">
                <a:solidFill>
                  <a:schemeClr val="dk1"/>
                </a:solidFill>
              </a:rPr>
              <a:t>Organic, Company-Owned</a:t>
            </a:r>
            <a:r>
              <a:rPr lang="es">
                <a:solidFill>
                  <a:schemeClr val="dk1"/>
                </a:solidFill>
              </a:rPr>
              <a:t> option involves Porcini’s buying property, building the restaurants, and maintaining complete control over operations and brand quality. Growth, however, would be gradual due to higher capital demands.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Secondly, the </a:t>
            </a:r>
            <a:r>
              <a:rPr b="1" lang="es">
                <a:solidFill>
                  <a:schemeClr val="dk1"/>
                </a:solidFill>
              </a:rPr>
              <a:t>Syndication</a:t>
            </a:r>
            <a:r>
              <a:rPr lang="es">
                <a:solidFill>
                  <a:schemeClr val="dk1"/>
                </a:solidFill>
              </a:rPr>
              <a:t> approach has Porcini’s initially constructing the restaurants, then selling the properties to external investors while continuing to operate them. Investors own the real estate and receive property-related returns, while Porcini’s keeps operational profits and retains control of daily management.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Lastly, the </a:t>
            </a:r>
            <a:r>
              <a:rPr b="1" lang="es">
                <a:solidFill>
                  <a:schemeClr val="dk1"/>
                </a:solidFill>
              </a:rPr>
              <a:t>Franchising</a:t>
            </a:r>
            <a:r>
              <a:rPr lang="es">
                <a:solidFill>
                  <a:schemeClr val="dk1"/>
                </a:solidFill>
              </a:rPr>
              <a:t> model means franchisees independently fund, own, and operate the restaurants under Porcini’s brand guidelines. Porcini’s supports these franchisees by setting strict operational and quality standards and providing marketing resources, but franchisees handle all initial and ongoing expenses."</a:t>
            </a:r>
            <a:endParaRPr>
              <a:solidFill>
                <a:schemeClr val="dk1"/>
              </a:solidFill>
            </a:endParaRPr>
          </a:p>
          <a:p>
            <a:pPr indent="0" lvl="0" marL="0" rtl="0" algn="l">
              <a:lnSpc>
                <a:spcPct val="115000"/>
              </a:lnSpc>
              <a:spcBef>
                <a:spcPts val="1200"/>
              </a:spcBef>
              <a:spcAft>
                <a:spcPts val="0"/>
              </a:spcAft>
              <a:buNone/>
            </a:pPr>
            <a:r>
              <a:t/>
            </a:r>
            <a:endParaRPr b="1">
              <a:solidFill>
                <a:schemeClr val="dk1"/>
              </a:solidFill>
            </a:endParaRPr>
          </a:p>
        </p:txBody>
      </p:sp>
      <p:sp>
        <p:nvSpPr>
          <p:cNvPr id="276" name="Google Shape;276;g343ba363ae9_0_20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43f194a595_0_11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a:solidFill>
                  <a:schemeClr val="dk1"/>
                </a:solidFill>
              </a:rPr>
              <a:t>Based on the decision matrix, I recommend </a:t>
            </a:r>
            <a:r>
              <a:rPr b="1" lang="es">
                <a:solidFill>
                  <a:schemeClr val="dk1"/>
                </a:solidFill>
              </a:rPr>
              <a:t>franchising</a:t>
            </a:r>
            <a:r>
              <a:rPr lang="es">
                <a:solidFill>
                  <a:schemeClr val="dk1"/>
                </a:solidFill>
              </a:rPr>
              <a:t> as the best strategic option for Porcini’s Pronto. While it offers lower operational control than company-owned sites, it excels where it matters most for this expansion: </a:t>
            </a:r>
            <a:r>
              <a:rPr b="1" lang="es">
                <a:solidFill>
                  <a:schemeClr val="dk1"/>
                </a:solidFill>
              </a:rPr>
              <a:t>speed and scalability</a:t>
            </a:r>
            <a:r>
              <a:rPr lang="es">
                <a:solidFill>
                  <a:schemeClr val="dk1"/>
                </a:solidFill>
              </a:rPr>
              <a:t>. Franchising allows rapid rollout along interstate highways, capturing time-sensitive traffic and building early brand presence.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It also minimizes capital intensity—critical for a company like Porcini’s with limited resources—enabling growth without tying up funds in property and construction. Although the profit margin is lower at 2%, the ability to scale quickly compensates by driving higher aggregate returns. this margin is also after tax, so the other ones may be lower.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Yes, brand consistency poses a risk due to lower operational control—but this can be mitigated through carefully designed contracts, strict quality standards, and close monitoring. In short, franchising balances financial prudence, market opportunity, and strategic growth—making it the best fit for achieving Porcini’s domestic expansion mandate.</a:t>
            </a:r>
            <a:endParaRPr>
              <a:solidFill>
                <a:schemeClr val="dk1"/>
              </a:solidFill>
            </a:endParaRPr>
          </a:p>
          <a:p>
            <a:pPr indent="0" lvl="0" marL="0" rtl="0" algn="l">
              <a:spcBef>
                <a:spcPts val="1200"/>
              </a:spcBef>
              <a:spcAft>
                <a:spcPts val="0"/>
              </a:spcAft>
              <a:buNone/>
            </a:pPr>
            <a:r>
              <a:t/>
            </a:r>
            <a:endParaRPr/>
          </a:p>
        </p:txBody>
      </p:sp>
      <p:sp>
        <p:nvSpPr>
          <p:cNvPr id="296" name="Google Shape;296;g343f194a595_0_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43ba363ae9_0_13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a:solidFill>
                  <a:schemeClr val="dk1"/>
                </a:solidFill>
              </a:rPr>
              <a:t>Based on the decision matrix, I recommend </a:t>
            </a:r>
            <a:r>
              <a:rPr b="1" lang="es">
                <a:solidFill>
                  <a:schemeClr val="dk1"/>
                </a:solidFill>
              </a:rPr>
              <a:t>franchising</a:t>
            </a:r>
            <a:r>
              <a:rPr lang="es">
                <a:solidFill>
                  <a:schemeClr val="dk1"/>
                </a:solidFill>
              </a:rPr>
              <a:t> as the best strategic option for Porcini’s Pronto. While it offers lower operational control than company-owned sites, it excels where it matters most for this expansion: </a:t>
            </a:r>
            <a:r>
              <a:rPr b="1" lang="es">
                <a:solidFill>
                  <a:schemeClr val="dk1"/>
                </a:solidFill>
              </a:rPr>
              <a:t>speed and scalability</a:t>
            </a:r>
            <a:r>
              <a:rPr lang="es">
                <a:solidFill>
                  <a:schemeClr val="dk1"/>
                </a:solidFill>
              </a:rPr>
              <a:t>. Franchising allows rapid rollout along interstate highways, capturing time-sensitive traffic and building early brand presence.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It also minimizes capital intensity—critical for a company like Porcini’s with limited resources—enabling growth without tying up funds in property and construction. Although the profit margin is lower at 2%, the ability to scale quickly compensates by driving higher aggregate returns. this margin is also after tax, so the other ones may be lower.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Yes, brand consistency poses a risk due to lower </a:t>
            </a:r>
            <a:r>
              <a:rPr lang="es">
                <a:solidFill>
                  <a:schemeClr val="dk1"/>
                </a:solidFill>
              </a:rPr>
              <a:t>operational</a:t>
            </a:r>
            <a:r>
              <a:rPr lang="es">
                <a:solidFill>
                  <a:schemeClr val="dk1"/>
                </a:solidFill>
              </a:rPr>
              <a:t> control—but this can be mitigated through carefully designed contracts, strict quality standards, and close monitoring. In short, franchising balances financial prudence, market opportunity, and strategic growth—making it the best fit for achieving Porcini’s domestic expansion mandate.</a:t>
            </a:r>
            <a:endParaRPr>
              <a:solidFill>
                <a:schemeClr val="dk1"/>
              </a:solidFill>
            </a:endParaRPr>
          </a:p>
          <a:p>
            <a:pPr indent="0" lvl="0" marL="0" rtl="0" algn="l">
              <a:spcBef>
                <a:spcPts val="1200"/>
              </a:spcBef>
              <a:spcAft>
                <a:spcPts val="0"/>
              </a:spcAft>
              <a:buNone/>
            </a:pPr>
            <a:r>
              <a:t/>
            </a:r>
            <a:endParaRPr/>
          </a:p>
        </p:txBody>
      </p:sp>
      <p:sp>
        <p:nvSpPr>
          <p:cNvPr id="341" name="Google Shape;341;g343ba363ae9_0_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43ba363ae9_0_21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g343ba363ae9_0_21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g343ba363ae9_0_21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43f194a595_0_15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a:solidFill>
                  <a:schemeClr val="dk1"/>
                </a:solidFill>
              </a:rPr>
              <a:t>Based on the decision matrix, I recommend </a:t>
            </a:r>
            <a:r>
              <a:rPr b="1" lang="es">
                <a:solidFill>
                  <a:schemeClr val="dk1"/>
                </a:solidFill>
              </a:rPr>
              <a:t>franchising</a:t>
            </a:r>
            <a:r>
              <a:rPr lang="es">
                <a:solidFill>
                  <a:schemeClr val="dk1"/>
                </a:solidFill>
              </a:rPr>
              <a:t> as the best strategic option for Porcini’s Pronto. While it offers lower operational control than company-owned sites, it excels where it matters most for this expansion: </a:t>
            </a:r>
            <a:r>
              <a:rPr b="1" lang="es">
                <a:solidFill>
                  <a:schemeClr val="dk1"/>
                </a:solidFill>
              </a:rPr>
              <a:t>speed and scalability</a:t>
            </a:r>
            <a:r>
              <a:rPr lang="es">
                <a:solidFill>
                  <a:schemeClr val="dk1"/>
                </a:solidFill>
              </a:rPr>
              <a:t>. Franchising allows rapid rollout along interstate highways, capturing time-sensitive traffic and building early brand presence.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It also minimizes capital intensity—critical for a company like Porcini’s with limited resources—enabling growth without tying up funds in property and construction. Although the profit margin is lower at 2%, the ability to scale quickly compensates by driving higher aggregate returns. this margin is also after tax, so the other ones may be lower.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Yes, brand consistency poses a risk due to lower operational control—but this can be mitigated through carefully designed contracts, strict quality standards, and close monitoring. In short, franchising balances financial prudence, market opportunity, and strategic growth—making it the best fit for achieving Porcini’s domestic expansion mandate.</a:t>
            </a:r>
            <a:endParaRPr>
              <a:solidFill>
                <a:schemeClr val="dk1"/>
              </a:solidFill>
            </a:endParaRPr>
          </a:p>
          <a:p>
            <a:pPr indent="0" lvl="0" marL="0" rtl="0" algn="l">
              <a:spcBef>
                <a:spcPts val="1200"/>
              </a:spcBef>
              <a:spcAft>
                <a:spcPts val="0"/>
              </a:spcAft>
              <a:buNone/>
            </a:pPr>
            <a:r>
              <a:t/>
            </a:r>
            <a:endParaRPr/>
          </a:p>
        </p:txBody>
      </p:sp>
      <p:sp>
        <p:nvSpPr>
          <p:cNvPr id="398" name="Google Shape;398;g343f194a595_0_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43f194a595_0_51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a:solidFill>
                  <a:schemeClr val="dk1"/>
                </a:solidFill>
              </a:rPr>
              <a:t>Based on the decision matrix, I recommend </a:t>
            </a:r>
            <a:r>
              <a:rPr b="1" lang="es">
                <a:solidFill>
                  <a:schemeClr val="dk1"/>
                </a:solidFill>
              </a:rPr>
              <a:t>franchising</a:t>
            </a:r>
            <a:r>
              <a:rPr lang="es">
                <a:solidFill>
                  <a:schemeClr val="dk1"/>
                </a:solidFill>
              </a:rPr>
              <a:t> as the best strategic option for Porcini’s Pronto. While it offers lower operational control than company-owned sites, it excels where it matters most for this expansion: </a:t>
            </a:r>
            <a:r>
              <a:rPr b="1" lang="es">
                <a:solidFill>
                  <a:schemeClr val="dk1"/>
                </a:solidFill>
              </a:rPr>
              <a:t>speed and scalability</a:t>
            </a:r>
            <a:r>
              <a:rPr lang="es">
                <a:solidFill>
                  <a:schemeClr val="dk1"/>
                </a:solidFill>
              </a:rPr>
              <a:t>. Franchising allows rapid rollout along interstate highways, capturing time-sensitive traffic and building early brand presence.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It also minimizes capital intensity—critical for a company like Porcini’s with limited resources—enabling growth without tying up funds in property and construction. Although the profit margin is lower at 2%, the ability to scale quickly compensates by driving higher aggregate returns. this margin is also after tax, so the other ones may be lower.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Yes, brand consistency poses a risk due to lower operational control—but this can be mitigated through carefully designed contracts, strict quality standards, and close monitoring. In short, franchising balances financial prudence, market opportunity, and strategic growth—making it the best fit for achieving Porcini’s domestic expansion mandate.</a:t>
            </a:r>
            <a:endParaRPr>
              <a:solidFill>
                <a:schemeClr val="dk1"/>
              </a:solidFill>
            </a:endParaRPr>
          </a:p>
          <a:p>
            <a:pPr indent="0" lvl="0" marL="0" rtl="0" algn="l">
              <a:spcBef>
                <a:spcPts val="1200"/>
              </a:spcBef>
              <a:spcAft>
                <a:spcPts val="0"/>
              </a:spcAft>
              <a:buNone/>
            </a:pPr>
            <a:r>
              <a:t/>
            </a:r>
            <a:endParaRPr/>
          </a:p>
        </p:txBody>
      </p:sp>
      <p:sp>
        <p:nvSpPr>
          <p:cNvPr id="444" name="Google Shape;444;g343f194a595_0_5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43f194a595_0_61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a:solidFill>
                  <a:schemeClr val="dk1"/>
                </a:solidFill>
              </a:rPr>
              <a:t>Based on the decision matrix, I recommend </a:t>
            </a:r>
            <a:r>
              <a:rPr b="1" lang="es">
                <a:solidFill>
                  <a:schemeClr val="dk1"/>
                </a:solidFill>
              </a:rPr>
              <a:t>franchising</a:t>
            </a:r>
            <a:r>
              <a:rPr lang="es">
                <a:solidFill>
                  <a:schemeClr val="dk1"/>
                </a:solidFill>
              </a:rPr>
              <a:t> as the best strategic option for Porcini’s Pronto. While it offers lower operational control than company-owned sites, it excels where it matters most for this expansion: </a:t>
            </a:r>
            <a:r>
              <a:rPr b="1" lang="es">
                <a:solidFill>
                  <a:schemeClr val="dk1"/>
                </a:solidFill>
              </a:rPr>
              <a:t>speed and scalability</a:t>
            </a:r>
            <a:r>
              <a:rPr lang="es">
                <a:solidFill>
                  <a:schemeClr val="dk1"/>
                </a:solidFill>
              </a:rPr>
              <a:t>. Franchising allows rapid rollout along interstate highways, capturing time-sensitive traffic and building early brand presence.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It also minimizes capital intensity—critical for a company like Porcini’s with limited resources—enabling growth without tying up funds in property and construction. Although the profit margin is lower at 2%, the ability to scale quickly compensates by driving higher aggregate returns. this margin is also after tax, so the other ones may be lower.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Yes, brand consistency poses a risk due to lower operational control—but this can be mitigated through carefully designed contracts, strict quality standards, and close monitoring. In short, franchising balances financial prudence, market opportunity, and strategic growth—making it the best fit for achieving Porcini’s domestic expansion mandate.</a:t>
            </a:r>
            <a:endParaRPr>
              <a:solidFill>
                <a:schemeClr val="dk1"/>
              </a:solidFill>
            </a:endParaRPr>
          </a:p>
          <a:p>
            <a:pPr indent="0" lvl="0" marL="0" rtl="0" algn="l">
              <a:spcBef>
                <a:spcPts val="1200"/>
              </a:spcBef>
              <a:spcAft>
                <a:spcPts val="0"/>
              </a:spcAft>
              <a:buNone/>
            </a:pPr>
            <a:r>
              <a:t/>
            </a:r>
            <a:endParaRPr/>
          </a:p>
        </p:txBody>
      </p:sp>
      <p:sp>
        <p:nvSpPr>
          <p:cNvPr id="460" name="Google Shape;460;g343f194a595_0_6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43ba363ae9_0_17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 name="Google Shape;481;g343ba363ae9_0_17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g343ba363ae9_0_17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43ba363ae9_0_2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 name="Google Shape;513;g343ba363ae9_0_21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4" name="Google Shape;514;g343ba363ae9_0_21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43ba363ae9_0_26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3" name="Google Shape;523;g343ba363ae9_0_26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 name="Google Shape;524;g343ba363ae9_0_26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43ba363ae9_0_2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g343ba363ae9_0_21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9" name="Google Shape;559;g343ba363ae9_0_21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43f194a595_0_3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g343f194a595_0_3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3" name="Google Shape;603;g343f194a595_0_3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43ba363ae9_0_27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g343ba363ae9_0_27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9" name="Google Shape;649;g343ba363ae9_0_27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43ba363ae9_0_27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343ba363ae9_0_27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43f194a595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343f194a595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43f194a595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343f194a595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43c9f332a7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s">
                <a:solidFill>
                  <a:schemeClr val="dk1"/>
                </a:solidFill>
              </a:rPr>
              <a:t>Shared Core Competencies</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Passion for Authentic Italian Cuisine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Martin Blair has a love for authentic Italian food. As a result, he has brought this cuisine back to the U.S. to share it with his local neighbourhood.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Focus on Customer Experience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Martin Blair has ensured that freshness and a positive and authentic environment are at the forefront of his businesses.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Strong Local Presence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The establishments had lines out the door, displaying the neighbourhood’s excitement about the new venues.</a:t>
            </a:r>
            <a:endParaRPr sz="1400">
              <a:solidFill>
                <a:schemeClr val="dk1"/>
              </a:solidFill>
            </a:endParaRPr>
          </a:p>
          <a:p>
            <a:pPr indent="0" lvl="0" marL="0" rtl="0" algn="l">
              <a:spcBef>
                <a:spcPts val="0"/>
              </a:spcBef>
              <a:spcAft>
                <a:spcPts val="0"/>
              </a:spcAft>
              <a:buNone/>
            </a:pPr>
            <a:r>
              <a:rPr b="1" lang="es" sz="1200">
                <a:solidFill>
                  <a:srgbClr val="404040"/>
                </a:solidFill>
                <a:latin typeface="Roboto"/>
                <a:ea typeface="Roboto"/>
                <a:cs typeface="Roboto"/>
                <a:sym typeface="Roboto"/>
              </a:rPr>
              <a:t>High-End Italian</a:t>
            </a:r>
            <a:r>
              <a:rPr lang="es" sz="1200">
                <a:solidFill>
                  <a:srgbClr val="404040"/>
                </a:solidFill>
                <a:latin typeface="Roboto"/>
                <a:ea typeface="Roboto"/>
                <a:cs typeface="Roboto"/>
                <a:sym typeface="Roboto"/>
              </a:rPr>
              <a:t>: Sophisticated, authentic dining for affluent neighborhoods and special occasions.</a:t>
            </a:r>
            <a:endParaRPr sz="1200">
              <a:solidFill>
                <a:srgbClr val="404040"/>
              </a:solidFill>
              <a:latin typeface="Roboto"/>
              <a:ea typeface="Roboto"/>
              <a:cs typeface="Roboto"/>
              <a:sym typeface="Roboto"/>
            </a:endParaRPr>
          </a:p>
          <a:p>
            <a:pPr indent="0" lvl="0" marL="0" rtl="0" algn="l">
              <a:spcBef>
                <a:spcPts val="0"/>
              </a:spcBef>
              <a:spcAft>
                <a:spcPts val="0"/>
              </a:spcAft>
              <a:buNone/>
            </a:pPr>
            <a:r>
              <a:rPr b="1" lang="es" sz="1200">
                <a:solidFill>
                  <a:srgbClr val="404040"/>
                </a:solidFill>
                <a:latin typeface="Roboto"/>
                <a:ea typeface="Roboto"/>
                <a:cs typeface="Roboto"/>
                <a:sym typeface="Roboto"/>
              </a:rPr>
              <a:t>Casual Fast-Food Italian</a:t>
            </a:r>
            <a:r>
              <a:rPr lang="es" sz="1200">
                <a:solidFill>
                  <a:srgbClr val="404040"/>
                </a:solidFill>
                <a:latin typeface="Roboto"/>
                <a:ea typeface="Roboto"/>
                <a:cs typeface="Roboto"/>
                <a:sym typeface="Roboto"/>
              </a:rPr>
              <a:t>: Affordable, customizable meals for younger demographics and families seeking convenience.</a:t>
            </a:r>
            <a:endParaRPr sz="1200">
              <a:solidFill>
                <a:srgbClr val="404040"/>
              </a:solidFill>
              <a:latin typeface="Roboto"/>
              <a:ea typeface="Roboto"/>
              <a:cs typeface="Roboto"/>
              <a:sym typeface="Roboto"/>
            </a:endParaRPr>
          </a:p>
          <a:p>
            <a:pPr indent="0" lvl="0" marL="0" rtl="0" algn="l">
              <a:spcBef>
                <a:spcPts val="0"/>
              </a:spcBef>
              <a:spcAft>
                <a:spcPts val="0"/>
              </a:spcAft>
              <a:buNone/>
            </a:pPr>
            <a:r>
              <a:t/>
            </a:r>
            <a:endParaRPr sz="1200">
              <a:solidFill>
                <a:srgbClr val="404040"/>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b="1" lang="es">
                <a:solidFill>
                  <a:schemeClr val="dk1"/>
                </a:solidFill>
              </a:rPr>
              <a:t>ore Competencies of Pizzetta</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High-quality, freshly produced and sourced food.</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Pizzetta handmakes its food directly in front of the customer, using only the finest locally or artisanally produced ingredients.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Modern/Hip Atmosphere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Martin Blair created a space that displayed an atmosphere that mirrored the quality and uniqueness of his product.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Quick Service &amp; Affordable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Pizzetta focuses on being less expensive and keeps a simple operational strategy to increase efficiency and service times.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s">
                <a:solidFill>
                  <a:schemeClr val="dk1"/>
                </a:solidFill>
              </a:rPr>
              <a:t>Core Competencies of Viva Italia</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Authentic Italian Trattoria Experience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Martin Blair set out to create a restaurant replicating the atmosphere and preparation of Italian Trattoria restaurants, bringing the authentic Italian experience to the U.S.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Full-Day Operations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Like many restaurants in Italy, Martin Blair developed a menu that would work for breakfast, coffee, lunch and dinner. This allowed him to serve three meals daily while offering lighter options such as pastries and drinks.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Warm, Neighbourly Atmosphere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Real Italian trattorias are often seen as casual neighbourhood restaurants. Martin Blair has attempted to copy this feeling, bringing the warm environment home.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Operational Expertise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Hired a real chef, giving her 10% equity in the company to inspire her to help grow the business.</a:t>
            </a:r>
            <a:endParaRPr sz="1200">
              <a:solidFill>
                <a:srgbClr val="404040"/>
              </a:solidFill>
              <a:latin typeface="Roboto"/>
              <a:ea typeface="Roboto"/>
              <a:cs typeface="Roboto"/>
              <a:sym typeface="Roboto"/>
            </a:endParaRPr>
          </a:p>
        </p:txBody>
      </p:sp>
      <p:sp>
        <p:nvSpPr>
          <p:cNvPr id="698" name="Google Shape;698;g343c9f332a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2" name="Google Shape;52;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3" name="Google Shape;53;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4" name="Google Shape;54;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
        <p:nvSpPr>
          <p:cNvPr id="55" name="Google Shape;55;p13"/>
          <p:cNvSpPr txBox="1"/>
          <p:nvPr/>
        </p:nvSpPr>
        <p:spPr>
          <a:xfrm>
            <a:off x="1216650" y="4733800"/>
            <a:ext cx="7298700" cy="27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000">
                <a:solidFill>
                  <a:schemeClr val="dk2"/>
                </a:solidFill>
              </a:rPr>
              <a:t>Analysis      Recommendations    Implementation &amp; Impact </a:t>
            </a:r>
            <a:endParaRPr sz="1000">
              <a:solidFill>
                <a:schemeClr val="dk2"/>
              </a:solidFill>
            </a:endParaRPr>
          </a:p>
        </p:txBody>
      </p:sp>
      <p:pic>
        <p:nvPicPr>
          <p:cNvPr id="56" name="Google Shape;56;p13"/>
          <p:cNvPicPr preferRelativeResize="0"/>
          <p:nvPr/>
        </p:nvPicPr>
        <p:blipFill>
          <a:blip r:embed="rId2">
            <a:alphaModFix/>
          </a:blip>
          <a:stretch>
            <a:fillRect/>
          </a:stretch>
        </p:blipFill>
        <p:spPr>
          <a:xfrm>
            <a:off x="7891907" y="64125"/>
            <a:ext cx="1188000" cy="742507"/>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1" name="Shape 61"/>
        <p:cNvGrpSpPr/>
        <p:nvPr/>
      </p:nvGrpSpPr>
      <p:grpSpPr>
        <a:xfrm>
          <a:off x="0" y="0"/>
          <a:ext cx="0" cy="0"/>
          <a:chOff x="0" y="0"/>
          <a:chExt cx="0" cy="0"/>
        </a:xfrm>
      </p:grpSpPr>
      <p:sp>
        <p:nvSpPr>
          <p:cNvPr id="62" name="Google Shape;62;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63" name="Google Shape;63;p1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5" name="Shape 65"/>
        <p:cNvGrpSpPr/>
        <p:nvPr/>
      </p:nvGrpSpPr>
      <p:grpSpPr>
        <a:xfrm>
          <a:off x="0" y="0"/>
          <a:ext cx="0" cy="0"/>
          <a:chOff x="0" y="0"/>
          <a:chExt cx="0" cy="0"/>
        </a:xfrm>
      </p:grpSpPr>
      <p:sp>
        <p:nvSpPr>
          <p:cNvPr id="66" name="Google Shape;66;p1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7" name="Google Shape;67;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8" name="Shape 68"/>
        <p:cNvGrpSpPr/>
        <p:nvPr/>
      </p:nvGrpSpPr>
      <p:grpSpPr>
        <a:xfrm>
          <a:off x="0" y="0"/>
          <a:ext cx="0" cy="0"/>
          <a:chOff x="0" y="0"/>
          <a:chExt cx="0" cy="0"/>
        </a:xfrm>
      </p:grpSpPr>
      <p:sp>
        <p:nvSpPr>
          <p:cNvPr id="69" name="Google Shape;69;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0" name="Google Shape;7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1" name="Google Shape;71;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2" name="Shape 72"/>
        <p:cNvGrpSpPr/>
        <p:nvPr/>
      </p:nvGrpSpPr>
      <p:grpSpPr>
        <a:xfrm>
          <a:off x="0" y="0"/>
          <a:ext cx="0" cy="0"/>
          <a:chOff x="0" y="0"/>
          <a:chExt cx="0" cy="0"/>
        </a:xfrm>
      </p:grpSpPr>
      <p:sp>
        <p:nvSpPr>
          <p:cNvPr id="73" name="Google Shape;73;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4" name="Google Shape;74;p18"/>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5" name="Google Shape;75;p18"/>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 name="Shape 77"/>
        <p:cNvGrpSpPr/>
        <p:nvPr/>
      </p:nvGrpSpPr>
      <p:grpSpPr>
        <a:xfrm>
          <a:off x="0" y="0"/>
          <a:ext cx="0" cy="0"/>
          <a:chOff x="0" y="0"/>
          <a:chExt cx="0" cy="0"/>
        </a:xfrm>
      </p:grpSpPr>
      <p:sp>
        <p:nvSpPr>
          <p:cNvPr id="78" name="Google Shape;78;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 name="Google Shape;79;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0" name="Shape 80"/>
        <p:cNvGrpSpPr/>
        <p:nvPr/>
      </p:nvGrpSpPr>
      <p:grpSpPr>
        <a:xfrm>
          <a:off x="0" y="0"/>
          <a:ext cx="0" cy="0"/>
          <a:chOff x="0" y="0"/>
          <a:chExt cx="0" cy="0"/>
        </a:xfrm>
      </p:grpSpPr>
      <p:sp>
        <p:nvSpPr>
          <p:cNvPr id="81" name="Google Shape;81;p20"/>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2" name="Google Shape;82;p20"/>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3" name="Google Shape;83;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4" name="Shape 84"/>
        <p:cNvGrpSpPr/>
        <p:nvPr/>
      </p:nvGrpSpPr>
      <p:grpSpPr>
        <a:xfrm>
          <a:off x="0" y="0"/>
          <a:ext cx="0" cy="0"/>
          <a:chOff x="0" y="0"/>
          <a:chExt cx="0" cy="0"/>
        </a:xfrm>
      </p:grpSpPr>
      <p:sp>
        <p:nvSpPr>
          <p:cNvPr id="85" name="Google Shape;85;p21"/>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86" name="Google Shape;8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7" name="Shape 87"/>
        <p:cNvGrpSpPr/>
        <p:nvPr/>
      </p:nvGrpSpPr>
      <p:grpSpPr>
        <a:xfrm>
          <a:off x="0" y="0"/>
          <a:ext cx="0" cy="0"/>
          <a:chOff x="0" y="0"/>
          <a:chExt cx="0" cy="0"/>
        </a:xfrm>
      </p:grpSpPr>
      <p:sp>
        <p:nvSpPr>
          <p:cNvPr id="88" name="Google Shape;88;p2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2"/>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90" name="Google Shape;90;p22"/>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1" name="Google Shape;91;p22"/>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2" name="Google Shape;92;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3" name="Shape 93"/>
        <p:cNvGrpSpPr/>
        <p:nvPr/>
      </p:nvGrpSpPr>
      <p:grpSpPr>
        <a:xfrm>
          <a:off x="0" y="0"/>
          <a:ext cx="0" cy="0"/>
          <a:chOff x="0" y="0"/>
          <a:chExt cx="0" cy="0"/>
        </a:xfrm>
      </p:grpSpPr>
      <p:sp>
        <p:nvSpPr>
          <p:cNvPr id="94" name="Google Shape;94;p23"/>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95" name="Google Shape;95;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6" name="Shape 96"/>
        <p:cNvGrpSpPr/>
        <p:nvPr/>
      </p:nvGrpSpPr>
      <p:grpSpPr>
        <a:xfrm>
          <a:off x="0" y="0"/>
          <a:ext cx="0" cy="0"/>
          <a:chOff x="0" y="0"/>
          <a:chExt cx="0" cy="0"/>
        </a:xfrm>
      </p:grpSpPr>
      <p:sp>
        <p:nvSpPr>
          <p:cNvPr id="97" name="Google Shape;97;p2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8" name="Google Shape;98;p24"/>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9" name="Google Shape;99;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0" name="Shape 100"/>
        <p:cNvGrpSpPr/>
        <p:nvPr/>
      </p:nvGrpSpPr>
      <p:grpSpPr>
        <a:xfrm>
          <a:off x="0" y="0"/>
          <a:ext cx="0" cy="0"/>
          <a:chOff x="0" y="0"/>
          <a:chExt cx="0" cy="0"/>
        </a:xfrm>
      </p:grpSpPr>
      <p:sp>
        <p:nvSpPr>
          <p:cNvPr id="101" name="Google Shape;101;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2" name="Shape 102"/>
        <p:cNvGrpSpPr/>
        <p:nvPr/>
      </p:nvGrpSpPr>
      <p:grpSpPr>
        <a:xfrm>
          <a:off x="0" y="0"/>
          <a:ext cx="0" cy="0"/>
          <a:chOff x="0" y="0"/>
          <a:chExt cx="0" cy="0"/>
        </a:xfrm>
      </p:grpSpPr>
      <p:sp>
        <p:nvSpPr>
          <p:cNvPr id="103" name="Google Shape;103;p26"/>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104" name="Google Shape;104;p2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05" name="Google Shape;105;p2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06" name="Google Shape;106;p2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
        <p:nvSpPr>
          <p:cNvPr id="107" name="Google Shape;107;p26"/>
          <p:cNvSpPr txBox="1"/>
          <p:nvPr/>
        </p:nvSpPr>
        <p:spPr>
          <a:xfrm>
            <a:off x="1216650" y="4733800"/>
            <a:ext cx="7298700" cy="27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000">
                <a:solidFill>
                  <a:schemeClr val="dk2"/>
                </a:solidFill>
              </a:rPr>
              <a:t>Analysis      Recommendations    Implementation &amp; Impact </a:t>
            </a:r>
            <a:endParaRPr sz="1000">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1.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7" name="Shape 57"/>
        <p:cNvGrpSpPr/>
        <p:nvPr/>
      </p:nvGrpSpPr>
      <p:grpSpPr>
        <a:xfrm>
          <a:off x="0" y="0"/>
          <a:ext cx="0" cy="0"/>
          <a:chOff x="0" y="0"/>
          <a:chExt cx="0" cy="0"/>
        </a:xfrm>
      </p:grpSpPr>
      <p:sp>
        <p:nvSpPr>
          <p:cNvPr id="58" name="Google Shape;58;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9" name="Google Shape;59;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60" name="Google Shape;60;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5.png"/><Relationship Id="rId7"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5.png"/><Relationship Id="rId7"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14.png"/><Relationship Id="rId7"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29.png"/><Relationship Id="rId5"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3.jpg"/><Relationship Id="rId4" Type="http://schemas.openxmlformats.org/officeDocument/2006/relationships/slide" Target="/ppt/slides/slide6.xml"/><Relationship Id="rId5" Type="http://schemas.openxmlformats.org/officeDocument/2006/relationships/slide" Target="/ppt/slid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4.png"/><Relationship Id="rId4" Type="http://schemas.openxmlformats.org/officeDocument/2006/relationships/image" Target="../media/image19.png"/><Relationship Id="rId9" Type="http://schemas.openxmlformats.org/officeDocument/2006/relationships/image" Target="../media/image32.png"/><Relationship Id="rId5" Type="http://schemas.openxmlformats.org/officeDocument/2006/relationships/image" Target="../media/image22.png"/><Relationship Id="rId6" Type="http://schemas.openxmlformats.org/officeDocument/2006/relationships/image" Target="../media/image25.png"/><Relationship Id="rId7" Type="http://schemas.openxmlformats.org/officeDocument/2006/relationships/image" Target="../media/image30.png"/><Relationship Id="rId8"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 Id="rId3" Type="http://schemas.openxmlformats.org/officeDocument/2006/relationships/image" Target="../media/image28.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4.xml"/><Relationship Id="rId3" Type="http://schemas.openxmlformats.org/officeDocument/2006/relationships/image" Target="../media/image31.png"/><Relationship Id="rId4" Type="http://schemas.openxmlformats.org/officeDocument/2006/relationships/image" Target="../media/image20.png"/><Relationship Id="rId5" Type="http://schemas.openxmlformats.org/officeDocument/2006/relationships/hyperlink" Target="https://www.statista.com/statistics/190318/economic-output-of-the-us-franchise-sector/" TargetMode="External"/><Relationship Id="rId6" Type="http://schemas.openxmlformats.org/officeDocument/2006/relationships/hyperlink" Target="https://www.statista.com/statistics/190317/number-of-employees-in-us-franchise-establishments/"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27" title="pexels-julianemonarifotografia-29546546.jpg"/>
          <p:cNvPicPr preferRelativeResize="0"/>
          <p:nvPr/>
        </p:nvPicPr>
        <p:blipFill rotWithShape="1">
          <a:blip r:embed="rId3">
            <a:alphaModFix/>
          </a:blip>
          <a:srcRect b="27610" l="0" r="4861" t="36926"/>
          <a:stretch/>
        </p:blipFill>
        <p:spPr>
          <a:xfrm>
            <a:off x="0" y="0"/>
            <a:ext cx="9196800" cy="5143501"/>
          </a:xfrm>
          <a:prstGeom prst="rect">
            <a:avLst/>
          </a:prstGeom>
          <a:noFill/>
          <a:ln>
            <a:noFill/>
          </a:ln>
        </p:spPr>
      </p:pic>
      <p:sp>
        <p:nvSpPr>
          <p:cNvPr id="114" name="Google Shape;114;p27"/>
          <p:cNvSpPr/>
          <p:nvPr/>
        </p:nvSpPr>
        <p:spPr>
          <a:xfrm>
            <a:off x="0" y="-304801"/>
            <a:ext cx="9196800" cy="5753100"/>
          </a:xfrm>
          <a:prstGeom prst="rect">
            <a:avLst/>
          </a:prstGeom>
          <a:solidFill>
            <a:schemeClr val="dk1">
              <a:alpha val="62750"/>
            </a:scheme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800"/>
              <a:buFont typeface="Arial"/>
              <a:buNone/>
            </a:pPr>
            <a:r>
              <a:t/>
            </a:r>
            <a:endParaRPr b="0" i="0" sz="800" u="none" cap="none" strike="noStrike">
              <a:solidFill>
                <a:srgbClr val="FFFFFF"/>
              </a:solidFill>
              <a:latin typeface="Calibri"/>
              <a:ea typeface="Calibri"/>
              <a:cs typeface="Calibri"/>
              <a:sym typeface="Calibri"/>
            </a:endParaRPr>
          </a:p>
        </p:txBody>
      </p:sp>
      <p:sp>
        <p:nvSpPr>
          <p:cNvPr id="115" name="Google Shape;115;p27"/>
          <p:cNvSpPr/>
          <p:nvPr/>
        </p:nvSpPr>
        <p:spPr>
          <a:xfrm>
            <a:off x="10550" y="330552"/>
            <a:ext cx="1485900" cy="435300"/>
          </a:xfrm>
          <a:prstGeom prst="rect">
            <a:avLst/>
          </a:prstGeom>
          <a:solidFill>
            <a:srgbClr val="004380">
              <a:alpha val="7532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6" name="Google Shape;116;p27"/>
          <p:cNvSpPr/>
          <p:nvPr/>
        </p:nvSpPr>
        <p:spPr>
          <a:xfrm>
            <a:off x="1496451" y="330553"/>
            <a:ext cx="37800" cy="435300"/>
          </a:xfrm>
          <a:prstGeom prst="rect">
            <a:avLst/>
          </a:prstGeom>
          <a:solidFill>
            <a:srgbClr val="0B539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7" name="Google Shape;117;p27"/>
          <p:cNvSpPr txBox="1"/>
          <p:nvPr/>
        </p:nvSpPr>
        <p:spPr>
          <a:xfrm>
            <a:off x="129305" y="330550"/>
            <a:ext cx="877800" cy="435300"/>
          </a:xfrm>
          <a:prstGeom prst="rect">
            <a:avLst/>
          </a:prstGeom>
          <a:noFill/>
          <a:ln>
            <a:noFill/>
          </a:ln>
        </p:spPr>
        <p:txBody>
          <a:bodyPr anchorCtr="0" anchor="ctr" bIns="68575" lIns="68575" spcFirstLastPara="1" rIns="68575" wrap="square" tIns="68575">
            <a:noAutofit/>
          </a:bodyPr>
          <a:lstStyle/>
          <a:p>
            <a:pPr indent="0" lvl="0" marL="0" marR="0" rtl="0" algn="l">
              <a:spcBef>
                <a:spcPts val="0"/>
              </a:spcBef>
              <a:spcAft>
                <a:spcPts val="0"/>
              </a:spcAft>
              <a:buClr>
                <a:srgbClr val="FFFFFF"/>
              </a:buClr>
              <a:buSzPts val="1500"/>
              <a:buFont typeface="Quattrocento Sans"/>
              <a:buNone/>
            </a:pPr>
            <a:r>
              <a:rPr b="1" lang="es" sz="1500">
                <a:solidFill>
                  <a:srgbClr val="FFFFFF"/>
                </a:solidFill>
                <a:latin typeface="Quattrocento Sans"/>
                <a:ea typeface="Quattrocento Sans"/>
                <a:cs typeface="Quattrocento Sans"/>
                <a:sym typeface="Quattrocento Sans"/>
              </a:rPr>
              <a:t>BCI II</a:t>
            </a:r>
            <a:endParaRPr sz="1100"/>
          </a:p>
        </p:txBody>
      </p:sp>
      <p:sp>
        <p:nvSpPr>
          <p:cNvPr id="118" name="Google Shape;118;p27"/>
          <p:cNvSpPr txBox="1"/>
          <p:nvPr/>
        </p:nvSpPr>
        <p:spPr>
          <a:xfrm>
            <a:off x="314044" y="1285145"/>
            <a:ext cx="8234700" cy="1221300"/>
          </a:xfrm>
          <a:prstGeom prst="rect">
            <a:avLst/>
          </a:prstGeom>
          <a:noFill/>
          <a:ln>
            <a:noFill/>
          </a:ln>
        </p:spPr>
        <p:txBody>
          <a:bodyPr anchorCtr="0" anchor="b" bIns="34275" lIns="68575" spcFirstLastPara="1" rIns="68575" wrap="square" tIns="34275">
            <a:normAutofit/>
          </a:bodyPr>
          <a:lstStyle/>
          <a:p>
            <a:pPr indent="0" lvl="0" marL="0" marR="0" rtl="0" algn="l">
              <a:lnSpc>
                <a:spcPct val="120000"/>
              </a:lnSpc>
              <a:spcBef>
                <a:spcPts val="0"/>
              </a:spcBef>
              <a:spcAft>
                <a:spcPts val="0"/>
              </a:spcAft>
              <a:buClr>
                <a:schemeClr val="lt1"/>
              </a:buClr>
              <a:buSzPts val="3000"/>
              <a:buFont typeface="Quattrocento Sans"/>
              <a:buNone/>
            </a:pPr>
            <a:r>
              <a:rPr b="1" lang="es" sz="3000">
                <a:solidFill>
                  <a:schemeClr val="lt1"/>
                </a:solidFill>
                <a:latin typeface="Quattrocento Sans"/>
                <a:ea typeface="Quattrocento Sans"/>
                <a:cs typeface="Quattrocento Sans"/>
                <a:sym typeface="Quattrocento Sans"/>
              </a:rPr>
              <a:t>Full Flavor, Half the Time: </a:t>
            </a:r>
            <a:endParaRPr b="1" sz="3000">
              <a:solidFill>
                <a:schemeClr val="lt1"/>
              </a:solidFill>
              <a:latin typeface="Quattrocento Sans"/>
              <a:ea typeface="Quattrocento Sans"/>
              <a:cs typeface="Quattrocento Sans"/>
              <a:sym typeface="Quattrocento Sans"/>
            </a:endParaRPr>
          </a:p>
          <a:p>
            <a:pPr indent="0" lvl="0" marL="0" marR="0" rtl="0" algn="l">
              <a:lnSpc>
                <a:spcPct val="120000"/>
              </a:lnSpc>
              <a:spcBef>
                <a:spcPts val="0"/>
              </a:spcBef>
              <a:spcAft>
                <a:spcPts val="0"/>
              </a:spcAft>
              <a:buClr>
                <a:schemeClr val="lt1"/>
              </a:buClr>
              <a:buSzPts val="3000"/>
              <a:buFont typeface="Quattrocento Sans"/>
              <a:buNone/>
            </a:pPr>
            <a:r>
              <a:rPr b="1" lang="es" sz="3000">
                <a:solidFill>
                  <a:schemeClr val="lt1"/>
                </a:solidFill>
                <a:latin typeface="Quattrocento Sans"/>
                <a:ea typeface="Quattrocento Sans"/>
                <a:cs typeface="Quattrocento Sans"/>
                <a:sym typeface="Quattrocento Sans"/>
              </a:rPr>
              <a:t>Scaling Porcini's Pronto for Maximum Returns</a:t>
            </a:r>
            <a:endParaRPr b="1" sz="1100"/>
          </a:p>
        </p:txBody>
      </p:sp>
      <p:cxnSp>
        <p:nvCxnSpPr>
          <p:cNvPr id="119" name="Google Shape;119;p27"/>
          <p:cNvCxnSpPr/>
          <p:nvPr/>
        </p:nvCxnSpPr>
        <p:spPr>
          <a:xfrm>
            <a:off x="314045" y="2691647"/>
            <a:ext cx="478500" cy="0"/>
          </a:xfrm>
          <a:prstGeom prst="straightConnector1">
            <a:avLst/>
          </a:prstGeom>
          <a:noFill/>
          <a:ln cap="flat" cmpd="sng" w="38100">
            <a:solidFill>
              <a:schemeClr val="lt1"/>
            </a:solidFill>
            <a:prstDash val="solid"/>
            <a:miter lim="800000"/>
            <a:headEnd len="sm" w="sm" type="none"/>
            <a:tailEnd len="sm" w="sm" type="none"/>
          </a:ln>
        </p:spPr>
      </p:cxnSp>
      <p:sp>
        <p:nvSpPr>
          <p:cNvPr id="120" name="Google Shape;120;p27"/>
          <p:cNvSpPr txBox="1"/>
          <p:nvPr/>
        </p:nvSpPr>
        <p:spPr>
          <a:xfrm>
            <a:off x="262075" y="2848850"/>
            <a:ext cx="7788600" cy="1532100"/>
          </a:xfrm>
          <a:prstGeom prst="rect">
            <a:avLst/>
          </a:prstGeom>
          <a:noFill/>
          <a:ln>
            <a:noFill/>
          </a:ln>
        </p:spPr>
        <p:txBody>
          <a:bodyPr anchorCtr="0" anchor="t" bIns="34275" lIns="68575" spcFirstLastPara="1" rIns="68575" wrap="square" tIns="34275">
            <a:noAutofit/>
          </a:bodyPr>
          <a:lstStyle/>
          <a:p>
            <a:pPr indent="0" lvl="0" marL="0" marR="0" rtl="0" algn="l">
              <a:lnSpc>
                <a:spcPct val="110000"/>
              </a:lnSpc>
              <a:spcBef>
                <a:spcPts val="0"/>
              </a:spcBef>
              <a:spcAft>
                <a:spcPts val="0"/>
              </a:spcAft>
              <a:buClr>
                <a:srgbClr val="FFFFFF"/>
              </a:buClr>
              <a:buSzPts val="1500"/>
              <a:buFont typeface="Arial"/>
              <a:buNone/>
            </a:pPr>
            <a:r>
              <a:rPr lang="es" sz="1500">
                <a:solidFill>
                  <a:srgbClr val="FFFFFF"/>
                </a:solidFill>
                <a:latin typeface="Quattrocento Sans"/>
                <a:ea typeface="Quattrocento Sans"/>
                <a:cs typeface="Quattrocento Sans"/>
                <a:sym typeface="Quattrocento Sans"/>
              </a:rPr>
              <a:t>How can Porcini drive domestic growth by launching Pronto, focusing on quick &amp; efficient, high quality food to travelers while achieving profitable returns?</a:t>
            </a:r>
            <a:endParaRPr sz="1500">
              <a:solidFill>
                <a:srgbClr val="FFFFFF"/>
              </a:solidFill>
              <a:latin typeface="Quattrocento Sans"/>
              <a:ea typeface="Quattrocento Sans"/>
              <a:cs typeface="Quattrocento Sans"/>
              <a:sym typeface="Quattrocento Sans"/>
            </a:endParaRPr>
          </a:p>
          <a:p>
            <a:pPr indent="0" lvl="0" marL="0" marR="0" rtl="0" algn="l">
              <a:lnSpc>
                <a:spcPct val="110000"/>
              </a:lnSpc>
              <a:spcBef>
                <a:spcPts val="0"/>
              </a:spcBef>
              <a:spcAft>
                <a:spcPts val="0"/>
              </a:spcAft>
              <a:buClr>
                <a:srgbClr val="FFFFFF"/>
              </a:buClr>
              <a:buSzPts val="1500"/>
              <a:buFont typeface="Arial"/>
              <a:buNone/>
            </a:pPr>
            <a:r>
              <a:rPr b="1" i="1" lang="es" sz="1500">
                <a:solidFill>
                  <a:srgbClr val="FFFFFF"/>
                </a:solidFill>
                <a:latin typeface="Quattrocento Sans"/>
                <a:ea typeface="Quattrocento Sans"/>
                <a:cs typeface="Quattrocento Sans"/>
                <a:sym typeface="Quattrocento Sans"/>
              </a:rPr>
              <a:t>Group 5</a:t>
            </a:r>
            <a:endParaRPr b="1" i="1" sz="1500">
              <a:solidFill>
                <a:srgbClr val="FFFFFF"/>
              </a:solidFill>
              <a:latin typeface="Quattrocento Sans"/>
              <a:ea typeface="Quattrocento Sans"/>
              <a:cs typeface="Quattrocento Sans"/>
              <a:sym typeface="Quattrocento Sans"/>
            </a:endParaRPr>
          </a:p>
        </p:txBody>
      </p:sp>
      <p:sp>
        <p:nvSpPr>
          <p:cNvPr id="121" name="Google Shape;121;p27"/>
          <p:cNvSpPr txBox="1"/>
          <p:nvPr>
            <p:ph idx="4294967295" type="sldNum"/>
          </p:nvPr>
        </p:nvSpPr>
        <p:spPr>
          <a:xfrm>
            <a:off x="6822737" y="4905545"/>
            <a:ext cx="2057400" cy="121200"/>
          </a:xfrm>
          <a:prstGeom prst="rect">
            <a:avLst/>
          </a:prstGeom>
          <a:noFill/>
          <a:ln>
            <a:noFill/>
          </a:ln>
        </p:spPr>
        <p:txBody>
          <a:bodyPr anchorCtr="0" anchor="ctr" bIns="34275" lIns="68575" spcFirstLastPara="1" rIns="68575" wrap="square" tIns="34275">
            <a:normAutofit fontScale="40000" lnSpcReduction="20000"/>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cxnSp>
        <p:nvCxnSpPr>
          <p:cNvPr id="127" name="Google Shape;127;p28"/>
          <p:cNvCxnSpPr/>
          <p:nvPr/>
        </p:nvCxnSpPr>
        <p:spPr>
          <a:xfrm>
            <a:off x="245255" y="1022997"/>
            <a:ext cx="1692000" cy="0"/>
          </a:xfrm>
          <a:prstGeom prst="straightConnector1">
            <a:avLst/>
          </a:prstGeom>
          <a:noFill/>
          <a:ln cap="flat" cmpd="sng" w="12700">
            <a:solidFill>
              <a:srgbClr val="073763"/>
            </a:solidFill>
            <a:prstDash val="solid"/>
            <a:miter lim="800000"/>
            <a:headEnd len="sm" w="sm" type="none"/>
            <a:tailEnd len="sm" w="sm" type="none"/>
          </a:ln>
        </p:spPr>
      </p:cxnSp>
      <p:sp>
        <p:nvSpPr>
          <p:cNvPr id="128" name="Google Shape;128;p28"/>
          <p:cNvSpPr txBox="1"/>
          <p:nvPr/>
        </p:nvSpPr>
        <p:spPr>
          <a:xfrm>
            <a:off x="245255" y="826244"/>
            <a:ext cx="13317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1200">
                <a:solidFill>
                  <a:schemeClr val="dk1"/>
                </a:solidFill>
                <a:latin typeface="Quattrocento Sans"/>
                <a:ea typeface="Quattrocento Sans"/>
                <a:cs typeface="Quattrocento Sans"/>
                <a:sym typeface="Quattrocento Sans"/>
              </a:rPr>
              <a:t>Key Issues </a:t>
            </a:r>
            <a:endParaRPr sz="1200">
              <a:solidFill>
                <a:schemeClr val="dk1"/>
              </a:solidFill>
              <a:latin typeface="Quattrocento Sans"/>
              <a:ea typeface="Quattrocento Sans"/>
              <a:cs typeface="Quattrocento Sans"/>
              <a:sym typeface="Quattrocento Sans"/>
            </a:endParaRPr>
          </a:p>
        </p:txBody>
      </p:sp>
      <p:cxnSp>
        <p:nvCxnSpPr>
          <p:cNvPr id="129" name="Google Shape;129;p28"/>
          <p:cNvCxnSpPr/>
          <p:nvPr/>
        </p:nvCxnSpPr>
        <p:spPr>
          <a:xfrm>
            <a:off x="2427657" y="1022997"/>
            <a:ext cx="1785900" cy="0"/>
          </a:xfrm>
          <a:prstGeom prst="straightConnector1">
            <a:avLst/>
          </a:prstGeom>
          <a:noFill/>
          <a:ln cap="flat" cmpd="sng" w="9525">
            <a:solidFill>
              <a:srgbClr val="073763"/>
            </a:solidFill>
            <a:prstDash val="solid"/>
            <a:miter lim="800000"/>
            <a:headEnd len="sm" w="sm" type="none"/>
            <a:tailEnd len="sm" w="sm" type="none"/>
          </a:ln>
        </p:spPr>
      </p:cxnSp>
      <p:sp>
        <p:nvSpPr>
          <p:cNvPr id="130" name="Google Shape;130;p28"/>
          <p:cNvSpPr txBox="1"/>
          <p:nvPr/>
        </p:nvSpPr>
        <p:spPr>
          <a:xfrm>
            <a:off x="2521463" y="826244"/>
            <a:ext cx="13317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1200">
                <a:solidFill>
                  <a:schemeClr val="dk1"/>
                </a:solidFill>
                <a:latin typeface="Quattrocento Sans"/>
                <a:ea typeface="Quattrocento Sans"/>
                <a:cs typeface="Quattrocento Sans"/>
                <a:sym typeface="Quattrocento Sans"/>
              </a:rPr>
              <a:t>Mandate </a:t>
            </a:r>
            <a:endParaRPr sz="1200">
              <a:solidFill>
                <a:schemeClr val="dk1"/>
              </a:solidFill>
              <a:latin typeface="Quattrocento Sans"/>
              <a:ea typeface="Quattrocento Sans"/>
              <a:cs typeface="Quattrocento Sans"/>
              <a:sym typeface="Quattrocento Sans"/>
            </a:endParaRPr>
          </a:p>
        </p:txBody>
      </p:sp>
      <p:cxnSp>
        <p:nvCxnSpPr>
          <p:cNvPr id="131" name="Google Shape;131;p28"/>
          <p:cNvCxnSpPr/>
          <p:nvPr/>
        </p:nvCxnSpPr>
        <p:spPr>
          <a:xfrm>
            <a:off x="4664150" y="1035084"/>
            <a:ext cx="1867200" cy="0"/>
          </a:xfrm>
          <a:prstGeom prst="straightConnector1">
            <a:avLst/>
          </a:prstGeom>
          <a:noFill/>
          <a:ln cap="flat" cmpd="sng" w="12700">
            <a:solidFill>
              <a:srgbClr val="073763"/>
            </a:solidFill>
            <a:prstDash val="solid"/>
            <a:miter lim="800000"/>
            <a:headEnd len="sm" w="sm" type="none"/>
            <a:tailEnd len="sm" w="sm" type="none"/>
          </a:ln>
        </p:spPr>
      </p:cxnSp>
      <p:sp>
        <p:nvSpPr>
          <p:cNvPr id="132" name="Google Shape;132;p28"/>
          <p:cNvSpPr txBox="1"/>
          <p:nvPr/>
        </p:nvSpPr>
        <p:spPr>
          <a:xfrm>
            <a:off x="4755854" y="838331"/>
            <a:ext cx="13317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1200">
                <a:solidFill>
                  <a:schemeClr val="dk1"/>
                </a:solidFill>
                <a:latin typeface="Quattrocento Sans"/>
                <a:ea typeface="Quattrocento Sans"/>
                <a:cs typeface="Quattrocento Sans"/>
                <a:sym typeface="Quattrocento Sans"/>
              </a:rPr>
              <a:t>Alternatives </a:t>
            </a:r>
            <a:r>
              <a:rPr lang="es" sz="1200">
                <a:solidFill>
                  <a:schemeClr val="dk1"/>
                </a:solidFill>
                <a:latin typeface="Quattrocento Sans"/>
                <a:ea typeface="Quattrocento Sans"/>
                <a:cs typeface="Quattrocento Sans"/>
                <a:sym typeface="Quattrocento Sans"/>
              </a:rPr>
              <a:t> </a:t>
            </a:r>
            <a:endParaRPr sz="1200">
              <a:solidFill>
                <a:schemeClr val="dk1"/>
              </a:solidFill>
              <a:latin typeface="Quattrocento Sans"/>
              <a:ea typeface="Quattrocento Sans"/>
              <a:cs typeface="Quattrocento Sans"/>
              <a:sym typeface="Quattrocento Sans"/>
            </a:endParaRPr>
          </a:p>
        </p:txBody>
      </p:sp>
      <p:cxnSp>
        <p:nvCxnSpPr>
          <p:cNvPr id="133" name="Google Shape;133;p28"/>
          <p:cNvCxnSpPr/>
          <p:nvPr/>
        </p:nvCxnSpPr>
        <p:spPr>
          <a:xfrm>
            <a:off x="7073877" y="1035084"/>
            <a:ext cx="1692000" cy="0"/>
          </a:xfrm>
          <a:prstGeom prst="straightConnector1">
            <a:avLst/>
          </a:prstGeom>
          <a:noFill/>
          <a:ln cap="flat" cmpd="sng" w="12700">
            <a:solidFill>
              <a:srgbClr val="073763"/>
            </a:solidFill>
            <a:prstDash val="solid"/>
            <a:miter lim="800000"/>
            <a:headEnd len="sm" w="sm" type="none"/>
            <a:tailEnd len="sm" w="sm" type="none"/>
          </a:ln>
        </p:spPr>
      </p:cxnSp>
      <p:sp>
        <p:nvSpPr>
          <p:cNvPr id="134" name="Google Shape;134;p28"/>
          <p:cNvSpPr txBox="1"/>
          <p:nvPr/>
        </p:nvSpPr>
        <p:spPr>
          <a:xfrm>
            <a:off x="7149146" y="838331"/>
            <a:ext cx="13317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1200">
                <a:solidFill>
                  <a:schemeClr val="dk1"/>
                </a:solidFill>
                <a:latin typeface="Quattrocento Sans"/>
                <a:ea typeface="Quattrocento Sans"/>
                <a:cs typeface="Quattrocento Sans"/>
                <a:sym typeface="Quattrocento Sans"/>
              </a:rPr>
              <a:t>Impact </a:t>
            </a:r>
            <a:endParaRPr sz="1200">
              <a:solidFill>
                <a:schemeClr val="dk1"/>
              </a:solidFill>
              <a:latin typeface="Quattrocento Sans"/>
              <a:ea typeface="Quattrocento Sans"/>
              <a:cs typeface="Quattrocento Sans"/>
              <a:sym typeface="Quattrocento Sans"/>
            </a:endParaRPr>
          </a:p>
        </p:txBody>
      </p:sp>
      <p:grpSp>
        <p:nvGrpSpPr>
          <p:cNvPr id="135" name="Google Shape;135;p28"/>
          <p:cNvGrpSpPr/>
          <p:nvPr/>
        </p:nvGrpSpPr>
        <p:grpSpPr>
          <a:xfrm>
            <a:off x="2035856" y="1156827"/>
            <a:ext cx="312075" cy="3492000"/>
            <a:chOff x="2913568" y="1797269"/>
            <a:chExt cx="416100" cy="4656000"/>
          </a:xfrm>
        </p:grpSpPr>
        <p:cxnSp>
          <p:nvCxnSpPr>
            <p:cNvPr id="136" name="Google Shape;136;p28"/>
            <p:cNvCxnSpPr/>
            <p:nvPr/>
          </p:nvCxnSpPr>
          <p:spPr>
            <a:xfrm>
              <a:off x="3121573" y="1797269"/>
              <a:ext cx="0" cy="4656000"/>
            </a:xfrm>
            <a:prstGeom prst="straightConnector1">
              <a:avLst/>
            </a:prstGeom>
            <a:noFill/>
            <a:ln cap="flat" cmpd="sng" w="19050">
              <a:solidFill>
                <a:schemeClr val="lt2"/>
              </a:solidFill>
              <a:prstDash val="solid"/>
              <a:miter lim="800000"/>
              <a:headEnd len="sm" w="sm" type="none"/>
              <a:tailEnd len="sm" w="sm" type="none"/>
            </a:ln>
          </p:spPr>
        </p:cxnSp>
        <p:sp>
          <p:nvSpPr>
            <p:cNvPr id="137" name="Google Shape;137;p28"/>
            <p:cNvSpPr/>
            <p:nvPr/>
          </p:nvSpPr>
          <p:spPr>
            <a:xfrm>
              <a:off x="2913568" y="3917306"/>
              <a:ext cx="416100" cy="416100"/>
            </a:xfrm>
            <a:prstGeom prst="ellipse">
              <a:avLst/>
            </a:prstGeom>
            <a:solidFill>
              <a:srgbClr val="07376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400">
                  <a:solidFill>
                    <a:schemeClr val="lt1"/>
                  </a:solidFill>
                  <a:latin typeface="Arial"/>
                  <a:ea typeface="Arial"/>
                  <a:cs typeface="Arial"/>
                  <a:sym typeface="Arial"/>
                </a:rPr>
                <a:t>&gt;</a:t>
              </a:r>
              <a:endParaRPr sz="1100"/>
            </a:p>
          </p:txBody>
        </p:sp>
      </p:grpSp>
      <p:grpSp>
        <p:nvGrpSpPr>
          <p:cNvPr id="138" name="Google Shape;138;p28"/>
          <p:cNvGrpSpPr/>
          <p:nvPr/>
        </p:nvGrpSpPr>
        <p:grpSpPr>
          <a:xfrm>
            <a:off x="4310327" y="1156827"/>
            <a:ext cx="312075" cy="3492000"/>
            <a:chOff x="5979960" y="1797269"/>
            <a:chExt cx="416100" cy="4656000"/>
          </a:xfrm>
        </p:grpSpPr>
        <p:cxnSp>
          <p:nvCxnSpPr>
            <p:cNvPr id="139" name="Google Shape;139;p28"/>
            <p:cNvCxnSpPr/>
            <p:nvPr/>
          </p:nvCxnSpPr>
          <p:spPr>
            <a:xfrm>
              <a:off x="6187966" y="1797269"/>
              <a:ext cx="0" cy="4656000"/>
            </a:xfrm>
            <a:prstGeom prst="straightConnector1">
              <a:avLst/>
            </a:prstGeom>
            <a:noFill/>
            <a:ln cap="flat" cmpd="sng" w="19050">
              <a:solidFill>
                <a:schemeClr val="lt2"/>
              </a:solidFill>
              <a:prstDash val="solid"/>
              <a:miter lim="800000"/>
              <a:headEnd len="sm" w="sm" type="none"/>
              <a:tailEnd len="sm" w="sm" type="none"/>
            </a:ln>
          </p:spPr>
        </p:cxnSp>
        <p:sp>
          <p:nvSpPr>
            <p:cNvPr id="140" name="Google Shape;140;p28"/>
            <p:cNvSpPr/>
            <p:nvPr/>
          </p:nvSpPr>
          <p:spPr>
            <a:xfrm>
              <a:off x="5979960" y="3917306"/>
              <a:ext cx="416100" cy="416100"/>
            </a:xfrm>
            <a:prstGeom prst="ellipse">
              <a:avLst/>
            </a:prstGeom>
            <a:solidFill>
              <a:srgbClr val="07376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400">
                  <a:solidFill>
                    <a:schemeClr val="lt1"/>
                  </a:solidFill>
                  <a:latin typeface="Arial"/>
                  <a:ea typeface="Arial"/>
                  <a:cs typeface="Arial"/>
                  <a:sym typeface="Arial"/>
                </a:rPr>
                <a:t>&gt;</a:t>
              </a:r>
              <a:endParaRPr sz="1100"/>
            </a:p>
          </p:txBody>
        </p:sp>
      </p:grpSp>
      <p:grpSp>
        <p:nvGrpSpPr>
          <p:cNvPr id="141" name="Google Shape;141;p28"/>
          <p:cNvGrpSpPr/>
          <p:nvPr/>
        </p:nvGrpSpPr>
        <p:grpSpPr>
          <a:xfrm>
            <a:off x="6584798" y="1156827"/>
            <a:ext cx="312075" cy="3492000"/>
            <a:chOff x="9046352" y="1797269"/>
            <a:chExt cx="416100" cy="4656000"/>
          </a:xfrm>
        </p:grpSpPr>
        <p:cxnSp>
          <p:nvCxnSpPr>
            <p:cNvPr id="142" name="Google Shape;142;p28"/>
            <p:cNvCxnSpPr/>
            <p:nvPr/>
          </p:nvCxnSpPr>
          <p:spPr>
            <a:xfrm>
              <a:off x="9254359" y="1797269"/>
              <a:ext cx="0" cy="4656000"/>
            </a:xfrm>
            <a:prstGeom prst="straightConnector1">
              <a:avLst/>
            </a:prstGeom>
            <a:noFill/>
            <a:ln cap="flat" cmpd="sng" w="19050">
              <a:solidFill>
                <a:schemeClr val="lt2"/>
              </a:solidFill>
              <a:prstDash val="solid"/>
              <a:miter lim="800000"/>
              <a:headEnd len="sm" w="sm" type="none"/>
              <a:tailEnd len="sm" w="sm" type="none"/>
            </a:ln>
          </p:spPr>
        </p:cxnSp>
        <p:sp>
          <p:nvSpPr>
            <p:cNvPr id="143" name="Google Shape;143;p28"/>
            <p:cNvSpPr/>
            <p:nvPr/>
          </p:nvSpPr>
          <p:spPr>
            <a:xfrm>
              <a:off x="9046352" y="3917306"/>
              <a:ext cx="416100" cy="416100"/>
            </a:xfrm>
            <a:prstGeom prst="ellipse">
              <a:avLst/>
            </a:prstGeom>
            <a:solidFill>
              <a:srgbClr val="07376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400">
                  <a:solidFill>
                    <a:schemeClr val="lt1"/>
                  </a:solidFill>
                  <a:latin typeface="Arial"/>
                  <a:ea typeface="Arial"/>
                  <a:cs typeface="Arial"/>
                  <a:sym typeface="Arial"/>
                </a:rPr>
                <a:t>&gt;</a:t>
              </a:r>
              <a:endParaRPr sz="1100"/>
            </a:p>
          </p:txBody>
        </p:sp>
      </p:grpSp>
      <p:sp>
        <p:nvSpPr>
          <p:cNvPr id="144" name="Google Shape;144;p28"/>
          <p:cNvSpPr txBox="1"/>
          <p:nvPr/>
        </p:nvSpPr>
        <p:spPr>
          <a:xfrm>
            <a:off x="198849" y="102400"/>
            <a:ext cx="2149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Executive Summary</a:t>
            </a:r>
            <a:endParaRPr sz="1100"/>
          </a:p>
        </p:txBody>
      </p:sp>
      <p:sp>
        <p:nvSpPr>
          <p:cNvPr id="145" name="Google Shape;145;p28"/>
          <p:cNvSpPr txBox="1"/>
          <p:nvPr>
            <p:ph idx="4294967295" type="title"/>
          </p:nvPr>
        </p:nvSpPr>
        <p:spPr>
          <a:xfrm>
            <a:off x="198852" y="345522"/>
            <a:ext cx="80892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500"/>
              <a:buFont typeface="Play"/>
              <a:buNone/>
            </a:pPr>
            <a:r>
              <a:rPr lang="es" sz="1500"/>
              <a:t>Positive Profits for Pronto under </a:t>
            </a:r>
            <a:r>
              <a:rPr lang="es" sz="1500"/>
              <a:t>Porcini by 2016… </a:t>
            </a:r>
            <a:endParaRPr sz="1500">
              <a:latin typeface="Quattrocento Sans"/>
              <a:ea typeface="Quattrocento Sans"/>
              <a:cs typeface="Quattrocento Sans"/>
              <a:sym typeface="Quattrocento Sans"/>
            </a:endParaRPr>
          </a:p>
        </p:txBody>
      </p:sp>
      <p:sp>
        <p:nvSpPr>
          <p:cNvPr id="146" name="Google Shape;146;p28"/>
          <p:cNvSpPr/>
          <p:nvPr/>
        </p:nvSpPr>
        <p:spPr>
          <a:xfrm flipH="1">
            <a:off x="2410943" y="1150370"/>
            <a:ext cx="1895400" cy="3529800"/>
          </a:xfrm>
          <a:prstGeom prst="rect">
            <a:avLst/>
          </a:prstGeom>
          <a:solidFill>
            <a:srgbClr val="F2F2F2">
              <a:alpha val="7137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00000"/>
              </a:buClr>
              <a:buFont typeface="Arial"/>
              <a:buNone/>
            </a:pPr>
            <a:r>
              <a:t/>
            </a:r>
            <a:endParaRPr sz="1200">
              <a:solidFill>
                <a:schemeClr val="dk1"/>
              </a:solidFill>
              <a:latin typeface="Quattrocento Sans"/>
              <a:ea typeface="Quattrocento Sans"/>
              <a:cs typeface="Quattrocento Sans"/>
              <a:sym typeface="Quattrocento Sans"/>
            </a:endParaRPr>
          </a:p>
          <a:p>
            <a:pPr indent="0" lvl="0" marL="0" marR="0" rtl="0" algn="ctr">
              <a:spcBef>
                <a:spcPts val="0"/>
              </a:spcBef>
              <a:spcAft>
                <a:spcPts val="0"/>
              </a:spcAft>
              <a:buClr>
                <a:srgbClr val="000000"/>
              </a:buClr>
              <a:buFont typeface="Arial"/>
              <a:buNone/>
            </a:pPr>
            <a:r>
              <a:t/>
            </a:r>
            <a:endParaRPr sz="1200">
              <a:solidFill>
                <a:schemeClr val="dk1"/>
              </a:solidFill>
              <a:latin typeface="Quattrocento Sans"/>
              <a:ea typeface="Quattrocento Sans"/>
              <a:cs typeface="Quattrocento Sans"/>
              <a:sym typeface="Quattrocento Sans"/>
            </a:endParaRPr>
          </a:p>
          <a:p>
            <a:pPr indent="0" lvl="0" marL="0" marR="0" rtl="0" algn="ctr">
              <a:spcBef>
                <a:spcPts val="0"/>
              </a:spcBef>
              <a:spcAft>
                <a:spcPts val="0"/>
              </a:spcAft>
              <a:buClr>
                <a:srgbClr val="000000"/>
              </a:buClr>
              <a:buFont typeface="Arial"/>
              <a:buNone/>
            </a:pPr>
            <a:r>
              <a:t/>
            </a:r>
            <a:endParaRPr sz="1200">
              <a:solidFill>
                <a:schemeClr val="dk1"/>
              </a:solidFill>
              <a:latin typeface="Quattrocento Sans"/>
              <a:ea typeface="Quattrocento Sans"/>
              <a:cs typeface="Quattrocento Sans"/>
              <a:sym typeface="Quattrocento Sans"/>
            </a:endParaRPr>
          </a:p>
          <a:p>
            <a:pPr indent="0" lvl="0" marL="0" marR="0" rtl="0" algn="ctr">
              <a:spcBef>
                <a:spcPts val="0"/>
              </a:spcBef>
              <a:spcAft>
                <a:spcPts val="0"/>
              </a:spcAft>
              <a:buClr>
                <a:srgbClr val="000000"/>
              </a:buClr>
              <a:buFont typeface="Arial"/>
              <a:buNone/>
            </a:pPr>
            <a:r>
              <a:t/>
            </a:r>
            <a:endParaRPr sz="1200">
              <a:solidFill>
                <a:schemeClr val="dk1"/>
              </a:solidFill>
              <a:latin typeface="Quattrocento Sans"/>
              <a:ea typeface="Quattrocento Sans"/>
              <a:cs typeface="Quattrocento Sans"/>
              <a:sym typeface="Quattrocento Sans"/>
            </a:endParaRPr>
          </a:p>
          <a:p>
            <a:pPr indent="0" lvl="0" marL="0" marR="0" rtl="0" algn="ctr">
              <a:spcBef>
                <a:spcPts val="0"/>
              </a:spcBef>
              <a:spcAft>
                <a:spcPts val="0"/>
              </a:spcAft>
              <a:buClr>
                <a:srgbClr val="000000"/>
              </a:buClr>
              <a:buFont typeface="Arial"/>
              <a:buNone/>
            </a:pPr>
            <a:r>
              <a:t/>
            </a:r>
            <a:endParaRPr sz="1200">
              <a:solidFill>
                <a:schemeClr val="dk1"/>
              </a:solidFill>
              <a:latin typeface="Quattrocento Sans"/>
              <a:ea typeface="Quattrocento Sans"/>
              <a:cs typeface="Quattrocento Sans"/>
              <a:sym typeface="Quattrocento Sans"/>
            </a:endParaRPr>
          </a:p>
          <a:p>
            <a:pPr indent="0" lvl="0" marL="0" marR="0" rtl="0" algn="ctr">
              <a:spcBef>
                <a:spcPts val="0"/>
              </a:spcBef>
              <a:spcAft>
                <a:spcPts val="0"/>
              </a:spcAft>
              <a:buClr>
                <a:srgbClr val="000000"/>
              </a:buClr>
              <a:buFont typeface="Arial"/>
              <a:buNone/>
            </a:pPr>
            <a:r>
              <a:t/>
            </a:r>
            <a:endParaRPr sz="1200">
              <a:solidFill>
                <a:schemeClr val="dk1"/>
              </a:solidFill>
              <a:latin typeface="Quattrocento Sans"/>
              <a:ea typeface="Quattrocento Sans"/>
              <a:cs typeface="Quattrocento Sans"/>
              <a:sym typeface="Quattrocento Sans"/>
            </a:endParaRPr>
          </a:p>
          <a:p>
            <a:pPr indent="0" lvl="0" marL="0" marR="0" rtl="0" algn="ctr">
              <a:spcBef>
                <a:spcPts val="0"/>
              </a:spcBef>
              <a:spcAft>
                <a:spcPts val="0"/>
              </a:spcAft>
              <a:buClr>
                <a:srgbClr val="000000"/>
              </a:buClr>
              <a:buFont typeface="Arial"/>
              <a:buNone/>
            </a:pPr>
            <a:r>
              <a:t/>
            </a:r>
            <a:endParaRPr sz="1200">
              <a:solidFill>
                <a:schemeClr val="dk1"/>
              </a:solidFill>
              <a:latin typeface="Quattrocento Sans"/>
              <a:ea typeface="Quattrocento Sans"/>
              <a:cs typeface="Quattrocento Sans"/>
              <a:sym typeface="Quattrocento Sans"/>
            </a:endParaRPr>
          </a:p>
          <a:p>
            <a:pPr indent="0" lvl="0" marL="0" marR="0" rtl="0" algn="ctr">
              <a:spcBef>
                <a:spcPts val="0"/>
              </a:spcBef>
              <a:spcAft>
                <a:spcPts val="0"/>
              </a:spcAft>
              <a:buClr>
                <a:srgbClr val="000000"/>
              </a:buClr>
              <a:buFont typeface="Arial"/>
              <a:buNone/>
            </a:pPr>
            <a:r>
              <a:rPr lang="es" sz="1200">
                <a:solidFill>
                  <a:schemeClr val="dk1"/>
                </a:solidFill>
                <a:latin typeface="Quattrocento Sans"/>
                <a:ea typeface="Quattrocento Sans"/>
                <a:cs typeface="Quattrocento Sans"/>
                <a:sym typeface="Quattrocento Sans"/>
              </a:rPr>
              <a:t>How can Porcini drive </a:t>
            </a:r>
            <a:r>
              <a:rPr b="1" lang="es" sz="1200">
                <a:solidFill>
                  <a:schemeClr val="dk1"/>
                </a:solidFill>
                <a:latin typeface="Quattrocento Sans"/>
                <a:ea typeface="Quattrocento Sans"/>
                <a:cs typeface="Quattrocento Sans"/>
                <a:sym typeface="Quattrocento Sans"/>
              </a:rPr>
              <a:t>domestic growth</a:t>
            </a:r>
            <a:r>
              <a:rPr lang="es" sz="1200">
                <a:solidFill>
                  <a:schemeClr val="dk1"/>
                </a:solidFill>
                <a:latin typeface="Quattrocento Sans"/>
                <a:ea typeface="Quattrocento Sans"/>
                <a:cs typeface="Quattrocento Sans"/>
                <a:sym typeface="Quattrocento Sans"/>
              </a:rPr>
              <a:t> by launching </a:t>
            </a:r>
            <a:r>
              <a:rPr b="1" lang="es" sz="1200">
                <a:solidFill>
                  <a:schemeClr val="dk1"/>
                </a:solidFill>
                <a:latin typeface="Quattrocento Sans"/>
                <a:ea typeface="Quattrocento Sans"/>
                <a:cs typeface="Quattrocento Sans"/>
                <a:sym typeface="Quattrocento Sans"/>
              </a:rPr>
              <a:t>Pronto</a:t>
            </a:r>
            <a:r>
              <a:rPr lang="es" sz="1200">
                <a:solidFill>
                  <a:schemeClr val="dk1"/>
                </a:solidFill>
                <a:latin typeface="Quattrocento Sans"/>
                <a:ea typeface="Quattrocento Sans"/>
                <a:cs typeface="Quattrocento Sans"/>
                <a:sym typeface="Quattrocento Sans"/>
              </a:rPr>
              <a:t>, focusing on </a:t>
            </a:r>
            <a:r>
              <a:rPr b="1" lang="es" sz="1200">
                <a:solidFill>
                  <a:schemeClr val="dk1"/>
                </a:solidFill>
                <a:latin typeface="Quattrocento Sans"/>
                <a:ea typeface="Quattrocento Sans"/>
                <a:cs typeface="Quattrocento Sans"/>
                <a:sym typeface="Quattrocento Sans"/>
              </a:rPr>
              <a:t>quick &amp; efficient</a:t>
            </a:r>
            <a:r>
              <a:rPr lang="es" sz="1200">
                <a:solidFill>
                  <a:schemeClr val="dk1"/>
                </a:solidFill>
                <a:latin typeface="Quattrocento Sans"/>
                <a:ea typeface="Quattrocento Sans"/>
                <a:cs typeface="Quattrocento Sans"/>
                <a:sym typeface="Quattrocento Sans"/>
              </a:rPr>
              <a:t>, high </a:t>
            </a:r>
            <a:r>
              <a:rPr b="1" lang="es" sz="1200">
                <a:solidFill>
                  <a:schemeClr val="dk1"/>
                </a:solidFill>
                <a:latin typeface="Quattrocento Sans"/>
                <a:ea typeface="Quattrocento Sans"/>
                <a:cs typeface="Quattrocento Sans"/>
                <a:sym typeface="Quattrocento Sans"/>
              </a:rPr>
              <a:t>quality</a:t>
            </a:r>
            <a:r>
              <a:rPr lang="es" sz="1200">
                <a:solidFill>
                  <a:schemeClr val="dk1"/>
                </a:solidFill>
                <a:latin typeface="Quattrocento Sans"/>
                <a:ea typeface="Quattrocento Sans"/>
                <a:cs typeface="Quattrocento Sans"/>
                <a:sym typeface="Quattrocento Sans"/>
              </a:rPr>
              <a:t> food</a:t>
            </a:r>
            <a:r>
              <a:rPr lang="es" sz="1200">
                <a:solidFill>
                  <a:schemeClr val="dk1"/>
                </a:solidFill>
                <a:latin typeface="Quattrocento Sans"/>
                <a:ea typeface="Quattrocento Sans"/>
                <a:cs typeface="Quattrocento Sans"/>
                <a:sym typeface="Quattrocento Sans"/>
              </a:rPr>
              <a:t> to travelers while achieving </a:t>
            </a:r>
            <a:r>
              <a:rPr b="1" lang="es" sz="1200">
                <a:solidFill>
                  <a:schemeClr val="dk1"/>
                </a:solidFill>
                <a:latin typeface="Quattrocento Sans"/>
                <a:ea typeface="Quattrocento Sans"/>
                <a:cs typeface="Quattrocento Sans"/>
                <a:sym typeface="Quattrocento Sans"/>
              </a:rPr>
              <a:t>profitable returns</a:t>
            </a:r>
            <a:r>
              <a:rPr lang="es" sz="1200">
                <a:solidFill>
                  <a:schemeClr val="dk1"/>
                </a:solidFill>
                <a:latin typeface="Quattrocento Sans"/>
                <a:ea typeface="Quattrocento Sans"/>
                <a:cs typeface="Quattrocento Sans"/>
                <a:sym typeface="Quattrocento Sans"/>
              </a:rPr>
              <a:t>?</a:t>
            </a:r>
            <a:endParaRPr sz="1200">
              <a:solidFill>
                <a:schemeClr val="dk1"/>
              </a:solidFill>
              <a:latin typeface="Quattrocento Sans"/>
              <a:ea typeface="Quattrocento Sans"/>
              <a:cs typeface="Quattrocento Sans"/>
              <a:sym typeface="Quattrocento Sans"/>
            </a:endParaRPr>
          </a:p>
        </p:txBody>
      </p:sp>
      <p:sp>
        <p:nvSpPr>
          <p:cNvPr id="147" name="Google Shape;147;p28"/>
          <p:cNvSpPr txBox="1"/>
          <p:nvPr/>
        </p:nvSpPr>
        <p:spPr>
          <a:xfrm>
            <a:off x="2433385" y="1124176"/>
            <a:ext cx="807600" cy="1116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6800">
                <a:solidFill>
                  <a:srgbClr val="073763"/>
                </a:solidFill>
                <a:latin typeface="Quattrocento Sans"/>
                <a:ea typeface="Quattrocento Sans"/>
                <a:cs typeface="Quattrocento Sans"/>
                <a:sym typeface="Quattrocento Sans"/>
              </a:rPr>
              <a:t>”</a:t>
            </a:r>
            <a:endParaRPr sz="6800">
              <a:solidFill>
                <a:srgbClr val="073763"/>
              </a:solidFill>
              <a:latin typeface="Quattrocento Sans"/>
              <a:ea typeface="Quattrocento Sans"/>
              <a:cs typeface="Quattrocento Sans"/>
              <a:sym typeface="Quattrocento Sans"/>
            </a:endParaRPr>
          </a:p>
        </p:txBody>
      </p:sp>
      <p:sp>
        <p:nvSpPr>
          <p:cNvPr id="148" name="Google Shape;148;p28"/>
          <p:cNvSpPr txBox="1"/>
          <p:nvPr/>
        </p:nvSpPr>
        <p:spPr>
          <a:xfrm>
            <a:off x="3848920" y="4101349"/>
            <a:ext cx="617400" cy="1116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6800">
                <a:solidFill>
                  <a:srgbClr val="073763"/>
                </a:solidFill>
                <a:latin typeface="Quattrocento Sans"/>
                <a:ea typeface="Quattrocento Sans"/>
                <a:cs typeface="Quattrocento Sans"/>
                <a:sym typeface="Quattrocento Sans"/>
              </a:rPr>
              <a:t>“</a:t>
            </a:r>
            <a:endParaRPr sz="6800">
              <a:solidFill>
                <a:srgbClr val="073763"/>
              </a:solidFill>
              <a:latin typeface="Quattrocento Sans"/>
              <a:ea typeface="Quattrocento Sans"/>
              <a:cs typeface="Quattrocento Sans"/>
              <a:sym typeface="Quattrocento Sans"/>
            </a:endParaRPr>
          </a:p>
        </p:txBody>
      </p:sp>
      <p:sp>
        <p:nvSpPr>
          <p:cNvPr id="149" name="Google Shape;149;p28"/>
          <p:cNvSpPr/>
          <p:nvPr/>
        </p:nvSpPr>
        <p:spPr>
          <a:xfrm>
            <a:off x="330620" y="1446357"/>
            <a:ext cx="1606800" cy="8712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50" name="Google Shape;150;p28"/>
          <p:cNvSpPr txBox="1"/>
          <p:nvPr/>
        </p:nvSpPr>
        <p:spPr>
          <a:xfrm>
            <a:off x="136256" y="1267904"/>
            <a:ext cx="8076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s" sz="2700">
                <a:solidFill>
                  <a:srgbClr val="073763"/>
                </a:solidFill>
                <a:latin typeface="Quattrocento Sans"/>
                <a:ea typeface="Quattrocento Sans"/>
                <a:cs typeface="Quattrocento Sans"/>
                <a:sym typeface="Quattrocento Sans"/>
              </a:rPr>
              <a:t>1.</a:t>
            </a:r>
            <a:endParaRPr b="1" sz="2700">
              <a:solidFill>
                <a:srgbClr val="073763"/>
              </a:solidFill>
              <a:latin typeface="Quattrocento Sans"/>
              <a:ea typeface="Quattrocento Sans"/>
              <a:cs typeface="Quattrocento Sans"/>
              <a:sym typeface="Quattrocento Sans"/>
            </a:endParaRPr>
          </a:p>
        </p:txBody>
      </p:sp>
      <p:sp>
        <p:nvSpPr>
          <p:cNvPr id="151" name="Google Shape;151;p28"/>
          <p:cNvSpPr/>
          <p:nvPr/>
        </p:nvSpPr>
        <p:spPr>
          <a:xfrm>
            <a:off x="330620" y="2483057"/>
            <a:ext cx="1606800" cy="8712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52" name="Google Shape;152;p28"/>
          <p:cNvSpPr txBox="1"/>
          <p:nvPr/>
        </p:nvSpPr>
        <p:spPr>
          <a:xfrm>
            <a:off x="589677" y="2528825"/>
            <a:ext cx="1204500" cy="74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1100">
                <a:solidFill>
                  <a:schemeClr val="dk1"/>
                </a:solidFill>
                <a:latin typeface="Quattrocento Sans"/>
                <a:ea typeface="Quattrocento Sans"/>
                <a:cs typeface="Quattrocento Sans"/>
                <a:sym typeface="Quattrocento Sans"/>
              </a:rPr>
              <a:t>Comparing &amp; </a:t>
            </a:r>
            <a:r>
              <a:rPr lang="es" sz="1100">
                <a:solidFill>
                  <a:schemeClr val="dk1"/>
                </a:solidFill>
                <a:latin typeface="Quattrocento Sans"/>
                <a:ea typeface="Quattrocento Sans"/>
                <a:cs typeface="Quattrocento Sans"/>
                <a:sym typeface="Quattrocento Sans"/>
              </a:rPr>
              <a:t>Contrasting</a:t>
            </a:r>
            <a:r>
              <a:rPr lang="es" sz="1100">
                <a:solidFill>
                  <a:schemeClr val="dk1"/>
                </a:solidFill>
                <a:latin typeface="Quattrocento Sans"/>
                <a:ea typeface="Quattrocento Sans"/>
                <a:cs typeface="Quattrocento Sans"/>
                <a:sym typeface="Quattrocento Sans"/>
              </a:rPr>
              <a:t> the best expansion model</a:t>
            </a:r>
            <a:endParaRPr sz="1100">
              <a:solidFill>
                <a:schemeClr val="dk1"/>
              </a:solidFill>
              <a:latin typeface="Quattrocento Sans"/>
              <a:ea typeface="Quattrocento Sans"/>
              <a:cs typeface="Quattrocento Sans"/>
              <a:sym typeface="Quattrocento Sans"/>
            </a:endParaRPr>
          </a:p>
        </p:txBody>
      </p:sp>
      <p:sp>
        <p:nvSpPr>
          <p:cNvPr id="153" name="Google Shape;153;p28"/>
          <p:cNvSpPr txBox="1"/>
          <p:nvPr/>
        </p:nvSpPr>
        <p:spPr>
          <a:xfrm>
            <a:off x="136256" y="2313285"/>
            <a:ext cx="8076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s" sz="2700">
                <a:solidFill>
                  <a:srgbClr val="073763"/>
                </a:solidFill>
                <a:latin typeface="Quattrocento Sans"/>
                <a:ea typeface="Quattrocento Sans"/>
                <a:cs typeface="Quattrocento Sans"/>
                <a:sym typeface="Quattrocento Sans"/>
              </a:rPr>
              <a:t>2.</a:t>
            </a:r>
            <a:endParaRPr b="1" sz="2700">
              <a:solidFill>
                <a:srgbClr val="073763"/>
              </a:solidFill>
              <a:latin typeface="Quattrocento Sans"/>
              <a:ea typeface="Quattrocento Sans"/>
              <a:cs typeface="Quattrocento Sans"/>
              <a:sym typeface="Quattrocento Sans"/>
            </a:endParaRPr>
          </a:p>
        </p:txBody>
      </p:sp>
      <p:sp>
        <p:nvSpPr>
          <p:cNvPr id="154" name="Google Shape;154;p28"/>
          <p:cNvSpPr txBox="1"/>
          <p:nvPr/>
        </p:nvSpPr>
        <p:spPr>
          <a:xfrm>
            <a:off x="612201" y="1541625"/>
            <a:ext cx="1182000" cy="6234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None/>
            </a:pPr>
            <a:r>
              <a:rPr lang="es" sz="1200">
                <a:solidFill>
                  <a:schemeClr val="dk1"/>
                </a:solidFill>
                <a:latin typeface="Quattrocento Sans"/>
                <a:ea typeface="Quattrocento Sans"/>
                <a:cs typeface="Quattrocento Sans"/>
                <a:sym typeface="Quattrocento Sans"/>
              </a:rPr>
              <a:t>Maintaining food &amp; service quality</a:t>
            </a:r>
            <a:endParaRPr sz="1200">
              <a:solidFill>
                <a:srgbClr val="C00000"/>
              </a:solidFill>
              <a:latin typeface="Quattrocento Sans"/>
              <a:ea typeface="Quattrocento Sans"/>
              <a:cs typeface="Quattrocento Sans"/>
              <a:sym typeface="Quattrocento Sans"/>
            </a:endParaRPr>
          </a:p>
        </p:txBody>
      </p:sp>
      <p:sp>
        <p:nvSpPr>
          <p:cNvPr id="155" name="Google Shape;155;p28"/>
          <p:cNvSpPr/>
          <p:nvPr/>
        </p:nvSpPr>
        <p:spPr>
          <a:xfrm>
            <a:off x="344144" y="3580412"/>
            <a:ext cx="1593300" cy="8712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56" name="Google Shape;156;p28"/>
          <p:cNvSpPr txBox="1"/>
          <p:nvPr/>
        </p:nvSpPr>
        <p:spPr>
          <a:xfrm>
            <a:off x="596730" y="3707299"/>
            <a:ext cx="13761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1100">
                <a:solidFill>
                  <a:schemeClr val="dk1"/>
                </a:solidFill>
                <a:latin typeface="Quattrocento Sans"/>
                <a:ea typeface="Quattrocento Sans"/>
                <a:cs typeface="Quattrocento Sans"/>
                <a:sym typeface="Quattrocento Sans"/>
              </a:rPr>
              <a:t>Standing out with Porcini’s Competitive Edge </a:t>
            </a:r>
            <a:endParaRPr sz="1100">
              <a:solidFill>
                <a:schemeClr val="dk1"/>
              </a:solidFill>
              <a:latin typeface="Quattrocento Sans"/>
              <a:ea typeface="Quattrocento Sans"/>
              <a:cs typeface="Quattrocento Sans"/>
              <a:sym typeface="Quattrocento Sans"/>
            </a:endParaRPr>
          </a:p>
        </p:txBody>
      </p:sp>
      <p:sp>
        <p:nvSpPr>
          <p:cNvPr id="157" name="Google Shape;157;p28"/>
          <p:cNvSpPr txBox="1"/>
          <p:nvPr/>
        </p:nvSpPr>
        <p:spPr>
          <a:xfrm>
            <a:off x="149780" y="3410640"/>
            <a:ext cx="8076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s" sz="2700">
                <a:solidFill>
                  <a:srgbClr val="073763"/>
                </a:solidFill>
                <a:latin typeface="Quattrocento Sans"/>
                <a:ea typeface="Quattrocento Sans"/>
                <a:cs typeface="Quattrocento Sans"/>
                <a:sym typeface="Quattrocento Sans"/>
              </a:rPr>
              <a:t>3.</a:t>
            </a:r>
            <a:endParaRPr b="1" sz="2700">
              <a:solidFill>
                <a:srgbClr val="073763"/>
              </a:solidFill>
              <a:latin typeface="Quattrocento Sans"/>
              <a:ea typeface="Quattrocento Sans"/>
              <a:cs typeface="Quattrocento Sans"/>
              <a:sym typeface="Quattrocento Sans"/>
            </a:endParaRPr>
          </a:p>
        </p:txBody>
      </p:sp>
      <p:sp>
        <p:nvSpPr>
          <p:cNvPr id="158" name="Google Shape;158;p28"/>
          <p:cNvSpPr/>
          <p:nvPr/>
        </p:nvSpPr>
        <p:spPr>
          <a:xfrm>
            <a:off x="6985340" y="1325075"/>
            <a:ext cx="1869000" cy="934200"/>
          </a:xfrm>
          <a:prstGeom prst="rect">
            <a:avLst/>
          </a:prstGeom>
          <a:solidFill>
            <a:schemeClr val="lt2"/>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b="1" lang="es">
                <a:solidFill>
                  <a:schemeClr val="dk1"/>
                </a:solidFill>
                <a:latin typeface="Quattrocento Sans"/>
                <a:ea typeface="Quattrocento Sans"/>
                <a:cs typeface="Quattrocento Sans"/>
                <a:sym typeface="Quattrocento Sans"/>
              </a:rPr>
              <a:t>109M</a:t>
            </a:r>
            <a:r>
              <a:rPr b="1" lang="es">
                <a:solidFill>
                  <a:schemeClr val="dk1"/>
                </a:solidFill>
                <a:latin typeface="Quattrocento Sans"/>
                <a:ea typeface="Quattrocento Sans"/>
                <a:cs typeface="Quattrocento Sans"/>
                <a:sym typeface="Quattrocento Sans"/>
              </a:rPr>
              <a:t>+ </a:t>
            </a:r>
            <a:r>
              <a:rPr lang="es">
                <a:solidFill>
                  <a:schemeClr val="dk1"/>
                </a:solidFill>
                <a:latin typeface="Quattrocento Sans"/>
                <a:ea typeface="Quattrocento Sans"/>
                <a:cs typeface="Quattrocento Sans"/>
                <a:sym typeface="Quattrocento Sans"/>
              </a:rPr>
              <a:t>in Total Revenue by 2016</a:t>
            </a:r>
            <a:endParaRPr b="1">
              <a:solidFill>
                <a:schemeClr val="dk1"/>
              </a:solidFill>
              <a:latin typeface="Quattrocento Sans"/>
              <a:ea typeface="Quattrocento Sans"/>
              <a:cs typeface="Quattrocento Sans"/>
              <a:sym typeface="Quattrocento Sans"/>
            </a:endParaRPr>
          </a:p>
        </p:txBody>
      </p:sp>
      <p:sp>
        <p:nvSpPr>
          <p:cNvPr id="159" name="Google Shape;159;p28"/>
          <p:cNvSpPr/>
          <p:nvPr/>
        </p:nvSpPr>
        <p:spPr>
          <a:xfrm>
            <a:off x="6985340" y="2527259"/>
            <a:ext cx="1869000" cy="934200"/>
          </a:xfrm>
          <a:prstGeom prst="rect">
            <a:avLst/>
          </a:prstGeom>
          <a:solidFill>
            <a:srgbClr val="A7BDB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s" sz="1400">
                <a:solidFill>
                  <a:schemeClr val="lt1"/>
                </a:solidFill>
                <a:latin typeface="Quattrocento Sans"/>
                <a:ea typeface="Quattrocento Sans"/>
                <a:cs typeface="Quattrocento Sans"/>
                <a:sym typeface="Quattrocento Sans"/>
              </a:rPr>
              <a:t>1 Million DKK </a:t>
            </a:r>
            <a:r>
              <a:rPr lang="es" sz="1400">
                <a:solidFill>
                  <a:schemeClr val="lt1"/>
                </a:solidFill>
                <a:latin typeface="Quattrocento Sans"/>
                <a:ea typeface="Quattrocento Sans"/>
                <a:cs typeface="Quattrocento Sans"/>
                <a:sym typeface="Quattrocento Sans"/>
              </a:rPr>
              <a:t>in Profits by 2027</a:t>
            </a:r>
            <a:endParaRPr sz="1100"/>
          </a:p>
        </p:txBody>
      </p:sp>
      <p:sp>
        <p:nvSpPr>
          <p:cNvPr id="160" name="Google Shape;160;p28"/>
          <p:cNvSpPr/>
          <p:nvPr/>
        </p:nvSpPr>
        <p:spPr>
          <a:xfrm>
            <a:off x="6985340" y="3707299"/>
            <a:ext cx="1869000" cy="9342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s">
                <a:solidFill>
                  <a:schemeClr val="dk1"/>
                </a:solidFill>
                <a:latin typeface="Quattrocento Sans"/>
                <a:ea typeface="Quattrocento Sans"/>
                <a:cs typeface="Quattrocento Sans"/>
                <a:sym typeface="Quattrocento Sans"/>
              </a:rPr>
              <a:t>4.95% Gross Profit Margin </a:t>
            </a:r>
            <a:r>
              <a:rPr lang="es">
                <a:solidFill>
                  <a:schemeClr val="dk1"/>
                </a:solidFill>
                <a:latin typeface="Quattrocento Sans"/>
                <a:ea typeface="Quattrocento Sans"/>
                <a:cs typeface="Quattrocento Sans"/>
                <a:sym typeface="Quattrocento Sans"/>
              </a:rPr>
              <a:t>by 2016 </a:t>
            </a:r>
            <a:endParaRPr sz="1100"/>
          </a:p>
        </p:txBody>
      </p:sp>
      <p:sp>
        <p:nvSpPr>
          <p:cNvPr id="161" name="Google Shape;161;p28"/>
          <p:cNvSpPr/>
          <p:nvPr/>
        </p:nvSpPr>
        <p:spPr>
          <a:xfrm>
            <a:off x="6985340" y="2527259"/>
            <a:ext cx="1869000" cy="9342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s">
                <a:solidFill>
                  <a:schemeClr val="dk1"/>
                </a:solidFill>
                <a:latin typeface="Quattrocento Sans"/>
                <a:ea typeface="Quattrocento Sans"/>
                <a:cs typeface="Quattrocento Sans"/>
                <a:sym typeface="Quattrocento Sans"/>
              </a:rPr>
              <a:t>88.9K</a:t>
            </a:r>
            <a:r>
              <a:rPr b="1" lang="es">
                <a:solidFill>
                  <a:schemeClr val="dk1"/>
                </a:solidFill>
                <a:latin typeface="Quattrocento Sans"/>
                <a:ea typeface="Quattrocento Sans"/>
                <a:cs typeface="Quattrocento Sans"/>
                <a:sym typeface="Quattrocento Sans"/>
              </a:rPr>
              <a:t>+</a:t>
            </a:r>
            <a:r>
              <a:rPr b="1" lang="es" sz="1400">
                <a:solidFill>
                  <a:schemeClr val="dk1"/>
                </a:solidFill>
                <a:latin typeface="Quattrocento Sans"/>
                <a:ea typeface="Quattrocento Sans"/>
                <a:cs typeface="Quattrocento Sans"/>
                <a:sym typeface="Quattrocento Sans"/>
              </a:rPr>
              <a:t> </a:t>
            </a:r>
            <a:r>
              <a:rPr lang="es" sz="1400">
                <a:solidFill>
                  <a:schemeClr val="dk1"/>
                </a:solidFill>
                <a:latin typeface="Quattrocento Sans"/>
                <a:ea typeface="Quattrocento Sans"/>
                <a:cs typeface="Quattrocento Sans"/>
                <a:sym typeface="Quattrocento Sans"/>
              </a:rPr>
              <a:t>in Fran</a:t>
            </a:r>
            <a:r>
              <a:rPr lang="es">
                <a:solidFill>
                  <a:schemeClr val="dk1"/>
                </a:solidFill>
                <a:latin typeface="Quattrocento Sans"/>
                <a:ea typeface="Quattrocento Sans"/>
                <a:cs typeface="Quattrocento Sans"/>
                <a:sym typeface="Quattrocento Sans"/>
              </a:rPr>
              <a:t>chise Royalties by 2016</a:t>
            </a:r>
            <a:endParaRPr>
              <a:solidFill>
                <a:schemeClr val="dk1"/>
              </a:solidFill>
              <a:latin typeface="Quattrocento Sans"/>
              <a:ea typeface="Quattrocento Sans"/>
              <a:cs typeface="Quattrocento Sans"/>
              <a:sym typeface="Quattrocento Sans"/>
            </a:endParaRPr>
          </a:p>
        </p:txBody>
      </p:sp>
      <p:sp>
        <p:nvSpPr>
          <p:cNvPr id="162" name="Google Shape;162;p28"/>
          <p:cNvSpPr/>
          <p:nvPr/>
        </p:nvSpPr>
        <p:spPr>
          <a:xfrm>
            <a:off x="4669090" y="1260437"/>
            <a:ext cx="1869000" cy="934200"/>
          </a:xfrm>
          <a:prstGeom prst="rect">
            <a:avLst/>
          </a:prstGeom>
          <a:solidFill>
            <a:srgbClr val="CFE2F3">
              <a:alpha val="51270"/>
            </a:srgbClr>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b="1" lang="es">
                <a:solidFill>
                  <a:schemeClr val="dk1"/>
                </a:solidFill>
                <a:latin typeface="Quattrocento Sans"/>
                <a:ea typeface="Quattrocento Sans"/>
                <a:cs typeface="Quattrocento Sans"/>
                <a:sym typeface="Quattrocento Sans"/>
              </a:rPr>
              <a:t>Organic, Company-Owned Growth</a:t>
            </a:r>
            <a:endParaRPr sz="1100">
              <a:latin typeface="Quattrocento Sans"/>
              <a:ea typeface="Quattrocento Sans"/>
              <a:cs typeface="Quattrocento Sans"/>
              <a:sym typeface="Quattrocento Sans"/>
            </a:endParaRPr>
          </a:p>
        </p:txBody>
      </p:sp>
      <p:sp>
        <p:nvSpPr>
          <p:cNvPr id="163" name="Google Shape;163;p28"/>
          <p:cNvSpPr/>
          <p:nvPr/>
        </p:nvSpPr>
        <p:spPr>
          <a:xfrm>
            <a:off x="4669090" y="3642661"/>
            <a:ext cx="1869000" cy="934200"/>
          </a:xfrm>
          <a:prstGeom prst="rect">
            <a:avLst/>
          </a:prstGeom>
          <a:solidFill>
            <a:srgbClr val="CFE2F3">
              <a:alpha val="51270"/>
            </a:srgbClr>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b="1" lang="es">
                <a:solidFill>
                  <a:schemeClr val="dk1"/>
                </a:solidFill>
                <a:latin typeface="Quattrocento Sans"/>
                <a:ea typeface="Quattrocento Sans"/>
                <a:cs typeface="Quattrocento Sans"/>
                <a:sym typeface="Quattrocento Sans"/>
              </a:rPr>
              <a:t>Syndication</a:t>
            </a:r>
            <a:endParaRPr sz="1100"/>
          </a:p>
        </p:txBody>
      </p:sp>
      <p:sp>
        <p:nvSpPr>
          <p:cNvPr id="164" name="Google Shape;164;p28"/>
          <p:cNvSpPr/>
          <p:nvPr/>
        </p:nvSpPr>
        <p:spPr>
          <a:xfrm>
            <a:off x="4669090" y="2462622"/>
            <a:ext cx="1869000" cy="934200"/>
          </a:xfrm>
          <a:prstGeom prst="rect">
            <a:avLst/>
          </a:prstGeom>
          <a:solidFill>
            <a:srgbClr val="6FA8DC">
              <a:alpha val="88240"/>
            </a:srgbClr>
          </a:solidFill>
          <a:ln>
            <a:noFill/>
          </a:ln>
        </p:spPr>
        <p:txBody>
          <a:bodyPr anchorCtr="0" anchor="ctr" bIns="34275" lIns="68575" spcFirstLastPara="1" rIns="68575" wrap="square" tIns="34275">
            <a:noAutofit/>
          </a:bodyPr>
          <a:lstStyle/>
          <a:p>
            <a:pPr indent="0" lvl="0" marL="0" rtl="0" algn="ctr">
              <a:spcBef>
                <a:spcPts val="0"/>
              </a:spcBef>
              <a:spcAft>
                <a:spcPts val="0"/>
              </a:spcAft>
              <a:buClr>
                <a:schemeClr val="dk1"/>
              </a:buClr>
              <a:buFont typeface="Arial"/>
              <a:buNone/>
            </a:pPr>
            <a:r>
              <a:rPr b="1" lang="es">
                <a:solidFill>
                  <a:schemeClr val="dk1"/>
                </a:solidFill>
                <a:latin typeface="Quattrocento Sans"/>
                <a:ea typeface="Quattrocento Sans"/>
                <a:cs typeface="Quattrocento Sans"/>
                <a:sym typeface="Quattrocento Sans"/>
              </a:rPr>
              <a:t>Franchising</a:t>
            </a:r>
            <a:endParaRPr sz="1100"/>
          </a:p>
        </p:txBody>
      </p:sp>
      <p:sp>
        <p:nvSpPr>
          <p:cNvPr id="165" name="Google Shape;165;p28"/>
          <p:cNvSpPr/>
          <p:nvPr/>
        </p:nvSpPr>
        <p:spPr>
          <a:xfrm>
            <a:off x="3091600" y="4714075"/>
            <a:ext cx="4181400" cy="371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28"/>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pic>
        <p:nvPicPr>
          <p:cNvPr id="167" name="Google Shape;167;p28"/>
          <p:cNvPicPr preferRelativeResize="0"/>
          <p:nvPr/>
        </p:nvPicPr>
        <p:blipFill>
          <a:blip r:embed="rId3">
            <a:alphaModFix/>
          </a:blip>
          <a:stretch>
            <a:fillRect/>
          </a:stretch>
        </p:blipFill>
        <p:spPr>
          <a:xfrm>
            <a:off x="2726874" y="1541624"/>
            <a:ext cx="1204500" cy="109668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p29" title="pexels-julianemonarifotografia-29546546.jpg"/>
          <p:cNvPicPr preferRelativeResize="0"/>
          <p:nvPr/>
        </p:nvPicPr>
        <p:blipFill rotWithShape="1">
          <a:blip r:embed="rId3">
            <a:alphaModFix/>
          </a:blip>
          <a:srcRect b="27610" l="0" r="4861" t="36926"/>
          <a:stretch/>
        </p:blipFill>
        <p:spPr>
          <a:xfrm>
            <a:off x="0" y="0"/>
            <a:ext cx="9196800" cy="5143501"/>
          </a:xfrm>
          <a:prstGeom prst="rect">
            <a:avLst/>
          </a:prstGeom>
          <a:noFill/>
          <a:ln>
            <a:noFill/>
          </a:ln>
        </p:spPr>
      </p:pic>
      <p:sp>
        <p:nvSpPr>
          <p:cNvPr id="174" name="Google Shape;174;p29"/>
          <p:cNvSpPr/>
          <p:nvPr/>
        </p:nvSpPr>
        <p:spPr>
          <a:xfrm>
            <a:off x="-26400" y="-304801"/>
            <a:ext cx="9196800" cy="5753100"/>
          </a:xfrm>
          <a:prstGeom prst="rect">
            <a:avLst/>
          </a:prstGeom>
          <a:solidFill>
            <a:schemeClr val="dk1">
              <a:alpha val="62750"/>
            </a:scheme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800"/>
              <a:buFont typeface="Arial"/>
              <a:buNone/>
            </a:pPr>
            <a:r>
              <a:t/>
            </a:r>
            <a:endParaRPr b="0" i="0" sz="800" u="none" cap="none" strike="noStrike">
              <a:solidFill>
                <a:srgbClr val="FFFFFF"/>
              </a:solidFill>
              <a:latin typeface="Calibri"/>
              <a:ea typeface="Calibri"/>
              <a:cs typeface="Calibri"/>
              <a:sym typeface="Calibri"/>
            </a:endParaRPr>
          </a:p>
        </p:txBody>
      </p:sp>
      <p:sp>
        <p:nvSpPr>
          <p:cNvPr id="175" name="Google Shape;175;p29"/>
          <p:cNvSpPr txBox="1"/>
          <p:nvPr>
            <p:ph idx="4294967295" type="sldNum"/>
          </p:nvPr>
        </p:nvSpPr>
        <p:spPr>
          <a:xfrm>
            <a:off x="6822737" y="4905545"/>
            <a:ext cx="2057400" cy="121200"/>
          </a:xfrm>
          <a:prstGeom prst="rect">
            <a:avLst/>
          </a:prstGeom>
          <a:noFill/>
          <a:ln>
            <a:noFill/>
          </a:ln>
        </p:spPr>
        <p:txBody>
          <a:bodyPr anchorCtr="0" anchor="ctr" bIns="34275" lIns="68575" spcFirstLastPara="1" rIns="68575" wrap="square" tIns="34275">
            <a:normAutofit fontScale="40000" lnSpcReduction="20000"/>
          </a:bodyPr>
          <a:lstStyle/>
          <a:p>
            <a:pPr indent="0" lvl="0" marL="0" rtl="0" algn="r">
              <a:spcBef>
                <a:spcPts val="0"/>
              </a:spcBef>
              <a:spcAft>
                <a:spcPts val="0"/>
              </a:spcAft>
              <a:buNone/>
            </a:pPr>
            <a:fld id="{00000000-1234-1234-1234-123412341234}" type="slidenum">
              <a:rPr lang="es"/>
              <a:t>‹#›</a:t>
            </a:fld>
            <a:endParaRPr/>
          </a:p>
        </p:txBody>
      </p:sp>
      <p:sp>
        <p:nvSpPr>
          <p:cNvPr id="176" name="Google Shape;176;p29"/>
          <p:cNvSpPr/>
          <p:nvPr/>
        </p:nvSpPr>
        <p:spPr>
          <a:xfrm>
            <a:off x="676850" y="1803568"/>
            <a:ext cx="37800" cy="1485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7" name="Google Shape;177;p29"/>
          <p:cNvSpPr txBox="1"/>
          <p:nvPr/>
        </p:nvSpPr>
        <p:spPr>
          <a:xfrm>
            <a:off x="812434" y="2070118"/>
            <a:ext cx="73005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4000">
                <a:solidFill>
                  <a:srgbClr val="FFFFFF"/>
                </a:solidFill>
                <a:latin typeface="Quattrocento Sans"/>
                <a:ea typeface="Quattrocento Sans"/>
                <a:cs typeface="Quattrocento Sans"/>
                <a:sym typeface="Quattrocento Sans"/>
              </a:rPr>
              <a:t>Key Issues</a:t>
            </a:r>
            <a:endParaRPr b="1" sz="4000">
              <a:solidFill>
                <a:srgbClr val="FFFFFF"/>
              </a:solidFill>
              <a:latin typeface="Quattrocento Sans"/>
              <a:ea typeface="Quattrocento Sans"/>
              <a:cs typeface="Quattrocento Sans"/>
              <a:sym typeface="Quattrocen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nvSpPr>
        <p:spPr>
          <a:xfrm>
            <a:off x="198853" y="102394"/>
            <a:ext cx="14808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Key Issues</a:t>
            </a:r>
            <a:endParaRPr sz="1100"/>
          </a:p>
        </p:txBody>
      </p:sp>
      <p:sp>
        <p:nvSpPr>
          <p:cNvPr id="183" name="Google Shape;183;p30"/>
          <p:cNvSpPr txBox="1"/>
          <p:nvPr>
            <p:ph idx="4294967295" type="title"/>
          </p:nvPr>
        </p:nvSpPr>
        <p:spPr>
          <a:xfrm>
            <a:off x="198853" y="345522"/>
            <a:ext cx="78867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Play"/>
              <a:buNone/>
            </a:pPr>
            <a:r>
              <a:rPr lang="es" sz="1800"/>
              <a:t>Our top 3 priorities for Porcini are based on… </a:t>
            </a:r>
            <a:endParaRPr/>
          </a:p>
        </p:txBody>
      </p:sp>
      <p:sp>
        <p:nvSpPr>
          <p:cNvPr id="184" name="Google Shape;184;p30"/>
          <p:cNvSpPr/>
          <p:nvPr/>
        </p:nvSpPr>
        <p:spPr>
          <a:xfrm>
            <a:off x="234625" y="1161500"/>
            <a:ext cx="2688600" cy="32823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85" name="Google Shape;185;p30"/>
          <p:cNvSpPr/>
          <p:nvPr/>
        </p:nvSpPr>
        <p:spPr>
          <a:xfrm>
            <a:off x="1422925" y="976610"/>
            <a:ext cx="312000" cy="312000"/>
          </a:xfrm>
          <a:prstGeom prst="ellipse">
            <a:avLst/>
          </a:prstGeom>
          <a:solidFill>
            <a:srgbClr val="073763"/>
          </a:solidFill>
          <a:ln cap="flat" cmpd="sng" w="412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400">
                <a:solidFill>
                  <a:schemeClr val="lt1"/>
                </a:solidFill>
                <a:latin typeface="Arial"/>
                <a:ea typeface="Arial"/>
                <a:cs typeface="Arial"/>
                <a:sym typeface="Arial"/>
              </a:rPr>
              <a:t>1</a:t>
            </a:r>
            <a:endParaRPr sz="1100"/>
          </a:p>
        </p:txBody>
      </p:sp>
      <p:sp>
        <p:nvSpPr>
          <p:cNvPr id="186" name="Google Shape;186;p30"/>
          <p:cNvSpPr txBox="1"/>
          <p:nvPr/>
        </p:nvSpPr>
        <p:spPr>
          <a:xfrm>
            <a:off x="801326" y="1388488"/>
            <a:ext cx="1555200" cy="463200"/>
          </a:xfrm>
          <a:prstGeom prst="rect">
            <a:avLst/>
          </a:prstGeom>
          <a:noFill/>
          <a:ln>
            <a:noFill/>
          </a:ln>
        </p:spPr>
        <p:txBody>
          <a:bodyPr anchorCtr="0" anchor="ctr" bIns="0" lIns="0" spcFirstLastPara="1" rIns="0" wrap="square" tIns="0">
            <a:spAutoFit/>
          </a:bodyPr>
          <a:lstStyle/>
          <a:p>
            <a:pPr indent="0" lvl="0" marL="0" rtl="0" algn="ctr">
              <a:lnSpc>
                <a:spcPct val="115000"/>
              </a:lnSpc>
              <a:spcBef>
                <a:spcPts val="0"/>
              </a:spcBef>
              <a:spcAft>
                <a:spcPts val="0"/>
              </a:spcAft>
              <a:buSzPts val="1100"/>
              <a:buNone/>
            </a:pPr>
            <a:r>
              <a:rPr b="1" lang="es">
                <a:solidFill>
                  <a:schemeClr val="dk1"/>
                </a:solidFill>
                <a:latin typeface="Quattrocento Sans"/>
                <a:ea typeface="Quattrocento Sans"/>
                <a:cs typeface="Quattrocento Sans"/>
                <a:sym typeface="Quattrocento Sans"/>
              </a:rPr>
              <a:t>Keeping Food and Service Quality</a:t>
            </a:r>
            <a:endParaRPr b="1">
              <a:solidFill>
                <a:schemeClr val="dk1"/>
              </a:solidFill>
              <a:latin typeface="Quattrocento Sans"/>
              <a:ea typeface="Quattrocento Sans"/>
              <a:cs typeface="Quattrocento Sans"/>
              <a:sym typeface="Quattrocento Sans"/>
            </a:endParaRPr>
          </a:p>
        </p:txBody>
      </p:sp>
      <p:sp>
        <p:nvSpPr>
          <p:cNvPr id="187" name="Google Shape;187;p30"/>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s"/>
              <a:t>‹#›</a:t>
            </a:fld>
            <a:endParaRPr/>
          </a:p>
        </p:txBody>
      </p:sp>
      <p:sp>
        <p:nvSpPr>
          <p:cNvPr id="188" name="Google Shape;188;p30"/>
          <p:cNvSpPr/>
          <p:nvPr/>
        </p:nvSpPr>
        <p:spPr>
          <a:xfrm>
            <a:off x="3227700" y="1161513"/>
            <a:ext cx="2688600" cy="32823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89" name="Google Shape;189;p30"/>
          <p:cNvSpPr/>
          <p:nvPr/>
        </p:nvSpPr>
        <p:spPr>
          <a:xfrm>
            <a:off x="4416000" y="976622"/>
            <a:ext cx="312000" cy="312000"/>
          </a:xfrm>
          <a:prstGeom prst="ellipse">
            <a:avLst/>
          </a:prstGeom>
          <a:solidFill>
            <a:srgbClr val="073763"/>
          </a:solidFill>
          <a:ln cap="flat" cmpd="sng" w="412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
                <a:solidFill>
                  <a:schemeClr val="lt1"/>
                </a:solidFill>
              </a:rPr>
              <a:t>2</a:t>
            </a:r>
            <a:endParaRPr sz="1100"/>
          </a:p>
        </p:txBody>
      </p:sp>
      <p:sp>
        <p:nvSpPr>
          <p:cNvPr id="190" name="Google Shape;190;p30"/>
          <p:cNvSpPr txBox="1"/>
          <p:nvPr/>
        </p:nvSpPr>
        <p:spPr>
          <a:xfrm>
            <a:off x="3794401" y="1404550"/>
            <a:ext cx="1555200" cy="4311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a:solidFill>
                  <a:schemeClr val="dk1"/>
                </a:solidFill>
                <a:latin typeface="Quattrocento Sans"/>
                <a:ea typeface="Quattrocento Sans"/>
                <a:cs typeface="Quattrocento Sans"/>
                <a:sym typeface="Quattrocento Sans"/>
              </a:rPr>
              <a:t>Finding the Best Expansion Model</a:t>
            </a:r>
            <a:endParaRPr>
              <a:solidFill>
                <a:schemeClr val="dk1"/>
              </a:solidFill>
              <a:latin typeface="Quattrocento Sans"/>
              <a:ea typeface="Quattrocento Sans"/>
              <a:cs typeface="Quattrocento Sans"/>
              <a:sym typeface="Quattrocento Sans"/>
            </a:endParaRPr>
          </a:p>
        </p:txBody>
      </p:sp>
      <p:sp>
        <p:nvSpPr>
          <p:cNvPr id="191" name="Google Shape;191;p30"/>
          <p:cNvSpPr/>
          <p:nvPr/>
        </p:nvSpPr>
        <p:spPr>
          <a:xfrm>
            <a:off x="6220775" y="1161500"/>
            <a:ext cx="2688600" cy="32823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92" name="Google Shape;192;p30"/>
          <p:cNvSpPr/>
          <p:nvPr/>
        </p:nvSpPr>
        <p:spPr>
          <a:xfrm>
            <a:off x="7409074" y="976610"/>
            <a:ext cx="312000" cy="312000"/>
          </a:xfrm>
          <a:prstGeom prst="ellipse">
            <a:avLst/>
          </a:prstGeom>
          <a:solidFill>
            <a:srgbClr val="073763"/>
          </a:solidFill>
          <a:ln cap="flat" cmpd="sng" w="412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
                <a:solidFill>
                  <a:schemeClr val="lt1"/>
                </a:solidFill>
              </a:rPr>
              <a:t>3</a:t>
            </a:r>
            <a:endParaRPr sz="1100"/>
          </a:p>
        </p:txBody>
      </p:sp>
      <p:sp>
        <p:nvSpPr>
          <p:cNvPr id="193" name="Google Shape;193;p30"/>
          <p:cNvSpPr txBox="1"/>
          <p:nvPr/>
        </p:nvSpPr>
        <p:spPr>
          <a:xfrm>
            <a:off x="6787476" y="1404538"/>
            <a:ext cx="1555200" cy="4311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a:solidFill>
                  <a:schemeClr val="dk1"/>
                </a:solidFill>
                <a:latin typeface="Quattrocento Sans"/>
                <a:ea typeface="Quattrocento Sans"/>
                <a:cs typeface="Quattrocento Sans"/>
                <a:sym typeface="Quattrocento Sans"/>
              </a:rPr>
              <a:t>Beating the Competition</a:t>
            </a:r>
            <a:endParaRPr>
              <a:solidFill>
                <a:schemeClr val="dk1"/>
              </a:solidFill>
              <a:latin typeface="Quattrocento Sans"/>
              <a:ea typeface="Quattrocento Sans"/>
              <a:cs typeface="Quattrocento Sans"/>
              <a:sym typeface="Quattrocento Sans"/>
            </a:endParaRPr>
          </a:p>
        </p:txBody>
      </p:sp>
      <p:sp>
        <p:nvSpPr>
          <p:cNvPr id="194" name="Google Shape;194;p30"/>
          <p:cNvSpPr txBox="1"/>
          <p:nvPr/>
        </p:nvSpPr>
        <p:spPr>
          <a:xfrm>
            <a:off x="430050" y="1915300"/>
            <a:ext cx="2280000" cy="2916900"/>
          </a:xfrm>
          <a:prstGeom prst="rect">
            <a:avLst/>
          </a:prstGeom>
          <a:noFill/>
          <a:ln>
            <a:noFill/>
          </a:ln>
        </p:spPr>
        <p:txBody>
          <a:bodyPr anchorCtr="0" anchor="ctr" bIns="0" lIns="0" spcFirstLastPara="1" rIns="0" wrap="square" tIns="0">
            <a:spAutoFit/>
          </a:bodyPr>
          <a:lstStyle/>
          <a:p>
            <a:pPr indent="-311150" lvl="0" marL="457200" rtl="0" algn="l">
              <a:lnSpc>
                <a:spcPct val="115000"/>
              </a:lnSpc>
              <a:spcBef>
                <a:spcPts val="1200"/>
              </a:spcBef>
              <a:spcAft>
                <a:spcPts val="0"/>
              </a:spcAft>
              <a:buClr>
                <a:schemeClr val="dk1"/>
              </a:buClr>
              <a:buSzPts val="1300"/>
              <a:buFont typeface="Quattrocento Sans"/>
              <a:buChar char="●"/>
            </a:pPr>
            <a:r>
              <a:rPr lang="es" sz="1300">
                <a:solidFill>
                  <a:schemeClr val="dk1"/>
                </a:solidFill>
                <a:latin typeface="Quattrocento Sans"/>
                <a:ea typeface="Quattrocento Sans"/>
                <a:cs typeface="Quattrocento Sans"/>
                <a:sym typeface="Quattrocento Sans"/>
              </a:rPr>
              <a:t>Porcini’s is famous for high-quality food and great service.</a:t>
            </a:r>
            <a:endParaRPr sz="1300">
              <a:solidFill>
                <a:schemeClr val="dk1"/>
              </a:solidFill>
              <a:latin typeface="Quattrocento Sans"/>
              <a:ea typeface="Quattrocento Sans"/>
              <a:cs typeface="Quattrocento Sans"/>
              <a:sym typeface="Quattrocento Sans"/>
            </a:endParaRPr>
          </a:p>
          <a:p>
            <a:pPr indent="-311150" lvl="0" marL="457200" rtl="0" algn="l">
              <a:lnSpc>
                <a:spcPct val="115000"/>
              </a:lnSpc>
              <a:spcBef>
                <a:spcPts val="0"/>
              </a:spcBef>
              <a:spcAft>
                <a:spcPts val="0"/>
              </a:spcAft>
              <a:buClr>
                <a:schemeClr val="dk1"/>
              </a:buClr>
              <a:buSzPts val="1300"/>
              <a:buFont typeface="Quattrocento Sans"/>
              <a:buChar char="●"/>
            </a:pPr>
            <a:r>
              <a:rPr lang="es" sz="1300">
                <a:solidFill>
                  <a:schemeClr val="dk1"/>
                </a:solidFill>
                <a:latin typeface="Quattrocento Sans"/>
                <a:ea typeface="Quattrocento Sans"/>
                <a:cs typeface="Quattrocento Sans"/>
                <a:sym typeface="Quattrocento Sans"/>
              </a:rPr>
              <a:t> Porcini’s food is “almost all made from scratch” and the service is “the best.” </a:t>
            </a:r>
            <a:endParaRPr sz="1300">
              <a:solidFill>
                <a:schemeClr val="dk1"/>
              </a:solidFill>
              <a:latin typeface="Quattrocento Sans"/>
              <a:ea typeface="Quattrocento Sans"/>
              <a:cs typeface="Quattrocento Sans"/>
              <a:sym typeface="Quattrocento Sans"/>
            </a:endParaRPr>
          </a:p>
          <a:p>
            <a:pPr indent="-311150" lvl="0" marL="457200" rtl="0" algn="l">
              <a:lnSpc>
                <a:spcPct val="115000"/>
              </a:lnSpc>
              <a:spcBef>
                <a:spcPts val="0"/>
              </a:spcBef>
              <a:spcAft>
                <a:spcPts val="0"/>
              </a:spcAft>
              <a:buClr>
                <a:schemeClr val="dk1"/>
              </a:buClr>
              <a:buSzPts val="1300"/>
              <a:buFont typeface="Quattrocento Sans"/>
              <a:buChar char="●"/>
            </a:pPr>
            <a:r>
              <a:rPr lang="es" sz="1300">
                <a:solidFill>
                  <a:schemeClr val="dk1"/>
                </a:solidFill>
                <a:latin typeface="Quattrocento Sans"/>
                <a:ea typeface="Quattrocento Sans"/>
                <a:cs typeface="Quattrocento Sans"/>
                <a:sym typeface="Quattrocento Sans"/>
              </a:rPr>
              <a:t>A fast service model could damage its reputation.</a:t>
            </a:r>
            <a:endParaRPr sz="1300">
              <a:solidFill>
                <a:schemeClr val="dk1"/>
              </a:solidFill>
              <a:latin typeface="Quattrocento Sans"/>
              <a:ea typeface="Quattrocento Sans"/>
              <a:cs typeface="Quattrocento Sans"/>
              <a:sym typeface="Quattrocento Sans"/>
            </a:endParaRPr>
          </a:p>
          <a:p>
            <a:pPr indent="0" lvl="0" marL="0" rtl="0" algn="l">
              <a:spcBef>
                <a:spcPts val="1200"/>
              </a:spcBef>
              <a:spcAft>
                <a:spcPts val="0"/>
              </a:spcAft>
              <a:buClr>
                <a:schemeClr val="dk1"/>
              </a:buClr>
              <a:buSzPts val="1100"/>
              <a:buFont typeface="Arial"/>
              <a:buNone/>
            </a:pPr>
            <a:r>
              <a:t/>
            </a:r>
            <a:endParaRPr sz="1800">
              <a:solidFill>
                <a:schemeClr val="dk2"/>
              </a:solidFill>
            </a:endParaRPr>
          </a:p>
          <a:p>
            <a:pPr indent="0" lvl="0" marL="0" marR="0" rtl="0" algn="l">
              <a:spcBef>
                <a:spcPts val="0"/>
              </a:spcBef>
              <a:spcAft>
                <a:spcPts val="0"/>
              </a:spcAft>
              <a:buNone/>
            </a:pPr>
            <a:r>
              <a:t/>
            </a:r>
            <a:endParaRPr sz="1200">
              <a:solidFill>
                <a:schemeClr val="dk1"/>
              </a:solidFill>
              <a:latin typeface="Quattrocento Sans"/>
              <a:ea typeface="Quattrocento Sans"/>
              <a:cs typeface="Quattrocento Sans"/>
              <a:sym typeface="Quattrocento Sans"/>
            </a:endParaRPr>
          </a:p>
        </p:txBody>
      </p:sp>
      <p:sp>
        <p:nvSpPr>
          <p:cNvPr id="195" name="Google Shape;195;p30"/>
          <p:cNvSpPr txBox="1"/>
          <p:nvPr/>
        </p:nvSpPr>
        <p:spPr>
          <a:xfrm>
            <a:off x="3432000" y="1915300"/>
            <a:ext cx="2097300" cy="1139100"/>
          </a:xfrm>
          <a:prstGeom prst="rect">
            <a:avLst/>
          </a:prstGeom>
          <a:noFill/>
          <a:ln>
            <a:noFill/>
          </a:ln>
        </p:spPr>
        <p:txBody>
          <a:bodyPr anchorCtr="0" anchor="ctr" bIns="0" lIns="0" spcFirstLastPara="1" rIns="0" wrap="square" tIns="0">
            <a:spAutoFit/>
          </a:bodyPr>
          <a:lstStyle/>
          <a:p>
            <a:pPr indent="-304800" lvl="0" marL="457200" rtl="0" algn="l">
              <a:lnSpc>
                <a:spcPct val="90000"/>
              </a:lnSpc>
              <a:spcBef>
                <a:spcPts val="120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Owning is expensive</a:t>
            </a:r>
            <a:endParaRPr sz="1200">
              <a:solidFill>
                <a:schemeClr val="dk1"/>
              </a:solidFill>
              <a:latin typeface="Quattrocento Sans"/>
              <a:ea typeface="Quattrocento Sans"/>
              <a:cs typeface="Quattrocento Sans"/>
              <a:sym typeface="Quattrocento Sans"/>
            </a:endParaRPr>
          </a:p>
          <a:p>
            <a:pPr indent="-304800" lvl="0" marL="457200" rtl="0" algn="l">
              <a:lnSpc>
                <a:spcPct val="90000"/>
              </a:lnSpc>
              <a:spcBef>
                <a:spcPts val="120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Franchising can lower quality</a:t>
            </a:r>
            <a:endParaRPr sz="1200">
              <a:solidFill>
                <a:schemeClr val="dk1"/>
              </a:solidFill>
              <a:latin typeface="Quattrocento Sans"/>
              <a:ea typeface="Quattrocento Sans"/>
              <a:cs typeface="Quattrocento Sans"/>
              <a:sym typeface="Quattrocento Sans"/>
            </a:endParaRPr>
          </a:p>
          <a:p>
            <a:pPr indent="-304800" lvl="0" marL="457200" rtl="0" algn="l">
              <a:lnSpc>
                <a:spcPct val="90000"/>
              </a:lnSpc>
              <a:spcBef>
                <a:spcPts val="1200"/>
              </a:spcBef>
              <a:spcAft>
                <a:spcPts val="120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 Investors take part of the money. </a:t>
            </a:r>
            <a:endParaRPr sz="1200">
              <a:solidFill>
                <a:schemeClr val="dk1"/>
              </a:solidFill>
              <a:latin typeface="Quattrocento Sans"/>
              <a:ea typeface="Quattrocento Sans"/>
              <a:cs typeface="Quattrocento Sans"/>
              <a:sym typeface="Quattrocento Sans"/>
            </a:endParaRPr>
          </a:p>
        </p:txBody>
      </p:sp>
      <p:sp>
        <p:nvSpPr>
          <p:cNvPr id="196" name="Google Shape;196;p30"/>
          <p:cNvSpPr txBox="1"/>
          <p:nvPr/>
        </p:nvSpPr>
        <p:spPr>
          <a:xfrm>
            <a:off x="6433950" y="1915300"/>
            <a:ext cx="2280000" cy="1034400"/>
          </a:xfrm>
          <a:prstGeom prst="rect">
            <a:avLst/>
          </a:prstGeom>
          <a:noFill/>
          <a:ln>
            <a:noFill/>
          </a:ln>
        </p:spPr>
        <p:txBody>
          <a:bodyPr anchorCtr="0" anchor="ctr" bIns="0" lIns="0" spcFirstLastPara="1" rIns="0" wrap="square" tIns="0">
            <a:spAutoFit/>
          </a:bodyPr>
          <a:lstStyle/>
          <a:p>
            <a:pPr indent="-304800" lvl="0" marL="457200" rtl="0" algn="l">
              <a:lnSpc>
                <a:spcPct val="115000"/>
              </a:lnSpc>
              <a:spcBef>
                <a:spcPts val="120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Cracker Barrel and Denny’s</a:t>
            </a:r>
            <a:endParaRPr sz="1200">
              <a:solidFill>
                <a:schemeClr val="dk1"/>
              </a:solidFill>
              <a:latin typeface="Quattrocento Sans"/>
              <a:ea typeface="Quattrocento Sans"/>
              <a:cs typeface="Quattrocento Sans"/>
              <a:sym typeface="Quattrocento Sans"/>
            </a:endParaRPr>
          </a:p>
          <a:p>
            <a:pPr indent="-304800" lvl="0" marL="457200" rtl="0" algn="l">
              <a:lnSpc>
                <a:spcPct val="115000"/>
              </a:lnSpc>
              <a:spcBef>
                <a:spcPts val="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 Fast food </a:t>
            </a:r>
            <a:endParaRPr sz="1200">
              <a:solidFill>
                <a:schemeClr val="dk1"/>
              </a:solidFill>
              <a:latin typeface="Quattrocento Sans"/>
              <a:ea typeface="Quattrocento Sans"/>
              <a:cs typeface="Quattrocento Sans"/>
              <a:sym typeface="Quattrocento Sans"/>
            </a:endParaRPr>
          </a:p>
          <a:p>
            <a:pPr indent="-304800" lvl="0" marL="457200" rtl="0" algn="l">
              <a:lnSpc>
                <a:spcPct val="115000"/>
              </a:lnSpc>
              <a:spcBef>
                <a:spcPts val="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 “Almost any place that serves food is our competitor.”</a:t>
            </a:r>
            <a:endParaRPr sz="1200">
              <a:solidFill>
                <a:schemeClr val="dk1"/>
              </a:solidFill>
              <a:latin typeface="Quattrocento Sans"/>
              <a:ea typeface="Quattrocento Sans"/>
              <a:cs typeface="Quattrocento Sans"/>
              <a:sym typeface="Quattrocento Sans"/>
            </a:endParaRPr>
          </a:p>
        </p:txBody>
      </p:sp>
      <p:cxnSp>
        <p:nvCxnSpPr>
          <p:cNvPr id="197" name="Google Shape;197;p30"/>
          <p:cNvCxnSpPr/>
          <p:nvPr/>
        </p:nvCxnSpPr>
        <p:spPr>
          <a:xfrm>
            <a:off x="3248971" y="4790797"/>
            <a:ext cx="405000" cy="0"/>
          </a:xfrm>
          <a:prstGeom prst="straightConnector1">
            <a:avLst/>
          </a:prstGeom>
          <a:noFill/>
          <a:ln cap="flat" cmpd="sng" w="12700">
            <a:solidFill>
              <a:schemeClr val="accent1"/>
            </a:solidFill>
            <a:prstDash val="solid"/>
            <a:miter lim="800000"/>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31" title="pexels-julianemonarifotografia-29546546.jpg"/>
          <p:cNvPicPr preferRelativeResize="0"/>
          <p:nvPr/>
        </p:nvPicPr>
        <p:blipFill rotWithShape="1">
          <a:blip r:embed="rId3">
            <a:alphaModFix/>
          </a:blip>
          <a:srcRect b="27610" l="0" r="4861" t="36926"/>
          <a:stretch/>
        </p:blipFill>
        <p:spPr>
          <a:xfrm>
            <a:off x="0" y="0"/>
            <a:ext cx="9196800" cy="5143501"/>
          </a:xfrm>
          <a:prstGeom prst="rect">
            <a:avLst/>
          </a:prstGeom>
          <a:noFill/>
          <a:ln>
            <a:noFill/>
          </a:ln>
        </p:spPr>
      </p:pic>
      <p:sp>
        <p:nvSpPr>
          <p:cNvPr id="204" name="Google Shape;204;p31"/>
          <p:cNvSpPr/>
          <p:nvPr/>
        </p:nvSpPr>
        <p:spPr>
          <a:xfrm>
            <a:off x="-26400" y="-304801"/>
            <a:ext cx="9196800" cy="5753100"/>
          </a:xfrm>
          <a:prstGeom prst="rect">
            <a:avLst/>
          </a:prstGeom>
          <a:solidFill>
            <a:schemeClr val="dk1">
              <a:alpha val="62750"/>
            </a:scheme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800"/>
              <a:buFont typeface="Arial"/>
              <a:buNone/>
            </a:pPr>
            <a:r>
              <a:t/>
            </a:r>
            <a:endParaRPr b="0" i="0" sz="800" u="none" cap="none" strike="noStrike">
              <a:solidFill>
                <a:srgbClr val="FFFFFF"/>
              </a:solidFill>
              <a:latin typeface="Calibri"/>
              <a:ea typeface="Calibri"/>
              <a:cs typeface="Calibri"/>
              <a:sym typeface="Calibri"/>
            </a:endParaRPr>
          </a:p>
        </p:txBody>
      </p:sp>
      <p:sp>
        <p:nvSpPr>
          <p:cNvPr id="205" name="Google Shape;205;p31"/>
          <p:cNvSpPr/>
          <p:nvPr/>
        </p:nvSpPr>
        <p:spPr>
          <a:xfrm>
            <a:off x="676850" y="1803568"/>
            <a:ext cx="37800" cy="1485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6" name="Google Shape;206;p31"/>
          <p:cNvSpPr txBox="1"/>
          <p:nvPr/>
        </p:nvSpPr>
        <p:spPr>
          <a:xfrm>
            <a:off x="812420" y="1605170"/>
            <a:ext cx="8234700" cy="1221300"/>
          </a:xfrm>
          <a:prstGeom prst="rect">
            <a:avLst/>
          </a:prstGeom>
          <a:noFill/>
          <a:ln>
            <a:noFill/>
          </a:ln>
        </p:spPr>
        <p:txBody>
          <a:bodyPr anchorCtr="0" anchor="b" bIns="34275" lIns="68575" spcFirstLastPara="1" rIns="68575" wrap="square" tIns="34275">
            <a:normAutofit/>
          </a:bodyPr>
          <a:lstStyle/>
          <a:p>
            <a:pPr indent="0" lvl="0" marL="0" marR="0" rtl="0" algn="l">
              <a:lnSpc>
                <a:spcPct val="120000"/>
              </a:lnSpc>
              <a:spcBef>
                <a:spcPts val="0"/>
              </a:spcBef>
              <a:spcAft>
                <a:spcPts val="0"/>
              </a:spcAft>
              <a:buClr>
                <a:schemeClr val="lt1"/>
              </a:buClr>
              <a:buSzPts val="3000"/>
              <a:buFont typeface="Quattrocento Sans"/>
              <a:buNone/>
            </a:pPr>
            <a:r>
              <a:rPr b="1" lang="es" sz="4000">
                <a:solidFill>
                  <a:schemeClr val="lt1"/>
                </a:solidFill>
                <a:latin typeface="Quattrocento Sans"/>
                <a:ea typeface="Quattrocento Sans"/>
                <a:cs typeface="Quattrocento Sans"/>
                <a:sym typeface="Quattrocento Sans"/>
              </a:rPr>
              <a:t>Analysis </a:t>
            </a:r>
            <a:endParaRPr sz="2100"/>
          </a:p>
        </p:txBody>
      </p:sp>
      <p:sp>
        <p:nvSpPr>
          <p:cNvPr id="207" name="Google Shape;207;p31"/>
          <p:cNvSpPr txBox="1"/>
          <p:nvPr>
            <p:ph idx="4294967295" type="sldNum"/>
          </p:nvPr>
        </p:nvSpPr>
        <p:spPr>
          <a:xfrm>
            <a:off x="6822737" y="4905545"/>
            <a:ext cx="2057400" cy="121200"/>
          </a:xfrm>
          <a:prstGeom prst="rect">
            <a:avLst/>
          </a:prstGeom>
          <a:noFill/>
          <a:ln>
            <a:noFill/>
          </a:ln>
        </p:spPr>
        <p:txBody>
          <a:bodyPr anchorCtr="0" anchor="ctr" bIns="34275" lIns="68575" spcFirstLastPara="1" rIns="68575" wrap="square" tIns="34275">
            <a:normAutofit fontScale="40000" lnSpcReduction="20000"/>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2"/>
          <p:cNvSpPr/>
          <p:nvPr/>
        </p:nvSpPr>
        <p:spPr>
          <a:xfrm>
            <a:off x="225029" y="4130465"/>
            <a:ext cx="8694000" cy="360600"/>
          </a:xfrm>
          <a:prstGeom prst="rect">
            <a:avLst/>
          </a:prstGeom>
          <a:solidFill>
            <a:srgbClr val="073763"/>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1100"/>
              <a:buFont typeface="Calibri"/>
              <a:buNone/>
            </a:pPr>
            <a:r>
              <a:rPr lang="es" sz="1100">
                <a:solidFill>
                  <a:schemeClr val="lt1"/>
                </a:solidFill>
                <a:latin typeface="Calibri"/>
                <a:ea typeface="Calibri"/>
                <a:cs typeface="Calibri"/>
                <a:sym typeface="Calibri"/>
              </a:rPr>
              <a:t>Porcini’s has </a:t>
            </a:r>
            <a:r>
              <a:rPr lang="es" sz="1100">
                <a:solidFill>
                  <a:schemeClr val="lt1"/>
                </a:solidFill>
                <a:latin typeface="Calibri"/>
                <a:ea typeface="Calibri"/>
                <a:cs typeface="Calibri"/>
                <a:sym typeface="Calibri"/>
              </a:rPr>
              <a:t>maintained</a:t>
            </a:r>
            <a:r>
              <a:rPr lang="es" sz="1100">
                <a:solidFill>
                  <a:schemeClr val="lt1"/>
                </a:solidFill>
                <a:latin typeface="Calibri"/>
                <a:ea typeface="Calibri"/>
                <a:cs typeface="Calibri"/>
                <a:sym typeface="Calibri"/>
              </a:rPr>
              <a:t> revenue growth but profit margin has been average amongst competitors, with low differentiation. </a:t>
            </a:r>
            <a:endParaRPr sz="1400">
              <a:solidFill>
                <a:schemeClr val="dk1"/>
              </a:solidFill>
              <a:latin typeface="Arial"/>
              <a:ea typeface="Arial"/>
              <a:cs typeface="Arial"/>
              <a:sym typeface="Arial"/>
            </a:endParaRPr>
          </a:p>
        </p:txBody>
      </p:sp>
      <p:sp>
        <p:nvSpPr>
          <p:cNvPr id="213" name="Google Shape;213;p32"/>
          <p:cNvSpPr txBox="1"/>
          <p:nvPr/>
        </p:nvSpPr>
        <p:spPr>
          <a:xfrm>
            <a:off x="198853" y="102394"/>
            <a:ext cx="14808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Financial Analysis</a:t>
            </a:r>
            <a:r>
              <a:rPr i="1" lang="es" sz="1200">
                <a:solidFill>
                  <a:srgbClr val="747474"/>
                </a:solidFill>
                <a:latin typeface="Quattrocento Sans"/>
                <a:ea typeface="Quattrocento Sans"/>
                <a:cs typeface="Quattrocento Sans"/>
                <a:sym typeface="Quattrocento Sans"/>
              </a:rPr>
              <a:t>  </a:t>
            </a:r>
            <a:endParaRPr sz="1100"/>
          </a:p>
        </p:txBody>
      </p:sp>
      <p:sp>
        <p:nvSpPr>
          <p:cNvPr id="214" name="Google Shape;214;p32"/>
          <p:cNvSpPr txBox="1"/>
          <p:nvPr>
            <p:ph idx="4294967295" type="title"/>
          </p:nvPr>
        </p:nvSpPr>
        <p:spPr>
          <a:xfrm>
            <a:off x="198853" y="345522"/>
            <a:ext cx="78867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Play"/>
              <a:buNone/>
            </a:pPr>
            <a:r>
              <a:rPr lang="es" sz="1800"/>
              <a:t>Porcini’s Financial Performance indicates…</a:t>
            </a:r>
            <a:endParaRPr sz="1800"/>
          </a:p>
        </p:txBody>
      </p:sp>
      <p:cxnSp>
        <p:nvCxnSpPr>
          <p:cNvPr id="215" name="Google Shape;215;p32"/>
          <p:cNvCxnSpPr/>
          <p:nvPr/>
        </p:nvCxnSpPr>
        <p:spPr>
          <a:xfrm>
            <a:off x="3248971" y="4790797"/>
            <a:ext cx="405000" cy="0"/>
          </a:xfrm>
          <a:prstGeom prst="straightConnector1">
            <a:avLst/>
          </a:prstGeom>
          <a:noFill/>
          <a:ln cap="flat" cmpd="sng" w="12700">
            <a:solidFill>
              <a:schemeClr val="accent1"/>
            </a:solidFill>
            <a:prstDash val="solid"/>
            <a:miter lim="800000"/>
            <a:headEnd len="sm" w="sm" type="none"/>
            <a:tailEnd len="sm" w="sm" type="none"/>
          </a:ln>
        </p:spPr>
      </p:cxnSp>
      <p:sp>
        <p:nvSpPr>
          <p:cNvPr id="216" name="Google Shape;216;p32"/>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cxnSp>
        <p:nvCxnSpPr>
          <p:cNvPr id="217" name="Google Shape;217;p32"/>
          <p:cNvCxnSpPr/>
          <p:nvPr/>
        </p:nvCxnSpPr>
        <p:spPr>
          <a:xfrm flipH="1" rot="10800000">
            <a:off x="4570650" y="1040300"/>
            <a:ext cx="2700" cy="2557800"/>
          </a:xfrm>
          <a:prstGeom prst="straightConnector1">
            <a:avLst/>
          </a:prstGeom>
          <a:noFill/>
          <a:ln cap="flat" cmpd="sng" w="12700">
            <a:solidFill>
              <a:srgbClr val="073763"/>
            </a:solidFill>
            <a:prstDash val="solid"/>
            <a:miter lim="800000"/>
            <a:headEnd len="sm" w="sm" type="none"/>
            <a:tailEnd len="sm" w="sm" type="none"/>
          </a:ln>
        </p:spPr>
      </p:cxnSp>
      <p:sp>
        <p:nvSpPr>
          <p:cNvPr id="218" name="Google Shape;218;p32"/>
          <p:cNvSpPr/>
          <p:nvPr/>
        </p:nvSpPr>
        <p:spPr>
          <a:xfrm>
            <a:off x="547625" y="1271900"/>
            <a:ext cx="3400500" cy="360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19" name="Google Shape;219;p32"/>
          <p:cNvSpPr/>
          <p:nvPr/>
        </p:nvSpPr>
        <p:spPr>
          <a:xfrm>
            <a:off x="547625" y="1832550"/>
            <a:ext cx="3400500" cy="360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20" name="Google Shape;220;p32"/>
          <p:cNvSpPr/>
          <p:nvPr/>
        </p:nvSpPr>
        <p:spPr>
          <a:xfrm>
            <a:off x="547625" y="2393200"/>
            <a:ext cx="3400500" cy="360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21" name="Google Shape;221;p32"/>
          <p:cNvSpPr/>
          <p:nvPr/>
        </p:nvSpPr>
        <p:spPr>
          <a:xfrm>
            <a:off x="547625" y="2981513"/>
            <a:ext cx="3400500" cy="360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22" name="Google Shape;222;p32"/>
          <p:cNvSpPr/>
          <p:nvPr/>
        </p:nvSpPr>
        <p:spPr>
          <a:xfrm>
            <a:off x="5114850" y="1284088"/>
            <a:ext cx="3400500" cy="360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23" name="Google Shape;223;p32"/>
          <p:cNvSpPr/>
          <p:nvPr/>
        </p:nvSpPr>
        <p:spPr>
          <a:xfrm>
            <a:off x="5114850" y="1844738"/>
            <a:ext cx="3400500" cy="360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24" name="Google Shape;224;p32"/>
          <p:cNvSpPr/>
          <p:nvPr/>
        </p:nvSpPr>
        <p:spPr>
          <a:xfrm>
            <a:off x="5114850" y="2405388"/>
            <a:ext cx="3400500" cy="360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25" name="Google Shape;225;p32"/>
          <p:cNvSpPr/>
          <p:nvPr/>
        </p:nvSpPr>
        <p:spPr>
          <a:xfrm>
            <a:off x="5114850" y="2993700"/>
            <a:ext cx="3400500" cy="360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26" name="Google Shape;226;p32"/>
          <p:cNvSpPr txBox="1"/>
          <p:nvPr/>
        </p:nvSpPr>
        <p:spPr>
          <a:xfrm>
            <a:off x="5315100" y="914800"/>
            <a:ext cx="300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1200">
                <a:solidFill>
                  <a:schemeClr val="dk1"/>
                </a:solidFill>
                <a:latin typeface="Calibri"/>
                <a:ea typeface="Calibri"/>
                <a:cs typeface="Calibri"/>
                <a:sym typeface="Calibri"/>
              </a:rPr>
              <a:t>Key financial risks</a:t>
            </a:r>
            <a:endParaRPr b="1"/>
          </a:p>
        </p:txBody>
      </p:sp>
      <p:sp>
        <p:nvSpPr>
          <p:cNvPr id="227" name="Google Shape;227;p32"/>
          <p:cNvSpPr txBox="1"/>
          <p:nvPr/>
        </p:nvSpPr>
        <p:spPr>
          <a:xfrm>
            <a:off x="653975" y="1263200"/>
            <a:ext cx="300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200">
                <a:solidFill>
                  <a:schemeClr val="dk1"/>
                </a:solidFill>
                <a:latin typeface="Calibri"/>
                <a:ea typeface="Calibri"/>
                <a:cs typeface="Calibri"/>
                <a:sym typeface="Calibri"/>
              </a:rPr>
              <a:t>Revenue (2010): $94,3 million</a:t>
            </a:r>
            <a:endParaRPr/>
          </a:p>
        </p:txBody>
      </p:sp>
      <p:sp>
        <p:nvSpPr>
          <p:cNvPr id="228" name="Google Shape;228;p32"/>
          <p:cNvSpPr txBox="1"/>
          <p:nvPr/>
        </p:nvSpPr>
        <p:spPr>
          <a:xfrm>
            <a:off x="653975" y="1828200"/>
            <a:ext cx="300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200">
                <a:solidFill>
                  <a:schemeClr val="dk1"/>
                </a:solidFill>
                <a:latin typeface="Calibri"/>
                <a:ea typeface="Calibri"/>
                <a:cs typeface="Calibri"/>
                <a:sym typeface="Calibri"/>
              </a:rPr>
              <a:t>Profit Margin (2010): 4%</a:t>
            </a:r>
            <a:endParaRPr/>
          </a:p>
        </p:txBody>
      </p:sp>
      <p:sp>
        <p:nvSpPr>
          <p:cNvPr id="229" name="Google Shape;229;p32"/>
          <p:cNvSpPr txBox="1"/>
          <p:nvPr/>
        </p:nvSpPr>
        <p:spPr>
          <a:xfrm>
            <a:off x="653975" y="2404863"/>
            <a:ext cx="300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200">
                <a:solidFill>
                  <a:schemeClr val="dk1"/>
                </a:solidFill>
                <a:latin typeface="Calibri"/>
                <a:ea typeface="Calibri"/>
                <a:cs typeface="Calibri"/>
                <a:sym typeface="Calibri"/>
              </a:rPr>
              <a:t>Number of locations: 23</a:t>
            </a:r>
            <a:endParaRPr/>
          </a:p>
        </p:txBody>
      </p:sp>
      <p:sp>
        <p:nvSpPr>
          <p:cNvPr id="230" name="Google Shape;230;p32"/>
          <p:cNvSpPr txBox="1"/>
          <p:nvPr/>
        </p:nvSpPr>
        <p:spPr>
          <a:xfrm>
            <a:off x="653975" y="2977163"/>
            <a:ext cx="300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200">
                <a:solidFill>
                  <a:schemeClr val="dk1"/>
                </a:solidFill>
                <a:latin typeface="Calibri"/>
                <a:ea typeface="Calibri"/>
                <a:cs typeface="Calibri"/>
                <a:sym typeface="Calibri"/>
              </a:rPr>
              <a:t>Average revenue per location: $4,1 million</a:t>
            </a:r>
            <a:endParaRPr/>
          </a:p>
        </p:txBody>
      </p:sp>
      <p:sp>
        <p:nvSpPr>
          <p:cNvPr id="231" name="Google Shape;231;p32"/>
          <p:cNvSpPr txBox="1"/>
          <p:nvPr/>
        </p:nvSpPr>
        <p:spPr>
          <a:xfrm>
            <a:off x="5315100" y="1275400"/>
            <a:ext cx="300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200">
                <a:solidFill>
                  <a:schemeClr val="dk1"/>
                </a:solidFill>
                <a:latin typeface="Calibri"/>
                <a:ea typeface="Calibri"/>
                <a:cs typeface="Calibri"/>
                <a:sym typeface="Calibri"/>
              </a:rPr>
              <a:t>High capital requirements</a:t>
            </a:r>
            <a:endParaRPr/>
          </a:p>
        </p:txBody>
      </p:sp>
      <p:sp>
        <p:nvSpPr>
          <p:cNvPr id="232" name="Google Shape;232;p32"/>
          <p:cNvSpPr txBox="1"/>
          <p:nvPr/>
        </p:nvSpPr>
        <p:spPr>
          <a:xfrm>
            <a:off x="5315100" y="1840400"/>
            <a:ext cx="300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200">
                <a:solidFill>
                  <a:schemeClr val="dk1"/>
                </a:solidFill>
                <a:latin typeface="Calibri"/>
                <a:ea typeface="Calibri"/>
                <a:cs typeface="Calibri"/>
                <a:sym typeface="Calibri"/>
              </a:rPr>
              <a:t>Uncertain revenue performance of Pronto</a:t>
            </a:r>
            <a:endParaRPr/>
          </a:p>
        </p:txBody>
      </p:sp>
      <p:sp>
        <p:nvSpPr>
          <p:cNvPr id="233" name="Google Shape;233;p32"/>
          <p:cNvSpPr txBox="1"/>
          <p:nvPr/>
        </p:nvSpPr>
        <p:spPr>
          <a:xfrm>
            <a:off x="5315100" y="2414875"/>
            <a:ext cx="300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200">
                <a:solidFill>
                  <a:schemeClr val="dk1"/>
                </a:solidFill>
                <a:latin typeface="Calibri"/>
                <a:ea typeface="Calibri"/>
                <a:cs typeface="Calibri"/>
                <a:sym typeface="Calibri"/>
              </a:rPr>
              <a:t>Potential brand dilution</a:t>
            </a:r>
            <a:endParaRPr/>
          </a:p>
        </p:txBody>
      </p:sp>
      <p:sp>
        <p:nvSpPr>
          <p:cNvPr id="234" name="Google Shape;234;p32"/>
          <p:cNvSpPr txBox="1"/>
          <p:nvPr/>
        </p:nvSpPr>
        <p:spPr>
          <a:xfrm>
            <a:off x="5315100" y="2985438"/>
            <a:ext cx="300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200">
                <a:solidFill>
                  <a:schemeClr val="dk1"/>
                </a:solidFill>
                <a:latin typeface="Calibri"/>
                <a:ea typeface="Calibri"/>
                <a:cs typeface="Calibri"/>
                <a:sym typeface="Calibri"/>
              </a:rPr>
              <a:t>Competitive market with established players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3"/>
          <p:cNvSpPr txBox="1"/>
          <p:nvPr/>
        </p:nvSpPr>
        <p:spPr>
          <a:xfrm>
            <a:off x="198853" y="102394"/>
            <a:ext cx="14808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Market Analysis</a:t>
            </a:r>
            <a:r>
              <a:rPr i="1" lang="es" sz="1200">
                <a:solidFill>
                  <a:srgbClr val="747474"/>
                </a:solidFill>
                <a:latin typeface="Quattrocento Sans"/>
                <a:ea typeface="Quattrocento Sans"/>
                <a:cs typeface="Quattrocento Sans"/>
                <a:sym typeface="Quattrocento Sans"/>
              </a:rPr>
              <a:t> </a:t>
            </a:r>
            <a:endParaRPr sz="1100"/>
          </a:p>
        </p:txBody>
      </p:sp>
      <p:sp>
        <p:nvSpPr>
          <p:cNvPr id="240" name="Google Shape;240;p33"/>
          <p:cNvSpPr txBox="1"/>
          <p:nvPr>
            <p:ph idx="4294967295" type="title"/>
          </p:nvPr>
        </p:nvSpPr>
        <p:spPr>
          <a:xfrm>
            <a:off x="198853" y="345522"/>
            <a:ext cx="78867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Play"/>
              <a:buNone/>
            </a:pPr>
            <a:r>
              <a:rPr lang="es" sz="1800"/>
              <a:t>We aim to capture the our audience with the large market with…</a:t>
            </a:r>
            <a:endParaRPr/>
          </a:p>
        </p:txBody>
      </p:sp>
      <p:cxnSp>
        <p:nvCxnSpPr>
          <p:cNvPr id="241" name="Google Shape;241;p33"/>
          <p:cNvCxnSpPr/>
          <p:nvPr/>
        </p:nvCxnSpPr>
        <p:spPr>
          <a:xfrm>
            <a:off x="4818418" y="1022997"/>
            <a:ext cx="4078500" cy="0"/>
          </a:xfrm>
          <a:prstGeom prst="straightConnector1">
            <a:avLst/>
          </a:prstGeom>
          <a:noFill/>
          <a:ln cap="flat" cmpd="sng" w="12700">
            <a:solidFill>
              <a:srgbClr val="073779"/>
            </a:solidFill>
            <a:prstDash val="solid"/>
            <a:miter lim="800000"/>
            <a:headEnd len="sm" w="sm" type="none"/>
            <a:tailEnd len="sm" w="sm" type="none"/>
          </a:ln>
        </p:spPr>
      </p:cxnSp>
      <p:sp>
        <p:nvSpPr>
          <p:cNvPr id="242" name="Google Shape;242;p33"/>
          <p:cNvSpPr txBox="1"/>
          <p:nvPr/>
        </p:nvSpPr>
        <p:spPr>
          <a:xfrm>
            <a:off x="4818418" y="838207"/>
            <a:ext cx="41013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1200">
                <a:solidFill>
                  <a:schemeClr val="dk1"/>
                </a:solidFill>
                <a:latin typeface="Quattrocento Sans"/>
                <a:ea typeface="Quattrocento Sans"/>
                <a:cs typeface="Quattrocento Sans"/>
                <a:sym typeface="Quattrocento Sans"/>
              </a:rPr>
              <a:t>Customer analysis</a:t>
            </a:r>
            <a:r>
              <a:rPr lang="es" sz="1200">
                <a:solidFill>
                  <a:schemeClr val="dk1"/>
                </a:solidFill>
                <a:latin typeface="Quattrocento Sans"/>
                <a:ea typeface="Quattrocento Sans"/>
                <a:cs typeface="Quattrocento Sans"/>
                <a:sym typeface="Quattrocento Sans"/>
              </a:rPr>
              <a:t> </a:t>
            </a:r>
            <a:endParaRPr sz="1200">
              <a:solidFill>
                <a:schemeClr val="dk1"/>
              </a:solidFill>
              <a:latin typeface="Quattrocento Sans"/>
              <a:ea typeface="Quattrocento Sans"/>
              <a:cs typeface="Quattrocento Sans"/>
              <a:sym typeface="Quattrocento Sans"/>
            </a:endParaRPr>
          </a:p>
        </p:txBody>
      </p:sp>
      <p:cxnSp>
        <p:nvCxnSpPr>
          <p:cNvPr id="243" name="Google Shape;243;p33"/>
          <p:cNvCxnSpPr/>
          <p:nvPr/>
        </p:nvCxnSpPr>
        <p:spPr>
          <a:xfrm>
            <a:off x="259727" y="1016956"/>
            <a:ext cx="4078500" cy="0"/>
          </a:xfrm>
          <a:prstGeom prst="straightConnector1">
            <a:avLst/>
          </a:prstGeom>
          <a:noFill/>
          <a:ln cap="flat" cmpd="sng" w="12700">
            <a:solidFill>
              <a:srgbClr val="073779"/>
            </a:solidFill>
            <a:prstDash val="solid"/>
            <a:miter lim="800000"/>
            <a:headEnd len="sm" w="sm" type="none"/>
            <a:tailEnd len="sm" w="sm" type="none"/>
          </a:ln>
        </p:spPr>
      </p:cxnSp>
      <p:sp>
        <p:nvSpPr>
          <p:cNvPr id="244" name="Google Shape;244;p33"/>
          <p:cNvSpPr txBox="1"/>
          <p:nvPr/>
        </p:nvSpPr>
        <p:spPr>
          <a:xfrm>
            <a:off x="259727" y="833717"/>
            <a:ext cx="40785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1200">
                <a:solidFill>
                  <a:schemeClr val="dk1"/>
                </a:solidFill>
                <a:latin typeface="Quattrocento Sans"/>
                <a:ea typeface="Quattrocento Sans"/>
                <a:cs typeface="Quattrocento Sans"/>
                <a:sym typeface="Quattrocento Sans"/>
              </a:rPr>
              <a:t>Competitive landscape</a:t>
            </a:r>
            <a:endParaRPr sz="1200">
              <a:solidFill>
                <a:schemeClr val="dk1"/>
              </a:solidFill>
              <a:latin typeface="Quattrocento Sans"/>
              <a:ea typeface="Quattrocento Sans"/>
              <a:cs typeface="Quattrocento Sans"/>
              <a:sym typeface="Quattrocento Sans"/>
            </a:endParaRPr>
          </a:p>
        </p:txBody>
      </p:sp>
      <p:sp>
        <p:nvSpPr>
          <p:cNvPr id="245" name="Google Shape;245;p33"/>
          <p:cNvSpPr/>
          <p:nvPr/>
        </p:nvSpPr>
        <p:spPr>
          <a:xfrm>
            <a:off x="247482" y="1222592"/>
            <a:ext cx="1882200" cy="13500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46" name="Google Shape;246;p33"/>
          <p:cNvSpPr/>
          <p:nvPr/>
        </p:nvSpPr>
        <p:spPr>
          <a:xfrm>
            <a:off x="2455959" y="1228966"/>
            <a:ext cx="1882200" cy="13500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47" name="Google Shape;247;p33"/>
          <p:cNvSpPr/>
          <p:nvPr/>
        </p:nvSpPr>
        <p:spPr>
          <a:xfrm>
            <a:off x="47424" y="1810935"/>
            <a:ext cx="312000" cy="312000"/>
          </a:xfrm>
          <a:prstGeom prst="ellipse">
            <a:avLst/>
          </a:prstGeom>
          <a:solidFill>
            <a:srgbClr val="073779"/>
          </a:solidFill>
          <a:ln cap="flat" cmpd="sng" w="412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400">
                <a:solidFill>
                  <a:schemeClr val="lt1"/>
                </a:solidFill>
                <a:latin typeface="Arial"/>
                <a:ea typeface="Arial"/>
                <a:cs typeface="Arial"/>
                <a:sym typeface="Arial"/>
              </a:rPr>
              <a:t>1</a:t>
            </a:r>
            <a:endParaRPr sz="1100"/>
          </a:p>
        </p:txBody>
      </p:sp>
      <p:sp>
        <p:nvSpPr>
          <p:cNvPr id="248" name="Google Shape;248;p33"/>
          <p:cNvSpPr/>
          <p:nvPr/>
        </p:nvSpPr>
        <p:spPr>
          <a:xfrm>
            <a:off x="2231244" y="1810922"/>
            <a:ext cx="312000" cy="312000"/>
          </a:xfrm>
          <a:prstGeom prst="ellipse">
            <a:avLst/>
          </a:prstGeom>
          <a:solidFill>
            <a:srgbClr val="073779"/>
          </a:solidFill>
          <a:ln cap="flat" cmpd="sng" w="412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400">
                <a:solidFill>
                  <a:schemeClr val="lt1"/>
                </a:solidFill>
                <a:latin typeface="Arial"/>
                <a:ea typeface="Arial"/>
                <a:cs typeface="Arial"/>
                <a:sym typeface="Arial"/>
              </a:rPr>
              <a:t>2</a:t>
            </a:r>
            <a:endParaRPr sz="1100"/>
          </a:p>
        </p:txBody>
      </p:sp>
      <p:sp>
        <p:nvSpPr>
          <p:cNvPr id="249" name="Google Shape;249;p33"/>
          <p:cNvSpPr txBox="1"/>
          <p:nvPr/>
        </p:nvSpPr>
        <p:spPr>
          <a:xfrm>
            <a:off x="447537" y="1457803"/>
            <a:ext cx="1695600" cy="861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s" sz="1200">
                <a:solidFill>
                  <a:schemeClr val="dk1"/>
                </a:solidFill>
                <a:latin typeface="Quattrocento Sans"/>
                <a:ea typeface="Quattrocento Sans"/>
                <a:cs typeface="Quattrocento Sans"/>
                <a:sym typeface="Quattrocento Sans"/>
              </a:rPr>
              <a:t>Direct competitors</a:t>
            </a:r>
            <a:endParaRPr sz="1200">
              <a:solidFill>
                <a:schemeClr val="dk1"/>
              </a:solidFill>
              <a:latin typeface="Quattrocento Sans"/>
              <a:ea typeface="Quattrocento Sans"/>
              <a:cs typeface="Quattrocento Sans"/>
              <a:sym typeface="Quattrocento Sans"/>
            </a:endParaRPr>
          </a:p>
          <a:p>
            <a:pPr indent="-298450" lvl="0" marL="457200" marR="0" rtl="0" algn="l">
              <a:spcBef>
                <a:spcPts val="0"/>
              </a:spcBef>
              <a:spcAft>
                <a:spcPts val="0"/>
              </a:spcAft>
              <a:buClr>
                <a:schemeClr val="dk1"/>
              </a:buClr>
              <a:buSzPts val="1100"/>
              <a:buFont typeface="Quattrocento Sans"/>
              <a:buChar char="●"/>
            </a:pPr>
            <a:r>
              <a:rPr lang="es" sz="1100">
                <a:solidFill>
                  <a:schemeClr val="dk1"/>
                </a:solidFill>
                <a:latin typeface="Quattrocento Sans"/>
                <a:ea typeface="Quattrocento Sans"/>
                <a:cs typeface="Quattrocento Sans"/>
                <a:sym typeface="Quattrocento Sans"/>
              </a:rPr>
              <a:t>Olive Garden</a:t>
            </a:r>
            <a:endParaRPr sz="1100">
              <a:solidFill>
                <a:schemeClr val="dk1"/>
              </a:solidFill>
              <a:latin typeface="Quattrocento Sans"/>
              <a:ea typeface="Quattrocento Sans"/>
              <a:cs typeface="Quattrocento Sans"/>
              <a:sym typeface="Quattrocento Sans"/>
            </a:endParaRPr>
          </a:p>
          <a:p>
            <a:pPr indent="-298450" lvl="0" marL="457200" marR="0" rtl="0" algn="l">
              <a:spcBef>
                <a:spcPts val="0"/>
              </a:spcBef>
              <a:spcAft>
                <a:spcPts val="0"/>
              </a:spcAft>
              <a:buClr>
                <a:schemeClr val="dk1"/>
              </a:buClr>
              <a:buSzPts val="1100"/>
              <a:buFont typeface="Quattrocento Sans"/>
              <a:buChar char="●"/>
            </a:pPr>
            <a:r>
              <a:rPr lang="es" sz="1100">
                <a:solidFill>
                  <a:schemeClr val="dk1"/>
                </a:solidFill>
                <a:latin typeface="Quattrocento Sans"/>
                <a:ea typeface="Quattrocento Sans"/>
                <a:cs typeface="Quattrocento Sans"/>
                <a:sym typeface="Quattrocento Sans"/>
              </a:rPr>
              <a:t>Cracker Barrel</a:t>
            </a:r>
            <a:endParaRPr sz="1100">
              <a:solidFill>
                <a:schemeClr val="dk1"/>
              </a:solidFill>
              <a:latin typeface="Quattrocento Sans"/>
              <a:ea typeface="Quattrocento Sans"/>
              <a:cs typeface="Quattrocento Sans"/>
              <a:sym typeface="Quattrocento Sans"/>
            </a:endParaRPr>
          </a:p>
          <a:p>
            <a:pPr indent="-298450" lvl="0" marL="457200" marR="0" rtl="0" algn="l">
              <a:spcBef>
                <a:spcPts val="0"/>
              </a:spcBef>
              <a:spcAft>
                <a:spcPts val="0"/>
              </a:spcAft>
              <a:buClr>
                <a:schemeClr val="dk1"/>
              </a:buClr>
              <a:buSzPts val="1100"/>
              <a:buFont typeface="Quattrocento Sans"/>
              <a:buChar char="●"/>
            </a:pPr>
            <a:r>
              <a:rPr lang="es" sz="1100">
                <a:solidFill>
                  <a:schemeClr val="dk1"/>
                </a:solidFill>
                <a:latin typeface="Quattrocento Sans"/>
                <a:ea typeface="Quattrocento Sans"/>
                <a:cs typeface="Quattrocento Sans"/>
                <a:sym typeface="Quattrocento Sans"/>
              </a:rPr>
              <a:t>Bob Evans and Denny’s</a:t>
            </a:r>
            <a:endParaRPr sz="1100">
              <a:solidFill>
                <a:schemeClr val="dk1"/>
              </a:solidFill>
              <a:latin typeface="Quattrocento Sans"/>
              <a:ea typeface="Quattrocento Sans"/>
              <a:cs typeface="Quattrocento Sans"/>
              <a:sym typeface="Quattrocento Sans"/>
            </a:endParaRPr>
          </a:p>
        </p:txBody>
      </p:sp>
      <p:sp>
        <p:nvSpPr>
          <p:cNvPr id="250" name="Google Shape;250;p33"/>
          <p:cNvSpPr txBox="1"/>
          <p:nvPr/>
        </p:nvSpPr>
        <p:spPr>
          <a:xfrm>
            <a:off x="2631345" y="1466025"/>
            <a:ext cx="1695600" cy="861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s" sz="1200">
                <a:solidFill>
                  <a:schemeClr val="dk1"/>
                </a:solidFill>
                <a:latin typeface="Quattrocento Sans"/>
                <a:ea typeface="Quattrocento Sans"/>
                <a:cs typeface="Quattrocento Sans"/>
                <a:sym typeface="Quattrocento Sans"/>
              </a:rPr>
              <a:t>Indirect competitors</a:t>
            </a:r>
            <a:endParaRPr sz="1100">
              <a:solidFill>
                <a:schemeClr val="dk1"/>
              </a:solidFill>
              <a:latin typeface="Quattrocento Sans"/>
              <a:ea typeface="Quattrocento Sans"/>
              <a:cs typeface="Quattrocento Sans"/>
              <a:sym typeface="Quattrocento Sans"/>
            </a:endParaRPr>
          </a:p>
          <a:p>
            <a:pPr indent="-298450" lvl="0" marL="457200" marR="0" rtl="0" algn="l">
              <a:spcBef>
                <a:spcPts val="0"/>
              </a:spcBef>
              <a:spcAft>
                <a:spcPts val="0"/>
              </a:spcAft>
              <a:buClr>
                <a:schemeClr val="dk1"/>
              </a:buClr>
              <a:buSzPts val="1100"/>
              <a:buFont typeface="Quattrocento Sans"/>
              <a:buChar char="●"/>
            </a:pPr>
            <a:r>
              <a:rPr lang="es" sz="1100">
                <a:solidFill>
                  <a:schemeClr val="dk1"/>
                </a:solidFill>
                <a:latin typeface="Quattrocento Sans"/>
                <a:ea typeface="Quattrocento Sans"/>
                <a:cs typeface="Quattrocento Sans"/>
                <a:sym typeface="Quattrocento Sans"/>
              </a:rPr>
              <a:t>Pizza Hut</a:t>
            </a:r>
            <a:endParaRPr sz="1100">
              <a:solidFill>
                <a:schemeClr val="dk1"/>
              </a:solidFill>
              <a:latin typeface="Quattrocento Sans"/>
              <a:ea typeface="Quattrocento Sans"/>
              <a:cs typeface="Quattrocento Sans"/>
              <a:sym typeface="Quattrocento Sans"/>
            </a:endParaRPr>
          </a:p>
          <a:p>
            <a:pPr indent="-298450" lvl="0" marL="457200" marR="0" rtl="0" algn="l">
              <a:spcBef>
                <a:spcPts val="0"/>
              </a:spcBef>
              <a:spcAft>
                <a:spcPts val="0"/>
              </a:spcAft>
              <a:buClr>
                <a:schemeClr val="dk1"/>
              </a:buClr>
              <a:buSzPts val="1100"/>
              <a:buFont typeface="Quattrocento Sans"/>
              <a:buChar char="●"/>
            </a:pPr>
            <a:r>
              <a:rPr lang="es" sz="1100">
                <a:solidFill>
                  <a:schemeClr val="dk1"/>
                </a:solidFill>
                <a:latin typeface="Quattrocento Sans"/>
                <a:ea typeface="Quattrocento Sans"/>
                <a:cs typeface="Quattrocento Sans"/>
                <a:sym typeface="Quattrocento Sans"/>
              </a:rPr>
              <a:t>McDonalds</a:t>
            </a:r>
            <a:endParaRPr sz="1100">
              <a:solidFill>
                <a:schemeClr val="dk1"/>
              </a:solidFill>
              <a:latin typeface="Quattrocento Sans"/>
              <a:ea typeface="Quattrocento Sans"/>
              <a:cs typeface="Quattrocento Sans"/>
              <a:sym typeface="Quattrocento Sans"/>
            </a:endParaRPr>
          </a:p>
          <a:p>
            <a:pPr indent="-298450" lvl="0" marL="457200" marR="0" rtl="0" algn="l">
              <a:spcBef>
                <a:spcPts val="0"/>
              </a:spcBef>
              <a:spcAft>
                <a:spcPts val="0"/>
              </a:spcAft>
              <a:buClr>
                <a:schemeClr val="dk1"/>
              </a:buClr>
              <a:buSzPts val="1100"/>
              <a:buFont typeface="Quattrocento Sans"/>
              <a:buChar char="●"/>
            </a:pPr>
            <a:r>
              <a:rPr lang="es" sz="1100">
                <a:solidFill>
                  <a:schemeClr val="dk1"/>
                </a:solidFill>
                <a:latin typeface="Quattrocento Sans"/>
                <a:ea typeface="Quattrocento Sans"/>
                <a:cs typeface="Quattrocento Sans"/>
                <a:sym typeface="Quattrocento Sans"/>
              </a:rPr>
              <a:t>Burger King</a:t>
            </a:r>
            <a:endParaRPr sz="1100">
              <a:solidFill>
                <a:schemeClr val="dk1"/>
              </a:solidFill>
              <a:latin typeface="Quattrocento Sans"/>
              <a:ea typeface="Quattrocento Sans"/>
              <a:cs typeface="Quattrocento Sans"/>
              <a:sym typeface="Quattrocento Sans"/>
            </a:endParaRPr>
          </a:p>
          <a:p>
            <a:pPr indent="-298450" lvl="0" marL="457200" marR="0" rtl="0" algn="l">
              <a:spcBef>
                <a:spcPts val="0"/>
              </a:spcBef>
              <a:spcAft>
                <a:spcPts val="0"/>
              </a:spcAft>
              <a:buClr>
                <a:schemeClr val="dk1"/>
              </a:buClr>
              <a:buSzPts val="1100"/>
              <a:buFont typeface="Quattrocento Sans"/>
              <a:buChar char="●"/>
            </a:pPr>
            <a:r>
              <a:rPr lang="es" sz="1100">
                <a:solidFill>
                  <a:schemeClr val="dk1"/>
                </a:solidFill>
                <a:latin typeface="Quattrocento Sans"/>
                <a:ea typeface="Quattrocento Sans"/>
                <a:cs typeface="Quattrocento Sans"/>
                <a:sym typeface="Quattrocento Sans"/>
              </a:rPr>
              <a:t>Starbucks</a:t>
            </a:r>
            <a:endParaRPr sz="1100">
              <a:solidFill>
                <a:schemeClr val="dk1"/>
              </a:solidFill>
              <a:latin typeface="Quattrocento Sans"/>
              <a:ea typeface="Quattrocento Sans"/>
              <a:cs typeface="Quattrocento Sans"/>
              <a:sym typeface="Quattrocento Sans"/>
            </a:endParaRPr>
          </a:p>
        </p:txBody>
      </p:sp>
      <p:cxnSp>
        <p:nvCxnSpPr>
          <p:cNvPr id="251" name="Google Shape;251;p33"/>
          <p:cNvCxnSpPr/>
          <p:nvPr/>
        </p:nvCxnSpPr>
        <p:spPr>
          <a:xfrm>
            <a:off x="245255" y="2973647"/>
            <a:ext cx="4078500" cy="0"/>
          </a:xfrm>
          <a:prstGeom prst="straightConnector1">
            <a:avLst/>
          </a:prstGeom>
          <a:noFill/>
          <a:ln cap="flat" cmpd="sng" w="12700">
            <a:solidFill>
              <a:srgbClr val="073779"/>
            </a:solidFill>
            <a:prstDash val="solid"/>
            <a:miter lim="800000"/>
            <a:headEnd len="sm" w="sm" type="none"/>
            <a:tailEnd len="sm" w="sm" type="none"/>
          </a:ln>
        </p:spPr>
      </p:cxnSp>
      <p:sp>
        <p:nvSpPr>
          <p:cNvPr id="252" name="Google Shape;252;p33"/>
          <p:cNvSpPr txBox="1"/>
          <p:nvPr/>
        </p:nvSpPr>
        <p:spPr>
          <a:xfrm>
            <a:off x="259724" y="2758975"/>
            <a:ext cx="28662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1200">
                <a:solidFill>
                  <a:schemeClr val="dk1"/>
                </a:solidFill>
                <a:latin typeface="Quattrocento Sans"/>
                <a:ea typeface="Quattrocento Sans"/>
                <a:cs typeface="Quattrocento Sans"/>
                <a:sym typeface="Quattrocento Sans"/>
              </a:rPr>
              <a:t>Key competitive challenges for Pronto</a:t>
            </a:r>
            <a:endParaRPr sz="1200">
              <a:solidFill>
                <a:schemeClr val="dk1"/>
              </a:solidFill>
              <a:latin typeface="Quattrocento Sans"/>
              <a:ea typeface="Quattrocento Sans"/>
              <a:cs typeface="Quattrocento Sans"/>
              <a:sym typeface="Quattrocento Sans"/>
            </a:endParaRPr>
          </a:p>
        </p:txBody>
      </p:sp>
      <p:sp>
        <p:nvSpPr>
          <p:cNvPr id="253" name="Google Shape;253;p33"/>
          <p:cNvSpPr txBox="1"/>
          <p:nvPr/>
        </p:nvSpPr>
        <p:spPr>
          <a:xfrm>
            <a:off x="259724" y="3178325"/>
            <a:ext cx="43410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s" sz="1200">
                <a:solidFill>
                  <a:schemeClr val="dk1"/>
                </a:solidFill>
                <a:latin typeface="Quattrocento Sans"/>
                <a:ea typeface="Quattrocento Sans"/>
                <a:cs typeface="Quattrocento Sans"/>
                <a:sym typeface="Quattrocento Sans"/>
              </a:rPr>
              <a:t>Brand recognition disadvantage</a:t>
            </a:r>
            <a:r>
              <a:rPr lang="es" sz="1200">
                <a:solidFill>
                  <a:schemeClr val="dk1"/>
                </a:solidFill>
                <a:latin typeface="Quattrocento Sans"/>
                <a:ea typeface="Quattrocento Sans"/>
                <a:cs typeface="Quattrocento Sans"/>
                <a:sym typeface="Quattrocento Sans"/>
              </a:rPr>
              <a:t>: Denny’s has 97% of national awareness while Porcini’s is only known regionally</a:t>
            </a:r>
            <a:endParaRPr sz="1200">
              <a:solidFill>
                <a:schemeClr val="dk1"/>
              </a:solidFill>
              <a:latin typeface="Quattrocento Sans"/>
              <a:ea typeface="Quattrocento Sans"/>
              <a:cs typeface="Quattrocento Sans"/>
              <a:sym typeface="Quattrocento Sans"/>
            </a:endParaRPr>
          </a:p>
        </p:txBody>
      </p:sp>
      <p:sp>
        <p:nvSpPr>
          <p:cNvPr id="254" name="Google Shape;254;p33"/>
          <p:cNvSpPr txBox="1"/>
          <p:nvPr/>
        </p:nvSpPr>
        <p:spPr>
          <a:xfrm>
            <a:off x="259724" y="3752300"/>
            <a:ext cx="44391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s" sz="1200">
                <a:solidFill>
                  <a:schemeClr val="dk1"/>
                </a:solidFill>
                <a:latin typeface="Quattrocento Sans"/>
                <a:ea typeface="Quattrocento Sans"/>
                <a:cs typeface="Quattrocento Sans"/>
                <a:sym typeface="Quattrocento Sans"/>
              </a:rPr>
              <a:t>Competing</a:t>
            </a:r>
            <a:r>
              <a:rPr lang="es" sz="1200">
                <a:solidFill>
                  <a:schemeClr val="dk1"/>
                </a:solidFill>
                <a:latin typeface="Quattrocento Sans"/>
                <a:ea typeface="Quattrocento Sans"/>
                <a:cs typeface="Quattrocento Sans"/>
                <a:sym typeface="Quattrocento Sans"/>
              </a:rPr>
              <a:t> with fast-food restaurants</a:t>
            </a:r>
            <a:endParaRPr sz="1200">
              <a:solidFill>
                <a:schemeClr val="dk1"/>
              </a:solidFill>
              <a:latin typeface="Quattrocento Sans"/>
              <a:ea typeface="Quattrocento Sans"/>
              <a:cs typeface="Quattrocento Sans"/>
              <a:sym typeface="Quattrocento Sans"/>
            </a:endParaRPr>
          </a:p>
        </p:txBody>
      </p:sp>
      <p:sp>
        <p:nvSpPr>
          <p:cNvPr id="255" name="Google Shape;255;p33"/>
          <p:cNvSpPr txBox="1"/>
          <p:nvPr/>
        </p:nvSpPr>
        <p:spPr>
          <a:xfrm>
            <a:off x="259724" y="4127801"/>
            <a:ext cx="42090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s" sz="1200">
                <a:solidFill>
                  <a:schemeClr val="dk1"/>
                </a:solidFill>
                <a:latin typeface="Quattrocento Sans"/>
                <a:ea typeface="Quattrocento Sans"/>
                <a:cs typeface="Quattrocento Sans"/>
                <a:sym typeface="Quattrocento Sans"/>
              </a:rPr>
              <a:t>Prime location </a:t>
            </a:r>
            <a:r>
              <a:rPr lang="es" sz="1200">
                <a:solidFill>
                  <a:schemeClr val="dk1"/>
                </a:solidFill>
                <a:latin typeface="Quattrocento Sans"/>
                <a:ea typeface="Quattrocento Sans"/>
                <a:cs typeface="Quattrocento Sans"/>
                <a:sym typeface="Quattrocento Sans"/>
              </a:rPr>
              <a:t>availability</a:t>
            </a:r>
            <a:endParaRPr sz="1200">
              <a:solidFill>
                <a:schemeClr val="dk1"/>
              </a:solidFill>
              <a:latin typeface="Quattrocento Sans"/>
              <a:ea typeface="Quattrocento Sans"/>
              <a:cs typeface="Quattrocento Sans"/>
              <a:sym typeface="Quattrocento Sans"/>
            </a:endParaRPr>
          </a:p>
        </p:txBody>
      </p:sp>
      <p:cxnSp>
        <p:nvCxnSpPr>
          <p:cNvPr id="256" name="Google Shape;256;p33"/>
          <p:cNvCxnSpPr/>
          <p:nvPr/>
        </p:nvCxnSpPr>
        <p:spPr>
          <a:xfrm>
            <a:off x="4829830" y="4102385"/>
            <a:ext cx="4078500" cy="0"/>
          </a:xfrm>
          <a:prstGeom prst="straightConnector1">
            <a:avLst/>
          </a:prstGeom>
          <a:noFill/>
          <a:ln cap="flat" cmpd="sng" w="12700">
            <a:solidFill>
              <a:srgbClr val="073779"/>
            </a:solidFill>
            <a:prstDash val="solid"/>
            <a:miter lim="800000"/>
            <a:headEnd len="sm" w="sm" type="none"/>
            <a:tailEnd len="sm" w="sm" type="none"/>
          </a:ln>
        </p:spPr>
      </p:cxnSp>
      <p:sp>
        <p:nvSpPr>
          <p:cNvPr id="257" name="Google Shape;257;p33"/>
          <p:cNvSpPr txBox="1"/>
          <p:nvPr/>
        </p:nvSpPr>
        <p:spPr>
          <a:xfrm>
            <a:off x="4829827" y="1222588"/>
            <a:ext cx="2157300" cy="215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a:solidFill>
                  <a:schemeClr val="dk1"/>
                </a:solidFill>
                <a:latin typeface="Quattrocento Sans"/>
                <a:ea typeface="Quattrocento Sans"/>
                <a:cs typeface="Quattrocento Sans"/>
                <a:sym typeface="Quattrocento Sans"/>
              </a:rPr>
              <a:t>4 key customer groups</a:t>
            </a:r>
            <a:r>
              <a:rPr lang="es" sz="1200">
                <a:solidFill>
                  <a:schemeClr val="dk1"/>
                </a:solidFill>
                <a:latin typeface="Quattrocento Sans"/>
                <a:ea typeface="Quattrocento Sans"/>
                <a:cs typeface="Quattrocento Sans"/>
                <a:sym typeface="Quattrocento Sans"/>
              </a:rPr>
              <a:t> </a:t>
            </a:r>
            <a:endParaRPr sz="1200">
              <a:solidFill>
                <a:schemeClr val="dk1"/>
              </a:solidFill>
              <a:latin typeface="Quattrocento Sans"/>
              <a:ea typeface="Quattrocento Sans"/>
              <a:cs typeface="Quattrocento Sans"/>
              <a:sym typeface="Quattrocento Sans"/>
            </a:endParaRPr>
          </a:p>
        </p:txBody>
      </p:sp>
      <p:grpSp>
        <p:nvGrpSpPr>
          <p:cNvPr id="258" name="Google Shape;258;p33"/>
          <p:cNvGrpSpPr/>
          <p:nvPr/>
        </p:nvGrpSpPr>
        <p:grpSpPr>
          <a:xfrm>
            <a:off x="4415052" y="1168577"/>
            <a:ext cx="312075" cy="3492000"/>
            <a:chOff x="5979960" y="1797269"/>
            <a:chExt cx="416100" cy="4656000"/>
          </a:xfrm>
        </p:grpSpPr>
        <p:cxnSp>
          <p:nvCxnSpPr>
            <p:cNvPr id="259" name="Google Shape;259;p33"/>
            <p:cNvCxnSpPr/>
            <p:nvPr/>
          </p:nvCxnSpPr>
          <p:spPr>
            <a:xfrm>
              <a:off x="6187966" y="1797269"/>
              <a:ext cx="0" cy="4656000"/>
            </a:xfrm>
            <a:prstGeom prst="straightConnector1">
              <a:avLst/>
            </a:prstGeom>
            <a:noFill/>
            <a:ln cap="flat" cmpd="sng" w="19050">
              <a:solidFill>
                <a:schemeClr val="lt2"/>
              </a:solidFill>
              <a:prstDash val="solid"/>
              <a:miter lim="800000"/>
              <a:headEnd len="sm" w="sm" type="none"/>
              <a:tailEnd len="sm" w="sm" type="none"/>
            </a:ln>
          </p:spPr>
        </p:cxnSp>
        <p:sp>
          <p:nvSpPr>
            <p:cNvPr id="260" name="Google Shape;260;p33"/>
            <p:cNvSpPr/>
            <p:nvPr/>
          </p:nvSpPr>
          <p:spPr>
            <a:xfrm>
              <a:off x="5979960" y="3917306"/>
              <a:ext cx="416100" cy="416100"/>
            </a:xfrm>
            <a:prstGeom prst="ellipse">
              <a:avLst/>
            </a:prstGeom>
            <a:solidFill>
              <a:srgbClr val="07377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400">
                  <a:solidFill>
                    <a:schemeClr val="lt1"/>
                  </a:solidFill>
                  <a:latin typeface="Arial"/>
                  <a:ea typeface="Arial"/>
                  <a:cs typeface="Arial"/>
                  <a:sym typeface="Arial"/>
                </a:rPr>
                <a:t>&gt;</a:t>
              </a:r>
              <a:endParaRPr sz="1100"/>
            </a:p>
          </p:txBody>
        </p:sp>
      </p:grpSp>
      <p:sp>
        <p:nvSpPr>
          <p:cNvPr id="261" name="Google Shape;261;p33"/>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262" name="Google Shape;262;p33"/>
          <p:cNvSpPr txBox="1"/>
          <p:nvPr/>
        </p:nvSpPr>
        <p:spPr>
          <a:xfrm>
            <a:off x="5011628" y="1606991"/>
            <a:ext cx="3610500" cy="2521200"/>
          </a:xfrm>
          <a:prstGeom prst="rect">
            <a:avLst/>
          </a:prstGeom>
          <a:noFill/>
          <a:ln>
            <a:noFill/>
          </a:ln>
        </p:spPr>
        <p:txBody>
          <a:bodyPr anchorCtr="0" anchor="ctr" bIns="0" lIns="0" spcFirstLastPara="1" rIns="0" wrap="square" tIns="0">
            <a:spAutoFit/>
          </a:bodyPr>
          <a:lstStyle/>
          <a:p>
            <a:pPr indent="-304800" lvl="0" marL="457200" rtl="0" algn="l">
              <a:lnSpc>
                <a:spcPct val="115000"/>
              </a:lnSpc>
              <a:spcBef>
                <a:spcPts val="1200"/>
              </a:spcBef>
              <a:spcAft>
                <a:spcPts val="0"/>
              </a:spcAft>
              <a:buClr>
                <a:schemeClr val="dk1"/>
              </a:buClr>
              <a:buSzPts val="1200"/>
              <a:buAutoNum type="arabicPeriod"/>
            </a:pPr>
            <a:r>
              <a:rPr lang="es" sz="1200">
                <a:solidFill>
                  <a:schemeClr val="dk1"/>
                </a:solidFill>
              </a:rPr>
              <a:t>Business Travelers – Want fast service and a higher-quality meal than fast food.</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lang="es" sz="1200">
                <a:solidFill>
                  <a:schemeClr val="dk1"/>
                </a:solidFill>
              </a:rPr>
              <a:t>Vacation Travelers &amp; Families – Prefer affordable, sit-down meals, especially with children-friendly options.</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lang="es" sz="1200">
                <a:solidFill>
                  <a:schemeClr val="dk1"/>
                </a:solidFill>
              </a:rPr>
              <a:t>Office Workers (Local Customers) – Looking for quick lunch options in areas near Pronto locations.</a:t>
            </a:r>
            <a:endParaRPr sz="12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s" sz="1200">
                <a:solidFill>
                  <a:schemeClr val="dk1"/>
                </a:solidFill>
              </a:rPr>
              <a:t>Budget-Conscious Travelers – Seek value for money, preferring meals in the $9-$17 range for dinner.</a:t>
            </a:r>
            <a:br>
              <a:rPr b="1" lang="es" sz="1100">
                <a:solidFill>
                  <a:schemeClr val="dk1"/>
                </a:solidFill>
              </a:rPr>
            </a:br>
            <a:endParaRPr sz="1200">
              <a:solidFill>
                <a:schemeClr val="dk1"/>
              </a:solidFill>
              <a:latin typeface="Quattrocento Sans"/>
              <a:ea typeface="Quattrocento Sans"/>
              <a:cs typeface="Quattrocento Sans"/>
              <a:sym typeface="Quattrocento Sans"/>
            </a:endParaRPr>
          </a:p>
        </p:txBody>
      </p:sp>
      <p:cxnSp>
        <p:nvCxnSpPr>
          <p:cNvPr id="263" name="Google Shape;263;p33"/>
          <p:cNvCxnSpPr/>
          <p:nvPr/>
        </p:nvCxnSpPr>
        <p:spPr>
          <a:xfrm>
            <a:off x="3248971" y="4790797"/>
            <a:ext cx="405000" cy="0"/>
          </a:xfrm>
          <a:prstGeom prst="straightConnector1">
            <a:avLst/>
          </a:prstGeom>
          <a:noFill/>
          <a:ln cap="flat" cmpd="sng" w="12700">
            <a:solidFill>
              <a:schemeClr val="accent1"/>
            </a:solidFill>
            <a:prstDash val="solid"/>
            <a:miter lim="800000"/>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id="269" name="Google Shape;269;p34" title="pexels-julianemonarifotografia-29546546.jpg"/>
          <p:cNvPicPr preferRelativeResize="0"/>
          <p:nvPr/>
        </p:nvPicPr>
        <p:blipFill rotWithShape="1">
          <a:blip r:embed="rId3">
            <a:alphaModFix/>
          </a:blip>
          <a:srcRect b="27610" l="0" r="4861" t="36926"/>
          <a:stretch/>
        </p:blipFill>
        <p:spPr>
          <a:xfrm>
            <a:off x="0" y="0"/>
            <a:ext cx="9196800" cy="5143501"/>
          </a:xfrm>
          <a:prstGeom prst="rect">
            <a:avLst/>
          </a:prstGeom>
          <a:noFill/>
          <a:ln>
            <a:noFill/>
          </a:ln>
        </p:spPr>
      </p:pic>
      <p:sp>
        <p:nvSpPr>
          <p:cNvPr id="270" name="Google Shape;270;p34"/>
          <p:cNvSpPr/>
          <p:nvPr/>
        </p:nvSpPr>
        <p:spPr>
          <a:xfrm>
            <a:off x="-26400" y="-304801"/>
            <a:ext cx="9196800" cy="5753100"/>
          </a:xfrm>
          <a:prstGeom prst="rect">
            <a:avLst/>
          </a:prstGeom>
          <a:solidFill>
            <a:schemeClr val="dk1">
              <a:alpha val="62750"/>
            </a:scheme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800"/>
              <a:buFont typeface="Arial"/>
              <a:buNone/>
            </a:pPr>
            <a:r>
              <a:t/>
            </a:r>
            <a:endParaRPr b="0" i="0" sz="800" u="none" cap="none" strike="noStrike">
              <a:solidFill>
                <a:srgbClr val="FFFFFF"/>
              </a:solidFill>
              <a:latin typeface="Calibri"/>
              <a:ea typeface="Calibri"/>
              <a:cs typeface="Calibri"/>
              <a:sym typeface="Calibri"/>
            </a:endParaRPr>
          </a:p>
        </p:txBody>
      </p:sp>
      <p:sp>
        <p:nvSpPr>
          <p:cNvPr id="271" name="Google Shape;271;p34"/>
          <p:cNvSpPr/>
          <p:nvPr/>
        </p:nvSpPr>
        <p:spPr>
          <a:xfrm>
            <a:off x="676850" y="1803568"/>
            <a:ext cx="37800" cy="1485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2" name="Google Shape;272;p34"/>
          <p:cNvSpPr txBox="1"/>
          <p:nvPr/>
        </p:nvSpPr>
        <p:spPr>
          <a:xfrm>
            <a:off x="812420" y="1605170"/>
            <a:ext cx="8234700" cy="1221300"/>
          </a:xfrm>
          <a:prstGeom prst="rect">
            <a:avLst/>
          </a:prstGeom>
          <a:noFill/>
          <a:ln>
            <a:noFill/>
          </a:ln>
        </p:spPr>
        <p:txBody>
          <a:bodyPr anchorCtr="0" anchor="b" bIns="34275" lIns="68575" spcFirstLastPara="1" rIns="68575" wrap="square" tIns="34275">
            <a:normAutofit/>
          </a:bodyPr>
          <a:lstStyle/>
          <a:p>
            <a:pPr indent="0" lvl="0" marL="0" marR="0" rtl="0" algn="l">
              <a:lnSpc>
                <a:spcPct val="120000"/>
              </a:lnSpc>
              <a:spcBef>
                <a:spcPts val="0"/>
              </a:spcBef>
              <a:spcAft>
                <a:spcPts val="0"/>
              </a:spcAft>
              <a:buClr>
                <a:schemeClr val="lt1"/>
              </a:buClr>
              <a:buSzPts val="3000"/>
              <a:buFont typeface="Quattrocento Sans"/>
              <a:buNone/>
            </a:pPr>
            <a:r>
              <a:rPr b="1" lang="es" sz="4000">
                <a:solidFill>
                  <a:schemeClr val="lt1"/>
                </a:solidFill>
                <a:latin typeface="Quattrocento Sans"/>
                <a:ea typeface="Quattrocento Sans"/>
                <a:cs typeface="Quattrocento Sans"/>
                <a:sym typeface="Quattrocento Sans"/>
              </a:rPr>
              <a:t>Recommendations</a:t>
            </a:r>
            <a:r>
              <a:rPr b="1" lang="es" sz="4000">
                <a:solidFill>
                  <a:schemeClr val="lt1"/>
                </a:solidFill>
                <a:latin typeface="Quattrocento Sans"/>
                <a:ea typeface="Quattrocento Sans"/>
                <a:cs typeface="Quattrocento Sans"/>
                <a:sym typeface="Quattrocento Sans"/>
              </a:rPr>
              <a:t> </a:t>
            </a:r>
            <a:endParaRPr sz="2100"/>
          </a:p>
        </p:txBody>
      </p:sp>
      <p:sp>
        <p:nvSpPr>
          <p:cNvPr id="273" name="Google Shape;273;p34"/>
          <p:cNvSpPr txBox="1"/>
          <p:nvPr>
            <p:ph idx="4294967295" type="sldNum"/>
          </p:nvPr>
        </p:nvSpPr>
        <p:spPr>
          <a:xfrm>
            <a:off x="6822737" y="4905545"/>
            <a:ext cx="2057400" cy="121200"/>
          </a:xfrm>
          <a:prstGeom prst="rect">
            <a:avLst/>
          </a:prstGeom>
          <a:noFill/>
          <a:ln>
            <a:noFill/>
          </a:ln>
        </p:spPr>
        <p:txBody>
          <a:bodyPr anchorCtr="0" anchor="ctr" bIns="34275" lIns="68575" spcFirstLastPara="1" rIns="68575" wrap="square" tIns="34275">
            <a:normAutofit fontScale="40000" lnSpcReduction="20000"/>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5"/>
          <p:cNvSpPr txBox="1"/>
          <p:nvPr/>
        </p:nvSpPr>
        <p:spPr>
          <a:xfrm>
            <a:off x="198853" y="102394"/>
            <a:ext cx="14808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Alternative Analysis </a:t>
            </a:r>
            <a:endParaRPr sz="1100"/>
          </a:p>
        </p:txBody>
      </p:sp>
      <p:sp>
        <p:nvSpPr>
          <p:cNvPr id="279" name="Google Shape;279;p35"/>
          <p:cNvSpPr txBox="1"/>
          <p:nvPr>
            <p:ph idx="4294967295" type="title"/>
          </p:nvPr>
        </p:nvSpPr>
        <p:spPr>
          <a:xfrm>
            <a:off x="198853" y="345522"/>
            <a:ext cx="78867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Play"/>
              <a:buNone/>
            </a:pPr>
            <a:r>
              <a:rPr lang="es" sz="1800"/>
              <a:t>Our alternatives for expansion are… </a:t>
            </a:r>
            <a:endParaRPr/>
          </a:p>
        </p:txBody>
      </p:sp>
      <p:sp>
        <p:nvSpPr>
          <p:cNvPr id="280" name="Google Shape;280;p35"/>
          <p:cNvSpPr/>
          <p:nvPr/>
        </p:nvSpPr>
        <p:spPr>
          <a:xfrm>
            <a:off x="234625" y="1161500"/>
            <a:ext cx="2688600" cy="32823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81" name="Google Shape;281;p35"/>
          <p:cNvSpPr/>
          <p:nvPr/>
        </p:nvSpPr>
        <p:spPr>
          <a:xfrm>
            <a:off x="1422925" y="976610"/>
            <a:ext cx="312000" cy="312000"/>
          </a:xfrm>
          <a:prstGeom prst="ellipse">
            <a:avLst/>
          </a:prstGeom>
          <a:solidFill>
            <a:srgbClr val="073763"/>
          </a:solidFill>
          <a:ln cap="flat" cmpd="sng" w="412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400">
                <a:solidFill>
                  <a:schemeClr val="lt1"/>
                </a:solidFill>
                <a:latin typeface="Arial"/>
                <a:ea typeface="Arial"/>
                <a:cs typeface="Arial"/>
                <a:sym typeface="Arial"/>
              </a:rPr>
              <a:t>1</a:t>
            </a:r>
            <a:endParaRPr sz="1100"/>
          </a:p>
        </p:txBody>
      </p:sp>
      <p:sp>
        <p:nvSpPr>
          <p:cNvPr id="282" name="Google Shape;282;p35"/>
          <p:cNvSpPr txBox="1"/>
          <p:nvPr/>
        </p:nvSpPr>
        <p:spPr>
          <a:xfrm>
            <a:off x="801326" y="1388488"/>
            <a:ext cx="1555200" cy="3693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1200">
                <a:solidFill>
                  <a:schemeClr val="dk1"/>
                </a:solidFill>
                <a:latin typeface="Quattrocento Sans"/>
                <a:ea typeface="Quattrocento Sans"/>
                <a:cs typeface="Quattrocento Sans"/>
                <a:sym typeface="Quattrocento Sans"/>
              </a:rPr>
              <a:t>Organic, Company-Owned</a:t>
            </a:r>
            <a:endParaRPr sz="1100">
              <a:solidFill>
                <a:schemeClr val="dk1"/>
              </a:solidFill>
              <a:latin typeface="Quattrocento Sans"/>
              <a:ea typeface="Quattrocento Sans"/>
              <a:cs typeface="Quattrocento Sans"/>
              <a:sym typeface="Quattrocento Sans"/>
            </a:endParaRPr>
          </a:p>
        </p:txBody>
      </p:sp>
      <p:sp>
        <p:nvSpPr>
          <p:cNvPr id="283" name="Google Shape;283;p35"/>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284" name="Google Shape;284;p35"/>
          <p:cNvSpPr/>
          <p:nvPr/>
        </p:nvSpPr>
        <p:spPr>
          <a:xfrm>
            <a:off x="3227700" y="1161513"/>
            <a:ext cx="2688600" cy="32823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85" name="Google Shape;285;p35"/>
          <p:cNvSpPr/>
          <p:nvPr/>
        </p:nvSpPr>
        <p:spPr>
          <a:xfrm>
            <a:off x="4416000" y="976622"/>
            <a:ext cx="312000" cy="312000"/>
          </a:xfrm>
          <a:prstGeom prst="ellipse">
            <a:avLst/>
          </a:prstGeom>
          <a:solidFill>
            <a:srgbClr val="073763"/>
          </a:solidFill>
          <a:ln cap="flat" cmpd="sng" w="412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
                <a:solidFill>
                  <a:schemeClr val="lt1"/>
                </a:solidFill>
              </a:rPr>
              <a:t>2</a:t>
            </a:r>
            <a:endParaRPr sz="1100"/>
          </a:p>
        </p:txBody>
      </p:sp>
      <p:sp>
        <p:nvSpPr>
          <p:cNvPr id="286" name="Google Shape;286;p35"/>
          <p:cNvSpPr txBox="1"/>
          <p:nvPr/>
        </p:nvSpPr>
        <p:spPr>
          <a:xfrm>
            <a:off x="3794401" y="1480750"/>
            <a:ext cx="1555200" cy="1848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1200">
                <a:solidFill>
                  <a:schemeClr val="dk1"/>
                </a:solidFill>
                <a:latin typeface="Quattrocento Sans"/>
                <a:ea typeface="Quattrocento Sans"/>
                <a:cs typeface="Quattrocento Sans"/>
                <a:sym typeface="Quattrocento Sans"/>
              </a:rPr>
              <a:t>Syndication</a:t>
            </a:r>
            <a:endParaRPr sz="1100">
              <a:solidFill>
                <a:schemeClr val="dk1"/>
              </a:solidFill>
              <a:latin typeface="Quattrocento Sans"/>
              <a:ea typeface="Quattrocento Sans"/>
              <a:cs typeface="Quattrocento Sans"/>
              <a:sym typeface="Quattrocento Sans"/>
            </a:endParaRPr>
          </a:p>
        </p:txBody>
      </p:sp>
      <p:sp>
        <p:nvSpPr>
          <p:cNvPr id="287" name="Google Shape;287;p35"/>
          <p:cNvSpPr/>
          <p:nvPr/>
        </p:nvSpPr>
        <p:spPr>
          <a:xfrm>
            <a:off x="6220775" y="1161500"/>
            <a:ext cx="2688600" cy="32823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88" name="Google Shape;288;p35"/>
          <p:cNvSpPr/>
          <p:nvPr/>
        </p:nvSpPr>
        <p:spPr>
          <a:xfrm>
            <a:off x="7409074" y="976610"/>
            <a:ext cx="312000" cy="312000"/>
          </a:xfrm>
          <a:prstGeom prst="ellipse">
            <a:avLst/>
          </a:prstGeom>
          <a:solidFill>
            <a:srgbClr val="073763"/>
          </a:solidFill>
          <a:ln cap="flat" cmpd="sng" w="412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
                <a:solidFill>
                  <a:schemeClr val="lt1"/>
                </a:solidFill>
              </a:rPr>
              <a:t>3</a:t>
            </a:r>
            <a:endParaRPr sz="1100"/>
          </a:p>
        </p:txBody>
      </p:sp>
      <p:sp>
        <p:nvSpPr>
          <p:cNvPr id="289" name="Google Shape;289;p35"/>
          <p:cNvSpPr txBox="1"/>
          <p:nvPr/>
        </p:nvSpPr>
        <p:spPr>
          <a:xfrm>
            <a:off x="6787476" y="1480738"/>
            <a:ext cx="1555200" cy="1848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1200">
                <a:solidFill>
                  <a:schemeClr val="dk1"/>
                </a:solidFill>
                <a:latin typeface="Quattrocento Sans"/>
                <a:ea typeface="Quattrocento Sans"/>
                <a:cs typeface="Quattrocento Sans"/>
                <a:sym typeface="Quattrocento Sans"/>
              </a:rPr>
              <a:t>Franchising</a:t>
            </a:r>
            <a:endParaRPr sz="1100">
              <a:solidFill>
                <a:schemeClr val="dk1"/>
              </a:solidFill>
              <a:latin typeface="Quattrocento Sans"/>
              <a:ea typeface="Quattrocento Sans"/>
              <a:cs typeface="Quattrocento Sans"/>
              <a:sym typeface="Quattrocento Sans"/>
            </a:endParaRPr>
          </a:p>
        </p:txBody>
      </p:sp>
      <p:sp>
        <p:nvSpPr>
          <p:cNvPr id="290" name="Google Shape;290;p35"/>
          <p:cNvSpPr txBox="1"/>
          <p:nvPr/>
        </p:nvSpPr>
        <p:spPr>
          <a:xfrm>
            <a:off x="430050" y="1931500"/>
            <a:ext cx="2280000" cy="2216400"/>
          </a:xfrm>
          <a:prstGeom prst="rect">
            <a:avLst/>
          </a:prstGeom>
          <a:noFill/>
          <a:ln>
            <a:noFill/>
          </a:ln>
        </p:spPr>
        <p:txBody>
          <a:bodyPr anchorCtr="0" anchor="ctr" bIns="0" lIns="0" spcFirstLastPara="1" rIns="0" wrap="square" tIns="0">
            <a:spAutoFit/>
          </a:bodyPr>
          <a:lstStyle/>
          <a:p>
            <a:pPr indent="-304800" lvl="0" marL="457200" rtl="0" algn="l">
              <a:spcBef>
                <a:spcPts val="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Porcini’s purchases land, constructs, and fully owns each location</a:t>
            </a:r>
            <a:br>
              <a:rPr lang="es" sz="1200">
                <a:solidFill>
                  <a:schemeClr val="dk1"/>
                </a:solidFill>
                <a:latin typeface="Quattrocento Sans"/>
                <a:ea typeface="Quattrocento Sans"/>
                <a:cs typeface="Quattrocento Sans"/>
                <a:sym typeface="Quattrocento Sans"/>
              </a:rPr>
            </a:br>
            <a:endParaRPr sz="1200">
              <a:solidFill>
                <a:schemeClr val="dk1"/>
              </a:solidFill>
              <a:latin typeface="Quattrocento Sans"/>
              <a:ea typeface="Quattrocento Sans"/>
              <a:cs typeface="Quattrocento Sans"/>
              <a:sym typeface="Quattrocento Sans"/>
            </a:endParaRPr>
          </a:p>
          <a:p>
            <a:pPr indent="-304800" lvl="0" marL="457200" rtl="0" algn="l">
              <a:spcBef>
                <a:spcPts val="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Operations and quality fully controlled by Porcini’s management</a:t>
            </a:r>
            <a:br>
              <a:rPr lang="es" sz="1200">
                <a:solidFill>
                  <a:schemeClr val="dk1"/>
                </a:solidFill>
                <a:latin typeface="Quattrocento Sans"/>
                <a:ea typeface="Quattrocento Sans"/>
                <a:cs typeface="Quattrocento Sans"/>
                <a:sym typeface="Quattrocento Sans"/>
              </a:rPr>
            </a:br>
            <a:endParaRPr sz="1200">
              <a:solidFill>
                <a:schemeClr val="dk1"/>
              </a:solidFill>
              <a:latin typeface="Quattrocento Sans"/>
              <a:ea typeface="Quattrocento Sans"/>
              <a:cs typeface="Quattrocento Sans"/>
              <a:sym typeface="Quattrocento Sans"/>
            </a:endParaRPr>
          </a:p>
          <a:p>
            <a:pPr indent="-304800" lvl="0" marL="457200" rtl="0" algn="l">
              <a:spcBef>
                <a:spcPts val="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Expansion limited by internal financing and capital availability</a:t>
            </a:r>
            <a:endParaRPr sz="1200">
              <a:solidFill>
                <a:schemeClr val="dk1"/>
              </a:solidFill>
              <a:latin typeface="Quattrocento Sans"/>
              <a:ea typeface="Quattrocento Sans"/>
              <a:cs typeface="Quattrocento Sans"/>
              <a:sym typeface="Quattrocento Sans"/>
            </a:endParaRPr>
          </a:p>
          <a:p>
            <a:pPr indent="0" lvl="0" marL="0" marR="0" rtl="0" algn="l">
              <a:spcBef>
                <a:spcPts val="0"/>
              </a:spcBef>
              <a:spcAft>
                <a:spcPts val="0"/>
              </a:spcAft>
              <a:buNone/>
            </a:pPr>
            <a:r>
              <a:t/>
            </a:r>
            <a:endParaRPr sz="1200">
              <a:solidFill>
                <a:schemeClr val="dk1"/>
              </a:solidFill>
              <a:latin typeface="Quattrocento Sans"/>
              <a:ea typeface="Quattrocento Sans"/>
              <a:cs typeface="Quattrocento Sans"/>
              <a:sym typeface="Quattrocento Sans"/>
            </a:endParaRPr>
          </a:p>
        </p:txBody>
      </p:sp>
      <p:sp>
        <p:nvSpPr>
          <p:cNvPr id="291" name="Google Shape;291;p35"/>
          <p:cNvSpPr txBox="1"/>
          <p:nvPr/>
        </p:nvSpPr>
        <p:spPr>
          <a:xfrm>
            <a:off x="3432000" y="1839100"/>
            <a:ext cx="2280000" cy="2401200"/>
          </a:xfrm>
          <a:prstGeom prst="rect">
            <a:avLst/>
          </a:prstGeom>
          <a:noFill/>
          <a:ln>
            <a:noFill/>
          </a:ln>
        </p:spPr>
        <p:txBody>
          <a:bodyPr anchorCtr="0" anchor="ctr" bIns="0" lIns="0" spcFirstLastPara="1" rIns="0" wrap="square" tIns="0">
            <a:spAutoFit/>
          </a:bodyPr>
          <a:lstStyle/>
          <a:p>
            <a:pPr indent="-304800" lvl="0" marL="457200" rtl="0" algn="l">
              <a:spcBef>
                <a:spcPts val="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Initially building restaurants, then selling real estate to external investors</a:t>
            </a:r>
            <a:br>
              <a:rPr lang="es" sz="1200">
                <a:solidFill>
                  <a:schemeClr val="dk1"/>
                </a:solidFill>
                <a:latin typeface="Quattrocento Sans"/>
                <a:ea typeface="Quattrocento Sans"/>
                <a:cs typeface="Quattrocento Sans"/>
                <a:sym typeface="Quattrocento Sans"/>
              </a:rPr>
            </a:br>
            <a:endParaRPr sz="1200">
              <a:solidFill>
                <a:schemeClr val="dk1"/>
              </a:solidFill>
              <a:latin typeface="Quattrocento Sans"/>
              <a:ea typeface="Quattrocento Sans"/>
              <a:cs typeface="Quattrocento Sans"/>
              <a:sym typeface="Quattrocento Sans"/>
            </a:endParaRPr>
          </a:p>
          <a:p>
            <a:pPr indent="-304800" lvl="0" marL="457200" rtl="0" algn="l">
              <a:spcBef>
                <a:spcPts val="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Operating restaurants and maintaining control over day-to-day operations</a:t>
            </a:r>
            <a:br>
              <a:rPr lang="es" sz="1200">
                <a:solidFill>
                  <a:schemeClr val="dk1"/>
                </a:solidFill>
                <a:latin typeface="Quattrocento Sans"/>
                <a:ea typeface="Quattrocento Sans"/>
                <a:cs typeface="Quattrocento Sans"/>
                <a:sym typeface="Quattrocento Sans"/>
              </a:rPr>
            </a:br>
            <a:endParaRPr sz="1200">
              <a:solidFill>
                <a:schemeClr val="dk1"/>
              </a:solidFill>
              <a:latin typeface="Quattrocento Sans"/>
              <a:ea typeface="Quattrocento Sans"/>
              <a:cs typeface="Quattrocento Sans"/>
              <a:sym typeface="Quattrocento Sans"/>
            </a:endParaRPr>
          </a:p>
          <a:p>
            <a:pPr indent="-304800" lvl="0" marL="457200" rtl="0" algn="l">
              <a:spcBef>
                <a:spcPts val="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Investors receive returns from property earnings; Porcini’s retains operational profits</a:t>
            </a:r>
            <a:endParaRPr sz="1200">
              <a:solidFill>
                <a:schemeClr val="dk1"/>
              </a:solidFill>
              <a:latin typeface="Quattrocento Sans"/>
              <a:ea typeface="Quattrocento Sans"/>
              <a:cs typeface="Quattrocento Sans"/>
              <a:sym typeface="Quattrocento Sans"/>
            </a:endParaRPr>
          </a:p>
        </p:txBody>
      </p:sp>
      <p:sp>
        <p:nvSpPr>
          <p:cNvPr id="292" name="Google Shape;292;p35"/>
          <p:cNvSpPr txBox="1"/>
          <p:nvPr/>
        </p:nvSpPr>
        <p:spPr>
          <a:xfrm>
            <a:off x="6433950" y="1857700"/>
            <a:ext cx="2280000" cy="2586000"/>
          </a:xfrm>
          <a:prstGeom prst="rect">
            <a:avLst/>
          </a:prstGeom>
          <a:noFill/>
          <a:ln>
            <a:noFill/>
          </a:ln>
        </p:spPr>
        <p:txBody>
          <a:bodyPr anchorCtr="0" anchor="ctr" bIns="0" lIns="0" spcFirstLastPara="1" rIns="0" wrap="square" tIns="0">
            <a:spAutoFit/>
          </a:bodyPr>
          <a:lstStyle/>
          <a:p>
            <a:pPr indent="-304800" lvl="0" marL="457200" rtl="0" algn="l">
              <a:spcBef>
                <a:spcPts val="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Franchisees independently own and operate restaurants under Porcini’s brand</a:t>
            </a:r>
            <a:br>
              <a:rPr lang="es" sz="1200">
                <a:solidFill>
                  <a:schemeClr val="dk1"/>
                </a:solidFill>
                <a:latin typeface="Quattrocento Sans"/>
                <a:ea typeface="Quattrocento Sans"/>
                <a:cs typeface="Quattrocento Sans"/>
                <a:sym typeface="Quattrocento Sans"/>
              </a:rPr>
            </a:br>
            <a:endParaRPr sz="1200">
              <a:solidFill>
                <a:schemeClr val="dk1"/>
              </a:solidFill>
              <a:latin typeface="Quattrocento Sans"/>
              <a:ea typeface="Quattrocento Sans"/>
              <a:cs typeface="Quattrocento Sans"/>
              <a:sym typeface="Quattrocento Sans"/>
            </a:endParaRPr>
          </a:p>
          <a:p>
            <a:pPr indent="-304800" lvl="0" marL="457200" rtl="0" algn="l">
              <a:spcBef>
                <a:spcPts val="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Setting operational guidelines, quality standards, and marketing support</a:t>
            </a:r>
            <a:br>
              <a:rPr lang="es" sz="1200">
                <a:solidFill>
                  <a:schemeClr val="dk1"/>
                </a:solidFill>
                <a:latin typeface="Quattrocento Sans"/>
                <a:ea typeface="Quattrocento Sans"/>
                <a:cs typeface="Quattrocento Sans"/>
                <a:sym typeface="Quattrocento Sans"/>
              </a:rPr>
            </a:br>
            <a:endParaRPr sz="1200">
              <a:solidFill>
                <a:schemeClr val="dk1"/>
              </a:solidFill>
              <a:latin typeface="Quattrocento Sans"/>
              <a:ea typeface="Quattrocento Sans"/>
              <a:cs typeface="Quattrocento Sans"/>
              <a:sym typeface="Quattrocento Sans"/>
            </a:endParaRPr>
          </a:p>
          <a:p>
            <a:pPr indent="-304800" lvl="0" marL="457200" rtl="0" algn="l">
              <a:spcBef>
                <a:spcPts val="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Franchisees responsible for all initial capital investment and ongoing operations</a:t>
            </a:r>
            <a:endParaRPr sz="1200">
              <a:solidFill>
                <a:schemeClr val="dk1"/>
              </a:solidFill>
              <a:latin typeface="Quattrocento Sans"/>
              <a:ea typeface="Quattrocento Sans"/>
              <a:cs typeface="Quattrocento Sans"/>
              <a:sym typeface="Quattrocento Sans"/>
            </a:endParaRPr>
          </a:p>
          <a:p>
            <a:pPr indent="0" lvl="0" marL="0" marR="0" rtl="0" algn="l">
              <a:spcBef>
                <a:spcPts val="0"/>
              </a:spcBef>
              <a:spcAft>
                <a:spcPts val="0"/>
              </a:spcAft>
              <a:buNone/>
            </a:pPr>
            <a:r>
              <a:t/>
            </a:r>
            <a:endParaRPr sz="1200">
              <a:solidFill>
                <a:schemeClr val="dk1"/>
              </a:solidFill>
              <a:latin typeface="Quattrocento Sans"/>
              <a:ea typeface="Quattrocento Sans"/>
              <a:cs typeface="Quattrocento Sans"/>
              <a:sym typeface="Quattrocento Sans"/>
            </a:endParaRPr>
          </a:p>
        </p:txBody>
      </p:sp>
      <p:cxnSp>
        <p:nvCxnSpPr>
          <p:cNvPr id="293" name="Google Shape;293;p35"/>
          <p:cNvCxnSpPr/>
          <p:nvPr/>
        </p:nvCxnSpPr>
        <p:spPr>
          <a:xfrm>
            <a:off x="4166996" y="4790797"/>
            <a:ext cx="405000" cy="0"/>
          </a:xfrm>
          <a:prstGeom prst="straightConnector1">
            <a:avLst/>
          </a:prstGeom>
          <a:noFill/>
          <a:ln cap="flat" cmpd="sng" w="12700">
            <a:solidFill>
              <a:schemeClr val="accent1"/>
            </a:solidFill>
            <a:prstDash val="solid"/>
            <a:miter lim="800000"/>
            <a:headEnd len="sm" w="sm" type="none"/>
            <a:tailEnd len="sm" w="sm"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6"/>
          <p:cNvSpPr txBox="1"/>
          <p:nvPr/>
        </p:nvSpPr>
        <p:spPr>
          <a:xfrm>
            <a:off x="198853" y="102394"/>
            <a:ext cx="14808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Alternative Analysis </a:t>
            </a:r>
            <a:endParaRPr sz="1100"/>
          </a:p>
        </p:txBody>
      </p:sp>
      <p:cxnSp>
        <p:nvCxnSpPr>
          <p:cNvPr id="299" name="Google Shape;299;p36"/>
          <p:cNvCxnSpPr/>
          <p:nvPr/>
        </p:nvCxnSpPr>
        <p:spPr>
          <a:xfrm>
            <a:off x="309454" y="1168217"/>
            <a:ext cx="8609400" cy="0"/>
          </a:xfrm>
          <a:prstGeom prst="straightConnector1">
            <a:avLst/>
          </a:prstGeom>
          <a:noFill/>
          <a:ln cap="flat" cmpd="sng" w="9525">
            <a:solidFill>
              <a:srgbClr val="595959"/>
            </a:solidFill>
            <a:prstDash val="solid"/>
            <a:miter lim="800000"/>
            <a:headEnd len="sm" w="sm" type="none"/>
            <a:tailEnd len="sm" w="sm" type="none"/>
          </a:ln>
        </p:spPr>
      </p:cxnSp>
      <p:sp>
        <p:nvSpPr>
          <p:cNvPr id="300" name="Google Shape;300;p36"/>
          <p:cNvSpPr txBox="1"/>
          <p:nvPr/>
        </p:nvSpPr>
        <p:spPr>
          <a:xfrm>
            <a:off x="314536" y="864168"/>
            <a:ext cx="17667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rgbClr val="262626"/>
              </a:buClr>
              <a:buSzPts val="1400"/>
              <a:buFont typeface="Calibri"/>
              <a:buNone/>
            </a:pPr>
            <a:r>
              <a:rPr lang="es" sz="1400">
                <a:solidFill>
                  <a:srgbClr val="262626"/>
                </a:solidFill>
                <a:latin typeface="Calibri"/>
                <a:ea typeface="Calibri"/>
                <a:cs typeface="Calibri"/>
                <a:sym typeface="Calibri"/>
              </a:rPr>
              <a:t>Alternative Analysis</a:t>
            </a:r>
            <a:endParaRPr sz="1400">
              <a:solidFill>
                <a:schemeClr val="dk1"/>
              </a:solidFill>
              <a:latin typeface="Arial"/>
              <a:ea typeface="Arial"/>
              <a:cs typeface="Arial"/>
              <a:sym typeface="Arial"/>
            </a:endParaRPr>
          </a:p>
        </p:txBody>
      </p:sp>
      <p:sp>
        <p:nvSpPr>
          <p:cNvPr id="301" name="Google Shape;301;p36"/>
          <p:cNvSpPr txBox="1"/>
          <p:nvPr>
            <p:ph idx="4294967295" type="title"/>
          </p:nvPr>
        </p:nvSpPr>
        <p:spPr>
          <a:xfrm>
            <a:off x="198850" y="345525"/>
            <a:ext cx="86094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Play"/>
              <a:buNone/>
            </a:pPr>
            <a:r>
              <a:rPr lang="es" sz="1700"/>
              <a:t>Selecting the right strategy in achieving our targets to bring long-term success</a:t>
            </a:r>
            <a:endParaRPr sz="2700"/>
          </a:p>
        </p:txBody>
      </p:sp>
      <p:sp>
        <p:nvSpPr>
          <p:cNvPr id="302" name="Google Shape;302;p36"/>
          <p:cNvSpPr/>
          <p:nvPr/>
        </p:nvSpPr>
        <p:spPr>
          <a:xfrm>
            <a:off x="7392129" y="885510"/>
            <a:ext cx="143700" cy="1437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03" name="Google Shape;303;p36"/>
          <p:cNvSpPr/>
          <p:nvPr/>
        </p:nvSpPr>
        <p:spPr>
          <a:xfrm>
            <a:off x="7782338" y="883201"/>
            <a:ext cx="143700" cy="143700"/>
          </a:xfrm>
          <a:prstGeom prst="ellipse">
            <a:avLst/>
          </a:prstGeom>
          <a:solidFill>
            <a:srgbClr val="00B05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cxnSp>
        <p:nvCxnSpPr>
          <p:cNvPr id="304" name="Google Shape;304;p36"/>
          <p:cNvCxnSpPr>
            <a:stCxn id="302" idx="6"/>
            <a:endCxn id="303" idx="2"/>
          </p:cNvCxnSpPr>
          <p:nvPr/>
        </p:nvCxnSpPr>
        <p:spPr>
          <a:xfrm flipH="1" rot="10800000">
            <a:off x="7535829" y="954960"/>
            <a:ext cx="246600" cy="2400"/>
          </a:xfrm>
          <a:prstGeom prst="straightConnector1">
            <a:avLst/>
          </a:prstGeom>
          <a:noFill/>
          <a:ln cap="flat" cmpd="sng" w="9525">
            <a:solidFill>
              <a:schemeClr val="accent1"/>
            </a:solidFill>
            <a:prstDash val="solid"/>
            <a:miter lim="800000"/>
            <a:headEnd len="sm" w="sm" type="none"/>
            <a:tailEnd len="med" w="med" type="triangle"/>
          </a:ln>
        </p:spPr>
      </p:cxnSp>
      <p:sp>
        <p:nvSpPr>
          <p:cNvPr id="305" name="Google Shape;305;p36"/>
          <p:cNvSpPr txBox="1"/>
          <p:nvPr/>
        </p:nvSpPr>
        <p:spPr>
          <a:xfrm>
            <a:off x="7926026" y="878050"/>
            <a:ext cx="696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700"/>
              <a:buFont typeface="Calibri"/>
              <a:buNone/>
            </a:pPr>
            <a:r>
              <a:rPr lang="es" sz="700">
                <a:solidFill>
                  <a:schemeClr val="dk1"/>
                </a:solidFill>
                <a:latin typeface="Calibri"/>
                <a:ea typeface="Calibri"/>
                <a:cs typeface="Calibri"/>
                <a:sym typeface="Calibri"/>
              </a:rPr>
              <a:t>Best Alternative</a:t>
            </a:r>
            <a:endParaRPr sz="1400">
              <a:solidFill>
                <a:schemeClr val="dk1"/>
              </a:solidFill>
              <a:latin typeface="Arial"/>
              <a:ea typeface="Arial"/>
              <a:cs typeface="Arial"/>
              <a:sym typeface="Arial"/>
            </a:endParaRPr>
          </a:p>
        </p:txBody>
      </p:sp>
      <p:sp>
        <p:nvSpPr>
          <p:cNvPr id="306" name="Google Shape;306;p36"/>
          <p:cNvSpPr txBox="1"/>
          <p:nvPr/>
        </p:nvSpPr>
        <p:spPr>
          <a:xfrm>
            <a:off x="6707711" y="871921"/>
            <a:ext cx="696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700"/>
              <a:buFont typeface="Calibri"/>
              <a:buNone/>
            </a:pPr>
            <a:r>
              <a:rPr lang="es" sz="700">
                <a:solidFill>
                  <a:schemeClr val="dk1"/>
                </a:solidFill>
                <a:latin typeface="Calibri"/>
                <a:ea typeface="Calibri"/>
                <a:cs typeface="Calibri"/>
                <a:sym typeface="Calibri"/>
              </a:rPr>
              <a:t>Worst  Alternative</a:t>
            </a:r>
            <a:endParaRPr sz="1400">
              <a:solidFill>
                <a:schemeClr val="dk1"/>
              </a:solidFill>
              <a:latin typeface="Arial"/>
              <a:ea typeface="Arial"/>
              <a:cs typeface="Arial"/>
              <a:sym typeface="Arial"/>
            </a:endParaRPr>
          </a:p>
        </p:txBody>
      </p:sp>
      <p:sp>
        <p:nvSpPr>
          <p:cNvPr id="307" name="Google Shape;307;p36"/>
          <p:cNvSpPr/>
          <p:nvPr/>
        </p:nvSpPr>
        <p:spPr>
          <a:xfrm>
            <a:off x="3265760" y="1385842"/>
            <a:ext cx="1577100" cy="360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1100"/>
              <a:buFont typeface="Calibri"/>
              <a:buNone/>
            </a:pPr>
            <a:r>
              <a:rPr lang="es" sz="1100">
                <a:solidFill>
                  <a:schemeClr val="dk1"/>
                </a:solidFill>
                <a:latin typeface="Calibri"/>
                <a:ea typeface="Calibri"/>
                <a:cs typeface="Calibri"/>
                <a:sym typeface="Calibri"/>
              </a:rPr>
              <a:t>Company-owned</a:t>
            </a:r>
            <a:endParaRPr sz="1400">
              <a:solidFill>
                <a:schemeClr val="dk1"/>
              </a:solidFill>
              <a:latin typeface="Arial"/>
              <a:ea typeface="Arial"/>
              <a:cs typeface="Arial"/>
              <a:sym typeface="Arial"/>
            </a:endParaRPr>
          </a:p>
        </p:txBody>
      </p:sp>
      <p:sp>
        <p:nvSpPr>
          <p:cNvPr id="308" name="Google Shape;308;p36"/>
          <p:cNvSpPr/>
          <p:nvPr/>
        </p:nvSpPr>
        <p:spPr>
          <a:xfrm>
            <a:off x="5030629" y="1385842"/>
            <a:ext cx="1577100" cy="360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1100"/>
              <a:buFont typeface="Calibri"/>
              <a:buNone/>
            </a:pPr>
            <a:r>
              <a:rPr lang="es" sz="1100">
                <a:solidFill>
                  <a:schemeClr val="dk1"/>
                </a:solidFill>
                <a:latin typeface="Calibri"/>
                <a:ea typeface="Calibri"/>
                <a:cs typeface="Calibri"/>
                <a:sym typeface="Calibri"/>
              </a:rPr>
              <a:t>Syndication</a:t>
            </a:r>
            <a:endParaRPr sz="1400">
              <a:solidFill>
                <a:schemeClr val="dk1"/>
              </a:solidFill>
              <a:latin typeface="Arial"/>
              <a:ea typeface="Arial"/>
              <a:cs typeface="Arial"/>
              <a:sym typeface="Arial"/>
            </a:endParaRPr>
          </a:p>
        </p:txBody>
      </p:sp>
      <p:sp>
        <p:nvSpPr>
          <p:cNvPr id="309" name="Google Shape;309;p36"/>
          <p:cNvSpPr/>
          <p:nvPr/>
        </p:nvSpPr>
        <p:spPr>
          <a:xfrm>
            <a:off x="6795498" y="1385842"/>
            <a:ext cx="1577100" cy="360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1100"/>
              <a:buFont typeface="Calibri"/>
              <a:buNone/>
            </a:pPr>
            <a:r>
              <a:rPr lang="es" sz="1100">
                <a:solidFill>
                  <a:schemeClr val="dk1"/>
                </a:solidFill>
                <a:latin typeface="Calibri"/>
                <a:ea typeface="Calibri"/>
                <a:cs typeface="Calibri"/>
                <a:sym typeface="Calibri"/>
              </a:rPr>
              <a:t>Franchising</a:t>
            </a:r>
            <a:endParaRPr sz="1400">
              <a:solidFill>
                <a:schemeClr val="dk1"/>
              </a:solidFill>
              <a:latin typeface="Arial"/>
              <a:ea typeface="Arial"/>
              <a:cs typeface="Arial"/>
              <a:sym typeface="Arial"/>
            </a:endParaRPr>
          </a:p>
        </p:txBody>
      </p:sp>
      <p:sp>
        <p:nvSpPr>
          <p:cNvPr id="310" name="Google Shape;310;p36"/>
          <p:cNvSpPr txBox="1"/>
          <p:nvPr/>
        </p:nvSpPr>
        <p:spPr>
          <a:xfrm>
            <a:off x="1323951" y="2071475"/>
            <a:ext cx="16809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200"/>
              <a:buFont typeface="Calibri"/>
              <a:buNone/>
            </a:pPr>
            <a:r>
              <a:rPr b="1" lang="es" sz="1200">
                <a:solidFill>
                  <a:schemeClr val="dk1"/>
                </a:solidFill>
                <a:latin typeface="Calibri"/>
                <a:ea typeface="Calibri"/>
                <a:cs typeface="Calibri"/>
                <a:sym typeface="Calibri"/>
              </a:rPr>
              <a:t>Operational Control</a:t>
            </a:r>
            <a:endParaRPr sz="1400">
              <a:solidFill>
                <a:schemeClr val="dk1"/>
              </a:solidFill>
              <a:latin typeface="Arial"/>
              <a:ea typeface="Arial"/>
              <a:cs typeface="Arial"/>
              <a:sym typeface="Arial"/>
            </a:endParaRPr>
          </a:p>
        </p:txBody>
      </p:sp>
      <p:cxnSp>
        <p:nvCxnSpPr>
          <p:cNvPr id="311" name="Google Shape;311;p36"/>
          <p:cNvCxnSpPr/>
          <p:nvPr/>
        </p:nvCxnSpPr>
        <p:spPr>
          <a:xfrm>
            <a:off x="3090652" y="1541054"/>
            <a:ext cx="0" cy="3045600"/>
          </a:xfrm>
          <a:prstGeom prst="straightConnector1">
            <a:avLst/>
          </a:prstGeom>
          <a:noFill/>
          <a:ln cap="flat" cmpd="sng" w="9525">
            <a:solidFill>
              <a:schemeClr val="lt2"/>
            </a:solidFill>
            <a:prstDash val="solid"/>
            <a:miter lim="800000"/>
            <a:headEnd len="sm" w="sm" type="none"/>
            <a:tailEnd len="sm" w="sm" type="none"/>
          </a:ln>
        </p:spPr>
      </p:cxnSp>
      <p:sp>
        <p:nvSpPr>
          <p:cNvPr id="312" name="Google Shape;312;p36"/>
          <p:cNvSpPr txBox="1"/>
          <p:nvPr/>
        </p:nvSpPr>
        <p:spPr>
          <a:xfrm>
            <a:off x="1348000" y="2560788"/>
            <a:ext cx="15771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200"/>
              <a:buFont typeface="Calibri"/>
              <a:buNone/>
            </a:pPr>
            <a:r>
              <a:rPr b="1" lang="es" sz="1200">
                <a:solidFill>
                  <a:schemeClr val="dk1"/>
                </a:solidFill>
                <a:latin typeface="Calibri"/>
                <a:ea typeface="Calibri"/>
                <a:cs typeface="Calibri"/>
                <a:sym typeface="Calibri"/>
              </a:rPr>
              <a:t>Speed of Expansion</a:t>
            </a:r>
            <a:endParaRPr sz="1400">
              <a:solidFill>
                <a:schemeClr val="dk1"/>
              </a:solidFill>
              <a:latin typeface="Arial"/>
              <a:ea typeface="Arial"/>
              <a:cs typeface="Arial"/>
              <a:sym typeface="Arial"/>
            </a:endParaRPr>
          </a:p>
        </p:txBody>
      </p:sp>
      <p:sp>
        <p:nvSpPr>
          <p:cNvPr id="313" name="Google Shape;313;p36"/>
          <p:cNvSpPr txBox="1"/>
          <p:nvPr/>
        </p:nvSpPr>
        <p:spPr>
          <a:xfrm>
            <a:off x="1347997" y="3082705"/>
            <a:ext cx="1366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200"/>
              <a:buFont typeface="Calibri"/>
              <a:buNone/>
            </a:pPr>
            <a:r>
              <a:rPr b="1" lang="es" sz="1200">
                <a:solidFill>
                  <a:schemeClr val="dk1"/>
                </a:solidFill>
                <a:latin typeface="Calibri"/>
                <a:ea typeface="Calibri"/>
                <a:cs typeface="Calibri"/>
                <a:sym typeface="Calibri"/>
              </a:rPr>
              <a:t>Capital Intensity</a:t>
            </a:r>
            <a:endParaRPr sz="1400">
              <a:solidFill>
                <a:schemeClr val="dk1"/>
              </a:solidFill>
              <a:latin typeface="Arial"/>
              <a:ea typeface="Arial"/>
              <a:cs typeface="Arial"/>
              <a:sym typeface="Arial"/>
            </a:endParaRPr>
          </a:p>
        </p:txBody>
      </p:sp>
      <p:sp>
        <p:nvSpPr>
          <p:cNvPr id="314" name="Google Shape;314;p36"/>
          <p:cNvSpPr/>
          <p:nvPr/>
        </p:nvSpPr>
        <p:spPr>
          <a:xfrm>
            <a:off x="3905510" y="2502647"/>
            <a:ext cx="297600" cy="2976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15" name="Google Shape;315;p36"/>
          <p:cNvSpPr/>
          <p:nvPr/>
        </p:nvSpPr>
        <p:spPr>
          <a:xfrm>
            <a:off x="681927" y="1383411"/>
            <a:ext cx="2220000" cy="360600"/>
          </a:xfrm>
          <a:prstGeom prst="rect">
            <a:avLst/>
          </a:prstGeom>
          <a:solidFill>
            <a:srgbClr val="073763"/>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1100"/>
              <a:buFont typeface="Calibri"/>
              <a:buNone/>
            </a:pPr>
            <a:r>
              <a:rPr lang="es" sz="1100">
                <a:solidFill>
                  <a:schemeClr val="lt1"/>
                </a:solidFill>
                <a:latin typeface="Calibri"/>
                <a:ea typeface="Calibri"/>
                <a:cs typeface="Calibri"/>
                <a:sym typeface="Calibri"/>
              </a:rPr>
              <a:t>Criteria</a:t>
            </a:r>
            <a:endParaRPr sz="1400">
              <a:solidFill>
                <a:schemeClr val="dk1"/>
              </a:solidFill>
              <a:latin typeface="Arial"/>
              <a:ea typeface="Arial"/>
              <a:cs typeface="Arial"/>
              <a:sym typeface="Arial"/>
            </a:endParaRPr>
          </a:p>
        </p:txBody>
      </p:sp>
      <p:sp>
        <p:nvSpPr>
          <p:cNvPr id="316" name="Google Shape;316;p36"/>
          <p:cNvSpPr txBox="1"/>
          <p:nvPr/>
        </p:nvSpPr>
        <p:spPr>
          <a:xfrm>
            <a:off x="1347997" y="3604608"/>
            <a:ext cx="1366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200"/>
              <a:buFont typeface="Calibri"/>
              <a:buNone/>
            </a:pPr>
            <a:r>
              <a:rPr b="1" lang="es" sz="1200">
                <a:solidFill>
                  <a:schemeClr val="dk1"/>
                </a:solidFill>
                <a:latin typeface="Calibri"/>
                <a:ea typeface="Calibri"/>
                <a:cs typeface="Calibri"/>
                <a:sym typeface="Calibri"/>
              </a:rPr>
              <a:t>Profit Margin</a:t>
            </a:r>
            <a:endParaRPr sz="1400">
              <a:solidFill>
                <a:schemeClr val="dk1"/>
              </a:solidFill>
              <a:latin typeface="Arial"/>
              <a:ea typeface="Arial"/>
              <a:cs typeface="Arial"/>
              <a:sym typeface="Arial"/>
            </a:endParaRPr>
          </a:p>
        </p:txBody>
      </p:sp>
      <p:sp>
        <p:nvSpPr>
          <p:cNvPr id="317" name="Google Shape;317;p36"/>
          <p:cNvSpPr txBox="1"/>
          <p:nvPr/>
        </p:nvSpPr>
        <p:spPr>
          <a:xfrm>
            <a:off x="1323947" y="4111852"/>
            <a:ext cx="17667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200"/>
              <a:buFont typeface="Calibri"/>
              <a:buNone/>
            </a:pPr>
            <a:r>
              <a:rPr b="1" lang="es" sz="1200">
                <a:solidFill>
                  <a:schemeClr val="dk1"/>
                </a:solidFill>
                <a:latin typeface="Calibri"/>
                <a:ea typeface="Calibri"/>
                <a:cs typeface="Calibri"/>
                <a:sym typeface="Calibri"/>
              </a:rPr>
              <a:t>Brand Consistency</a:t>
            </a:r>
            <a:endParaRPr sz="1400">
              <a:solidFill>
                <a:schemeClr val="dk1"/>
              </a:solidFill>
              <a:latin typeface="Arial"/>
              <a:ea typeface="Arial"/>
              <a:cs typeface="Arial"/>
              <a:sym typeface="Arial"/>
            </a:endParaRPr>
          </a:p>
        </p:txBody>
      </p:sp>
      <p:sp>
        <p:nvSpPr>
          <p:cNvPr id="318" name="Google Shape;318;p36"/>
          <p:cNvSpPr/>
          <p:nvPr/>
        </p:nvSpPr>
        <p:spPr>
          <a:xfrm>
            <a:off x="7435248" y="1964081"/>
            <a:ext cx="297600" cy="297600"/>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pic>
        <p:nvPicPr>
          <p:cNvPr id="319" name="Google Shape;319;p36"/>
          <p:cNvPicPr preferRelativeResize="0"/>
          <p:nvPr/>
        </p:nvPicPr>
        <p:blipFill>
          <a:blip r:embed="rId3">
            <a:alphaModFix/>
          </a:blip>
          <a:stretch>
            <a:fillRect/>
          </a:stretch>
        </p:blipFill>
        <p:spPr>
          <a:xfrm>
            <a:off x="681936" y="2466808"/>
            <a:ext cx="441755" cy="441772"/>
          </a:xfrm>
          <a:prstGeom prst="rect">
            <a:avLst/>
          </a:prstGeom>
          <a:noFill/>
          <a:ln>
            <a:noFill/>
          </a:ln>
        </p:spPr>
      </p:pic>
      <p:pic>
        <p:nvPicPr>
          <p:cNvPr id="320" name="Google Shape;320;p36"/>
          <p:cNvPicPr preferRelativeResize="0"/>
          <p:nvPr/>
        </p:nvPicPr>
        <p:blipFill>
          <a:blip r:embed="rId4">
            <a:alphaModFix/>
          </a:blip>
          <a:stretch>
            <a:fillRect/>
          </a:stretch>
        </p:blipFill>
        <p:spPr>
          <a:xfrm>
            <a:off x="681935" y="2999582"/>
            <a:ext cx="441755" cy="441772"/>
          </a:xfrm>
          <a:prstGeom prst="rect">
            <a:avLst/>
          </a:prstGeom>
          <a:noFill/>
          <a:ln>
            <a:noFill/>
          </a:ln>
        </p:spPr>
      </p:pic>
      <p:pic>
        <p:nvPicPr>
          <p:cNvPr id="321" name="Google Shape;321;p36"/>
          <p:cNvPicPr preferRelativeResize="0"/>
          <p:nvPr/>
        </p:nvPicPr>
        <p:blipFill>
          <a:blip r:embed="rId5">
            <a:alphaModFix/>
          </a:blip>
          <a:stretch>
            <a:fillRect/>
          </a:stretch>
        </p:blipFill>
        <p:spPr>
          <a:xfrm>
            <a:off x="690435" y="1998279"/>
            <a:ext cx="424746" cy="424759"/>
          </a:xfrm>
          <a:prstGeom prst="rect">
            <a:avLst/>
          </a:prstGeom>
          <a:noFill/>
          <a:ln>
            <a:noFill/>
          </a:ln>
        </p:spPr>
      </p:pic>
      <p:pic>
        <p:nvPicPr>
          <p:cNvPr id="322" name="Google Shape;322;p36"/>
          <p:cNvPicPr preferRelativeResize="0"/>
          <p:nvPr/>
        </p:nvPicPr>
        <p:blipFill>
          <a:blip r:embed="rId6">
            <a:alphaModFix/>
          </a:blip>
          <a:stretch>
            <a:fillRect/>
          </a:stretch>
        </p:blipFill>
        <p:spPr>
          <a:xfrm>
            <a:off x="718374" y="4017879"/>
            <a:ext cx="441755" cy="441772"/>
          </a:xfrm>
          <a:prstGeom prst="rect">
            <a:avLst/>
          </a:prstGeom>
          <a:noFill/>
          <a:ln>
            <a:noFill/>
          </a:ln>
        </p:spPr>
      </p:pic>
      <p:pic>
        <p:nvPicPr>
          <p:cNvPr id="323" name="Google Shape;323;p36"/>
          <p:cNvPicPr preferRelativeResize="0"/>
          <p:nvPr/>
        </p:nvPicPr>
        <p:blipFill>
          <a:blip r:embed="rId7">
            <a:alphaModFix/>
          </a:blip>
          <a:stretch>
            <a:fillRect/>
          </a:stretch>
        </p:blipFill>
        <p:spPr>
          <a:xfrm>
            <a:off x="718382" y="3532349"/>
            <a:ext cx="441755" cy="441772"/>
          </a:xfrm>
          <a:prstGeom prst="rect">
            <a:avLst/>
          </a:prstGeom>
          <a:noFill/>
          <a:ln>
            <a:noFill/>
          </a:ln>
        </p:spPr>
      </p:pic>
      <p:sp>
        <p:nvSpPr>
          <p:cNvPr id="324" name="Google Shape;324;p36"/>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325" name="Google Shape;325;p36"/>
          <p:cNvSpPr/>
          <p:nvPr/>
        </p:nvSpPr>
        <p:spPr>
          <a:xfrm>
            <a:off x="3905498" y="1975760"/>
            <a:ext cx="297600" cy="297600"/>
          </a:xfrm>
          <a:prstGeom prst="ellipse">
            <a:avLst/>
          </a:prstGeom>
          <a:solidFill>
            <a:srgbClr val="00B05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26" name="Google Shape;326;p36"/>
          <p:cNvSpPr/>
          <p:nvPr/>
        </p:nvSpPr>
        <p:spPr>
          <a:xfrm>
            <a:off x="3905510" y="3029560"/>
            <a:ext cx="297600" cy="2976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27" name="Google Shape;327;p36"/>
          <p:cNvSpPr/>
          <p:nvPr/>
        </p:nvSpPr>
        <p:spPr>
          <a:xfrm>
            <a:off x="3905498" y="4083360"/>
            <a:ext cx="297600" cy="297600"/>
          </a:xfrm>
          <a:prstGeom prst="ellipse">
            <a:avLst/>
          </a:prstGeom>
          <a:solidFill>
            <a:srgbClr val="00B05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28" name="Google Shape;328;p36"/>
          <p:cNvSpPr/>
          <p:nvPr/>
        </p:nvSpPr>
        <p:spPr>
          <a:xfrm>
            <a:off x="5670373" y="1964068"/>
            <a:ext cx="297600" cy="297600"/>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29" name="Google Shape;329;p36"/>
          <p:cNvSpPr/>
          <p:nvPr/>
        </p:nvSpPr>
        <p:spPr>
          <a:xfrm>
            <a:off x="5670373" y="2479293"/>
            <a:ext cx="297600" cy="297600"/>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30" name="Google Shape;330;p36"/>
          <p:cNvSpPr/>
          <p:nvPr/>
        </p:nvSpPr>
        <p:spPr>
          <a:xfrm>
            <a:off x="5670373" y="2994518"/>
            <a:ext cx="297600" cy="297600"/>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31" name="Google Shape;331;p36"/>
          <p:cNvSpPr/>
          <p:nvPr/>
        </p:nvSpPr>
        <p:spPr>
          <a:xfrm>
            <a:off x="5670373" y="4083343"/>
            <a:ext cx="297600" cy="297600"/>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32" name="Google Shape;332;p36"/>
          <p:cNvSpPr/>
          <p:nvPr/>
        </p:nvSpPr>
        <p:spPr>
          <a:xfrm>
            <a:off x="7435248" y="2479310"/>
            <a:ext cx="297600" cy="297600"/>
          </a:xfrm>
          <a:prstGeom prst="ellipse">
            <a:avLst/>
          </a:prstGeom>
          <a:solidFill>
            <a:srgbClr val="00B05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33" name="Google Shape;333;p36"/>
          <p:cNvSpPr/>
          <p:nvPr/>
        </p:nvSpPr>
        <p:spPr>
          <a:xfrm>
            <a:off x="7435248" y="2994535"/>
            <a:ext cx="297600" cy="297600"/>
          </a:xfrm>
          <a:prstGeom prst="ellipse">
            <a:avLst/>
          </a:prstGeom>
          <a:solidFill>
            <a:srgbClr val="00B05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34" name="Google Shape;334;p36"/>
          <p:cNvSpPr/>
          <p:nvPr/>
        </p:nvSpPr>
        <p:spPr>
          <a:xfrm>
            <a:off x="7435248" y="4068043"/>
            <a:ext cx="297600" cy="297600"/>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35" name="Google Shape;335;p36"/>
          <p:cNvSpPr txBox="1"/>
          <p:nvPr/>
        </p:nvSpPr>
        <p:spPr>
          <a:xfrm>
            <a:off x="3285776" y="3660825"/>
            <a:ext cx="1555200" cy="1848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1200">
                <a:solidFill>
                  <a:schemeClr val="dk1"/>
                </a:solidFill>
                <a:latin typeface="Quattrocento Sans"/>
                <a:ea typeface="Quattrocento Sans"/>
                <a:cs typeface="Quattrocento Sans"/>
                <a:sym typeface="Quattrocento Sans"/>
              </a:rPr>
              <a:t>6% pre-tax</a:t>
            </a:r>
            <a:endParaRPr sz="1100">
              <a:solidFill>
                <a:schemeClr val="dk1"/>
              </a:solidFill>
              <a:latin typeface="Quattrocento Sans"/>
              <a:ea typeface="Quattrocento Sans"/>
              <a:cs typeface="Quattrocento Sans"/>
              <a:sym typeface="Quattrocento Sans"/>
            </a:endParaRPr>
          </a:p>
        </p:txBody>
      </p:sp>
      <p:sp>
        <p:nvSpPr>
          <p:cNvPr id="336" name="Google Shape;336;p36"/>
          <p:cNvSpPr txBox="1"/>
          <p:nvPr/>
        </p:nvSpPr>
        <p:spPr>
          <a:xfrm>
            <a:off x="5036101" y="3639088"/>
            <a:ext cx="1555200" cy="1848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1200">
                <a:solidFill>
                  <a:schemeClr val="dk1"/>
                </a:solidFill>
                <a:latin typeface="Quattrocento Sans"/>
                <a:ea typeface="Quattrocento Sans"/>
                <a:cs typeface="Quattrocento Sans"/>
                <a:sym typeface="Quattrocento Sans"/>
              </a:rPr>
              <a:t>4% pre-tax</a:t>
            </a:r>
            <a:endParaRPr sz="1100">
              <a:solidFill>
                <a:schemeClr val="dk1"/>
              </a:solidFill>
              <a:latin typeface="Quattrocento Sans"/>
              <a:ea typeface="Quattrocento Sans"/>
              <a:cs typeface="Quattrocento Sans"/>
              <a:sym typeface="Quattrocento Sans"/>
            </a:endParaRPr>
          </a:p>
        </p:txBody>
      </p:sp>
      <p:sp>
        <p:nvSpPr>
          <p:cNvPr id="337" name="Google Shape;337;p36"/>
          <p:cNvSpPr txBox="1"/>
          <p:nvPr/>
        </p:nvSpPr>
        <p:spPr>
          <a:xfrm>
            <a:off x="6806451" y="3639088"/>
            <a:ext cx="1555200" cy="1848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1200">
                <a:solidFill>
                  <a:schemeClr val="dk1"/>
                </a:solidFill>
                <a:latin typeface="Quattrocento Sans"/>
                <a:ea typeface="Quattrocento Sans"/>
                <a:cs typeface="Quattrocento Sans"/>
                <a:sym typeface="Quattrocento Sans"/>
              </a:rPr>
              <a:t>2% net</a:t>
            </a:r>
            <a:endParaRPr sz="1100">
              <a:solidFill>
                <a:schemeClr val="dk1"/>
              </a:solidFill>
              <a:latin typeface="Quattrocento Sans"/>
              <a:ea typeface="Quattrocento Sans"/>
              <a:cs typeface="Quattrocento Sans"/>
              <a:sym typeface="Quattrocento Sans"/>
            </a:endParaRPr>
          </a:p>
        </p:txBody>
      </p:sp>
      <p:cxnSp>
        <p:nvCxnSpPr>
          <p:cNvPr id="338" name="Google Shape;338;p36"/>
          <p:cNvCxnSpPr/>
          <p:nvPr/>
        </p:nvCxnSpPr>
        <p:spPr>
          <a:xfrm>
            <a:off x="4166996" y="4790797"/>
            <a:ext cx="405000" cy="0"/>
          </a:xfrm>
          <a:prstGeom prst="straightConnector1">
            <a:avLst/>
          </a:prstGeom>
          <a:noFill/>
          <a:ln cap="flat" cmpd="sng" w="12700">
            <a:solidFill>
              <a:schemeClr val="accent1"/>
            </a:solidFill>
            <a:prstDash val="solid"/>
            <a:miter lim="800000"/>
            <a:headEnd len="sm" w="sm" type="none"/>
            <a:tailEnd len="sm" w="sm"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7"/>
          <p:cNvSpPr txBox="1"/>
          <p:nvPr/>
        </p:nvSpPr>
        <p:spPr>
          <a:xfrm>
            <a:off x="198853" y="102394"/>
            <a:ext cx="14808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Alternative Analysis </a:t>
            </a:r>
            <a:endParaRPr sz="1100"/>
          </a:p>
        </p:txBody>
      </p:sp>
      <p:cxnSp>
        <p:nvCxnSpPr>
          <p:cNvPr id="344" name="Google Shape;344;p37"/>
          <p:cNvCxnSpPr/>
          <p:nvPr/>
        </p:nvCxnSpPr>
        <p:spPr>
          <a:xfrm>
            <a:off x="309454" y="1168217"/>
            <a:ext cx="8609400" cy="0"/>
          </a:xfrm>
          <a:prstGeom prst="straightConnector1">
            <a:avLst/>
          </a:prstGeom>
          <a:noFill/>
          <a:ln cap="flat" cmpd="sng" w="9525">
            <a:solidFill>
              <a:srgbClr val="595959"/>
            </a:solidFill>
            <a:prstDash val="solid"/>
            <a:miter lim="800000"/>
            <a:headEnd len="sm" w="sm" type="none"/>
            <a:tailEnd len="sm" w="sm" type="none"/>
          </a:ln>
        </p:spPr>
      </p:cxnSp>
      <p:sp>
        <p:nvSpPr>
          <p:cNvPr id="345" name="Google Shape;345;p37"/>
          <p:cNvSpPr txBox="1"/>
          <p:nvPr/>
        </p:nvSpPr>
        <p:spPr>
          <a:xfrm>
            <a:off x="314536" y="864168"/>
            <a:ext cx="17667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rgbClr val="262626"/>
              </a:buClr>
              <a:buSzPts val="1400"/>
              <a:buFont typeface="Calibri"/>
              <a:buNone/>
            </a:pPr>
            <a:r>
              <a:rPr lang="es" sz="1400">
                <a:solidFill>
                  <a:srgbClr val="262626"/>
                </a:solidFill>
                <a:latin typeface="Calibri"/>
                <a:ea typeface="Calibri"/>
                <a:cs typeface="Calibri"/>
                <a:sym typeface="Calibri"/>
              </a:rPr>
              <a:t>Alternative Analysis</a:t>
            </a:r>
            <a:endParaRPr sz="1400">
              <a:solidFill>
                <a:schemeClr val="dk1"/>
              </a:solidFill>
              <a:latin typeface="Arial"/>
              <a:ea typeface="Arial"/>
              <a:cs typeface="Arial"/>
              <a:sym typeface="Arial"/>
            </a:endParaRPr>
          </a:p>
        </p:txBody>
      </p:sp>
      <p:sp>
        <p:nvSpPr>
          <p:cNvPr id="346" name="Google Shape;346;p37"/>
          <p:cNvSpPr/>
          <p:nvPr/>
        </p:nvSpPr>
        <p:spPr>
          <a:xfrm>
            <a:off x="7392129" y="885510"/>
            <a:ext cx="143700" cy="1437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47" name="Google Shape;347;p37"/>
          <p:cNvSpPr/>
          <p:nvPr/>
        </p:nvSpPr>
        <p:spPr>
          <a:xfrm>
            <a:off x="7782338" y="883201"/>
            <a:ext cx="143700" cy="143700"/>
          </a:xfrm>
          <a:prstGeom prst="ellipse">
            <a:avLst/>
          </a:prstGeom>
          <a:solidFill>
            <a:srgbClr val="00B05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cxnSp>
        <p:nvCxnSpPr>
          <p:cNvPr id="348" name="Google Shape;348;p37"/>
          <p:cNvCxnSpPr>
            <a:stCxn id="346" idx="6"/>
            <a:endCxn id="347" idx="2"/>
          </p:cNvCxnSpPr>
          <p:nvPr/>
        </p:nvCxnSpPr>
        <p:spPr>
          <a:xfrm flipH="1" rot="10800000">
            <a:off x="7535829" y="954960"/>
            <a:ext cx="246600" cy="2400"/>
          </a:xfrm>
          <a:prstGeom prst="straightConnector1">
            <a:avLst/>
          </a:prstGeom>
          <a:noFill/>
          <a:ln cap="flat" cmpd="sng" w="9525">
            <a:solidFill>
              <a:schemeClr val="accent1"/>
            </a:solidFill>
            <a:prstDash val="solid"/>
            <a:miter lim="800000"/>
            <a:headEnd len="sm" w="sm" type="none"/>
            <a:tailEnd len="med" w="med" type="triangle"/>
          </a:ln>
        </p:spPr>
      </p:cxnSp>
      <p:sp>
        <p:nvSpPr>
          <p:cNvPr id="349" name="Google Shape;349;p37"/>
          <p:cNvSpPr txBox="1"/>
          <p:nvPr/>
        </p:nvSpPr>
        <p:spPr>
          <a:xfrm>
            <a:off x="7926026" y="878050"/>
            <a:ext cx="696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700"/>
              <a:buFont typeface="Calibri"/>
              <a:buNone/>
            </a:pPr>
            <a:r>
              <a:rPr lang="es" sz="700">
                <a:solidFill>
                  <a:schemeClr val="dk1"/>
                </a:solidFill>
                <a:latin typeface="Calibri"/>
                <a:ea typeface="Calibri"/>
                <a:cs typeface="Calibri"/>
                <a:sym typeface="Calibri"/>
              </a:rPr>
              <a:t>Best </a:t>
            </a:r>
            <a:r>
              <a:rPr lang="es" sz="700">
                <a:solidFill>
                  <a:schemeClr val="dk1"/>
                </a:solidFill>
                <a:latin typeface="Calibri"/>
                <a:ea typeface="Calibri"/>
                <a:cs typeface="Calibri"/>
                <a:sym typeface="Calibri"/>
              </a:rPr>
              <a:t>Alternative</a:t>
            </a:r>
            <a:endParaRPr sz="1400">
              <a:solidFill>
                <a:schemeClr val="dk1"/>
              </a:solidFill>
              <a:latin typeface="Arial"/>
              <a:ea typeface="Arial"/>
              <a:cs typeface="Arial"/>
              <a:sym typeface="Arial"/>
            </a:endParaRPr>
          </a:p>
        </p:txBody>
      </p:sp>
      <p:sp>
        <p:nvSpPr>
          <p:cNvPr id="350" name="Google Shape;350;p37"/>
          <p:cNvSpPr txBox="1"/>
          <p:nvPr/>
        </p:nvSpPr>
        <p:spPr>
          <a:xfrm>
            <a:off x="6707711" y="871921"/>
            <a:ext cx="696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700"/>
              <a:buFont typeface="Calibri"/>
              <a:buNone/>
            </a:pPr>
            <a:r>
              <a:rPr lang="es" sz="700">
                <a:solidFill>
                  <a:schemeClr val="dk1"/>
                </a:solidFill>
                <a:latin typeface="Calibri"/>
                <a:ea typeface="Calibri"/>
                <a:cs typeface="Calibri"/>
                <a:sym typeface="Calibri"/>
              </a:rPr>
              <a:t>Worst  Alternative</a:t>
            </a:r>
            <a:endParaRPr sz="1400">
              <a:solidFill>
                <a:schemeClr val="dk1"/>
              </a:solidFill>
              <a:latin typeface="Arial"/>
              <a:ea typeface="Arial"/>
              <a:cs typeface="Arial"/>
              <a:sym typeface="Arial"/>
            </a:endParaRPr>
          </a:p>
        </p:txBody>
      </p:sp>
      <p:sp>
        <p:nvSpPr>
          <p:cNvPr id="351" name="Google Shape;351;p37"/>
          <p:cNvSpPr/>
          <p:nvPr/>
        </p:nvSpPr>
        <p:spPr>
          <a:xfrm>
            <a:off x="3265760" y="1385842"/>
            <a:ext cx="1577100" cy="360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1100"/>
              <a:buFont typeface="Calibri"/>
              <a:buNone/>
            </a:pPr>
            <a:r>
              <a:rPr lang="es" sz="1100">
                <a:solidFill>
                  <a:schemeClr val="dk1"/>
                </a:solidFill>
                <a:latin typeface="Calibri"/>
                <a:ea typeface="Calibri"/>
                <a:cs typeface="Calibri"/>
                <a:sym typeface="Calibri"/>
              </a:rPr>
              <a:t>Company-owned</a:t>
            </a:r>
            <a:endParaRPr sz="1400">
              <a:solidFill>
                <a:schemeClr val="dk1"/>
              </a:solidFill>
              <a:latin typeface="Arial"/>
              <a:ea typeface="Arial"/>
              <a:cs typeface="Arial"/>
              <a:sym typeface="Arial"/>
            </a:endParaRPr>
          </a:p>
        </p:txBody>
      </p:sp>
      <p:sp>
        <p:nvSpPr>
          <p:cNvPr id="352" name="Google Shape;352;p37"/>
          <p:cNvSpPr/>
          <p:nvPr/>
        </p:nvSpPr>
        <p:spPr>
          <a:xfrm>
            <a:off x="5030629" y="1385842"/>
            <a:ext cx="1577100" cy="360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1100"/>
              <a:buFont typeface="Calibri"/>
              <a:buNone/>
            </a:pPr>
            <a:r>
              <a:rPr lang="es" sz="1100">
                <a:solidFill>
                  <a:schemeClr val="dk1"/>
                </a:solidFill>
                <a:latin typeface="Calibri"/>
                <a:ea typeface="Calibri"/>
                <a:cs typeface="Calibri"/>
                <a:sym typeface="Calibri"/>
              </a:rPr>
              <a:t>Syndication</a:t>
            </a:r>
            <a:endParaRPr sz="1400">
              <a:solidFill>
                <a:schemeClr val="dk1"/>
              </a:solidFill>
              <a:latin typeface="Arial"/>
              <a:ea typeface="Arial"/>
              <a:cs typeface="Arial"/>
              <a:sym typeface="Arial"/>
            </a:endParaRPr>
          </a:p>
        </p:txBody>
      </p:sp>
      <p:sp>
        <p:nvSpPr>
          <p:cNvPr id="353" name="Google Shape;353;p37"/>
          <p:cNvSpPr/>
          <p:nvPr/>
        </p:nvSpPr>
        <p:spPr>
          <a:xfrm>
            <a:off x="6795498" y="1385842"/>
            <a:ext cx="1577100" cy="360600"/>
          </a:xfrm>
          <a:prstGeom prst="rect">
            <a:avLst/>
          </a:prstGeom>
          <a:solidFill>
            <a:srgbClr val="FFBFBF">
              <a:alpha val="4706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1100"/>
              <a:buFont typeface="Calibri"/>
              <a:buNone/>
            </a:pPr>
            <a:r>
              <a:rPr lang="es" sz="1100">
                <a:solidFill>
                  <a:schemeClr val="dk1"/>
                </a:solidFill>
                <a:latin typeface="Calibri"/>
                <a:ea typeface="Calibri"/>
                <a:cs typeface="Calibri"/>
                <a:sym typeface="Calibri"/>
              </a:rPr>
              <a:t>Franchising</a:t>
            </a:r>
            <a:endParaRPr sz="1400">
              <a:solidFill>
                <a:schemeClr val="dk1"/>
              </a:solidFill>
              <a:latin typeface="Arial"/>
              <a:ea typeface="Arial"/>
              <a:cs typeface="Arial"/>
              <a:sym typeface="Arial"/>
            </a:endParaRPr>
          </a:p>
        </p:txBody>
      </p:sp>
      <p:sp>
        <p:nvSpPr>
          <p:cNvPr id="354" name="Google Shape;354;p37"/>
          <p:cNvSpPr txBox="1"/>
          <p:nvPr/>
        </p:nvSpPr>
        <p:spPr>
          <a:xfrm>
            <a:off x="1323951" y="2071475"/>
            <a:ext cx="16809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200"/>
              <a:buFont typeface="Calibri"/>
              <a:buNone/>
            </a:pPr>
            <a:r>
              <a:rPr b="1" lang="es" sz="1200">
                <a:solidFill>
                  <a:schemeClr val="dk1"/>
                </a:solidFill>
                <a:latin typeface="Calibri"/>
                <a:ea typeface="Calibri"/>
                <a:cs typeface="Calibri"/>
                <a:sym typeface="Calibri"/>
              </a:rPr>
              <a:t>Operational Control</a:t>
            </a:r>
            <a:endParaRPr sz="1400">
              <a:solidFill>
                <a:schemeClr val="dk1"/>
              </a:solidFill>
              <a:latin typeface="Arial"/>
              <a:ea typeface="Arial"/>
              <a:cs typeface="Arial"/>
              <a:sym typeface="Arial"/>
            </a:endParaRPr>
          </a:p>
        </p:txBody>
      </p:sp>
      <p:cxnSp>
        <p:nvCxnSpPr>
          <p:cNvPr id="355" name="Google Shape;355;p37"/>
          <p:cNvCxnSpPr/>
          <p:nvPr/>
        </p:nvCxnSpPr>
        <p:spPr>
          <a:xfrm>
            <a:off x="3090652" y="1541054"/>
            <a:ext cx="0" cy="3045600"/>
          </a:xfrm>
          <a:prstGeom prst="straightConnector1">
            <a:avLst/>
          </a:prstGeom>
          <a:noFill/>
          <a:ln cap="flat" cmpd="sng" w="9525">
            <a:solidFill>
              <a:schemeClr val="lt2"/>
            </a:solidFill>
            <a:prstDash val="solid"/>
            <a:miter lim="800000"/>
            <a:headEnd len="sm" w="sm" type="none"/>
            <a:tailEnd len="sm" w="sm" type="none"/>
          </a:ln>
        </p:spPr>
      </p:cxnSp>
      <p:sp>
        <p:nvSpPr>
          <p:cNvPr id="356" name="Google Shape;356;p37"/>
          <p:cNvSpPr txBox="1"/>
          <p:nvPr/>
        </p:nvSpPr>
        <p:spPr>
          <a:xfrm>
            <a:off x="1348000" y="2560788"/>
            <a:ext cx="15771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200"/>
              <a:buFont typeface="Calibri"/>
              <a:buNone/>
            </a:pPr>
            <a:r>
              <a:rPr b="1" lang="es" sz="1200">
                <a:solidFill>
                  <a:schemeClr val="dk1"/>
                </a:solidFill>
                <a:latin typeface="Calibri"/>
                <a:ea typeface="Calibri"/>
                <a:cs typeface="Calibri"/>
                <a:sym typeface="Calibri"/>
              </a:rPr>
              <a:t>Speed of Expansion</a:t>
            </a:r>
            <a:endParaRPr sz="1400">
              <a:solidFill>
                <a:schemeClr val="dk1"/>
              </a:solidFill>
              <a:latin typeface="Arial"/>
              <a:ea typeface="Arial"/>
              <a:cs typeface="Arial"/>
              <a:sym typeface="Arial"/>
            </a:endParaRPr>
          </a:p>
        </p:txBody>
      </p:sp>
      <p:sp>
        <p:nvSpPr>
          <p:cNvPr id="357" name="Google Shape;357;p37"/>
          <p:cNvSpPr txBox="1"/>
          <p:nvPr/>
        </p:nvSpPr>
        <p:spPr>
          <a:xfrm>
            <a:off x="1347997" y="3082705"/>
            <a:ext cx="1366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200"/>
              <a:buFont typeface="Calibri"/>
              <a:buNone/>
            </a:pPr>
            <a:r>
              <a:rPr b="1" lang="es" sz="1200">
                <a:solidFill>
                  <a:schemeClr val="dk1"/>
                </a:solidFill>
                <a:latin typeface="Calibri"/>
                <a:ea typeface="Calibri"/>
                <a:cs typeface="Calibri"/>
                <a:sym typeface="Calibri"/>
              </a:rPr>
              <a:t>Capital Intensity</a:t>
            </a:r>
            <a:endParaRPr sz="1400">
              <a:solidFill>
                <a:schemeClr val="dk1"/>
              </a:solidFill>
              <a:latin typeface="Arial"/>
              <a:ea typeface="Arial"/>
              <a:cs typeface="Arial"/>
              <a:sym typeface="Arial"/>
            </a:endParaRPr>
          </a:p>
        </p:txBody>
      </p:sp>
      <p:sp>
        <p:nvSpPr>
          <p:cNvPr id="358" name="Google Shape;358;p37"/>
          <p:cNvSpPr/>
          <p:nvPr/>
        </p:nvSpPr>
        <p:spPr>
          <a:xfrm>
            <a:off x="3905510" y="2502647"/>
            <a:ext cx="297600" cy="2976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59" name="Google Shape;359;p37"/>
          <p:cNvSpPr/>
          <p:nvPr/>
        </p:nvSpPr>
        <p:spPr>
          <a:xfrm>
            <a:off x="681927" y="1383411"/>
            <a:ext cx="2220000" cy="360600"/>
          </a:xfrm>
          <a:prstGeom prst="rect">
            <a:avLst/>
          </a:prstGeom>
          <a:solidFill>
            <a:srgbClr val="073763"/>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1100"/>
              <a:buFont typeface="Calibri"/>
              <a:buNone/>
            </a:pPr>
            <a:r>
              <a:rPr lang="es" sz="1100">
                <a:solidFill>
                  <a:schemeClr val="lt1"/>
                </a:solidFill>
                <a:latin typeface="Calibri"/>
                <a:ea typeface="Calibri"/>
                <a:cs typeface="Calibri"/>
                <a:sym typeface="Calibri"/>
              </a:rPr>
              <a:t>Criteria</a:t>
            </a:r>
            <a:endParaRPr sz="1400">
              <a:solidFill>
                <a:schemeClr val="dk1"/>
              </a:solidFill>
              <a:latin typeface="Arial"/>
              <a:ea typeface="Arial"/>
              <a:cs typeface="Arial"/>
              <a:sym typeface="Arial"/>
            </a:endParaRPr>
          </a:p>
        </p:txBody>
      </p:sp>
      <p:sp>
        <p:nvSpPr>
          <p:cNvPr id="360" name="Google Shape;360;p37"/>
          <p:cNvSpPr txBox="1"/>
          <p:nvPr/>
        </p:nvSpPr>
        <p:spPr>
          <a:xfrm>
            <a:off x="1347997" y="3604608"/>
            <a:ext cx="1366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200"/>
              <a:buFont typeface="Calibri"/>
              <a:buNone/>
            </a:pPr>
            <a:r>
              <a:rPr b="1" lang="es" sz="1200">
                <a:solidFill>
                  <a:schemeClr val="dk1"/>
                </a:solidFill>
                <a:latin typeface="Calibri"/>
                <a:ea typeface="Calibri"/>
                <a:cs typeface="Calibri"/>
                <a:sym typeface="Calibri"/>
              </a:rPr>
              <a:t>Profit Margin</a:t>
            </a:r>
            <a:endParaRPr sz="1400">
              <a:solidFill>
                <a:schemeClr val="dk1"/>
              </a:solidFill>
              <a:latin typeface="Arial"/>
              <a:ea typeface="Arial"/>
              <a:cs typeface="Arial"/>
              <a:sym typeface="Arial"/>
            </a:endParaRPr>
          </a:p>
        </p:txBody>
      </p:sp>
      <p:sp>
        <p:nvSpPr>
          <p:cNvPr id="361" name="Google Shape;361;p37"/>
          <p:cNvSpPr txBox="1"/>
          <p:nvPr/>
        </p:nvSpPr>
        <p:spPr>
          <a:xfrm>
            <a:off x="1323947" y="4111852"/>
            <a:ext cx="17667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200"/>
              <a:buFont typeface="Calibri"/>
              <a:buNone/>
            </a:pPr>
            <a:r>
              <a:rPr b="1" lang="es" sz="1200">
                <a:solidFill>
                  <a:schemeClr val="dk1"/>
                </a:solidFill>
                <a:latin typeface="Calibri"/>
                <a:ea typeface="Calibri"/>
                <a:cs typeface="Calibri"/>
                <a:sym typeface="Calibri"/>
              </a:rPr>
              <a:t>Brand Consistency</a:t>
            </a:r>
            <a:endParaRPr sz="1400">
              <a:solidFill>
                <a:schemeClr val="dk1"/>
              </a:solidFill>
              <a:latin typeface="Arial"/>
              <a:ea typeface="Arial"/>
              <a:cs typeface="Arial"/>
              <a:sym typeface="Arial"/>
            </a:endParaRPr>
          </a:p>
        </p:txBody>
      </p:sp>
      <p:sp>
        <p:nvSpPr>
          <p:cNvPr id="362" name="Google Shape;362;p37"/>
          <p:cNvSpPr/>
          <p:nvPr/>
        </p:nvSpPr>
        <p:spPr>
          <a:xfrm>
            <a:off x="7435248" y="1964081"/>
            <a:ext cx="297600" cy="297600"/>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pic>
        <p:nvPicPr>
          <p:cNvPr id="363" name="Google Shape;363;p37"/>
          <p:cNvPicPr preferRelativeResize="0"/>
          <p:nvPr/>
        </p:nvPicPr>
        <p:blipFill>
          <a:blip r:embed="rId3">
            <a:alphaModFix/>
          </a:blip>
          <a:stretch>
            <a:fillRect/>
          </a:stretch>
        </p:blipFill>
        <p:spPr>
          <a:xfrm>
            <a:off x="681936" y="2466808"/>
            <a:ext cx="441755" cy="441772"/>
          </a:xfrm>
          <a:prstGeom prst="rect">
            <a:avLst/>
          </a:prstGeom>
          <a:noFill/>
          <a:ln>
            <a:noFill/>
          </a:ln>
        </p:spPr>
      </p:pic>
      <p:pic>
        <p:nvPicPr>
          <p:cNvPr id="364" name="Google Shape;364;p37"/>
          <p:cNvPicPr preferRelativeResize="0"/>
          <p:nvPr/>
        </p:nvPicPr>
        <p:blipFill>
          <a:blip r:embed="rId4">
            <a:alphaModFix/>
          </a:blip>
          <a:stretch>
            <a:fillRect/>
          </a:stretch>
        </p:blipFill>
        <p:spPr>
          <a:xfrm>
            <a:off x="681935" y="2999582"/>
            <a:ext cx="441755" cy="441772"/>
          </a:xfrm>
          <a:prstGeom prst="rect">
            <a:avLst/>
          </a:prstGeom>
          <a:noFill/>
          <a:ln>
            <a:noFill/>
          </a:ln>
        </p:spPr>
      </p:pic>
      <p:pic>
        <p:nvPicPr>
          <p:cNvPr id="365" name="Google Shape;365;p37"/>
          <p:cNvPicPr preferRelativeResize="0"/>
          <p:nvPr/>
        </p:nvPicPr>
        <p:blipFill>
          <a:blip r:embed="rId5">
            <a:alphaModFix/>
          </a:blip>
          <a:stretch>
            <a:fillRect/>
          </a:stretch>
        </p:blipFill>
        <p:spPr>
          <a:xfrm>
            <a:off x="690435" y="1998279"/>
            <a:ext cx="424746" cy="424759"/>
          </a:xfrm>
          <a:prstGeom prst="rect">
            <a:avLst/>
          </a:prstGeom>
          <a:noFill/>
          <a:ln>
            <a:noFill/>
          </a:ln>
        </p:spPr>
      </p:pic>
      <p:pic>
        <p:nvPicPr>
          <p:cNvPr id="366" name="Google Shape;366;p37"/>
          <p:cNvPicPr preferRelativeResize="0"/>
          <p:nvPr/>
        </p:nvPicPr>
        <p:blipFill>
          <a:blip r:embed="rId6">
            <a:alphaModFix/>
          </a:blip>
          <a:stretch>
            <a:fillRect/>
          </a:stretch>
        </p:blipFill>
        <p:spPr>
          <a:xfrm>
            <a:off x="718374" y="4017879"/>
            <a:ext cx="441755" cy="441772"/>
          </a:xfrm>
          <a:prstGeom prst="rect">
            <a:avLst/>
          </a:prstGeom>
          <a:noFill/>
          <a:ln>
            <a:noFill/>
          </a:ln>
        </p:spPr>
      </p:pic>
      <p:pic>
        <p:nvPicPr>
          <p:cNvPr id="367" name="Google Shape;367;p37"/>
          <p:cNvPicPr preferRelativeResize="0"/>
          <p:nvPr/>
        </p:nvPicPr>
        <p:blipFill>
          <a:blip r:embed="rId7">
            <a:alphaModFix/>
          </a:blip>
          <a:stretch>
            <a:fillRect/>
          </a:stretch>
        </p:blipFill>
        <p:spPr>
          <a:xfrm>
            <a:off x="718382" y="3532349"/>
            <a:ext cx="441755" cy="441772"/>
          </a:xfrm>
          <a:prstGeom prst="rect">
            <a:avLst/>
          </a:prstGeom>
          <a:noFill/>
          <a:ln>
            <a:noFill/>
          </a:ln>
        </p:spPr>
      </p:pic>
      <p:sp>
        <p:nvSpPr>
          <p:cNvPr id="368" name="Google Shape;368;p37"/>
          <p:cNvSpPr/>
          <p:nvPr/>
        </p:nvSpPr>
        <p:spPr>
          <a:xfrm>
            <a:off x="6795500" y="1379100"/>
            <a:ext cx="1577100" cy="3186600"/>
          </a:xfrm>
          <a:prstGeom prst="rect">
            <a:avLst/>
          </a:prstGeom>
          <a:noFill/>
          <a:ln cap="flat" cmpd="sng" w="38100">
            <a:solidFill>
              <a:srgbClr val="C00000"/>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9" name="Google Shape;369;p37"/>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370" name="Google Shape;370;p37"/>
          <p:cNvSpPr/>
          <p:nvPr/>
        </p:nvSpPr>
        <p:spPr>
          <a:xfrm>
            <a:off x="3905498" y="1975760"/>
            <a:ext cx="297600" cy="297600"/>
          </a:xfrm>
          <a:prstGeom prst="ellipse">
            <a:avLst/>
          </a:prstGeom>
          <a:solidFill>
            <a:srgbClr val="00B05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71" name="Google Shape;371;p37"/>
          <p:cNvSpPr/>
          <p:nvPr/>
        </p:nvSpPr>
        <p:spPr>
          <a:xfrm>
            <a:off x="3905510" y="3029560"/>
            <a:ext cx="297600" cy="2976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72" name="Google Shape;372;p37"/>
          <p:cNvSpPr/>
          <p:nvPr/>
        </p:nvSpPr>
        <p:spPr>
          <a:xfrm>
            <a:off x="3905498" y="4083360"/>
            <a:ext cx="297600" cy="297600"/>
          </a:xfrm>
          <a:prstGeom prst="ellipse">
            <a:avLst/>
          </a:prstGeom>
          <a:solidFill>
            <a:srgbClr val="00B05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73" name="Google Shape;373;p37"/>
          <p:cNvSpPr/>
          <p:nvPr/>
        </p:nvSpPr>
        <p:spPr>
          <a:xfrm>
            <a:off x="5670373" y="1964068"/>
            <a:ext cx="297600" cy="297600"/>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74" name="Google Shape;374;p37"/>
          <p:cNvSpPr/>
          <p:nvPr/>
        </p:nvSpPr>
        <p:spPr>
          <a:xfrm>
            <a:off x="5670373" y="2479293"/>
            <a:ext cx="297600" cy="297600"/>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75" name="Google Shape;375;p37"/>
          <p:cNvSpPr/>
          <p:nvPr/>
        </p:nvSpPr>
        <p:spPr>
          <a:xfrm>
            <a:off x="5670373" y="2994518"/>
            <a:ext cx="297600" cy="297600"/>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76" name="Google Shape;376;p37"/>
          <p:cNvSpPr/>
          <p:nvPr/>
        </p:nvSpPr>
        <p:spPr>
          <a:xfrm>
            <a:off x="5670373" y="4083343"/>
            <a:ext cx="297600" cy="297600"/>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77" name="Google Shape;377;p37"/>
          <p:cNvSpPr/>
          <p:nvPr/>
        </p:nvSpPr>
        <p:spPr>
          <a:xfrm>
            <a:off x="7435248" y="2479310"/>
            <a:ext cx="297600" cy="297600"/>
          </a:xfrm>
          <a:prstGeom prst="ellipse">
            <a:avLst/>
          </a:prstGeom>
          <a:solidFill>
            <a:srgbClr val="00B05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78" name="Google Shape;378;p37"/>
          <p:cNvSpPr/>
          <p:nvPr/>
        </p:nvSpPr>
        <p:spPr>
          <a:xfrm>
            <a:off x="7435248" y="2994535"/>
            <a:ext cx="297600" cy="297600"/>
          </a:xfrm>
          <a:prstGeom prst="ellipse">
            <a:avLst/>
          </a:prstGeom>
          <a:solidFill>
            <a:srgbClr val="00B05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79" name="Google Shape;379;p37"/>
          <p:cNvSpPr/>
          <p:nvPr/>
        </p:nvSpPr>
        <p:spPr>
          <a:xfrm>
            <a:off x="7435248" y="4068043"/>
            <a:ext cx="297600" cy="297600"/>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80" name="Google Shape;380;p37"/>
          <p:cNvSpPr txBox="1"/>
          <p:nvPr/>
        </p:nvSpPr>
        <p:spPr>
          <a:xfrm>
            <a:off x="3285776" y="3660825"/>
            <a:ext cx="1555200" cy="1848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1200">
                <a:solidFill>
                  <a:schemeClr val="dk1"/>
                </a:solidFill>
                <a:latin typeface="Quattrocento Sans"/>
                <a:ea typeface="Quattrocento Sans"/>
                <a:cs typeface="Quattrocento Sans"/>
                <a:sym typeface="Quattrocento Sans"/>
              </a:rPr>
              <a:t>6% pre-tax</a:t>
            </a:r>
            <a:endParaRPr sz="1100">
              <a:solidFill>
                <a:schemeClr val="dk1"/>
              </a:solidFill>
              <a:latin typeface="Quattrocento Sans"/>
              <a:ea typeface="Quattrocento Sans"/>
              <a:cs typeface="Quattrocento Sans"/>
              <a:sym typeface="Quattrocento Sans"/>
            </a:endParaRPr>
          </a:p>
        </p:txBody>
      </p:sp>
      <p:sp>
        <p:nvSpPr>
          <p:cNvPr id="381" name="Google Shape;381;p37"/>
          <p:cNvSpPr txBox="1"/>
          <p:nvPr/>
        </p:nvSpPr>
        <p:spPr>
          <a:xfrm>
            <a:off x="5036101" y="3639088"/>
            <a:ext cx="1555200" cy="1848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1200">
                <a:solidFill>
                  <a:schemeClr val="dk1"/>
                </a:solidFill>
                <a:latin typeface="Quattrocento Sans"/>
                <a:ea typeface="Quattrocento Sans"/>
                <a:cs typeface="Quattrocento Sans"/>
                <a:sym typeface="Quattrocento Sans"/>
              </a:rPr>
              <a:t>4</a:t>
            </a:r>
            <a:r>
              <a:rPr b="1" lang="es" sz="1200">
                <a:solidFill>
                  <a:schemeClr val="dk1"/>
                </a:solidFill>
                <a:latin typeface="Quattrocento Sans"/>
                <a:ea typeface="Quattrocento Sans"/>
                <a:cs typeface="Quattrocento Sans"/>
                <a:sym typeface="Quattrocento Sans"/>
              </a:rPr>
              <a:t>% pre-tax</a:t>
            </a:r>
            <a:endParaRPr sz="1100">
              <a:solidFill>
                <a:schemeClr val="dk1"/>
              </a:solidFill>
              <a:latin typeface="Quattrocento Sans"/>
              <a:ea typeface="Quattrocento Sans"/>
              <a:cs typeface="Quattrocento Sans"/>
              <a:sym typeface="Quattrocento Sans"/>
            </a:endParaRPr>
          </a:p>
        </p:txBody>
      </p:sp>
      <p:sp>
        <p:nvSpPr>
          <p:cNvPr id="382" name="Google Shape;382;p37"/>
          <p:cNvSpPr txBox="1"/>
          <p:nvPr/>
        </p:nvSpPr>
        <p:spPr>
          <a:xfrm>
            <a:off x="6806451" y="3639088"/>
            <a:ext cx="1555200" cy="1848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1200">
                <a:solidFill>
                  <a:schemeClr val="dk1"/>
                </a:solidFill>
                <a:latin typeface="Quattrocento Sans"/>
                <a:ea typeface="Quattrocento Sans"/>
                <a:cs typeface="Quattrocento Sans"/>
                <a:sym typeface="Quattrocento Sans"/>
              </a:rPr>
              <a:t>2</a:t>
            </a:r>
            <a:r>
              <a:rPr b="1" lang="es" sz="1200">
                <a:solidFill>
                  <a:schemeClr val="dk1"/>
                </a:solidFill>
                <a:latin typeface="Quattrocento Sans"/>
                <a:ea typeface="Quattrocento Sans"/>
                <a:cs typeface="Quattrocento Sans"/>
                <a:sym typeface="Quattrocento Sans"/>
              </a:rPr>
              <a:t>% net</a:t>
            </a:r>
            <a:endParaRPr sz="1100">
              <a:solidFill>
                <a:schemeClr val="dk1"/>
              </a:solidFill>
              <a:latin typeface="Quattrocento Sans"/>
              <a:ea typeface="Quattrocento Sans"/>
              <a:cs typeface="Quattrocento Sans"/>
              <a:sym typeface="Quattrocento Sans"/>
            </a:endParaRPr>
          </a:p>
        </p:txBody>
      </p:sp>
      <p:cxnSp>
        <p:nvCxnSpPr>
          <p:cNvPr id="383" name="Google Shape;383;p37"/>
          <p:cNvCxnSpPr/>
          <p:nvPr/>
        </p:nvCxnSpPr>
        <p:spPr>
          <a:xfrm>
            <a:off x="4166996" y="4790797"/>
            <a:ext cx="405000" cy="0"/>
          </a:xfrm>
          <a:prstGeom prst="straightConnector1">
            <a:avLst/>
          </a:prstGeom>
          <a:noFill/>
          <a:ln cap="flat" cmpd="sng" w="12700">
            <a:solidFill>
              <a:schemeClr val="accent1"/>
            </a:solidFill>
            <a:prstDash val="solid"/>
            <a:miter lim="800000"/>
            <a:headEnd len="sm" w="sm" type="none"/>
            <a:tailEnd len="sm" w="sm" type="none"/>
          </a:ln>
        </p:spPr>
      </p:cxnSp>
      <p:sp>
        <p:nvSpPr>
          <p:cNvPr id="384" name="Google Shape;384;p37"/>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1200"/>
              </a:spcAft>
              <a:buNone/>
            </a:pPr>
            <a:r>
              <a:t/>
            </a:r>
            <a:endParaRPr/>
          </a:p>
        </p:txBody>
      </p:sp>
      <p:sp>
        <p:nvSpPr>
          <p:cNvPr id="385" name="Google Shape;385;p37"/>
          <p:cNvSpPr txBox="1"/>
          <p:nvPr>
            <p:ph idx="4294967295" type="title"/>
          </p:nvPr>
        </p:nvSpPr>
        <p:spPr>
          <a:xfrm>
            <a:off x="198850" y="345525"/>
            <a:ext cx="86094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Play"/>
              <a:buNone/>
            </a:pPr>
            <a:r>
              <a:rPr lang="es" sz="1700"/>
              <a:t>Selecting the right strategy in achieving our targets to bring long-term success</a:t>
            </a:r>
            <a:endParaRPr sz="27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pic>
        <p:nvPicPr>
          <p:cNvPr id="391" name="Google Shape;391;p38" title="pexels-julianemonarifotografia-29546546.jpg"/>
          <p:cNvPicPr preferRelativeResize="0"/>
          <p:nvPr/>
        </p:nvPicPr>
        <p:blipFill rotWithShape="1">
          <a:blip r:embed="rId3">
            <a:alphaModFix/>
          </a:blip>
          <a:srcRect b="27610" l="0" r="4861" t="36926"/>
          <a:stretch/>
        </p:blipFill>
        <p:spPr>
          <a:xfrm>
            <a:off x="0" y="0"/>
            <a:ext cx="9196800" cy="5143501"/>
          </a:xfrm>
          <a:prstGeom prst="rect">
            <a:avLst/>
          </a:prstGeom>
          <a:noFill/>
          <a:ln>
            <a:noFill/>
          </a:ln>
        </p:spPr>
      </p:pic>
      <p:sp>
        <p:nvSpPr>
          <p:cNvPr id="392" name="Google Shape;392;p38"/>
          <p:cNvSpPr/>
          <p:nvPr/>
        </p:nvSpPr>
        <p:spPr>
          <a:xfrm>
            <a:off x="-26400" y="-304801"/>
            <a:ext cx="9196800" cy="5753100"/>
          </a:xfrm>
          <a:prstGeom prst="rect">
            <a:avLst/>
          </a:prstGeom>
          <a:solidFill>
            <a:schemeClr val="dk1">
              <a:alpha val="62750"/>
            </a:scheme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800"/>
              <a:buFont typeface="Arial"/>
              <a:buNone/>
            </a:pPr>
            <a:r>
              <a:t/>
            </a:r>
            <a:endParaRPr b="0" i="0" sz="800" u="none" cap="none" strike="noStrike">
              <a:solidFill>
                <a:srgbClr val="FFFFFF"/>
              </a:solidFill>
              <a:latin typeface="Calibri"/>
              <a:ea typeface="Calibri"/>
              <a:cs typeface="Calibri"/>
              <a:sym typeface="Calibri"/>
            </a:endParaRPr>
          </a:p>
        </p:txBody>
      </p:sp>
      <p:sp>
        <p:nvSpPr>
          <p:cNvPr id="393" name="Google Shape;393;p38"/>
          <p:cNvSpPr/>
          <p:nvPr/>
        </p:nvSpPr>
        <p:spPr>
          <a:xfrm>
            <a:off x="676850" y="1803568"/>
            <a:ext cx="37800" cy="1485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4" name="Google Shape;394;p38"/>
          <p:cNvSpPr txBox="1"/>
          <p:nvPr/>
        </p:nvSpPr>
        <p:spPr>
          <a:xfrm>
            <a:off x="812420" y="1605170"/>
            <a:ext cx="8234700" cy="1221300"/>
          </a:xfrm>
          <a:prstGeom prst="rect">
            <a:avLst/>
          </a:prstGeom>
          <a:noFill/>
          <a:ln>
            <a:noFill/>
          </a:ln>
        </p:spPr>
        <p:txBody>
          <a:bodyPr anchorCtr="0" anchor="b" bIns="34275" lIns="68575" spcFirstLastPara="1" rIns="68575" wrap="square" tIns="34275">
            <a:normAutofit/>
          </a:bodyPr>
          <a:lstStyle/>
          <a:p>
            <a:pPr indent="0" lvl="0" marL="0" marR="0" rtl="0" algn="l">
              <a:lnSpc>
                <a:spcPct val="120000"/>
              </a:lnSpc>
              <a:spcBef>
                <a:spcPts val="0"/>
              </a:spcBef>
              <a:spcAft>
                <a:spcPts val="0"/>
              </a:spcAft>
              <a:buClr>
                <a:schemeClr val="lt1"/>
              </a:buClr>
              <a:buSzPts val="3000"/>
              <a:buFont typeface="Quattrocento Sans"/>
              <a:buNone/>
            </a:pPr>
            <a:r>
              <a:rPr b="1" lang="es" sz="4000">
                <a:solidFill>
                  <a:schemeClr val="lt1"/>
                </a:solidFill>
                <a:latin typeface="Quattrocento Sans"/>
                <a:ea typeface="Quattrocento Sans"/>
                <a:cs typeface="Quattrocento Sans"/>
                <a:sym typeface="Quattrocento Sans"/>
              </a:rPr>
              <a:t>Implementation </a:t>
            </a:r>
            <a:endParaRPr sz="2100"/>
          </a:p>
        </p:txBody>
      </p:sp>
      <p:sp>
        <p:nvSpPr>
          <p:cNvPr id="395" name="Google Shape;395;p38"/>
          <p:cNvSpPr txBox="1"/>
          <p:nvPr>
            <p:ph idx="4294967295" type="sldNum"/>
          </p:nvPr>
        </p:nvSpPr>
        <p:spPr>
          <a:xfrm>
            <a:off x="6822737" y="4905545"/>
            <a:ext cx="2057400" cy="121200"/>
          </a:xfrm>
          <a:prstGeom prst="rect">
            <a:avLst/>
          </a:prstGeom>
          <a:noFill/>
          <a:ln>
            <a:noFill/>
          </a:ln>
        </p:spPr>
        <p:txBody>
          <a:bodyPr anchorCtr="0" anchor="ctr" bIns="34275" lIns="68575" spcFirstLastPara="1" rIns="68575" wrap="square" tIns="34275">
            <a:normAutofit fontScale="40000" lnSpcReduction="20000"/>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9"/>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cxnSp>
        <p:nvCxnSpPr>
          <p:cNvPr id="401" name="Google Shape;401;p39"/>
          <p:cNvCxnSpPr/>
          <p:nvPr/>
        </p:nvCxnSpPr>
        <p:spPr>
          <a:xfrm>
            <a:off x="4166996" y="4790797"/>
            <a:ext cx="405000" cy="0"/>
          </a:xfrm>
          <a:prstGeom prst="straightConnector1">
            <a:avLst/>
          </a:prstGeom>
          <a:noFill/>
          <a:ln cap="flat" cmpd="sng" w="12700">
            <a:solidFill>
              <a:schemeClr val="accent1"/>
            </a:solidFill>
            <a:prstDash val="solid"/>
            <a:miter lim="800000"/>
            <a:headEnd len="sm" w="sm" type="none"/>
            <a:tailEnd len="sm" w="sm" type="none"/>
          </a:ln>
        </p:spPr>
      </p:cxnSp>
      <p:sp>
        <p:nvSpPr>
          <p:cNvPr id="402" name="Google Shape;402;p39"/>
          <p:cNvSpPr txBox="1"/>
          <p:nvPr/>
        </p:nvSpPr>
        <p:spPr>
          <a:xfrm>
            <a:off x="198848" y="102400"/>
            <a:ext cx="26814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Strategy Implementation</a:t>
            </a:r>
            <a:endParaRPr sz="1100"/>
          </a:p>
        </p:txBody>
      </p:sp>
      <p:sp>
        <p:nvSpPr>
          <p:cNvPr id="403" name="Google Shape;403;p39"/>
          <p:cNvSpPr txBox="1"/>
          <p:nvPr>
            <p:ph idx="4294967295" type="title"/>
          </p:nvPr>
        </p:nvSpPr>
        <p:spPr>
          <a:xfrm>
            <a:off x="198850" y="345525"/>
            <a:ext cx="86094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Play"/>
              <a:buNone/>
            </a:pPr>
            <a:r>
              <a:rPr lang="es" sz="1800"/>
              <a:t>The Hows &amp; Whys on the franchise model as the best fit for our goals</a:t>
            </a:r>
            <a:endParaRPr/>
          </a:p>
        </p:txBody>
      </p:sp>
      <p:grpSp>
        <p:nvGrpSpPr>
          <p:cNvPr id="404" name="Google Shape;404;p39"/>
          <p:cNvGrpSpPr/>
          <p:nvPr/>
        </p:nvGrpSpPr>
        <p:grpSpPr>
          <a:xfrm>
            <a:off x="2821357" y="776155"/>
            <a:ext cx="2627958" cy="211705"/>
            <a:chOff x="42609" y="1253474"/>
            <a:chExt cx="6070589" cy="282273"/>
          </a:xfrm>
        </p:grpSpPr>
        <p:cxnSp>
          <p:nvCxnSpPr>
            <p:cNvPr id="405" name="Google Shape;405;p39"/>
            <p:cNvCxnSpPr/>
            <p:nvPr/>
          </p:nvCxnSpPr>
          <p:spPr>
            <a:xfrm rot="10800000">
              <a:off x="42609" y="1535747"/>
              <a:ext cx="5791800" cy="0"/>
            </a:xfrm>
            <a:prstGeom prst="straightConnector1">
              <a:avLst/>
            </a:prstGeom>
            <a:noFill/>
            <a:ln cap="flat" cmpd="sng" w="19050">
              <a:solidFill>
                <a:srgbClr val="073763">
                  <a:alpha val="97650"/>
                </a:srgbClr>
              </a:solidFill>
              <a:prstDash val="solid"/>
              <a:miter lim="800000"/>
              <a:headEnd len="sm" w="sm" type="none"/>
              <a:tailEnd len="sm" w="sm" type="none"/>
            </a:ln>
          </p:spPr>
        </p:cxnSp>
        <p:sp>
          <p:nvSpPr>
            <p:cNvPr id="406" name="Google Shape;406;p39"/>
            <p:cNvSpPr txBox="1"/>
            <p:nvPr/>
          </p:nvSpPr>
          <p:spPr>
            <a:xfrm>
              <a:off x="101198" y="1253474"/>
              <a:ext cx="6012000" cy="208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s" sz="1200">
                  <a:solidFill>
                    <a:schemeClr val="dk1"/>
                  </a:solidFill>
                  <a:latin typeface="Calibri"/>
                  <a:ea typeface="Calibri"/>
                  <a:cs typeface="Calibri"/>
                  <a:sym typeface="Calibri"/>
                </a:rPr>
                <a:t>Target Franchisee Profile</a:t>
              </a:r>
              <a:r>
                <a:rPr b="0" i="0" lang="es" sz="1200" u="none" cap="none" strike="noStrike">
                  <a:solidFill>
                    <a:schemeClr val="dk1"/>
                  </a:solidFill>
                  <a:latin typeface="Calibri"/>
                  <a:ea typeface="Calibri"/>
                  <a:cs typeface="Calibri"/>
                  <a:sym typeface="Calibri"/>
                </a:rPr>
                <a:t> </a:t>
              </a:r>
              <a:endParaRPr b="0" i="0" sz="1200" u="none" cap="none" strike="noStrike">
                <a:solidFill>
                  <a:schemeClr val="dk1"/>
                </a:solidFill>
                <a:latin typeface="Calibri"/>
                <a:ea typeface="Calibri"/>
                <a:cs typeface="Calibri"/>
                <a:sym typeface="Calibri"/>
              </a:endParaRPr>
            </a:p>
          </p:txBody>
        </p:sp>
      </p:grpSp>
      <p:grpSp>
        <p:nvGrpSpPr>
          <p:cNvPr id="407" name="Google Shape;407;p39"/>
          <p:cNvGrpSpPr/>
          <p:nvPr/>
        </p:nvGrpSpPr>
        <p:grpSpPr>
          <a:xfrm>
            <a:off x="-69025" y="758363"/>
            <a:ext cx="2865452" cy="229979"/>
            <a:chOff x="-414131" y="1229647"/>
            <a:chExt cx="6619200" cy="306639"/>
          </a:xfrm>
        </p:grpSpPr>
        <p:cxnSp>
          <p:nvCxnSpPr>
            <p:cNvPr id="408" name="Google Shape;408;p39"/>
            <p:cNvCxnSpPr/>
            <p:nvPr/>
          </p:nvCxnSpPr>
          <p:spPr>
            <a:xfrm flipH="1">
              <a:off x="154664" y="1535986"/>
              <a:ext cx="5425800" cy="300"/>
            </a:xfrm>
            <a:prstGeom prst="straightConnector1">
              <a:avLst/>
            </a:prstGeom>
            <a:noFill/>
            <a:ln cap="flat" cmpd="sng" w="19050">
              <a:solidFill>
                <a:srgbClr val="073763">
                  <a:alpha val="97650"/>
                </a:srgbClr>
              </a:solidFill>
              <a:prstDash val="solid"/>
              <a:miter lim="800000"/>
              <a:headEnd len="sm" w="sm" type="none"/>
              <a:tailEnd len="sm" w="sm" type="none"/>
            </a:ln>
          </p:spPr>
        </p:cxnSp>
        <p:sp>
          <p:nvSpPr>
            <p:cNvPr id="409" name="Google Shape;409;p39"/>
            <p:cNvSpPr txBox="1"/>
            <p:nvPr/>
          </p:nvSpPr>
          <p:spPr>
            <a:xfrm>
              <a:off x="-414131" y="1229647"/>
              <a:ext cx="6619200" cy="2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s" sz="1100">
                  <a:solidFill>
                    <a:schemeClr val="dk1"/>
                  </a:solidFill>
                  <a:latin typeface="Calibri"/>
                  <a:ea typeface="Calibri"/>
                  <a:cs typeface="Calibri"/>
                  <a:sym typeface="Calibri"/>
                </a:rPr>
                <a:t>Why a Multi-Unit / Area Developer Model?</a:t>
              </a:r>
              <a:endParaRPr b="0" i="0" sz="1100" u="none" cap="none" strike="noStrike">
                <a:solidFill>
                  <a:schemeClr val="dk1"/>
                </a:solidFill>
                <a:latin typeface="Calibri"/>
                <a:ea typeface="Calibri"/>
                <a:cs typeface="Calibri"/>
                <a:sym typeface="Calibri"/>
              </a:endParaRPr>
            </a:p>
          </p:txBody>
        </p:sp>
      </p:grpSp>
      <p:grpSp>
        <p:nvGrpSpPr>
          <p:cNvPr id="410" name="Google Shape;410;p39"/>
          <p:cNvGrpSpPr/>
          <p:nvPr/>
        </p:nvGrpSpPr>
        <p:grpSpPr>
          <a:xfrm>
            <a:off x="2538712" y="981767"/>
            <a:ext cx="281250" cy="3659175"/>
            <a:chOff x="4457140" y="1171805"/>
            <a:chExt cx="375000" cy="4878900"/>
          </a:xfrm>
        </p:grpSpPr>
        <p:cxnSp>
          <p:nvCxnSpPr>
            <p:cNvPr id="411" name="Google Shape;411;p39"/>
            <p:cNvCxnSpPr/>
            <p:nvPr/>
          </p:nvCxnSpPr>
          <p:spPr>
            <a:xfrm>
              <a:off x="4644666" y="1171805"/>
              <a:ext cx="0" cy="4878900"/>
            </a:xfrm>
            <a:prstGeom prst="straightConnector1">
              <a:avLst/>
            </a:prstGeom>
            <a:noFill/>
            <a:ln cap="flat" cmpd="sng" w="12700">
              <a:solidFill>
                <a:schemeClr val="lt2">
                  <a:alpha val="97650"/>
                </a:schemeClr>
              </a:solidFill>
              <a:prstDash val="lgDash"/>
              <a:miter lim="800000"/>
              <a:headEnd len="sm" w="sm" type="none"/>
              <a:tailEnd len="sm" w="sm" type="none"/>
            </a:ln>
          </p:spPr>
        </p:cxnSp>
        <p:sp>
          <p:nvSpPr>
            <p:cNvPr id="412" name="Google Shape;412;p39"/>
            <p:cNvSpPr/>
            <p:nvPr/>
          </p:nvSpPr>
          <p:spPr>
            <a:xfrm>
              <a:off x="4457140" y="3241474"/>
              <a:ext cx="375000" cy="375000"/>
            </a:xfrm>
            <a:prstGeom prst="ellipse">
              <a:avLst/>
            </a:prstGeom>
            <a:solidFill>
              <a:srgbClr val="07376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500" u="none" cap="none" strike="noStrike">
                <a:solidFill>
                  <a:schemeClr val="lt1"/>
                </a:solidFill>
                <a:latin typeface="Calibri"/>
                <a:ea typeface="Calibri"/>
                <a:cs typeface="Calibri"/>
                <a:sym typeface="Calibri"/>
              </a:endParaRPr>
            </a:p>
          </p:txBody>
        </p:sp>
      </p:grpSp>
      <p:grpSp>
        <p:nvGrpSpPr>
          <p:cNvPr id="413" name="Google Shape;413;p39"/>
          <p:cNvGrpSpPr/>
          <p:nvPr/>
        </p:nvGrpSpPr>
        <p:grpSpPr>
          <a:xfrm>
            <a:off x="5521253" y="776233"/>
            <a:ext cx="3442275" cy="211863"/>
            <a:chOff x="3687261" y="1053735"/>
            <a:chExt cx="4589700" cy="282484"/>
          </a:xfrm>
        </p:grpSpPr>
        <p:cxnSp>
          <p:nvCxnSpPr>
            <p:cNvPr id="414" name="Google Shape;414;p39"/>
            <p:cNvCxnSpPr/>
            <p:nvPr/>
          </p:nvCxnSpPr>
          <p:spPr>
            <a:xfrm rot="10800000">
              <a:off x="3924814" y="1336219"/>
              <a:ext cx="4287300" cy="0"/>
            </a:xfrm>
            <a:prstGeom prst="straightConnector1">
              <a:avLst/>
            </a:prstGeom>
            <a:noFill/>
            <a:ln cap="flat" cmpd="sng" w="19050">
              <a:solidFill>
                <a:srgbClr val="073763">
                  <a:alpha val="97650"/>
                </a:srgbClr>
              </a:solidFill>
              <a:prstDash val="solid"/>
              <a:miter lim="800000"/>
              <a:headEnd len="sm" w="sm" type="none"/>
              <a:tailEnd len="sm" w="sm" type="none"/>
            </a:ln>
          </p:spPr>
        </p:cxnSp>
        <p:sp>
          <p:nvSpPr>
            <p:cNvPr id="415" name="Google Shape;415;p39"/>
            <p:cNvSpPr txBox="1"/>
            <p:nvPr/>
          </p:nvSpPr>
          <p:spPr>
            <a:xfrm>
              <a:off x="3687261" y="1053735"/>
              <a:ext cx="4589700" cy="208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s" sz="1200">
                  <a:solidFill>
                    <a:schemeClr val="dk1"/>
                  </a:solidFill>
                  <a:latin typeface="Calibri"/>
                  <a:ea typeface="Calibri"/>
                  <a:cs typeface="Calibri"/>
                  <a:sym typeface="Calibri"/>
                </a:rPr>
                <a:t>Why this model beats expectations</a:t>
              </a:r>
              <a:endParaRPr sz="1100"/>
            </a:p>
          </p:txBody>
        </p:sp>
      </p:grpSp>
      <p:sp>
        <p:nvSpPr>
          <p:cNvPr id="416" name="Google Shape;416;p39"/>
          <p:cNvSpPr txBox="1"/>
          <p:nvPr/>
        </p:nvSpPr>
        <p:spPr>
          <a:xfrm>
            <a:off x="6738550" y="1217657"/>
            <a:ext cx="878100" cy="400200"/>
          </a:xfrm>
          <a:prstGeom prst="rect">
            <a:avLst/>
          </a:prstGeom>
          <a:noFill/>
          <a:ln>
            <a:noFill/>
          </a:ln>
        </p:spPr>
        <p:txBody>
          <a:bodyPr anchorCtr="0" anchor="b" bIns="0" lIns="0" spcFirstLastPara="1" rIns="0" wrap="square" tIns="0">
            <a:spAutoFit/>
          </a:bodyPr>
          <a:lstStyle/>
          <a:p>
            <a:pPr indent="0" lvl="0" marL="0" marR="0" rtl="0" algn="l">
              <a:spcBef>
                <a:spcPts val="0"/>
              </a:spcBef>
              <a:spcAft>
                <a:spcPts val="0"/>
              </a:spcAft>
              <a:buNone/>
            </a:pPr>
            <a:r>
              <a:rPr b="1" lang="es" sz="1300">
                <a:solidFill>
                  <a:srgbClr val="0B5394"/>
                </a:solidFill>
                <a:latin typeface="Calibri"/>
                <a:ea typeface="Calibri"/>
                <a:cs typeface="Calibri"/>
                <a:sym typeface="Calibri"/>
              </a:rPr>
              <a:t>Location Leverage</a:t>
            </a:r>
            <a:endParaRPr sz="1300">
              <a:solidFill>
                <a:srgbClr val="0B5394"/>
              </a:solidFill>
            </a:endParaRPr>
          </a:p>
        </p:txBody>
      </p:sp>
      <p:sp>
        <p:nvSpPr>
          <p:cNvPr id="417" name="Google Shape;417;p39"/>
          <p:cNvSpPr txBox="1"/>
          <p:nvPr/>
        </p:nvSpPr>
        <p:spPr>
          <a:xfrm>
            <a:off x="6738550" y="1989767"/>
            <a:ext cx="990900" cy="554100"/>
          </a:xfrm>
          <a:prstGeom prst="rect">
            <a:avLst/>
          </a:prstGeom>
          <a:noFill/>
          <a:ln>
            <a:noFill/>
          </a:ln>
        </p:spPr>
        <p:txBody>
          <a:bodyPr anchorCtr="0" anchor="b" bIns="0" lIns="0" spcFirstLastPara="1" rIns="0" wrap="square" tIns="0">
            <a:spAutoFit/>
          </a:bodyPr>
          <a:lstStyle/>
          <a:p>
            <a:pPr indent="0" lvl="0" marL="0" marR="0" rtl="0" algn="l">
              <a:spcBef>
                <a:spcPts val="0"/>
              </a:spcBef>
              <a:spcAft>
                <a:spcPts val="0"/>
              </a:spcAft>
              <a:buNone/>
            </a:pPr>
            <a:r>
              <a:rPr b="1" lang="es" sz="1200">
                <a:solidFill>
                  <a:srgbClr val="0B5394"/>
                </a:solidFill>
                <a:latin typeface="Calibri"/>
                <a:ea typeface="Calibri"/>
                <a:cs typeface="Calibri"/>
                <a:sym typeface="Calibri"/>
              </a:rPr>
              <a:t>Strategic Scale, Without Brand Risk</a:t>
            </a:r>
            <a:endParaRPr sz="1200">
              <a:solidFill>
                <a:srgbClr val="0B5394"/>
              </a:solidFill>
            </a:endParaRPr>
          </a:p>
        </p:txBody>
      </p:sp>
      <p:sp>
        <p:nvSpPr>
          <p:cNvPr id="418" name="Google Shape;418;p39"/>
          <p:cNvSpPr txBox="1"/>
          <p:nvPr/>
        </p:nvSpPr>
        <p:spPr>
          <a:xfrm>
            <a:off x="6738550" y="2849097"/>
            <a:ext cx="1059600" cy="400200"/>
          </a:xfrm>
          <a:prstGeom prst="rect">
            <a:avLst/>
          </a:prstGeom>
          <a:noFill/>
          <a:ln>
            <a:noFill/>
          </a:ln>
        </p:spPr>
        <p:txBody>
          <a:bodyPr anchorCtr="0" anchor="b" bIns="0" lIns="0" spcFirstLastPara="1" rIns="0" wrap="square" tIns="0">
            <a:spAutoFit/>
          </a:bodyPr>
          <a:lstStyle/>
          <a:p>
            <a:pPr indent="0" lvl="0" marL="0" marR="0" rtl="0" algn="l">
              <a:spcBef>
                <a:spcPts val="0"/>
              </a:spcBef>
              <a:spcAft>
                <a:spcPts val="0"/>
              </a:spcAft>
              <a:buNone/>
            </a:pPr>
            <a:r>
              <a:rPr b="1" lang="es" sz="1300">
                <a:solidFill>
                  <a:srgbClr val="0B5394"/>
                </a:solidFill>
                <a:latin typeface="Calibri"/>
                <a:ea typeface="Calibri"/>
                <a:cs typeface="Calibri"/>
                <a:sym typeface="Calibri"/>
              </a:rPr>
              <a:t>Self-sustaining Growth Engine</a:t>
            </a:r>
            <a:endParaRPr sz="1300">
              <a:solidFill>
                <a:srgbClr val="0B5394"/>
              </a:solidFill>
            </a:endParaRPr>
          </a:p>
        </p:txBody>
      </p:sp>
      <p:pic>
        <p:nvPicPr>
          <p:cNvPr id="419" name="Google Shape;419;p39"/>
          <p:cNvPicPr preferRelativeResize="0"/>
          <p:nvPr/>
        </p:nvPicPr>
        <p:blipFill rotWithShape="1">
          <a:blip r:embed="rId3">
            <a:alphaModFix/>
          </a:blip>
          <a:srcRect b="0" l="0" r="0" t="0"/>
          <a:stretch/>
        </p:blipFill>
        <p:spPr>
          <a:xfrm>
            <a:off x="5890662" y="2012867"/>
            <a:ext cx="580026" cy="507900"/>
          </a:xfrm>
          <a:prstGeom prst="rect">
            <a:avLst/>
          </a:prstGeom>
          <a:noFill/>
          <a:ln>
            <a:noFill/>
          </a:ln>
        </p:spPr>
      </p:pic>
      <p:sp>
        <p:nvSpPr>
          <p:cNvPr id="420" name="Google Shape;420;p39"/>
          <p:cNvSpPr/>
          <p:nvPr/>
        </p:nvSpPr>
        <p:spPr>
          <a:xfrm>
            <a:off x="7810925" y="1112507"/>
            <a:ext cx="1059600" cy="762900"/>
          </a:xfrm>
          <a:prstGeom prst="roundRect">
            <a:avLst>
              <a:gd fmla="val 7388" name="adj"/>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s" sz="900">
                <a:solidFill>
                  <a:schemeClr val="dk1"/>
                </a:solidFill>
                <a:latin typeface="Calibri"/>
                <a:ea typeface="Calibri"/>
                <a:cs typeface="Calibri"/>
                <a:sym typeface="Calibri"/>
              </a:rPr>
              <a:t>Partners help secure </a:t>
            </a:r>
            <a:r>
              <a:rPr b="1" lang="es" sz="900">
                <a:solidFill>
                  <a:schemeClr val="dk1"/>
                </a:solidFill>
                <a:latin typeface="Calibri"/>
                <a:ea typeface="Calibri"/>
                <a:cs typeface="Calibri"/>
                <a:sym typeface="Calibri"/>
              </a:rPr>
              <a:t>prime highway spots</a:t>
            </a:r>
            <a:r>
              <a:rPr lang="es" sz="900">
                <a:solidFill>
                  <a:schemeClr val="dk1"/>
                </a:solidFill>
                <a:latin typeface="Calibri"/>
                <a:ea typeface="Calibri"/>
                <a:cs typeface="Calibri"/>
                <a:sym typeface="Calibri"/>
              </a:rPr>
              <a:t>, beating big players</a:t>
            </a:r>
            <a:endParaRPr sz="900">
              <a:solidFill>
                <a:schemeClr val="dk1"/>
              </a:solidFill>
              <a:latin typeface="Calibri"/>
              <a:ea typeface="Calibri"/>
              <a:cs typeface="Calibri"/>
              <a:sym typeface="Calibri"/>
            </a:endParaRPr>
          </a:p>
          <a:p>
            <a:pPr indent="0" lvl="0" marL="0" marR="0" rtl="0" algn="l">
              <a:spcBef>
                <a:spcPts val="500"/>
              </a:spcBef>
              <a:spcAft>
                <a:spcPts val="0"/>
              </a:spcAft>
              <a:buNone/>
            </a:pPr>
            <a:r>
              <a:t/>
            </a:r>
            <a:endParaRPr sz="900">
              <a:solidFill>
                <a:schemeClr val="dk1"/>
              </a:solidFill>
              <a:latin typeface="Calibri"/>
              <a:ea typeface="Calibri"/>
              <a:cs typeface="Calibri"/>
              <a:sym typeface="Calibri"/>
            </a:endParaRPr>
          </a:p>
        </p:txBody>
      </p:sp>
      <p:sp>
        <p:nvSpPr>
          <p:cNvPr id="421" name="Google Shape;421;p39"/>
          <p:cNvSpPr/>
          <p:nvPr/>
        </p:nvSpPr>
        <p:spPr>
          <a:xfrm>
            <a:off x="7810925" y="1952267"/>
            <a:ext cx="1150200" cy="476700"/>
          </a:xfrm>
          <a:prstGeom prst="roundRect">
            <a:avLst>
              <a:gd fmla="val 7388" name="adj"/>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s" sz="900">
                <a:solidFill>
                  <a:schemeClr val="dk1"/>
                </a:solidFill>
                <a:latin typeface="Calibri"/>
                <a:ea typeface="Calibri"/>
                <a:cs typeface="Calibri"/>
                <a:sym typeface="Calibri"/>
              </a:rPr>
              <a:t>Franchising avoids brand dilution by choosing quality partners, not volume</a:t>
            </a:r>
            <a:endParaRPr sz="1100"/>
          </a:p>
        </p:txBody>
      </p:sp>
      <p:sp>
        <p:nvSpPr>
          <p:cNvPr id="422" name="Google Shape;422;p39"/>
          <p:cNvSpPr/>
          <p:nvPr/>
        </p:nvSpPr>
        <p:spPr>
          <a:xfrm>
            <a:off x="7810925" y="2810847"/>
            <a:ext cx="1188000" cy="476700"/>
          </a:xfrm>
          <a:prstGeom prst="roundRect">
            <a:avLst>
              <a:gd fmla="val 7388" name="adj"/>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s" sz="900">
                <a:solidFill>
                  <a:schemeClr val="dk1"/>
                </a:solidFill>
                <a:latin typeface="Calibri"/>
                <a:ea typeface="Calibri"/>
                <a:cs typeface="Calibri"/>
                <a:sym typeface="Calibri"/>
              </a:rPr>
              <a:t>Profitable operators reinvest, creating a flywheel effect</a:t>
            </a:r>
            <a:endParaRPr sz="1100"/>
          </a:p>
        </p:txBody>
      </p:sp>
      <p:sp>
        <p:nvSpPr>
          <p:cNvPr id="423" name="Google Shape;423;p39"/>
          <p:cNvSpPr txBox="1"/>
          <p:nvPr/>
        </p:nvSpPr>
        <p:spPr>
          <a:xfrm>
            <a:off x="176888" y="1078802"/>
            <a:ext cx="2345700" cy="323100"/>
          </a:xfrm>
          <a:prstGeom prst="rect">
            <a:avLst/>
          </a:prstGeom>
          <a:solidFill>
            <a:srgbClr val="073763"/>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s" sz="1100">
                <a:solidFill>
                  <a:schemeClr val="lt1"/>
                </a:solidFill>
                <a:latin typeface="Calibri"/>
                <a:ea typeface="Calibri"/>
                <a:cs typeface="Calibri"/>
                <a:sym typeface="Calibri"/>
              </a:rPr>
              <a:t>Faster Market Penetration</a:t>
            </a:r>
            <a:endParaRPr b="1" sz="1100">
              <a:solidFill>
                <a:schemeClr val="lt1"/>
              </a:solidFill>
              <a:latin typeface="Calibri"/>
              <a:ea typeface="Calibri"/>
              <a:cs typeface="Calibri"/>
              <a:sym typeface="Calibri"/>
            </a:endParaRPr>
          </a:p>
        </p:txBody>
      </p:sp>
      <p:sp>
        <p:nvSpPr>
          <p:cNvPr id="424" name="Google Shape;424;p39"/>
          <p:cNvSpPr txBox="1"/>
          <p:nvPr/>
        </p:nvSpPr>
        <p:spPr>
          <a:xfrm>
            <a:off x="788708" y="1542989"/>
            <a:ext cx="16236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s" sz="1100">
                <a:solidFill>
                  <a:schemeClr val="dk1"/>
                </a:solidFill>
                <a:latin typeface="Calibri"/>
                <a:ea typeface="Calibri"/>
                <a:cs typeface="Calibri"/>
                <a:sym typeface="Calibri"/>
              </a:rPr>
              <a:t>Franchisees commit to opening multiple units → rapid growth</a:t>
            </a:r>
            <a:endParaRPr sz="1100"/>
          </a:p>
        </p:txBody>
      </p:sp>
      <p:sp>
        <p:nvSpPr>
          <p:cNvPr id="425" name="Google Shape;425;p39"/>
          <p:cNvSpPr txBox="1"/>
          <p:nvPr/>
        </p:nvSpPr>
        <p:spPr>
          <a:xfrm>
            <a:off x="163713" y="2191978"/>
            <a:ext cx="2373600" cy="332100"/>
          </a:xfrm>
          <a:prstGeom prst="rect">
            <a:avLst/>
          </a:prstGeom>
          <a:solidFill>
            <a:srgbClr val="07376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100"/>
              <a:buFont typeface="Calibri"/>
              <a:buNone/>
            </a:pPr>
            <a:r>
              <a:rPr b="1" i="1" lang="es" sz="1100">
                <a:solidFill>
                  <a:schemeClr val="lt1"/>
                </a:solidFill>
                <a:latin typeface="Calibri"/>
                <a:ea typeface="Calibri"/>
                <a:cs typeface="Calibri"/>
                <a:sym typeface="Calibri"/>
              </a:rPr>
              <a:t>Capital Efficiency</a:t>
            </a:r>
            <a:endParaRPr b="1" i="0" sz="1100" u="none" cap="none" strike="noStrike">
              <a:solidFill>
                <a:schemeClr val="lt1"/>
              </a:solidFill>
              <a:latin typeface="Calibri"/>
              <a:ea typeface="Calibri"/>
              <a:cs typeface="Calibri"/>
              <a:sym typeface="Calibri"/>
            </a:endParaRPr>
          </a:p>
        </p:txBody>
      </p:sp>
      <p:sp>
        <p:nvSpPr>
          <p:cNvPr id="426" name="Google Shape;426;p39"/>
          <p:cNvSpPr txBox="1"/>
          <p:nvPr/>
        </p:nvSpPr>
        <p:spPr>
          <a:xfrm>
            <a:off x="788170" y="2665983"/>
            <a:ext cx="16236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s" sz="1100">
                <a:solidFill>
                  <a:schemeClr val="dk1"/>
                </a:solidFill>
                <a:latin typeface="Calibri"/>
                <a:ea typeface="Calibri"/>
                <a:cs typeface="Calibri"/>
                <a:sym typeface="Calibri"/>
              </a:rPr>
              <a:t>Franchisees fund locations → Porcini grows with low investment</a:t>
            </a:r>
            <a:endParaRPr sz="1100">
              <a:solidFill>
                <a:schemeClr val="dk1"/>
              </a:solidFill>
              <a:latin typeface="Calibri"/>
              <a:ea typeface="Calibri"/>
              <a:cs typeface="Calibri"/>
              <a:sym typeface="Calibri"/>
            </a:endParaRPr>
          </a:p>
        </p:txBody>
      </p:sp>
      <p:pic>
        <p:nvPicPr>
          <p:cNvPr id="427" name="Google Shape;427;p39"/>
          <p:cNvPicPr preferRelativeResize="0"/>
          <p:nvPr/>
        </p:nvPicPr>
        <p:blipFill rotWithShape="1">
          <a:blip r:embed="rId4">
            <a:alphaModFix/>
          </a:blip>
          <a:srcRect b="0" l="0" r="0" t="0"/>
          <a:stretch/>
        </p:blipFill>
        <p:spPr>
          <a:xfrm>
            <a:off x="272588" y="1578045"/>
            <a:ext cx="389748" cy="389748"/>
          </a:xfrm>
          <a:prstGeom prst="rect">
            <a:avLst/>
          </a:prstGeom>
          <a:noFill/>
          <a:ln>
            <a:noFill/>
          </a:ln>
        </p:spPr>
      </p:pic>
      <p:pic>
        <p:nvPicPr>
          <p:cNvPr id="428" name="Google Shape;428;p39"/>
          <p:cNvPicPr preferRelativeResize="0"/>
          <p:nvPr/>
        </p:nvPicPr>
        <p:blipFill rotWithShape="1">
          <a:blip r:embed="rId5">
            <a:alphaModFix/>
          </a:blip>
          <a:srcRect b="0" l="0" r="0" t="0"/>
          <a:stretch/>
        </p:blipFill>
        <p:spPr>
          <a:xfrm>
            <a:off x="259413" y="2689574"/>
            <a:ext cx="389042" cy="389042"/>
          </a:xfrm>
          <a:prstGeom prst="rect">
            <a:avLst/>
          </a:prstGeom>
          <a:noFill/>
          <a:ln>
            <a:noFill/>
          </a:ln>
        </p:spPr>
      </p:pic>
      <p:sp>
        <p:nvSpPr>
          <p:cNvPr id="429" name="Google Shape;429;p39"/>
          <p:cNvSpPr txBox="1"/>
          <p:nvPr/>
        </p:nvSpPr>
        <p:spPr>
          <a:xfrm>
            <a:off x="2822289" y="1078803"/>
            <a:ext cx="2506500" cy="317100"/>
          </a:xfrm>
          <a:prstGeom prst="rect">
            <a:avLst/>
          </a:prstGeom>
          <a:solidFill>
            <a:srgbClr val="073763"/>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s" sz="1100">
                <a:solidFill>
                  <a:schemeClr val="lt1"/>
                </a:solidFill>
                <a:latin typeface="Calibri"/>
                <a:ea typeface="Calibri"/>
                <a:cs typeface="Calibri"/>
                <a:sym typeface="Calibri"/>
              </a:rPr>
              <a:t>We are looking for partners with.</a:t>
            </a:r>
            <a:endParaRPr sz="1100"/>
          </a:p>
        </p:txBody>
      </p:sp>
      <p:sp>
        <p:nvSpPr>
          <p:cNvPr id="430" name="Google Shape;430;p39"/>
          <p:cNvSpPr txBox="1"/>
          <p:nvPr/>
        </p:nvSpPr>
        <p:spPr>
          <a:xfrm>
            <a:off x="2839499" y="1539310"/>
            <a:ext cx="2467200" cy="2955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SzPts val="1100"/>
              <a:buNone/>
            </a:pPr>
            <a:r>
              <a:rPr lang="es" sz="1100">
                <a:solidFill>
                  <a:schemeClr val="dk1"/>
                </a:solidFill>
                <a:latin typeface="Calibri"/>
                <a:ea typeface="Calibri"/>
                <a:cs typeface="Calibri"/>
                <a:sym typeface="Calibri"/>
              </a:rPr>
              <a:t>1. Experience in F&amp;B operations</a:t>
            </a:r>
            <a:endParaRPr sz="1100">
              <a:solidFill>
                <a:schemeClr val="dk1"/>
              </a:solidFill>
              <a:latin typeface="Calibri"/>
              <a:ea typeface="Calibri"/>
              <a:cs typeface="Calibri"/>
              <a:sym typeface="Calibri"/>
            </a:endParaRPr>
          </a:p>
          <a:p>
            <a:pPr indent="0" lvl="0" marL="0" rtl="0" algn="l">
              <a:spcBef>
                <a:spcPts val="0"/>
              </a:spcBef>
              <a:spcAft>
                <a:spcPts val="0"/>
              </a:spcAft>
              <a:buSzPts val="1100"/>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SzPts val="1100"/>
              <a:buNone/>
            </a:pPr>
            <a:r>
              <a:rPr lang="es" sz="1100">
                <a:solidFill>
                  <a:schemeClr val="dk1"/>
                </a:solidFill>
                <a:latin typeface="Calibri"/>
                <a:ea typeface="Calibri"/>
                <a:cs typeface="Calibri"/>
                <a:sym typeface="Calibri"/>
              </a:rPr>
              <a:t>2. Access to prime highway/roadside real estate</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SzPts val="1100"/>
              <a:buNone/>
            </a:pPr>
            <a:r>
              <a:rPr lang="es" sz="1100">
                <a:solidFill>
                  <a:schemeClr val="dk1"/>
                </a:solidFill>
                <a:latin typeface="Calibri"/>
                <a:ea typeface="Calibri"/>
                <a:cs typeface="Calibri"/>
                <a:sym typeface="Calibri"/>
              </a:rPr>
              <a:t>3. Strong capital base for multi-unit development</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SzPts val="1100"/>
              <a:buNone/>
            </a:pPr>
            <a:r>
              <a:rPr lang="es" sz="1100">
                <a:solidFill>
                  <a:schemeClr val="dk1"/>
                </a:solidFill>
                <a:latin typeface="Calibri"/>
                <a:ea typeface="Calibri"/>
                <a:cs typeface="Calibri"/>
                <a:sym typeface="Calibri"/>
              </a:rPr>
              <a:t>4. Understanding of regional market needs</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SzPts val="1100"/>
              <a:buNone/>
            </a:pPr>
            <a:r>
              <a:rPr lang="es" sz="1100">
                <a:solidFill>
                  <a:schemeClr val="dk1"/>
                </a:solidFill>
                <a:latin typeface="Calibri"/>
                <a:ea typeface="Calibri"/>
                <a:cs typeface="Calibri"/>
                <a:sym typeface="Calibri"/>
              </a:rPr>
              <a:t>5. Willingness to uphold Porcini’s quality reputation</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SzPts val="1100"/>
              <a:buNone/>
            </a:pPr>
            <a:r>
              <a:rPr lang="es" sz="1100">
                <a:solidFill>
                  <a:schemeClr val="dk1"/>
                </a:solidFill>
                <a:latin typeface="Calibri"/>
                <a:ea typeface="Calibri"/>
                <a:cs typeface="Calibri"/>
                <a:sym typeface="Calibri"/>
              </a:rPr>
              <a:t>6. Capacity to co-invest in marketing &amp; hiring</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chemeClr val="dk1"/>
              </a:solidFill>
              <a:latin typeface="Calibri"/>
              <a:ea typeface="Calibri"/>
              <a:cs typeface="Calibri"/>
              <a:sym typeface="Calibri"/>
            </a:endParaRPr>
          </a:p>
          <a:p>
            <a:pPr indent="0" lvl="0" marL="0" marR="0" rtl="0" algn="r">
              <a:spcBef>
                <a:spcPts val="0"/>
              </a:spcBef>
              <a:spcAft>
                <a:spcPts val="0"/>
              </a:spcAft>
              <a:buNone/>
            </a:pPr>
            <a:r>
              <a:rPr lang="es" sz="800">
                <a:solidFill>
                  <a:schemeClr val="dk1"/>
                </a:solidFill>
                <a:latin typeface="Calibri"/>
                <a:ea typeface="Calibri"/>
                <a:cs typeface="Calibri"/>
                <a:sym typeface="Calibri"/>
              </a:rPr>
              <a:t>→ These partners are key to scaling regionally and building recognition beyond current regional awareness</a:t>
            </a:r>
            <a:endParaRPr sz="800">
              <a:solidFill>
                <a:schemeClr val="dk1"/>
              </a:solidFill>
              <a:latin typeface="Calibri"/>
              <a:ea typeface="Calibri"/>
              <a:cs typeface="Calibri"/>
              <a:sym typeface="Calibri"/>
            </a:endParaRPr>
          </a:p>
        </p:txBody>
      </p:sp>
      <p:sp>
        <p:nvSpPr>
          <p:cNvPr id="431" name="Google Shape;431;p39"/>
          <p:cNvSpPr txBox="1"/>
          <p:nvPr/>
        </p:nvSpPr>
        <p:spPr>
          <a:xfrm>
            <a:off x="162938" y="3315778"/>
            <a:ext cx="2373600" cy="332100"/>
          </a:xfrm>
          <a:prstGeom prst="rect">
            <a:avLst/>
          </a:prstGeom>
          <a:solidFill>
            <a:srgbClr val="07376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100"/>
              <a:buFont typeface="Calibri"/>
              <a:buNone/>
            </a:pPr>
            <a:r>
              <a:rPr b="1" i="1" lang="es" sz="1100">
                <a:solidFill>
                  <a:schemeClr val="lt1"/>
                </a:solidFill>
                <a:latin typeface="Calibri"/>
                <a:ea typeface="Calibri"/>
                <a:cs typeface="Calibri"/>
                <a:sym typeface="Calibri"/>
              </a:rPr>
              <a:t>Maintains Strategic Control</a:t>
            </a:r>
            <a:endParaRPr b="1" i="0" sz="1100" u="none" cap="none" strike="noStrike">
              <a:solidFill>
                <a:schemeClr val="lt1"/>
              </a:solidFill>
              <a:latin typeface="Calibri"/>
              <a:ea typeface="Calibri"/>
              <a:cs typeface="Calibri"/>
              <a:sym typeface="Calibri"/>
            </a:endParaRPr>
          </a:p>
        </p:txBody>
      </p:sp>
      <p:sp>
        <p:nvSpPr>
          <p:cNvPr id="432" name="Google Shape;432;p39"/>
          <p:cNvSpPr txBox="1"/>
          <p:nvPr/>
        </p:nvSpPr>
        <p:spPr>
          <a:xfrm>
            <a:off x="787395" y="3789783"/>
            <a:ext cx="1623600" cy="338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s" sz="1100">
                <a:solidFill>
                  <a:schemeClr val="dk1"/>
                </a:solidFill>
                <a:latin typeface="Calibri"/>
                <a:ea typeface="Calibri"/>
                <a:cs typeface="Calibri"/>
                <a:sym typeface="Calibri"/>
              </a:rPr>
              <a:t>Porcini sets standards, owns brand, trains key partners</a:t>
            </a:r>
            <a:endParaRPr sz="1100">
              <a:solidFill>
                <a:schemeClr val="dk1"/>
              </a:solidFill>
              <a:latin typeface="Calibri"/>
              <a:ea typeface="Calibri"/>
              <a:cs typeface="Calibri"/>
              <a:sym typeface="Calibri"/>
            </a:endParaRPr>
          </a:p>
        </p:txBody>
      </p:sp>
      <p:pic>
        <p:nvPicPr>
          <p:cNvPr id="433" name="Google Shape;433;p39"/>
          <p:cNvPicPr preferRelativeResize="0"/>
          <p:nvPr/>
        </p:nvPicPr>
        <p:blipFill rotWithShape="1">
          <a:blip r:embed="rId6">
            <a:alphaModFix/>
          </a:blip>
          <a:srcRect b="65904" l="60795" r="8356" t="0"/>
          <a:stretch/>
        </p:blipFill>
        <p:spPr>
          <a:xfrm>
            <a:off x="270675" y="3727700"/>
            <a:ext cx="389025" cy="429975"/>
          </a:xfrm>
          <a:prstGeom prst="rect">
            <a:avLst/>
          </a:prstGeom>
          <a:noFill/>
          <a:ln>
            <a:noFill/>
          </a:ln>
        </p:spPr>
      </p:pic>
      <p:pic>
        <p:nvPicPr>
          <p:cNvPr id="434" name="Google Shape;434;p39"/>
          <p:cNvPicPr preferRelativeResize="0"/>
          <p:nvPr/>
        </p:nvPicPr>
        <p:blipFill rotWithShape="1">
          <a:blip r:embed="rId6">
            <a:alphaModFix/>
          </a:blip>
          <a:srcRect b="16232" l="4163" r="53132" t="52289"/>
          <a:stretch/>
        </p:blipFill>
        <p:spPr>
          <a:xfrm>
            <a:off x="5810112" y="1220819"/>
            <a:ext cx="741125" cy="546276"/>
          </a:xfrm>
          <a:prstGeom prst="rect">
            <a:avLst/>
          </a:prstGeom>
          <a:noFill/>
          <a:ln>
            <a:noFill/>
          </a:ln>
        </p:spPr>
      </p:pic>
      <p:pic>
        <p:nvPicPr>
          <p:cNvPr id="435" name="Google Shape;435;p39"/>
          <p:cNvPicPr preferRelativeResize="0"/>
          <p:nvPr/>
        </p:nvPicPr>
        <p:blipFill rotWithShape="1">
          <a:blip r:embed="rId6">
            <a:alphaModFix/>
          </a:blip>
          <a:srcRect b="16447" l="60143" r="10487" t="52012"/>
          <a:stretch/>
        </p:blipFill>
        <p:spPr>
          <a:xfrm>
            <a:off x="5926345" y="2776059"/>
            <a:ext cx="508659" cy="546276"/>
          </a:xfrm>
          <a:prstGeom prst="rect">
            <a:avLst/>
          </a:prstGeom>
          <a:noFill/>
          <a:ln>
            <a:noFill/>
          </a:ln>
        </p:spPr>
      </p:pic>
      <p:grpSp>
        <p:nvGrpSpPr>
          <p:cNvPr id="436" name="Google Shape;436;p39"/>
          <p:cNvGrpSpPr/>
          <p:nvPr/>
        </p:nvGrpSpPr>
        <p:grpSpPr>
          <a:xfrm>
            <a:off x="5365211" y="981767"/>
            <a:ext cx="270450" cy="3659175"/>
            <a:chOff x="4464432" y="1171805"/>
            <a:chExt cx="360600" cy="4878900"/>
          </a:xfrm>
        </p:grpSpPr>
        <p:cxnSp>
          <p:nvCxnSpPr>
            <p:cNvPr id="437" name="Google Shape;437;p39"/>
            <p:cNvCxnSpPr/>
            <p:nvPr/>
          </p:nvCxnSpPr>
          <p:spPr>
            <a:xfrm>
              <a:off x="4644666" y="1171805"/>
              <a:ext cx="0" cy="4878900"/>
            </a:xfrm>
            <a:prstGeom prst="straightConnector1">
              <a:avLst/>
            </a:prstGeom>
            <a:noFill/>
            <a:ln cap="flat" cmpd="sng" w="12700">
              <a:solidFill>
                <a:schemeClr val="lt2">
                  <a:alpha val="97650"/>
                </a:schemeClr>
              </a:solidFill>
              <a:prstDash val="lgDash"/>
              <a:miter lim="800000"/>
              <a:headEnd len="sm" w="sm" type="none"/>
              <a:tailEnd len="sm" w="sm" type="none"/>
            </a:ln>
          </p:spPr>
        </p:cxnSp>
        <p:sp>
          <p:nvSpPr>
            <p:cNvPr id="438" name="Google Shape;438;p39"/>
            <p:cNvSpPr/>
            <p:nvPr/>
          </p:nvSpPr>
          <p:spPr>
            <a:xfrm>
              <a:off x="4464432" y="3248766"/>
              <a:ext cx="360600" cy="360600"/>
            </a:xfrm>
            <a:prstGeom prst="ellipse">
              <a:avLst/>
            </a:prstGeom>
            <a:solidFill>
              <a:srgbClr val="07376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500" u="none" cap="none" strike="noStrike">
                <a:solidFill>
                  <a:schemeClr val="lt1"/>
                </a:solidFill>
                <a:latin typeface="Calibri"/>
                <a:ea typeface="Calibri"/>
                <a:cs typeface="Calibri"/>
                <a:sym typeface="Calibri"/>
              </a:endParaRPr>
            </a:p>
          </p:txBody>
        </p:sp>
      </p:grpSp>
      <p:pic>
        <p:nvPicPr>
          <p:cNvPr descr="Caret Right with solid fill" id="439" name="Google Shape;439;p39"/>
          <p:cNvPicPr preferRelativeResize="0"/>
          <p:nvPr/>
        </p:nvPicPr>
        <p:blipFill rotWithShape="1">
          <a:blip r:embed="rId7">
            <a:alphaModFix/>
          </a:blip>
          <a:srcRect b="0" l="0" r="0" t="0"/>
          <a:stretch/>
        </p:blipFill>
        <p:spPr>
          <a:xfrm>
            <a:off x="5386046" y="2557411"/>
            <a:ext cx="228756" cy="228756"/>
          </a:xfrm>
          <a:prstGeom prst="rect">
            <a:avLst/>
          </a:prstGeom>
          <a:noFill/>
          <a:ln>
            <a:noFill/>
          </a:ln>
        </p:spPr>
      </p:pic>
      <p:pic>
        <p:nvPicPr>
          <p:cNvPr descr="Caret Right with solid fill" id="440" name="Google Shape;440;p39"/>
          <p:cNvPicPr preferRelativeResize="0"/>
          <p:nvPr/>
        </p:nvPicPr>
        <p:blipFill rotWithShape="1">
          <a:blip r:embed="rId7">
            <a:alphaModFix/>
          </a:blip>
          <a:srcRect b="0" l="0" r="0" t="0"/>
          <a:stretch/>
        </p:blipFill>
        <p:spPr>
          <a:xfrm>
            <a:off x="2564900" y="2560208"/>
            <a:ext cx="228912" cy="228912"/>
          </a:xfrm>
          <a:prstGeom prst="rect">
            <a:avLst/>
          </a:prstGeom>
          <a:noFill/>
          <a:ln>
            <a:noFill/>
          </a:ln>
        </p:spPr>
      </p:pic>
      <p:sp>
        <p:nvSpPr>
          <p:cNvPr id="441" name="Google Shape;441;p39"/>
          <p:cNvSpPr txBox="1"/>
          <p:nvPr/>
        </p:nvSpPr>
        <p:spPr>
          <a:xfrm>
            <a:off x="5694150" y="3577600"/>
            <a:ext cx="3176400" cy="668100"/>
          </a:xfrm>
          <a:prstGeom prst="rect">
            <a:avLst/>
          </a:prstGeom>
          <a:solidFill>
            <a:srgbClr val="CFE2F3">
              <a:alpha val="5127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100"/>
              <a:buFont typeface="Calibri"/>
              <a:buNone/>
            </a:pPr>
            <a:r>
              <a:rPr i="1" lang="es" sz="1100">
                <a:solidFill>
                  <a:schemeClr val="dk1"/>
                </a:solidFill>
                <a:latin typeface="Calibri"/>
                <a:ea typeface="Calibri"/>
                <a:cs typeface="Calibri"/>
                <a:sym typeface="Calibri"/>
              </a:rPr>
              <a:t>We work closely with our partners </a:t>
            </a:r>
            <a:endParaRPr i="1" sz="11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100"/>
              <a:buFont typeface="Calibri"/>
              <a:buNone/>
            </a:pPr>
            <a:r>
              <a:rPr i="1" lang="es" sz="1100">
                <a:solidFill>
                  <a:schemeClr val="dk1"/>
                </a:solidFill>
                <a:latin typeface="Calibri"/>
                <a:ea typeface="Calibri"/>
                <a:cs typeface="Calibri"/>
                <a:sym typeface="Calibri"/>
              </a:rPr>
              <a:t>in providing Pronto with minimal risk </a:t>
            </a:r>
            <a:endParaRPr i="1" sz="11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100"/>
              <a:buFont typeface="Calibri"/>
              <a:buNone/>
            </a:pPr>
            <a:r>
              <a:rPr i="1" lang="es" sz="1100">
                <a:solidFill>
                  <a:schemeClr val="dk1"/>
                </a:solidFill>
                <a:latin typeface="Calibri"/>
                <a:ea typeface="Calibri"/>
                <a:cs typeface="Calibri"/>
                <a:sym typeface="Calibri"/>
              </a:rPr>
              <a:t>&amp; strong </a:t>
            </a:r>
            <a:r>
              <a:rPr i="1" lang="es" sz="1100">
                <a:solidFill>
                  <a:schemeClr val="dk1"/>
                </a:solidFill>
                <a:latin typeface="Calibri"/>
                <a:ea typeface="Calibri"/>
                <a:cs typeface="Calibri"/>
                <a:sym typeface="Calibri"/>
              </a:rPr>
              <a:t>revenue growth</a:t>
            </a:r>
            <a:endParaRPr i="1" sz="11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0"/>
          <p:cNvSpPr txBox="1"/>
          <p:nvPr/>
        </p:nvSpPr>
        <p:spPr>
          <a:xfrm>
            <a:off x="267065" y="3562659"/>
            <a:ext cx="2224500" cy="1365900"/>
          </a:xfrm>
          <a:prstGeom prst="rect">
            <a:avLst/>
          </a:prstGeom>
          <a:noFill/>
          <a:ln>
            <a:noFill/>
          </a:ln>
        </p:spPr>
        <p:txBody>
          <a:bodyPr anchorCtr="0" anchor="t" bIns="34275" lIns="68575" spcFirstLastPara="1" rIns="68575" wrap="square" tIns="34275">
            <a:spAutoFit/>
          </a:bodyPr>
          <a:lstStyle/>
          <a:p>
            <a:pPr indent="0" lvl="0" marL="0" rtl="0" algn="l">
              <a:lnSpc>
                <a:spcPct val="115000"/>
              </a:lnSpc>
              <a:spcBef>
                <a:spcPts val="1200"/>
              </a:spcBef>
              <a:spcAft>
                <a:spcPts val="0"/>
              </a:spcAft>
              <a:buClr>
                <a:schemeClr val="dk1"/>
              </a:buClr>
              <a:buSzPts val="1100"/>
              <a:buFont typeface="Arial"/>
              <a:buNone/>
            </a:pPr>
            <a:r>
              <a:rPr b="1" lang="es" sz="1100">
                <a:solidFill>
                  <a:schemeClr val="dk1"/>
                </a:solidFill>
              </a:rPr>
              <a:t>West (e.g., California, Texas)</a:t>
            </a:r>
            <a:br>
              <a:rPr b="1" lang="es" sz="1100">
                <a:solidFill>
                  <a:schemeClr val="dk1"/>
                </a:solidFill>
              </a:rPr>
            </a:br>
            <a:r>
              <a:rPr i="1" lang="es" sz="1100">
                <a:solidFill>
                  <a:schemeClr val="dk1"/>
                </a:solidFill>
              </a:rPr>
              <a:t>Low brand awareness and expensive real estate</a:t>
            </a:r>
            <a:br>
              <a:rPr i="1" lang="es" sz="1100">
                <a:solidFill>
                  <a:schemeClr val="dk1"/>
                </a:solidFill>
              </a:rPr>
            </a:br>
            <a:r>
              <a:rPr lang="es" sz="1100">
                <a:solidFill>
                  <a:schemeClr val="dk1"/>
                </a:solidFill>
              </a:rPr>
              <a:t>High competition</a:t>
            </a:r>
            <a:br>
              <a:rPr lang="es" sz="1100">
                <a:solidFill>
                  <a:schemeClr val="dk1"/>
                </a:solidFill>
              </a:rPr>
            </a:br>
            <a:r>
              <a:rPr i="1" lang="es" sz="1100">
                <a:solidFill>
                  <a:schemeClr val="dk1"/>
                </a:solidFill>
              </a:rPr>
              <a:t>Low priority for now</a:t>
            </a:r>
            <a:endParaRPr i="1" sz="1100">
              <a:solidFill>
                <a:schemeClr val="dk1"/>
              </a:solidFill>
            </a:endParaRPr>
          </a:p>
          <a:p>
            <a:pPr indent="0" lvl="0" marL="0" marR="0" rtl="0" algn="l">
              <a:spcBef>
                <a:spcPts val="1200"/>
              </a:spcBef>
              <a:spcAft>
                <a:spcPts val="0"/>
              </a:spcAft>
              <a:buNone/>
            </a:pPr>
            <a:r>
              <a:t/>
            </a:r>
            <a:endParaRPr sz="1100">
              <a:solidFill>
                <a:schemeClr val="dk1"/>
              </a:solidFill>
              <a:latin typeface="Quattrocento Sans"/>
              <a:ea typeface="Quattrocento Sans"/>
              <a:cs typeface="Quattrocento Sans"/>
              <a:sym typeface="Quattrocento Sans"/>
            </a:endParaRPr>
          </a:p>
        </p:txBody>
      </p:sp>
      <p:sp>
        <p:nvSpPr>
          <p:cNvPr id="447" name="Google Shape;447;p40"/>
          <p:cNvSpPr txBox="1"/>
          <p:nvPr/>
        </p:nvSpPr>
        <p:spPr>
          <a:xfrm>
            <a:off x="267077" y="1137000"/>
            <a:ext cx="1689900" cy="15930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Clr>
                <a:schemeClr val="dk1"/>
              </a:buClr>
              <a:buSzPts val="1100"/>
              <a:buFont typeface="Arial"/>
              <a:buNone/>
            </a:pPr>
            <a:r>
              <a:rPr b="1" lang="es" sz="1100">
                <a:solidFill>
                  <a:schemeClr val="dk1"/>
                </a:solidFill>
              </a:rPr>
              <a:t>Southeast (e.g., Georgia, North Carolina)</a:t>
            </a:r>
            <a:br>
              <a:rPr b="1" lang="es" sz="1100">
                <a:solidFill>
                  <a:schemeClr val="dk1"/>
                </a:solidFill>
              </a:rPr>
            </a:br>
            <a:r>
              <a:rPr i="1" lang="es" sz="1100">
                <a:solidFill>
                  <a:schemeClr val="dk1"/>
                </a:solidFill>
              </a:rPr>
              <a:t>Lower brand awareness, but strong highway use</a:t>
            </a:r>
            <a:endParaRPr i="1" sz="1100">
              <a:solidFill>
                <a:schemeClr val="dk1"/>
              </a:solidFill>
            </a:endParaRPr>
          </a:p>
          <a:p>
            <a:pPr indent="0" lvl="0" marL="0" rtl="0" algn="l">
              <a:spcBef>
                <a:spcPts val="0"/>
              </a:spcBef>
              <a:spcAft>
                <a:spcPts val="0"/>
              </a:spcAft>
              <a:buClr>
                <a:schemeClr val="dk1"/>
              </a:buClr>
              <a:buSzPts val="1100"/>
              <a:buFont typeface="Arial"/>
              <a:buNone/>
            </a:pPr>
            <a:r>
              <a:rPr lang="es" sz="1100">
                <a:solidFill>
                  <a:schemeClr val="dk1"/>
                </a:solidFill>
              </a:rPr>
              <a:t>Potential for family/vacation segment</a:t>
            </a:r>
            <a:endParaRPr sz="1100">
              <a:solidFill>
                <a:schemeClr val="dk1"/>
              </a:solidFill>
            </a:endParaRPr>
          </a:p>
          <a:p>
            <a:pPr indent="0" lvl="0" marL="0" marR="0" rtl="0" algn="l">
              <a:spcBef>
                <a:spcPts val="0"/>
              </a:spcBef>
              <a:spcAft>
                <a:spcPts val="0"/>
              </a:spcAft>
              <a:buNone/>
            </a:pPr>
            <a:r>
              <a:rPr i="1" lang="es" sz="1100">
                <a:solidFill>
                  <a:schemeClr val="dk1"/>
                </a:solidFill>
              </a:rPr>
              <a:t>Mid-term expansion opportunity</a:t>
            </a:r>
            <a:endParaRPr sz="1100">
              <a:solidFill>
                <a:schemeClr val="dk1"/>
              </a:solidFill>
              <a:latin typeface="Quattrocento Sans"/>
              <a:ea typeface="Quattrocento Sans"/>
              <a:cs typeface="Quattrocento Sans"/>
              <a:sym typeface="Quattrocento Sans"/>
            </a:endParaRPr>
          </a:p>
        </p:txBody>
      </p:sp>
      <p:sp>
        <p:nvSpPr>
          <p:cNvPr id="448" name="Google Shape;448;p40"/>
          <p:cNvSpPr txBox="1"/>
          <p:nvPr/>
        </p:nvSpPr>
        <p:spPr>
          <a:xfrm>
            <a:off x="198848" y="102400"/>
            <a:ext cx="26814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Strategy Implementation</a:t>
            </a:r>
            <a:endParaRPr sz="1100"/>
          </a:p>
        </p:txBody>
      </p:sp>
      <p:sp>
        <p:nvSpPr>
          <p:cNvPr id="449" name="Google Shape;449;p40"/>
          <p:cNvSpPr txBox="1"/>
          <p:nvPr>
            <p:ph idx="4294967295" type="title"/>
          </p:nvPr>
        </p:nvSpPr>
        <p:spPr>
          <a:xfrm>
            <a:off x="198850" y="497925"/>
            <a:ext cx="76116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Play"/>
              <a:buNone/>
            </a:pPr>
            <a:r>
              <a:rPr lang="es" sz="1800">
                <a:latin typeface="Arial"/>
                <a:ea typeface="Arial"/>
                <a:cs typeface="Arial"/>
                <a:sym typeface="Arial"/>
              </a:rPr>
              <a:t>Porcini’s must balance brand familiarity, highway traffic, and strategic expansion potential for an ideal location </a:t>
            </a:r>
            <a:endParaRPr>
              <a:latin typeface="Arial"/>
              <a:ea typeface="Arial"/>
              <a:cs typeface="Arial"/>
              <a:sym typeface="Arial"/>
            </a:endParaRPr>
          </a:p>
        </p:txBody>
      </p:sp>
      <p:sp>
        <p:nvSpPr>
          <p:cNvPr id="450" name="Google Shape;450;p40"/>
          <p:cNvSpPr/>
          <p:nvPr/>
        </p:nvSpPr>
        <p:spPr>
          <a:xfrm>
            <a:off x="216475" y="1052950"/>
            <a:ext cx="1766400" cy="1671300"/>
          </a:xfrm>
          <a:prstGeom prst="rect">
            <a:avLst/>
          </a:prstGeom>
          <a:solidFill>
            <a:srgbClr val="FFFFFF">
              <a:alpha val="78480"/>
            </a:srgbClr>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1" name="Google Shape;451;p40"/>
          <p:cNvSpPr/>
          <p:nvPr/>
        </p:nvSpPr>
        <p:spPr>
          <a:xfrm>
            <a:off x="267075" y="3392250"/>
            <a:ext cx="2036100" cy="1141800"/>
          </a:xfrm>
          <a:prstGeom prst="rect">
            <a:avLst/>
          </a:prstGeom>
          <a:solidFill>
            <a:srgbClr val="FFFFFF">
              <a:alpha val="78480"/>
            </a:srgbClr>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52" name="Google Shape;452;p40"/>
          <p:cNvPicPr preferRelativeResize="0"/>
          <p:nvPr/>
        </p:nvPicPr>
        <p:blipFill rotWithShape="1">
          <a:blip r:embed="rId3">
            <a:alphaModFix/>
          </a:blip>
          <a:srcRect b="6876" l="0" r="0" t="2289"/>
          <a:stretch/>
        </p:blipFill>
        <p:spPr>
          <a:xfrm>
            <a:off x="1393513" y="1137000"/>
            <a:ext cx="5239836" cy="3569863"/>
          </a:xfrm>
          <a:prstGeom prst="rect">
            <a:avLst/>
          </a:prstGeom>
          <a:noFill/>
          <a:ln>
            <a:noFill/>
          </a:ln>
        </p:spPr>
      </p:pic>
      <p:sp>
        <p:nvSpPr>
          <p:cNvPr id="453" name="Google Shape;453;p40"/>
          <p:cNvSpPr/>
          <p:nvPr/>
        </p:nvSpPr>
        <p:spPr>
          <a:xfrm>
            <a:off x="6131475" y="2540650"/>
            <a:ext cx="2605500" cy="1593000"/>
          </a:xfrm>
          <a:prstGeom prst="rect">
            <a:avLst/>
          </a:prstGeom>
          <a:solidFill>
            <a:srgbClr val="FFFFFF">
              <a:alpha val="29750"/>
            </a:srgbClr>
          </a:solidFill>
          <a:ln cap="flat" cmpd="sng" w="19050">
            <a:solidFill>
              <a:srgbClr val="6D9EEB"/>
            </a:solidFill>
            <a:prstDash val="dash"/>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54" name="Google Shape;454;p40"/>
          <p:cNvSpPr/>
          <p:nvPr/>
        </p:nvSpPr>
        <p:spPr>
          <a:xfrm>
            <a:off x="5456325" y="857700"/>
            <a:ext cx="3531900" cy="1085100"/>
          </a:xfrm>
          <a:prstGeom prst="rect">
            <a:avLst/>
          </a:prstGeom>
          <a:solidFill>
            <a:srgbClr val="FFFFFF">
              <a:alpha val="29750"/>
            </a:srgbClr>
          </a:solidFill>
          <a:ln cap="flat" cmpd="sng" w="19050">
            <a:solidFill>
              <a:srgbClr val="6D9EEB"/>
            </a:solidFill>
            <a:prstDash val="dash"/>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55" name="Google Shape;455;p40"/>
          <p:cNvSpPr txBox="1"/>
          <p:nvPr/>
        </p:nvSpPr>
        <p:spPr>
          <a:xfrm>
            <a:off x="6209075" y="2611225"/>
            <a:ext cx="2779200" cy="1406700"/>
          </a:xfrm>
          <a:prstGeom prst="rect">
            <a:avLst/>
          </a:prstGeom>
          <a:noFill/>
          <a:ln>
            <a:noFill/>
          </a:ln>
        </p:spPr>
        <p:txBody>
          <a:bodyPr anchorCtr="0" anchor="t" bIns="34275" lIns="68575" spcFirstLastPara="1" rIns="68575" wrap="square" tIns="34275">
            <a:spAutoFit/>
          </a:bodyPr>
          <a:lstStyle/>
          <a:p>
            <a:pPr indent="0" lvl="0" marL="0" rtl="0" algn="l">
              <a:lnSpc>
                <a:spcPct val="115000"/>
              </a:lnSpc>
              <a:spcBef>
                <a:spcPts val="1200"/>
              </a:spcBef>
              <a:spcAft>
                <a:spcPts val="1200"/>
              </a:spcAft>
              <a:buClr>
                <a:schemeClr val="dk1"/>
              </a:buClr>
              <a:buSzPts val="1100"/>
              <a:buFont typeface="Arial"/>
              <a:buNone/>
            </a:pPr>
            <a:r>
              <a:rPr b="1" lang="es" sz="1100">
                <a:solidFill>
                  <a:schemeClr val="dk1"/>
                </a:solidFill>
              </a:rPr>
              <a:t>Northeast (e.g., Pennsylvania, New York)</a:t>
            </a:r>
            <a:br>
              <a:rPr b="1" lang="es" sz="1100">
                <a:solidFill>
                  <a:schemeClr val="dk1"/>
                </a:solidFill>
              </a:rPr>
            </a:br>
            <a:r>
              <a:rPr i="1" lang="es" sz="1100">
                <a:solidFill>
                  <a:schemeClr val="dk1"/>
                </a:solidFill>
              </a:rPr>
              <a:t>High brand familiarity and dense population</a:t>
            </a:r>
            <a:br>
              <a:rPr i="1" lang="es" sz="1100">
                <a:solidFill>
                  <a:schemeClr val="dk1"/>
                </a:solidFill>
              </a:rPr>
            </a:br>
            <a:r>
              <a:rPr lang="es" sz="1100">
                <a:solidFill>
                  <a:schemeClr val="dk1"/>
                </a:solidFill>
              </a:rPr>
              <a:t>Strong traveler volume</a:t>
            </a:r>
            <a:br>
              <a:rPr lang="es" sz="1100">
                <a:solidFill>
                  <a:schemeClr val="dk1"/>
                </a:solidFill>
              </a:rPr>
            </a:br>
            <a:r>
              <a:rPr lang="es" sz="1100">
                <a:solidFill>
                  <a:schemeClr val="dk1"/>
                </a:solidFill>
              </a:rPr>
              <a:t>Early adopters likely</a:t>
            </a:r>
            <a:br>
              <a:rPr lang="es" sz="1100">
                <a:solidFill>
                  <a:schemeClr val="dk1"/>
                </a:solidFill>
              </a:rPr>
            </a:br>
            <a:r>
              <a:rPr b="1" i="1" lang="es" sz="1100">
                <a:solidFill>
                  <a:srgbClr val="C00000"/>
                </a:solidFill>
              </a:rPr>
              <a:t>Best region to launch pilot locations</a:t>
            </a:r>
            <a:endParaRPr b="1" sz="1100">
              <a:solidFill>
                <a:srgbClr val="C00000"/>
              </a:solidFill>
              <a:latin typeface="Quattrocento Sans"/>
              <a:ea typeface="Quattrocento Sans"/>
              <a:cs typeface="Quattrocento Sans"/>
              <a:sym typeface="Quattrocento Sans"/>
            </a:endParaRPr>
          </a:p>
        </p:txBody>
      </p:sp>
      <p:sp>
        <p:nvSpPr>
          <p:cNvPr id="456" name="Google Shape;456;p40"/>
          <p:cNvSpPr txBox="1"/>
          <p:nvPr/>
        </p:nvSpPr>
        <p:spPr>
          <a:xfrm>
            <a:off x="5544377" y="857700"/>
            <a:ext cx="3284100" cy="10851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Clr>
                <a:schemeClr val="dk1"/>
              </a:buClr>
              <a:buSzPts val="1100"/>
              <a:buFont typeface="Arial"/>
              <a:buNone/>
            </a:pPr>
            <a:r>
              <a:rPr b="1" lang="es" sz="1100">
                <a:solidFill>
                  <a:schemeClr val="dk1"/>
                </a:solidFill>
              </a:rPr>
              <a:t>Midwest (e.g., Ohio, Illinois)</a:t>
            </a:r>
            <a:endParaRPr b="1" sz="1100">
              <a:solidFill>
                <a:schemeClr val="dk1"/>
              </a:solidFill>
            </a:endParaRPr>
          </a:p>
          <a:p>
            <a:pPr indent="0" lvl="0" marL="0" rtl="0" algn="l">
              <a:spcBef>
                <a:spcPts val="0"/>
              </a:spcBef>
              <a:spcAft>
                <a:spcPts val="0"/>
              </a:spcAft>
              <a:buClr>
                <a:schemeClr val="dk1"/>
              </a:buClr>
              <a:buSzPts val="1100"/>
              <a:buFont typeface="Arial"/>
              <a:buNone/>
            </a:pPr>
            <a:r>
              <a:rPr i="1" lang="es" sz="1100">
                <a:solidFill>
                  <a:schemeClr val="dk1"/>
                </a:solidFill>
              </a:rPr>
              <a:t>Central to national highways with cost-efficient real estate</a:t>
            </a:r>
            <a:endParaRPr i="1" sz="1100">
              <a:solidFill>
                <a:schemeClr val="dk1"/>
              </a:solidFill>
            </a:endParaRPr>
          </a:p>
          <a:p>
            <a:pPr indent="0" lvl="0" marL="0" rtl="0" algn="l">
              <a:spcBef>
                <a:spcPts val="0"/>
              </a:spcBef>
              <a:spcAft>
                <a:spcPts val="0"/>
              </a:spcAft>
              <a:buClr>
                <a:schemeClr val="dk1"/>
              </a:buClr>
              <a:buSzPts val="1100"/>
              <a:buFont typeface="Arial"/>
              <a:buNone/>
            </a:pPr>
            <a:r>
              <a:rPr lang="es" sz="1100">
                <a:solidFill>
                  <a:schemeClr val="dk1"/>
                </a:solidFill>
              </a:rPr>
              <a:t>High road trip volume</a:t>
            </a:r>
            <a:endParaRPr sz="1100">
              <a:solidFill>
                <a:schemeClr val="dk1"/>
              </a:solidFill>
            </a:endParaRPr>
          </a:p>
          <a:p>
            <a:pPr indent="0" lvl="0" marL="0" rtl="0" algn="l">
              <a:spcBef>
                <a:spcPts val="0"/>
              </a:spcBef>
              <a:spcAft>
                <a:spcPts val="0"/>
              </a:spcAft>
              <a:buSzPts val="1100"/>
              <a:buNone/>
            </a:pPr>
            <a:r>
              <a:rPr lang="es" sz="1100">
                <a:solidFill>
                  <a:schemeClr val="dk1"/>
                </a:solidFill>
              </a:rPr>
              <a:t>Good balance of cost and reach</a:t>
            </a:r>
            <a:br>
              <a:rPr lang="es" sz="1100">
                <a:solidFill>
                  <a:schemeClr val="dk1"/>
                </a:solidFill>
              </a:rPr>
            </a:br>
            <a:r>
              <a:rPr b="1" i="1" lang="es" sz="1100">
                <a:solidFill>
                  <a:srgbClr val="C00000"/>
                </a:solidFill>
              </a:rPr>
              <a:t>Best for scalable rollout after initial success</a:t>
            </a:r>
            <a:endParaRPr b="1" sz="1100">
              <a:solidFill>
                <a:srgbClr val="C00000"/>
              </a:solidFill>
              <a:latin typeface="Quattrocento Sans"/>
              <a:ea typeface="Quattrocento Sans"/>
              <a:cs typeface="Quattrocento Sans"/>
              <a:sym typeface="Quattrocento Sans"/>
            </a:endParaRPr>
          </a:p>
        </p:txBody>
      </p:sp>
      <p:sp>
        <p:nvSpPr>
          <p:cNvPr id="457" name="Google Shape;457;p40"/>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1"/>
          <p:cNvSpPr txBox="1"/>
          <p:nvPr/>
        </p:nvSpPr>
        <p:spPr>
          <a:xfrm>
            <a:off x="198848" y="102400"/>
            <a:ext cx="26814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Strategy Implementation</a:t>
            </a:r>
            <a:endParaRPr sz="1100"/>
          </a:p>
        </p:txBody>
      </p:sp>
      <p:sp>
        <p:nvSpPr>
          <p:cNvPr id="463" name="Google Shape;463;p41"/>
          <p:cNvSpPr/>
          <p:nvPr/>
        </p:nvSpPr>
        <p:spPr>
          <a:xfrm>
            <a:off x="234625" y="1797175"/>
            <a:ext cx="2688600" cy="26778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464" name="Google Shape;464;p41"/>
          <p:cNvPicPr preferRelativeResize="0"/>
          <p:nvPr/>
        </p:nvPicPr>
        <p:blipFill>
          <a:blip r:embed="rId3">
            <a:alphaModFix/>
          </a:blip>
          <a:stretch>
            <a:fillRect/>
          </a:stretch>
        </p:blipFill>
        <p:spPr>
          <a:xfrm>
            <a:off x="347738" y="978988"/>
            <a:ext cx="2383625" cy="2170275"/>
          </a:xfrm>
          <a:prstGeom prst="rect">
            <a:avLst/>
          </a:prstGeom>
          <a:noFill/>
          <a:ln>
            <a:noFill/>
          </a:ln>
        </p:spPr>
      </p:pic>
      <p:sp>
        <p:nvSpPr>
          <p:cNvPr id="465" name="Google Shape;465;p41"/>
          <p:cNvSpPr txBox="1"/>
          <p:nvPr>
            <p:ph idx="4294967295" type="title"/>
          </p:nvPr>
        </p:nvSpPr>
        <p:spPr>
          <a:xfrm>
            <a:off x="435925" y="3463875"/>
            <a:ext cx="2286000" cy="6684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1800"/>
              <a:buFont typeface="Play"/>
              <a:buNone/>
            </a:pPr>
            <a:r>
              <a:rPr lang="es" sz="1400">
                <a:latin typeface="Arial"/>
                <a:ea typeface="Arial"/>
                <a:cs typeface="Arial"/>
                <a:sym typeface="Arial"/>
              </a:rPr>
              <a:t>We aim to build</a:t>
            </a:r>
            <a:r>
              <a:rPr b="1" lang="es" sz="1400">
                <a:latin typeface="Arial"/>
                <a:ea typeface="Arial"/>
                <a:cs typeface="Arial"/>
                <a:sym typeface="Arial"/>
              </a:rPr>
              <a:t> 5 franchises</a:t>
            </a:r>
            <a:r>
              <a:rPr lang="es" sz="1400">
                <a:latin typeface="Arial"/>
                <a:ea typeface="Arial"/>
                <a:cs typeface="Arial"/>
                <a:sym typeface="Arial"/>
              </a:rPr>
              <a:t> in the next</a:t>
            </a:r>
            <a:r>
              <a:rPr b="1" lang="es" sz="1400">
                <a:latin typeface="Arial"/>
                <a:ea typeface="Arial"/>
                <a:cs typeface="Arial"/>
                <a:sym typeface="Arial"/>
              </a:rPr>
              <a:t> </a:t>
            </a:r>
            <a:r>
              <a:rPr b="1" lang="es" sz="1400"/>
              <a:t>3</a:t>
            </a:r>
            <a:r>
              <a:rPr b="1" lang="es" sz="1400">
                <a:latin typeface="Arial"/>
                <a:ea typeface="Arial"/>
                <a:cs typeface="Arial"/>
                <a:sym typeface="Arial"/>
              </a:rPr>
              <a:t> years</a:t>
            </a:r>
            <a:r>
              <a:rPr lang="es" sz="1400">
                <a:latin typeface="Arial"/>
                <a:ea typeface="Arial"/>
                <a:cs typeface="Arial"/>
                <a:sym typeface="Arial"/>
              </a:rPr>
              <a:t>, generating stable, yet high growth revenue by…</a:t>
            </a:r>
            <a:endParaRPr sz="2900">
              <a:latin typeface="Arial"/>
              <a:ea typeface="Arial"/>
              <a:cs typeface="Arial"/>
              <a:sym typeface="Arial"/>
            </a:endParaRPr>
          </a:p>
        </p:txBody>
      </p:sp>
      <p:graphicFrame>
        <p:nvGraphicFramePr>
          <p:cNvPr id="466" name="Google Shape;466;p41"/>
          <p:cNvGraphicFramePr/>
          <p:nvPr/>
        </p:nvGraphicFramePr>
        <p:xfrm>
          <a:off x="3406388" y="1081050"/>
          <a:ext cx="3000000" cy="3000000"/>
        </p:xfrm>
        <a:graphic>
          <a:graphicData uri="http://schemas.openxmlformats.org/drawingml/2006/table">
            <a:tbl>
              <a:tblPr>
                <a:noFill/>
                <a:tableStyleId>{55E26657-C28D-4372-B35B-CF2A80E98938}</a:tableStyleId>
              </a:tblPr>
              <a:tblGrid>
                <a:gridCol w="1054450"/>
                <a:gridCol w="1634150"/>
              </a:tblGrid>
              <a:tr h="110500">
                <a:tc>
                  <a:txBody>
                    <a:bodyPr/>
                    <a:lstStyle/>
                    <a:p>
                      <a:pPr indent="0" lvl="0" marL="0" rtl="0" algn="l">
                        <a:lnSpc>
                          <a:spcPct val="115000"/>
                        </a:lnSpc>
                        <a:spcBef>
                          <a:spcPts val="0"/>
                        </a:spcBef>
                        <a:spcAft>
                          <a:spcPts val="0"/>
                        </a:spcAft>
                        <a:buNone/>
                      </a:pPr>
                      <a:r>
                        <a:rPr b="1" lang="es" sz="1200"/>
                        <a:t>35K</a:t>
                      </a:r>
                      <a:endParaRPr b="1" sz="1200"/>
                    </a:p>
                  </a:txBody>
                  <a:tcPr marT="9525" marB="91425" marR="9525" marL="9525" anchor="ctr"/>
                </a:tc>
                <a:tc>
                  <a:txBody>
                    <a:bodyPr/>
                    <a:lstStyle/>
                    <a:p>
                      <a:pPr indent="0" lvl="0" marL="0" rtl="0" algn="l">
                        <a:spcBef>
                          <a:spcPts val="0"/>
                        </a:spcBef>
                        <a:spcAft>
                          <a:spcPts val="0"/>
                        </a:spcAft>
                        <a:buNone/>
                      </a:pPr>
                      <a:r>
                        <a:rPr lang="es" sz="1200"/>
                        <a:t>Customers Per Annum</a:t>
                      </a:r>
                      <a:endParaRPr sz="1200"/>
                    </a:p>
                  </a:txBody>
                  <a:tcPr marT="9525" marB="91425" marR="9525" marL="9525" anchor="ctr"/>
                </a:tc>
              </a:tr>
              <a:tr h="110500">
                <a:tc>
                  <a:txBody>
                    <a:bodyPr/>
                    <a:lstStyle/>
                    <a:p>
                      <a:pPr indent="0" lvl="0" marL="0" rtl="0" algn="l">
                        <a:lnSpc>
                          <a:spcPct val="115000"/>
                        </a:lnSpc>
                        <a:spcBef>
                          <a:spcPts val="0"/>
                        </a:spcBef>
                        <a:spcAft>
                          <a:spcPts val="0"/>
                        </a:spcAft>
                        <a:buNone/>
                      </a:pPr>
                      <a:r>
                        <a:rPr b="1" lang="es" sz="1200"/>
                        <a:t>25</a:t>
                      </a:r>
                      <a:endParaRPr b="1" sz="1200"/>
                    </a:p>
                  </a:txBody>
                  <a:tcPr marT="9525" marB="91425" marR="9525" marL="9525" anchor="ctr">
                    <a:lnB cap="flat" cmpd="sng" w="9525">
                      <a:solidFill>
                        <a:srgbClr val="073763"/>
                      </a:solidFill>
                      <a:prstDash val="solid"/>
                      <a:round/>
                      <a:headEnd len="sm" w="sm" type="none"/>
                      <a:tailEnd len="sm" w="sm" type="none"/>
                    </a:lnB>
                  </a:tcPr>
                </a:tc>
                <a:tc>
                  <a:txBody>
                    <a:bodyPr/>
                    <a:lstStyle/>
                    <a:p>
                      <a:pPr indent="0" lvl="0" marL="0" rtl="0" algn="l">
                        <a:spcBef>
                          <a:spcPts val="0"/>
                        </a:spcBef>
                        <a:spcAft>
                          <a:spcPts val="0"/>
                        </a:spcAft>
                        <a:buNone/>
                      </a:pPr>
                      <a:r>
                        <a:rPr lang="es" sz="1200"/>
                        <a:t>Expected Ticket Size</a:t>
                      </a:r>
                      <a:endParaRPr sz="1200"/>
                    </a:p>
                  </a:txBody>
                  <a:tcPr marT="9525" marB="91425" marR="9525" marL="9525" anchor="ctr">
                    <a:lnB cap="flat" cmpd="sng" w="9525">
                      <a:solidFill>
                        <a:srgbClr val="073763"/>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s" sz="1200"/>
                        <a:t>884.7K </a:t>
                      </a:r>
                      <a:endParaRPr b="1" sz="1200"/>
                    </a:p>
                  </a:txBody>
                  <a:tcPr marT="9525" marB="91425" marR="9525" marL="9525" anchor="ctr">
                    <a:lnT cap="flat" cmpd="sng" w="9525">
                      <a:solidFill>
                        <a:srgbClr val="073763"/>
                      </a:solidFill>
                      <a:prstDash val="solid"/>
                      <a:round/>
                      <a:headEnd len="sm" w="sm" type="none"/>
                      <a:tailEnd len="sm" w="sm" type="none"/>
                    </a:lnT>
                  </a:tcPr>
                </a:tc>
                <a:tc>
                  <a:txBody>
                    <a:bodyPr/>
                    <a:lstStyle/>
                    <a:p>
                      <a:pPr indent="0" lvl="0" marL="0" rtl="0" algn="l">
                        <a:spcBef>
                          <a:spcPts val="0"/>
                        </a:spcBef>
                        <a:spcAft>
                          <a:spcPts val="0"/>
                        </a:spcAft>
                        <a:buNone/>
                      </a:pPr>
                      <a:r>
                        <a:rPr lang="es" sz="1200"/>
                        <a:t>Expected AUV </a:t>
                      </a:r>
                      <a:endParaRPr sz="1200"/>
                    </a:p>
                  </a:txBody>
                  <a:tcPr marT="9525" marB="91425" marR="9525" marL="9525" anchor="ctr">
                    <a:lnT cap="flat" cmpd="sng" w="9525">
                      <a:solidFill>
                        <a:srgbClr val="073763"/>
                      </a:solidFill>
                      <a:prstDash val="solid"/>
                      <a:round/>
                      <a:headEnd len="sm" w="sm" type="none"/>
                      <a:tailEnd len="sm" w="sm" type="none"/>
                    </a:lnT>
                  </a:tcPr>
                </a:tc>
              </a:tr>
            </a:tbl>
          </a:graphicData>
        </a:graphic>
      </p:graphicFrame>
      <p:graphicFrame>
        <p:nvGraphicFramePr>
          <p:cNvPr id="467" name="Google Shape;467;p41"/>
          <p:cNvGraphicFramePr/>
          <p:nvPr/>
        </p:nvGraphicFramePr>
        <p:xfrm>
          <a:off x="6255050" y="1081050"/>
          <a:ext cx="3000000" cy="3000000"/>
        </p:xfrm>
        <a:graphic>
          <a:graphicData uri="http://schemas.openxmlformats.org/drawingml/2006/table">
            <a:tbl>
              <a:tblPr>
                <a:noFill/>
                <a:tableStyleId>{55E26657-C28D-4372-B35B-CF2A80E98938}</a:tableStyleId>
              </a:tblPr>
              <a:tblGrid>
                <a:gridCol w="507025"/>
                <a:gridCol w="1965825"/>
              </a:tblGrid>
              <a:tr h="200025">
                <a:tc>
                  <a:txBody>
                    <a:bodyPr/>
                    <a:lstStyle/>
                    <a:p>
                      <a:pPr indent="0" lvl="0" marL="0" rtl="0" algn="l">
                        <a:lnSpc>
                          <a:spcPct val="115000"/>
                        </a:lnSpc>
                        <a:spcBef>
                          <a:spcPts val="0"/>
                        </a:spcBef>
                        <a:spcAft>
                          <a:spcPts val="0"/>
                        </a:spcAft>
                        <a:buNone/>
                      </a:pPr>
                      <a:r>
                        <a:rPr b="1" lang="es" sz="1200"/>
                        <a:t>22.5K </a:t>
                      </a:r>
                      <a:endParaRPr b="1" sz="1200"/>
                    </a:p>
                  </a:txBody>
                  <a:tcPr marT="9525" marB="91425" marR="9525" marL="9525" anchor="ctr"/>
                </a:tc>
                <a:tc>
                  <a:txBody>
                    <a:bodyPr/>
                    <a:lstStyle/>
                    <a:p>
                      <a:pPr indent="0" lvl="0" marL="0" rtl="0" algn="l">
                        <a:spcBef>
                          <a:spcPts val="0"/>
                        </a:spcBef>
                        <a:spcAft>
                          <a:spcPts val="0"/>
                        </a:spcAft>
                        <a:buNone/>
                      </a:pPr>
                      <a:r>
                        <a:rPr lang="es" sz="1200"/>
                        <a:t>Initial Franchise Fee</a:t>
                      </a:r>
                      <a:endParaRPr sz="1200"/>
                    </a:p>
                  </a:txBody>
                  <a:tcPr marT="9525" marB="91425" marR="9525" marL="9525" anchor="ctr"/>
                </a:tc>
              </a:tr>
              <a:tr h="200025">
                <a:tc>
                  <a:txBody>
                    <a:bodyPr/>
                    <a:lstStyle/>
                    <a:p>
                      <a:pPr indent="0" lvl="0" marL="0" rtl="0" algn="l">
                        <a:lnSpc>
                          <a:spcPct val="115000"/>
                        </a:lnSpc>
                        <a:spcBef>
                          <a:spcPts val="0"/>
                        </a:spcBef>
                        <a:spcAft>
                          <a:spcPts val="0"/>
                        </a:spcAft>
                        <a:buNone/>
                      </a:pPr>
                      <a:r>
                        <a:rPr b="1" lang="es" sz="1200"/>
                        <a:t>17.6K </a:t>
                      </a:r>
                      <a:endParaRPr b="1" sz="1200"/>
                    </a:p>
                  </a:txBody>
                  <a:tcPr marT="9525" marB="91425" marR="9525" marL="9525" anchor="ctr">
                    <a:lnB cap="flat" cmpd="sng" w="9525">
                      <a:solidFill>
                        <a:srgbClr val="073763">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1200"/>
                        <a:t>Franchise Operating Fee</a:t>
                      </a:r>
                      <a:endParaRPr sz="1200"/>
                    </a:p>
                  </a:txBody>
                  <a:tcPr marT="9525" marB="91425" marR="9525" marL="9525" anchor="ctr">
                    <a:lnB cap="flat" cmpd="sng" w="9525">
                      <a:solidFill>
                        <a:srgbClr val="073763">
                          <a:alpha val="0"/>
                        </a:srgbClr>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s" sz="1200"/>
                        <a:t>40K </a:t>
                      </a:r>
                      <a:endParaRPr b="1" sz="1200"/>
                    </a:p>
                  </a:txBody>
                  <a:tcPr marT="9525" marB="91425" marR="9525" marL="9525" anchor="ctr">
                    <a:lnT cap="flat" cmpd="sng" w="9525">
                      <a:solidFill>
                        <a:srgbClr val="073763">
                          <a:alpha val="0"/>
                        </a:srgbClr>
                      </a:solidFill>
                      <a:prstDash val="solid"/>
                      <a:round/>
                      <a:headEnd len="sm" w="sm" type="none"/>
                      <a:tailEnd len="sm" w="sm" type="none"/>
                    </a:lnT>
                  </a:tcPr>
                </a:tc>
                <a:tc>
                  <a:txBody>
                    <a:bodyPr/>
                    <a:lstStyle/>
                    <a:p>
                      <a:pPr indent="0" lvl="0" marL="0" rtl="0" algn="l">
                        <a:spcBef>
                          <a:spcPts val="0"/>
                        </a:spcBef>
                        <a:spcAft>
                          <a:spcPts val="0"/>
                        </a:spcAft>
                        <a:buNone/>
                      </a:pPr>
                      <a:r>
                        <a:rPr lang="es" sz="1200"/>
                        <a:t>Applicant Fee</a:t>
                      </a:r>
                      <a:endParaRPr sz="1200"/>
                    </a:p>
                  </a:txBody>
                  <a:tcPr marT="9525" marB="91425" marR="9525" marL="9525" anchor="ctr">
                    <a:lnT cap="flat" cmpd="sng" w="9525">
                      <a:solidFill>
                        <a:srgbClr val="073763">
                          <a:alpha val="0"/>
                        </a:srgbClr>
                      </a:solidFill>
                      <a:prstDash val="solid"/>
                      <a:round/>
                      <a:headEnd len="sm" w="sm" type="none"/>
                      <a:tailEnd len="sm" w="sm" type="none"/>
                    </a:lnT>
                  </a:tcPr>
                </a:tc>
              </a:tr>
            </a:tbl>
          </a:graphicData>
        </a:graphic>
      </p:graphicFrame>
      <p:sp>
        <p:nvSpPr>
          <p:cNvPr id="468" name="Google Shape;468;p41"/>
          <p:cNvSpPr/>
          <p:nvPr/>
        </p:nvSpPr>
        <p:spPr>
          <a:xfrm>
            <a:off x="3261875" y="905025"/>
            <a:ext cx="5546400" cy="1177200"/>
          </a:xfrm>
          <a:prstGeom prst="rect">
            <a:avLst/>
          </a:prstGeom>
          <a:noFill/>
          <a:ln cap="flat" cmpd="sng" w="12700">
            <a:solidFill>
              <a:srgbClr val="3D85C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69" name="Google Shape;469;p41"/>
          <p:cNvSpPr/>
          <p:nvPr/>
        </p:nvSpPr>
        <p:spPr>
          <a:xfrm>
            <a:off x="4065175" y="792275"/>
            <a:ext cx="4205700" cy="211800"/>
          </a:xfrm>
          <a:prstGeom prst="rect">
            <a:avLst/>
          </a:prstGeom>
          <a:solidFill>
            <a:srgbClr val="0B539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200">
                <a:solidFill>
                  <a:schemeClr val="lt1"/>
                </a:solidFill>
                <a:latin typeface="Quattrocento Sans"/>
                <a:ea typeface="Quattrocento Sans"/>
                <a:cs typeface="Quattrocento Sans"/>
                <a:sym typeface="Quattrocento Sans"/>
              </a:rPr>
              <a:t>884.7K+ Generated with our First Store</a:t>
            </a:r>
            <a:endParaRPr sz="1100"/>
          </a:p>
        </p:txBody>
      </p:sp>
      <p:sp>
        <p:nvSpPr>
          <p:cNvPr id="470" name="Google Shape;470;p41"/>
          <p:cNvSpPr txBox="1"/>
          <p:nvPr/>
        </p:nvSpPr>
        <p:spPr>
          <a:xfrm>
            <a:off x="3673426" y="2288047"/>
            <a:ext cx="878100" cy="338700"/>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b="1" lang="es" sz="2200">
                <a:solidFill>
                  <a:srgbClr val="0B5394"/>
                </a:solidFill>
                <a:latin typeface="Calibri"/>
                <a:ea typeface="Calibri"/>
                <a:cs typeface="Calibri"/>
                <a:sym typeface="Calibri"/>
              </a:rPr>
              <a:t>80K+</a:t>
            </a:r>
            <a:endParaRPr sz="2200">
              <a:solidFill>
                <a:srgbClr val="0B5394"/>
              </a:solidFill>
            </a:endParaRPr>
          </a:p>
        </p:txBody>
      </p:sp>
      <p:sp>
        <p:nvSpPr>
          <p:cNvPr id="471" name="Google Shape;471;p41"/>
          <p:cNvSpPr txBox="1"/>
          <p:nvPr/>
        </p:nvSpPr>
        <p:spPr>
          <a:xfrm>
            <a:off x="3673426" y="3007884"/>
            <a:ext cx="878100" cy="338700"/>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b="1" lang="es" sz="2200">
                <a:solidFill>
                  <a:srgbClr val="0B5394"/>
                </a:solidFill>
                <a:latin typeface="Calibri"/>
                <a:ea typeface="Calibri"/>
                <a:cs typeface="Calibri"/>
                <a:sym typeface="Calibri"/>
              </a:rPr>
              <a:t>17M+</a:t>
            </a:r>
            <a:endParaRPr sz="2200">
              <a:solidFill>
                <a:srgbClr val="0B5394"/>
              </a:solidFill>
            </a:endParaRPr>
          </a:p>
        </p:txBody>
      </p:sp>
      <p:sp>
        <p:nvSpPr>
          <p:cNvPr id="472" name="Google Shape;472;p41"/>
          <p:cNvSpPr txBox="1"/>
          <p:nvPr/>
        </p:nvSpPr>
        <p:spPr>
          <a:xfrm>
            <a:off x="3251926" y="2599863"/>
            <a:ext cx="1721100" cy="408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 sz="1100">
                <a:solidFill>
                  <a:schemeClr val="dk1"/>
                </a:solidFill>
              </a:rPr>
              <a:t>Revenue from Initial Franchise Launch </a:t>
            </a:r>
            <a:endParaRPr sz="1100">
              <a:solidFill>
                <a:schemeClr val="dk1"/>
              </a:solidFill>
              <a:latin typeface="Quattrocento Sans"/>
              <a:ea typeface="Quattrocento Sans"/>
              <a:cs typeface="Quattrocento Sans"/>
              <a:sym typeface="Quattrocento Sans"/>
            </a:endParaRPr>
          </a:p>
        </p:txBody>
      </p:sp>
      <p:sp>
        <p:nvSpPr>
          <p:cNvPr id="473" name="Google Shape;473;p41"/>
          <p:cNvSpPr txBox="1"/>
          <p:nvPr/>
        </p:nvSpPr>
        <p:spPr>
          <a:xfrm>
            <a:off x="3251926" y="3346563"/>
            <a:ext cx="1721100" cy="408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 sz="1100">
                <a:solidFill>
                  <a:schemeClr val="dk1"/>
                </a:solidFill>
              </a:rPr>
              <a:t>Lifetime revenue per franchise </a:t>
            </a:r>
            <a:endParaRPr sz="1100">
              <a:solidFill>
                <a:schemeClr val="dk1"/>
              </a:solidFill>
              <a:latin typeface="Quattrocento Sans"/>
              <a:ea typeface="Quattrocento Sans"/>
              <a:cs typeface="Quattrocento Sans"/>
              <a:sym typeface="Quattrocento Sans"/>
            </a:endParaRPr>
          </a:p>
        </p:txBody>
      </p:sp>
      <p:sp>
        <p:nvSpPr>
          <p:cNvPr id="474" name="Google Shape;474;p41"/>
          <p:cNvSpPr txBox="1"/>
          <p:nvPr/>
        </p:nvSpPr>
        <p:spPr>
          <a:xfrm>
            <a:off x="3673426" y="3727697"/>
            <a:ext cx="878100" cy="338700"/>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b="1" lang="es" sz="2200">
                <a:solidFill>
                  <a:srgbClr val="0B5394"/>
                </a:solidFill>
                <a:latin typeface="Calibri"/>
                <a:ea typeface="Calibri"/>
                <a:cs typeface="Calibri"/>
                <a:sym typeface="Calibri"/>
              </a:rPr>
              <a:t>5</a:t>
            </a:r>
            <a:endParaRPr sz="2200">
              <a:solidFill>
                <a:srgbClr val="0B5394"/>
              </a:solidFill>
            </a:endParaRPr>
          </a:p>
        </p:txBody>
      </p:sp>
      <p:sp>
        <p:nvSpPr>
          <p:cNvPr id="475" name="Google Shape;475;p41"/>
          <p:cNvSpPr txBox="1"/>
          <p:nvPr/>
        </p:nvSpPr>
        <p:spPr>
          <a:xfrm>
            <a:off x="3417826" y="4039525"/>
            <a:ext cx="1389300" cy="408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 sz="1100">
                <a:solidFill>
                  <a:schemeClr val="dk1"/>
                </a:solidFill>
              </a:rPr>
              <a:t>Franchises to be built in 3 years </a:t>
            </a:r>
            <a:endParaRPr sz="1100">
              <a:solidFill>
                <a:schemeClr val="dk1"/>
              </a:solidFill>
              <a:latin typeface="Quattrocento Sans"/>
              <a:ea typeface="Quattrocento Sans"/>
              <a:cs typeface="Quattrocento Sans"/>
              <a:sym typeface="Quattrocento Sans"/>
            </a:endParaRPr>
          </a:p>
        </p:txBody>
      </p:sp>
      <p:pic>
        <p:nvPicPr>
          <p:cNvPr id="476" name="Google Shape;476;p41" title="Screenshot 2025-03-27 at 12.24.13 PM.png"/>
          <p:cNvPicPr preferRelativeResize="0"/>
          <p:nvPr/>
        </p:nvPicPr>
        <p:blipFill>
          <a:blip r:embed="rId4">
            <a:alphaModFix/>
          </a:blip>
          <a:stretch>
            <a:fillRect/>
          </a:stretch>
        </p:blipFill>
        <p:spPr>
          <a:xfrm>
            <a:off x="5118901" y="2288038"/>
            <a:ext cx="3609007" cy="2170275"/>
          </a:xfrm>
          <a:prstGeom prst="rect">
            <a:avLst/>
          </a:prstGeom>
          <a:noFill/>
          <a:ln>
            <a:noFill/>
          </a:ln>
        </p:spPr>
      </p:pic>
      <p:sp>
        <p:nvSpPr>
          <p:cNvPr id="477" name="Google Shape;477;p41"/>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s"/>
              <a:t>‹#›</a:t>
            </a:fld>
            <a:endParaRPr/>
          </a:p>
        </p:txBody>
      </p:sp>
      <p:sp>
        <p:nvSpPr>
          <p:cNvPr id="478" name="Google Shape;478;p41"/>
          <p:cNvSpPr txBox="1"/>
          <p:nvPr>
            <p:ph idx="4294967295" type="title"/>
          </p:nvPr>
        </p:nvSpPr>
        <p:spPr>
          <a:xfrm>
            <a:off x="198850" y="534075"/>
            <a:ext cx="68496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Play"/>
              <a:buNone/>
            </a:pPr>
            <a:r>
              <a:rPr lang="es" sz="1800">
                <a:latin typeface="Arial"/>
                <a:ea typeface="Arial"/>
                <a:cs typeface="Arial"/>
                <a:sym typeface="Arial"/>
              </a:rPr>
              <a:t>We bring stable &amp; rapid growth through our franchising strategy on a store-wide level</a:t>
            </a:r>
            <a:endParaRPr>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graphicFrame>
        <p:nvGraphicFramePr>
          <p:cNvPr id="484" name="Google Shape;484;p42"/>
          <p:cNvGraphicFramePr/>
          <p:nvPr/>
        </p:nvGraphicFramePr>
        <p:xfrm>
          <a:off x="420351" y="849649"/>
          <a:ext cx="3000000" cy="3000000"/>
        </p:xfrm>
        <a:graphic>
          <a:graphicData uri="http://schemas.openxmlformats.org/drawingml/2006/table">
            <a:tbl>
              <a:tblPr>
                <a:noFill/>
                <a:tableStyleId>{55E26657-C28D-4372-B35B-CF2A80E98938}</a:tableStyleId>
              </a:tblPr>
              <a:tblGrid>
                <a:gridCol w="1605650"/>
                <a:gridCol w="414100"/>
                <a:gridCol w="586000"/>
                <a:gridCol w="586000"/>
                <a:gridCol w="789150"/>
                <a:gridCol w="382850"/>
                <a:gridCol w="586000"/>
                <a:gridCol w="586000"/>
                <a:gridCol w="586000"/>
                <a:gridCol w="586000"/>
                <a:gridCol w="586000"/>
                <a:gridCol w="586000"/>
                <a:gridCol w="586000"/>
              </a:tblGrid>
              <a:tr h="257600">
                <a:tc>
                  <a:txBody>
                    <a:bodyPr/>
                    <a:lstStyle/>
                    <a:p>
                      <a:pPr indent="0" lvl="0" marL="0" marR="0" rtl="0" algn="ctr">
                        <a:spcBef>
                          <a:spcPts val="0"/>
                        </a:spcBef>
                        <a:spcAft>
                          <a:spcPts val="0"/>
                        </a:spcAft>
                        <a:buNone/>
                      </a:pPr>
                      <a:r>
                        <a:rPr b="0" i="0" lang="es" sz="800" u="none" cap="none" strike="noStrike">
                          <a:solidFill>
                            <a:srgbClr val="FFFFFF"/>
                          </a:solidFill>
                          <a:latin typeface="Quattrocento Sans"/>
                          <a:ea typeface="Quattrocento Sans"/>
                          <a:cs typeface="Quattrocento Sans"/>
                          <a:sym typeface="Quattrocento Sans"/>
                        </a:rPr>
                        <a:t>Steps</a:t>
                      </a:r>
                      <a:endParaRPr sz="1100"/>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0000"/>
                    </a:solidFill>
                  </a:tcPr>
                </a:tc>
                <a:tc gridSpan="3">
                  <a:txBody>
                    <a:bodyPr/>
                    <a:lstStyle/>
                    <a:p>
                      <a:pPr indent="0" lvl="0" marL="0" marR="0" rtl="0" algn="ctr">
                        <a:spcBef>
                          <a:spcPts val="0"/>
                        </a:spcBef>
                        <a:spcAft>
                          <a:spcPts val="0"/>
                        </a:spcAft>
                        <a:buNone/>
                      </a:pPr>
                      <a:r>
                        <a:rPr lang="es" sz="800">
                          <a:solidFill>
                            <a:srgbClr val="FFFFFF"/>
                          </a:solidFill>
                          <a:latin typeface="Quattrocento Sans"/>
                          <a:ea typeface="Quattrocento Sans"/>
                          <a:cs typeface="Quattrocento Sans"/>
                          <a:sym typeface="Quattrocento Sans"/>
                        </a:rPr>
                        <a:t>Year 0</a:t>
                      </a:r>
                      <a:endParaRPr sz="1100"/>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solid"/>
                      <a:round/>
                      <a:headEnd len="sm" w="sm" type="none"/>
                      <a:tailEnd len="sm" w="sm" type="none"/>
                    </a:lnB>
                    <a:solidFill>
                      <a:srgbClr val="000000"/>
                    </a:solidFill>
                  </a:tcPr>
                </a:tc>
                <a:tc hMerge="1"/>
                <a:tc hMerge="1"/>
                <a:tc gridSpan="3">
                  <a:txBody>
                    <a:bodyPr/>
                    <a:lstStyle/>
                    <a:p>
                      <a:pPr indent="0" lvl="0" marL="0" rtl="0" algn="ctr">
                        <a:spcBef>
                          <a:spcPts val="0"/>
                        </a:spcBef>
                        <a:spcAft>
                          <a:spcPts val="0"/>
                        </a:spcAft>
                        <a:buNone/>
                      </a:pPr>
                      <a:r>
                        <a:rPr lang="es" sz="800">
                          <a:solidFill>
                            <a:schemeClr val="lt1"/>
                          </a:solidFill>
                          <a:latin typeface="Quattrocento Sans"/>
                          <a:ea typeface="Quattrocento Sans"/>
                          <a:cs typeface="Quattrocento Sans"/>
                          <a:sym typeface="Quattrocento Sans"/>
                        </a:rPr>
                        <a:t>Year 1</a:t>
                      </a:r>
                      <a:endParaRPr sz="1100"/>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lt1"/>
                      </a:solidFill>
                      <a:prstDash val="solid"/>
                      <a:round/>
                      <a:headEnd len="sm" w="sm" type="none"/>
                      <a:tailEnd len="sm" w="sm" type="none"/>
                    </a:lnB>
                    <a:solidFill>
                      <a:srgbClr val="000000"/>
                    </a:solidFill>
                  </a:tcPr>
                </a:tc>
                <a:tc hMerge="1"/>
                <a:tc hMerge="1"/>
                <a:tc gridSpan="3">
                  <a:txBody>
                    <a:bodyPr/>
                    <a:lstStyle/>
                    <a:p>
                      <a:pPr indent="0" lvl="0" marL="0" rtl="0" algn="ctr">
                        <a:spcBef>
                          <a:spcPts val="0"/>
                        </a:spcBef>
                        <a:spcAft>
                          <a:spcPts val="0"/>
                        </a:spcAft>
                        <a:buNone/>
                      </a:pPr>
                      <a:r>
                        <a:rPr lang="es" sz="800">
                          <a:solidFill>
                            <a:schemeClr val="lt1"/>
                          </a:solidFill>
                          <a:latin typeface="Quattrocento Sans"/>
                          <a:ea typeface="Quattrocento Sans"/>
                          <a:cs typeface="Quattrocento Sans"/>
                          <a:sym typeface="Quattrocento Sans"/>
                        </a:rPr>
                        <a:t>Year 2</a:t>
                      </a:r>
                      <a:endParaRPr sz="1100"/>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solid"/>
                      <a:round/>
                      <a:headEnd len="sm" w="sm" type="none"/>
                      <a:tailEnd len="sm" w="sm" type="none"/>
                    </a:lnB>
                    <a:solidFill>
                      <a:srgbClr val="000000"/>
                    </a:solidFill>
                  </a:tcPr>
                </a:tc>
                <a:tc hMerge="1"/>
                <a:tc hMerge="1"/>
                <a:tc gridSpan="3">
                  <a:txBody>
                    <a:bodyPr/>
                    <a:lstStyle/>
                    <a:p>
                      <a:pPr indent="0" lvl="0" marL="0" rtl="0" algn="ctr">
                        <a:spcBef>
                          <a:spcPts val="0"/>
                        </a:spcBef>
                        <a:spcAft>
                          <a:spcPts val="0"/>
                        </a:spcAft>
                        <a:buNone/>
                      </a:pPr>
                      <a:r>
                        <a:rPr lang="es" sz="800">
                          <a:solidFill>
                            <a:schemeClr val="lt1"/>
                          </a:solidFill>
                          <a:latin typeface="Quattrocento Sans"/>
                          <a:ea typeface="Quattrocento Sans"/>
                          <a:cs typeface="Quattrocento Sans"/>
                          <a:sym typeface="Quattrocento Sans"/>
                        </a:rPr>
                        <a:t>Year 3</a:t>
                      </a:r>
                      <a:endParaRPr sz="800">
                        <a:solidFill>
                          <a:srgbClr val="FFFFFF"/>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solid"/>
                      <a:round/>
                      <a:headEnd len="sm" w="sm" type="none"/>
                      <a:tailEnd len="sm" w="sm" type="none"/>
                    </a:lnB>
                    <a:solidFill>
                      <a:srgbClr val="000000"/>
                    </a:solidFill>
                  </a:tcPr>
                </a:tc>
                <a:tc hMerge="1"/>
                <a:tc hMerge="1"/>
              </a:tr>
              <a:tr h="257600">
                <a:tc>
                  <a:txBody>
                    <a:bodyPr/>
                    <a:lstStyle/>
                    <a:p>
                      <a:pPr indent="0" lvl="0" marL="0" marR="0" rtl="0" algn="l">
                        <a:spcBef>
                          <a:spcPts val="0"/>
                        </a:spcBef>
                        <a:spcAft>
                          <a:spcPts val="0"/>
                        </a:spcAft>
                        <a:buNone/>
                      </a:pPr>
                      <a:r>
                        <a:rPr lang="es" sz="800">
                          <a:latin typeface="Quattrocento Sans"/>
                          <a:ea typeface="Quattrocento Sans"/>
                          <a:cs typeface="Quattrocento Sans"/>
                          <a:sym typeface="Quattrocento Sans"/>
                        </a:rPr>
                        <a:t>Franchise Model Finalization</a:t>
                      </a:r>
                      <a:endParaRPr sz="1100"/>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lnSpc>
                          <a:spcPct val="100000"/>
                        </a:lnSpc>
                        <a:spcBef>
                          <a:spcPts val="0"/>
                        </a:spcBef>
                        <a:spcAft>
                          <a:spcPts val="0"/>
                        </a:spcAft>
                        <a:buClr>
                          <a:schemeClr val="dk1"/>
                        </a:buClr>
                        <a:buSzPts val="600"/>
                        <a:buFont typeface="Arial"/>
                        <a:buNone/>
                      </a:pPr>
                      <a:r>
                        <a:t/>
                      </a:r>
                      <a:endParaRPr b="0" i="0" sz="600" u="none" cap="none" strike="noStrike">
                        <a:solidFill>
                          <a:schemeClr val="lt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chemeClr val="lt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12700">
                      <a:solidFill>
                        <a:srgbClr val="FFFFFF"/>
                      </a:solidFill>
                      <a:prstDash val="solid"/>
                      <a:round/>
                      <a:headEnd len="sm" w="sm" type="none"/>
                      <a:tailEnd len="sm" w="sm" type="none"/>
                    </a:lnB>
                  </a:tcPr>
                </a:tc>
              </a:tr>
              <a:tr h="257600">
                <a:tc>
                  <a:txBody>
                    <a:bodyPr/>
                    <a:lstStyle/>
                    <a:p>
                      <a:pPr indent="0" lvl="0" marL="0" marR="0" rtl="0" algn="l">
                        <a:spcBef>
                          <a:spcPts val="0"/>
                        </a:spcBef>
                        <a:spcAft>
                          <a:spcPts val="0"/>
                        </a:spcAft>
                        <a:buNone/>
                      </a:pPr>
                      <a:r>
                        <a:rPr lang="es" sz="800">
                          <a:latin typeface="Quattrocento Sans"/>
                          <a:ea typeface="Quattrocento Sans"/>
                          <a:cs typeface="Quattrocento Sans"/>
                          <a:sym typeface="Quattrocento Sans"/>
                        </a:rPr>
                        <a:t>Legal &amp; Brand Guidelines Setup</a:t>
                      </a:r>
                      <a:endParaRPr sz="1100"/>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lt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lnSpc>
                          <a:spcPct val="100000"/>
                        </a:lnSpc>
                        <a:spcBef>
                          <a:spcPts val="0"/>
                        </a:spcBef>
                        <a:spcAft>
                          <a:spcPts val="0"/>
                        </a:spcAft>
                        <a:buClr>
                          <a:schemeClr val="dk1"/>
                        </a:buClr>
                        <a:buSzPts val="600"/>
                        <a:buFont typeface="Arial"/>
                        <a:buNone/>
                      </a:pPr>
                      <a:r>
                        <a:t/>
                      </a:r>
                      <a:endParaRPr b="0" i="0" sz="600" u="none" cap="none" strike="noStrike">
                        <a:solidFill>
                          <a:schemeClr val="lt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257600">
                <a:tc>
                  <a:txBody>
                    <a:bodyPr/>
                    <a:lstStyle/>
                    <a:p>
                      <a:pPr indent="0" lvl="0" marL="0" marR="0" rtl="0" algn="l">
                        <a:spcBef>
                          <a:spcPts val="0"/>
                        </a:spcBef>
                        <a:spcAft>
                          <a:spcPts val="0"/>
                        </a:spcAft>
                        <a:buNone/>
                      </a:pPr>
                      <a:r>
                        <a:rPr lang="es" sz="800">
                          <a:latin typeface="Quattrocento Sans"/>
                          <a:ea typeface="Quattrocento Sans"/>
                          <a:cs typeface="Quattrocento Sans"/>
                          <a:sym typeface="Quattrocento Sans"/>
                        </a:rPr>
                        <a:t>Sourcing Area Developers</a:t>
                      </a:r>
                      <a:endParaRPr sz="1100"/>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lt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600"/>
                        <a:buFont typeface="Arial"/>
                        <a:buNone/>
                      </a:pPr>
                      <a:r>
                        <a:t/>
                      </a:r>
                      <a:endParaRPr b="0" i="0" sz="600" u="none" cap="none" strike="noStrike">
                        <a:solidFill>
                          <a:schemeClr val="lt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257600">
                <a:tc>
                  <a:txBody>
                    <a:bodyPr/>
                    <a:lstStyle/>
                    <a:p>
                      <a:pPr indent="0" lvl="0" marL="0" marR="0" rtl="0" algn="l">
                        <a:spcBef>
                          <a:spcPts val="0"/>
                        </a:spcBef>
                        <a:spcAft>
                          <a:spcPts val="0"/>
                        </a:spcAft>
                        <a:buNone/>
                      </a:pPr>
                      <a:r>
                        <a:rPr lang="es" sz="800">
                          <a:latin typeface="Quattrocento Sans"/>
                          <a:ea typeface="Quattrocento Sans"/>
                          <a:cs typeface="Quattrocento Sans"/>
                          <a:sym typeface="Quattrocento Sans"/>
                        </a:rPr>
                        <a:t>Location Scouting &amp; Contracts</a:t>
                      </a:r>
                      <a:endParaRPr sz="1100"/>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600"/>
                        <a:buFont typeface="Arial"/>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lt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257600">
                <a:tc>
                  <a:txBody>
                    <a:bodyPr/>
                    <a:lstStyle/>
                    <a:p>
                      <a:pPr indent="0" lvl="0" marL="0" rtl="0" algn="l">
                        <a:spcBef>
                          <a:spcPts val="0"/>
                        </a:spcBef>
                        <a:spcAft>
                          <a:spcPts val="0"/>
                        </a:spcAft>
                        <a:buClr>
                          <a:schemeClr val="dk1"/>
                        </a:buClr>
                        <a:buSzPts val="1100"/>
                        <a:buFont typeface="Arial"/>
                        <a:buNone/>
                      </a:pPr>
                      <a:r>
                        <a:rPr lang="es" sz="800">
                          <a:solidFill>
                            <a:schemeClr val="dk1"/>
                          </a:solidFill>
                          <a:latin typeface="Quattrocento Sans"/>
                          <a:ea typeface="Quattrocento Sans"/>
                          <a:cs typeface="Quattrocento Sans"/>
                          <a:sym typeface="Quattrocento Sans"/>
                        </a:rPr>
                        <a:t>Pilot Store Launches</a:t>
                      </a:r>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lt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257600">
                <a:tc>
                  <a:txBody>
                    <a:bodyPr/>
                    <a:lstStyle/>
                    <a:p>
                      <a:pPr indent="0" lvl="0" marL="0" rtl="0" algn="l">
                        <a:spcBef>
                          <a:spcPts val="0"/>
                        </a:spcBef>
                        <a:spcAft>
                          <a:spcPts val="0"/>
                        </a:spcAft>
                        <a:buClr>
                          <a:schemeClr val="dk1"/>
                        </a:buClr>
                        <a:buSzPts val="1100"/>
                        <a:buFont typeface="Arial"/>
                        <a:buNone/>
                      </a:pPr>
                      <a:r>
                        <a:rPr lang="es" sz="800">
                          <a:solidFill>
                            <a:schemeClr val="dk1"/>
                          </a:solidFill>
                          <a:latin typeface="Quattrocento Sans"/>
                          <a:ea typeface="Quattrocento Sans"/>
                          <a:cs typeface="Quattrocento Sans"/>
                          <a:sym typeface="Quattrocento Sans"/>
                        </a:rPr>
                        <a:t>Multi-unit Rollout</a:t>
                      </a:r>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lt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r>
              <a:tr h="257600">
                <a:tc>
                  <a:txBody>
                    <a:bodyPr/>
                    <a:lstStyle/>
                    <a:p>
                      <a:pPr indent="0" lvl="0" marL="0" rtl="0" algn="l">
                        <a:spcBef>
                          <a:spcPts val="0"/>
                        </a:spcBef>
                        <a:spcAft>
                          <a:spcPts val="0"/>
                        </a:spcAft>
                        <a:buClr>
                          <a:schemeClr val="dk1"/>
                        </a:buClr>
                        <a:buSzPts val="1100"/>
                        <a:buFont typeface="Arial"/>
                        <a:buNone/>
                      </a:pPr>
                      <a:r>
                        <a:rPr lang="es" sz="800">
                          <a:solidFill>
                            <a:schemeClr val="dk1"/>
                          </a:solidFill>
                          <a:latin typeface="Quattrocento Sans"/>
                          <a:ea typeface="Quattrocento Sans"/>
                          <a:cs typeface="Quattrocento Sans"/>
                          <a:sym typeface="Quattrocento Sans"/>
                        </a:rPr>
                        <a:t>Hiring &amp; Training Toolkit</a:t>
                      </a:r>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lt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257600">
                <a:tc>
                  <a:txBody>
                    <a:bodyPr/>
                    <a:lstStyle/>
                    <a:p>
                      <a:pPr indent="0" lvl="0" marL="0" rtl="0" algn="l">
                        <a:spcBef>
                          <a:spcPts val="0"/>
                        </a:spcBef>
                        <a:spcAft>
                          <a:spcPts val="0"/>
                        </a:spcAft>
                        <a:buNone/>
                      </a:pPr>
                      <a:r>
                        <a:rPr lang="es" sz="800">
                          <a:solidFill>
                            <a:schemeClr val="dk1"/>
                          </a:solidFill>
                          <a:latin typeface="Quattrocento Sans"/>
                          <a:ea typeface="Quattrocento Sans"/>
                          <a:cs typeface="Quattrocento Sans"/>
                          <a:sym typeface="Quattrocento Sans"/>
                        </a:rPr>
                        <a:t>Operational Reviews</a:t>
                      </a:r>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r>
              <a:tr h="257600">
                <a:tc>
                  <a:txBody>
                    <a:bodyPr/>
                    <a:lstStyle/>
                    <a:p>
                      <a:pPr indent="0" lvl="0" marL="0" rtl="0" algn="l">
                        <a:spcBef>
                          <a:spcPts val="0"/>
                        </a:spcBef>
                        <a:spcAft>
                          <a:spcPts val="0"/>
                        </a:spcAft>
                        <a:buNone/>
                      </a:pPr>
                      <a:r>
                        <a:rPr lang="es" sz="800">
                          <a:solidFill>
                            <a:schemeClr val="dk1"/>
                          </a:solidFill>
                          <a:latin typeface="Quattrocento Sans"/>
                          <a:ea typeface="Quattrocento Sans"/>
                          <a:cs typeface="Quattrocento Sans"/>
                          <a:sym typeface="Quattrocento Sans"/>
                        </a:rPr>
                        <a:t>Brand Marketing Ramp-Up</a:t>
                      </a:r>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lt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E2F3"/>
                    </a:solidFill>
                  </a:tcPr>
                </a:tc>
              </a:tr>
            </a:tbl>
          </a:graphicData>
        </a:graphic>
      </p:graphicFrame>
      <p:sp>
        <p:nvSpPr>
          <p:cNvPr id="485" name="Google Shape;485;p42"/>
          <p:cNvSpPr/>
          <p:nvPr/>
        </p:nvSpPr>
        <p:spPr>
          <a:xfrm>
            <a:off x="420350" y="4306564"/>
            <a:ext cx="2418900" cy="436200"/>
          </a:xfrm>
          <a:prstGeom prst="rect">
            <a:avLst/>
          </a:prstGeom>
          <a:solidFill>
            <a:srgbClr val="CFE2F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100">
                <a:solidFill>
                  <a:schemeClr val="dk1"/>
                </a:solidFill>
              </a:rPr>
              <a:t>→ </a:t>
            </a:r>
            <a:r>
              <a:rPr i="1" lang="es" sz="1100">
                <a:solidFill>
                  <a:schemeClr val="dk1"/>
                </a:solidFill>
              </a:rPr>
              <a:t>At least 3 locations live by Q3 Year 1</a:t>
            </a:r>
            <a:endParaRPr i="1" sz="1100">
              <a:solidFill>
                <a:schemeClr val="dk1"/>
              </a:solidFill>
            </a:endParaRPr>
          </a:p>
        </p:txBody>
      </p:sp>
      <p:sp>
        <p:nvSpPr>
          <p:cNvPr id="486" name="Google Shape;486;p42"/>
          <p:cNvSpPr/>
          <p:nvPr/>
        </p:nvSpPr>
        <p:spPr>
          <a:xfrm>
            <a:off x="3406435" y="4303950"/>
            <a:ext cx="2418900" cy="436200"/>
          </a:xfrm>
          <a:prstGeom prst="rect">
            <a:avLst/>
          </a:prstGeom>
          <a:solidFill>
            <a:srgbClr val="CFE2F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100">
                <a:solidFill>
                  <a:schemeClr val="dk1"/>
                </a:solidFill>
              </a:rPr>
              <a:t>→ </a:t>
            </a:r>
            <a:r>
              <a:rPr i="1" lang="es" sz="1100">
                <a:solidFill>
                  <a:schemeClr val="dk1"/>
                </a:solidFill>
              </a:rPr>
              <a:t>5 multi-unit franchise deals signed by end of Year 2</a:t>
            </a:r>
            <a:endParaRPr b="1" sz="1100">
              <a:solidFill>
                <a:srgbClr val="005039"/>
              </a:solidFill>
              <a:latin typeface="Quattrocento Sans"/>
              <a:ea typeface="Quattrocento Sans"/>
              <a:cs typeface="Quattrocento Sans"/>
              <a:sym typeface="Quattrocento Sans"/>
            </a:endParaRPr>
          </a:p>
        </p:txBody>
      </p:sp>
      <p:sp>
        <p:nvSpPr>
          <p:cNvPr id="487" name="Google Shape;487;p42"/>
          <p:cNvSpPr/>
          <p:nvPr/>
        </p:nvSpPr>
        <p:spPr>
          <a:xfrm>
            <a:off x="6277398" y="4306564"/>
            <a:ext cx="2487900" cy="436200"/>
          </a:xfrm>
          <a:prstGeom prst="rect">
            <a:avLst/>
          </a:prstGeom>
          <a:solidFill>
            <a:srgbClr val="CFE2F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100">
                <a:solidFill>
                  <a:schemeClr val="dk1"/>
                </a:solidFill>
              </a:rPr>
              <a:t>→ </a:t>
            </a:r>
            <a:r>
              <a:rPr i="1" lang="es" sz="1100">
                <a:solidFill>
                  <a:schemeClr val="dk1"/>
                </a:solidFill>
              </a:rPr>
              <a:t>+25% recognition in target regions by Q1 Year 3</a:t>
            </a:r>
            <a:endParaRPr sz="1100"/>
          </a:p>
        </p:txBody>
      </p:sp>
      <p:sp>
        <p:nvSpPr>
          <p:cNvPr id="488" name="Google Shape;488;p42"/>
          <p:cNvSpPr txBox="1"/>
          <p:nvPr/>
        </p:nvSpPr>
        <p:spPr>
          <a:xfrm>
            <a:off x="198853" y="102394"/>
            <a:ext cx="33606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Risk, Mitigations, and Implementation Timeline </a:t>
            </a:r>
            <a:endParaRPr sz="1100"/>
          </a:p>
        </p:txBody>
      </p:sp>
      <p:sp>
        <p:nvSpPr>
          <p:cNvPr id="489" name="Google Shape;489;p42"/>
          <p:cNvSpPr txBox="1"/>
          <p:nvPr/>
        </p:nvSpPr>
        <p:spPr>
          <a:xfrm>
            <a:off x="185081" y="328687"/>
            <a:ext cx="78867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Quattrocento Sans"/>
              <a:buNone/>
            </a:pPr>
            <a:r>
              <a:rPr lang="es" sz="1800">
                <a:solidFill>
                  <a:schemeClr val="dk1"/>
                </a:solidFill>
              </a:rPr>
              <a:t>A Scalable Franchise Rollout Strategy to Be Achieved in 3 years</a:t>
            </a:r>
            <a:endParaRPr sz="1800">
              <a:solidFill>
                <a:schemeClr val="dk1"/>
              </a:solidFill>
            </a:endParaRPr>
          </a:p>
        </p:txBody>
      </p:sp>
      <p:sp>
        <p:nvSpPr>
          <p:cNvPr id="490" name="Google Shape;490;p42"/>
          <p:cNvSpPr txBox="1"/>
          <p:nvPr/>
        </p:nvSpPr>
        <p:spPr>
          <a:xfrm>
            <a:off x="631774" y="4084575"/>
            <a:ext cx="2230800" cy="163500"/>
          </a:xfrm>
          <a:prstGeom prst="rect">
            <a:avLst/>
          </a:prstGeom>
          <a:noFill/>
          <a:ln>
            <a:noFill/>
          </a:ln>
        </p:spPr>
        <p:txBody>
          <a:bodyPr anchorCtr="0" anchor="t" bIns="0" lIns="0" spcFirstLastPara="1" rIns="0" wrap="square" tIns="9525">
            <a:spAutoFit/>
          </a:bodyPr>
          <a:lstStyle/>
          <a:p>
            <a:pPr indent="0" lvl="0" marL="12700" marR="0" rtl="0" algn="l">
              <a:spcBef>
                <a:spcPts val="0"/>
              </a:spcBef>
              <a:spcAft>
                <a:spcPts val="0"/>
              </a:spcAft>
              <a:buNone/>
            </a:pPr>
            <a:r>
              <a:rPr b="1" lang="es" sz="1000">
                <a:solidFill>
                  <a:srgbClr val="0C0C0C"/>
                </a:solidFill>
                <a:latin typeface="Quattrocento Sans"/>
                <a:ea typeface="Quattrocento Sans"/>
                <a:cs typeface="Quattrocento Sans"/>
                <a:sym typeface="Quattrocento Sans"/>
              </a:rPr>
              <a:t>Pilot Franchise Launch</a:t>
            </a:r>
            <a:endParaRPr sz="1200"/>
          </a:p>
        </p:txBody>
      </p:sp>
      <p:sp>
        <p:nvSpPr>
          <p:cNvPr id="491" name="Google Shape;491;p42"/>
          <p:cNvSpPr txBox="1"/>
          <p:nvPr/>
        </p:nvSpPr>
        <p:spPr>
          <a:xfrm>
            <a:off x="3662650" y="4060650"/>
            <a:ext cx="2132700" cy="163500"/>
          </a:xfrm>
          <a:prstGeom prst="rect">
            <a:avLst/>
          </a:prstGeom>
          <a:noFill/>
          <a:ln>
            <a:noFill/>
          </a:ln>
        </p:spPr>
        <p:txBody>
          <a:bodyPr anchorCtr="0" anchor="t" bIns="0" lIns="0" spcFirstLastPara="1" rIns="0" wrap="square" tIns="9525">
            <a:spAutoFit/>
          </a:bodyPr>
          <a:lstStyle/>
          <a:p>
            <a:pPr indent="0" lvl="0" marL="12700" marR="0" rtl="0" algn="l">
              <a:spcBef>
                <a:spcPts val="0"/>
              </a:spcBef>
              <a:spcAft>
                <a:spcPts val="0"/>
              </a:spcAft>
              <a:buNone/>
            </a:pPr>
            <a:r>
              <a:rPr b="1" lang="es" sz="1000">
                <a:solidFill>
                  <a:srgbClr val="0C0C0C"/>
                </a:solidFill>
                <a:latin typeface="Quattrocento Sans"/>
                <a:ea typeface="Quattrocento Sans"/>
                <a:cs typeface="Quattrocento Sans"/>
                <a:sym typeface="Quattrocento Sans"/>
              </a:rPr>
              <a:t>Area Developer Agreements Secured</a:t>
            </a:r>
            <a:endParaRPr sz="1200"/>
          </a:p>
        </p:txBody>
      </p:sp>
      <p:sp>
        <p:nvSpPr>
          <p:cNvPr id="492" name="Google Shape;492;p42"/>
          <p:cNvSpPr txBox="1"/>
          <p:nvPr/>
        </p:nvSpPr>
        <p:spPr>
          <a:xfrm>
            <a:off x="6520745" y="4053400"/>
            <a:ext cx="2132700" cy="163500"/>
          </a:xfrm>
          <a:prstGeom prst="rect">
            <a:avLst/>
          </a:prstGeom>
          <a:noFill/>
          <a:ln>
            <a:noFill/>
          </a:ln>
        </p:spPr>
        <p:txBody>
          <a:bodyPr anchorCtr="0" anchor="t" bIns="0" lIns="0" spcFirstLastPara="1" rIns="0" wrap="square" tIns="9525">
            <a:spAutoFit/>
          </a:bodyPr>
          <a:lstStyle/>
          <a:p>
            <a:pPr indent="0" lvl="0" marL="12700" marR="0" rtl="0" algn="l">
              <a:spcBef>
                <a:spcPts val="0"/>
              </a:spcBef>
              <a:spcAft>
                <a:spcPts val="0"/>
              </a:spcAft>
              <a:buNone/>
            </a:pPr>
            <a:r>
              <a:rPr b="1" lang="es" sz="1000">
                <a:solidFill>
                  <a:srgbClr val="0C0C0C"/>
                </a:solidFill>
                <a:latin typeface="Quattrocento Sans"/>
                <a:ea typeface="Quattrocento Sans"/>
                <a:cs typeface="Quattrocento Sans"/>
                <a:sym typeface="Quattrocento Sans"/>
              </a:rPr>
              <a:t>Brand Awareness Lift</a:t>
            </a:r>
            <a:r>
              <a:rPr b="1" lang="es" sz="1000">
                <a:solidFill>
                  <a:srgbClr val="0C0C0C"/>
                </a:solidFill>
                <a:latin typeface="Quattrocento Sans"/>
                <a:ea typeface="Quattrocento Sans"/>
                <a:cs typeface="Quattrocento Sans"/>
                <a:sym typeface="Quattrocento Sans"/>
              </a:rPr>
              <a:t> </a:t>
            </a:r>
            <a:endParaRPr b="1" sz="1000">
              <a:solidFill>
                <a:srgbClr val="0C0C0C"/>
              </a:solidFill>
              <a:latin typeface="Quattrocento Sans"/>
              <a:ea typeface="Quattrocento Sans"/>
              <a:cs typeface="Quattrocento Sans"/>
              <a:sym typeface="Quattrocento Sans"/>
            </a:endParaRPr>
          </a:p>
        </p:txBody>
      </p:sp>
      <p:grpSp>
        <p:nvGrpSpPr>
          <p:cNvPr id="493" name="Google Shape;493;p42"/>
          <p:cNvGrpSpPr/>
          <p:nvPr/>
        </p:nvGrpSpPr>
        <p:grpSpPr>
          <a:xfrm>
            <a:off x="420353" y="4073312"/>
            <a:ext cx="211622" cy="202006"/>
            <a:chOff x="3668086" y="5468940"/>
            <a:chExt cx="368487" cy="351743"/>
          </a:xfrm>
        </p:grpSpPr>
        <p:grpSp>
          <p:nvGrpSpPr>
            <p:cNvPr id="494" name="Google Shape;494;p42"/>
            <p:cNvGrpSpPr/>
            <p:nvPr/>
          </p:nvGrpSpPr>
          <p:grpSpPr>
            <a:xfrm>
              <a:off x="3668086" y="5468940"/>
              <a:ext cx="368487" cy="351743"/>
              <a:chOff x="5713206" y="4911090"/>
              <a:chExt cx="368487" cy="357281"/>
            </a:xfrm>
          </p:grpSpPr>
          <p:sp>
            <p:nvSpPr>
              <p:cNvPr id="495" name="Google Shape;495;p42"/>
              <p:cNvSpPr/>
              <p:nvPr/>
            </p:nvSpPr>
            <p:spPr>
              <a:xfrm>
                <a:off x="5735618" y="4922296"/>
                <a:ext cx="346075" cy="346075"/>
              </a:xfrm>
              <a:custGeom>
                <a:rect b="b" l="l" r="r" t="t"/>
                <a:pathLst>
                  <a:path extrusionOk="0" h="346075" w="346075">
                    <a:moveTo>
                      <a:pt x="172974" y="0"/>
                    </a:moveTo>
                    <a:lnTo>
                      <a:pt x="127000" y="6180"/>
                    </a:lnTo>
                    <a:lnTo>
                      <a:pt x="85682" y="23622"/>
                    </a:lnTo>
                    <a:lnTo>
                      <a:pt x="50673" y="50673"/>
                    </a:lnTo>
                    <a:lnTo>
                      <a:pt x="23622" y="85682"/>
                    </a:lnTo>
                    <a:lnTo>
                      <a:pt x="6180" y="127000"/>
                    </a:lnTo>
                    <a:lnTo>
                      <a:pt x="0" y="172974"/>
                    </a:lnTo>
                    <a:lnTo>
                      <a:pt x="6180" y="218948"/>
                    </a:lnTo>
                    <a:lnTo>
                      <a:pt x="23622" y="260265"/>
                    </a:lnTo>
                    <a:lnTo>
                      <a:pt x="50673" y="295275"/>
                    </a:lnTo>
                    <a:lnTo>
                      <a:pt x="85682" y="322326"/>
                    </a:lnTo>
                    <a:lnTo>
                      <a:pt x="127000" y="339767"/>
                    </a:lnTo>
                    <a:lnTo>
                      <a:pt x="172974" y="345948"/>
                    </a:lnTo>
                    <a:lnTo>
                      <a:pt x="218948" y="339767"/>
                    </a:lnTo>
                    <a:lnTo>
                      <a:pt x="260265" y="322325"/>
                    </a:lnTo>
                    <a:lnTo>
                      <a:pt x="295275" y="295275"/>
                    </a:lnTo>
                    <a:lnTo>
                      <a:pt x="322325" y="260265"/>
                    </a:lnTo>
                    <a:lnTo>
                      <a:pt x="339767" y="218948"/>
                    </a:lnTo>
                    <a:lnTo>
                      <a:pt x="345948" y="172974"/>
                    </a:lnTo>
                    <a:lnTo>
                      <a:pt x="339767" y="127000"/>
                    </a:lnTo>
                    <a:lnTo>
                      <a:pt x="322325" y="85682"/>
                    </a:lnTo>
                    <a:lnTo>
                      <a:pt x="295275" y="50673"/>
                    </a:lnTo>
                    <a:lnTo>
                      <a:pt x="260265" y="23622"/>
                    </a:lnTo>
                    <a:lnTo>
                      <a:pt x="218948" y="6180"/>
                    </a:lnTo>
                    <a:lnTo>
                      <a:pt x="172974" y="0"/>
                    </a:lnTo>
                    <a:close/>
                  </a:path>
                </a:pathLst>
              </a:custGeom>
              <a:solidFill>
                <a:srgbClr val="073763"/>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900">
                  <a:solidFill>
                    <a:schemeClr val="lt1"/>
                  </a:solidFill>
                  <a:latin typeface="Quattrocento Sans"/>
                  <a:ea typeface="Quattrocento Sans"/>
                  <a:cs typeface="Quattrocento Sans"/>
                  <a:sym typeface="Quattrocento Sans"/>
                </a:endParaRPr>
              </a:p>
            </p:txBody>
          </p:sp>
          <p:sp>
            <p:nvSpPr>
              <p:cNvPr id="496" name="Google Shape;496;p42"/>
              <p:cNvSpPr/>
              <p:nvPr/>
            </p:nvSpPr>
            <p:spPr>
              <a:xfrm>
                <a:off x="5713206" y="4911090"/>
                <a:ext cx="346075" cy="346075"/>
              </a:xfrm>
              <a:custGeom>
                <a:rect b="b" l="l" r="r" t="t"/>
                <a:pathLst>
                  <a:path extrusionOk="0" h="346075" w="346075">
                    <a:moveTo>
                      <a:pt x="0" y="172974"/>
                    </a:moveTo>
                    <a:lnTo>
                      <a:pt x="6180" y="127000"/>
                    </a:lnTo>
                    <a:lnTo>
                      <a:pt x="23622" y="85682"/>
                    </a:lnTo>
                    <a:lnTo>
                      <a:pt x="50673" y="50673"/>
                    </a:lnTo>
                    <a:lnTo>
                      <a:pt x="85682" y="23622"/>
                    </a:lnTo>
                    <a:lnTo>
                      <a:pt x="127000" y="6180"/>
                    </a:lnTo>
                    <a:lnTo>
                      <a:pt x="172974" y="0"/>
                    </a:lnTo>
                    <a:lnTo>
                      <a:pt x="218948" y="6180"/>
                    </a:lnTo>
                    <a:lnTo>
                      <a:pt x="260265" y="23622"/>
                    </a:lnTo>
                    <a:lnTo>
                      <a:pt x="295275" y="50673"/>
                    </a:lnTo>
                    <a:lnTo>
                      <a:pt x="322325" y="85682"/>
                    </a:lnTo>
                    <a:lnTo>
                      <a:pt x="339767" y="127000"/>
                    </a:lnTo>
                    <a:lnTo>
                      <a:pt x="345948" y="172974"/>
                    </a:lnTo>
                    <a:lnTo>
                      <a:pt x="339767" y="218948"/>
                    </a:lnTo>
                    <a:lnTo>
                      <a:pt x="322325" y="260265"/>
                    </a:lnTo>
                    <a:lnTo>
                      <a:pt x="295275" y="295275"/>
                    </a:lnTo>
                    <a:lnTo>
                      <a:pt x="260265" y="322325"/>
                    </a:lnTo>
                    <a:lnTo>
                      <a:pt x="218948" y="339767"/>
                    </a:lnTo>
                    <a:lnTo>
                      <a:pt x="172974" y="345948"/>
                    </a:lnTo>
                    <a:lnTo>
                      <a:pt x="127000" y="339767"/>
                    </a:lnTo>
                    <a:lnTo>
                      <a:pt x="85682" y="322326"/>
                    </a:lnTo>
                    <a:lnTo>
                      <a:pt x="50673" y="295275"/>
                    </a:lnTo>
                    <a:lnTo>
                      <a:pt x="23622" y="260265"/>
                    </a:lnTo>
                    <a:lnTo>
                      <a:pt x="6180" y="218948"/>
                    </a:lnTo>
                    <a:lnTo>
                      <a:pt x="0" y="172974"/>
                    </a:lnTo>
                    <a:close/>
                  </a:path>
                </a:pathLst>
              </a:custGeom>
              <a:solidFill>
                <a:srgbClr val="073763"/>
              </a:solidFill>
              <a:ln cap="flat" cmpd="sng" w="381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900">
                  <a:solidFill>
                    <a:schemeClr val="lt1"/>
                  </a:solidFill>
                  <a:latin typeface="Quattrocento Sans"/>
                  <a:ea typeface="Quattrocento Sans"/>
                  <a:cs typeface="Quattrocento Sans"/>
                  <a:sym typeface="Quattrocento Sans"/>
                </a:endParaRPr>
              </a:p>
            </p:txBody>
          </p:sp>
        </p:grpSp>
        <p:sp>
          <p:nvSpPr>
            <p:cNvPr id="497" name="Google Shape;497;p42"/>
            <p:cNvSpPr txBox="1"/>
            <p:nvPr/>
          </p:nvSpPr>
          <p:spPr>
            <a:xfrm>
              <a:off x="3768511" y="5510276"/>
              <a:ext cx="138300" cy="257100"/>
            </a:xfrm>
            <a:prstGeom prst="rect">
              <a:avLst/>
            </a:prstGeom>
            <a:solidFill>
              <a:srgbClr val="073763"/>
            </a:solidFill>
            <a:ln>
              <a:noFill/>
            </a:ln>
          </p:spPr>
          <p:txBody>
            <a:bodyPr anchorCtr="0" anchor="ctr" bIns="0" lIns="0" spcFirstLastPara="1" rIns="0" wrap="square" tIns="9050">
              <a:spAutoFit/>
            </a:bodyPr>
            <a:lstStyle/>
            <a:p>
              <a:pPr indent="0" lvl="0" marL="12700" marR="0" rtl="0" algn="l">
                <a:lnSpc>
                  <a:spcPct val="100000"/>
                </a:lnSpc>
                <a:spcBef>
                  <a:spcPts val="0"/>
                </a:spcBef>
                <a:spcAft>
                  <a:spcPts val="0"/>
                </a:spcAft>
                <a:buNone/>
              </a:pPr>
              <a:r>
                <a:rPr b="1" lang="es" sz="900">
                  <a:solidFill>
                    <a:schemeClr val="lt1"/>
                  </a:solidFill>
                  <a:latin typeface="Quattrocento Sans"/>
                  <a:ea typeface="Quattrocento Sans"/>
                  <a:cs typeface="Quattrocento Sans"/>
                  <a:sym typeface="Quattrocento Sans"/>
                </a:rPr>
                <a:t>1</a:t>
              </a:r>
              <a:endParaRPr sz="900">
                <a:solidFill>
                  <a:schemeClr val="lt1"/>
                </a:solidFill>
                <a:latin typeface="Quattrocento Sans"/>
                <a:ea typeface="Quattrocento Sans"/>
                <a:cs typeface="Quattrocento Sans"/>
                <a:sym typeface="Quattrocento Sans"/>
              </a:endParaRPr>
            </a:p>
          </p:txBody>
        </p:sp>
      </p:grpSp>
      <p:grpSp>
        <p:nvGrpSpPr>
          <p:cNvPr id="498" name="Google Shape;498;p42"/>
          <p:cNvGrpSpPr/>
          <p:nvPr/>
        </p:nvGrpSpPr>
        <p:grpSpPr>
          <a:xfrm>
            <a:off x="3406428" y="4077449"/>
            <a:ext cx="211622" cy="202006"/>
            <a:chOff x="3668086" y="5468940"/>
            <a:chExt cx="368487" cy="351743"/>
          </a:xfrm>
        </p:grpSpPr>
        <p:grpSp>
          <p:nvGrpSpPr>
            <p:cNvPr id="499" name="Google Shape;499;p42"/>
            <p:cNvGrpSpPr/>
            <p:nvPr/>
          </p:nvGrpSpPr>
          <p:grpSpPr>
            <a:xfrm>
              <a:off x="3668086" y="5468940"/>
              <a:ext cx="368487" cy="351743"/>
              <a:chOff x="5713206" y="4911090"/>
              <a:chExt cx="368487" cy="357281"/>
            </a:xfrm>
          </p:grpSpPr>
          <p:sp>
            <p:nvSpPr>
              <p:cNvPr id="500" name="Google Shape;500;p42"/>
              <p:cNvSpPr/>
              <p:nvPr/>
            </p:nvSpPr>
            <p:spPr>
              <a:xfrm>
                <a:off x="5735618" y="4922296"/>
                <a:ext cx="346075" cy="346075"/>
              </a:xfrm>
              <a:custGeom>
                <a:rect b="b" l="l" r="r" t="t"/>
                <a:pathLst>
                  <a:path extrusionOk="0" h="346075" w="346075">
                    <a:moveTo>
                      <a:pt x="172974" y="0"/>
                    </a:moveTo>
                    <a:lnTo>
                      <a:pt x="127000" y="6180"/>
                    </a:lnTo>
                    <a:lnTo>
                      <a:pt x="85682" y="23622"/>
                    </a:lnTo>
                    <a:lnTo>
                      <a:pt x="50673" y="50673"/>
                    </a:lnTo>
                    <a:lnTo>
                      <a:pt x="23622" y="85682"/>
                    </a:lnTo>
                    <a:lnTo>
                      <a:pt x="6180" y="127000"/>
                    </a:lnTo>
                    <a:lnTo>
                      <a:pt x="0" y="172974"/>
                    </a:lnTo>
                    <a:lnTo>
                      <a:pt x="6180" y="218948"/>
                    </a:lnTo>
                    <a:lnTo>
                      <a:pt x="23622" y="260265"/>
                    </a:lnTo>
                    <a:lnTo>
                      <a:pt x="50673" y="295275"/>
                    </a:lnTo>
                    <a:lnTo>
                      <a:pt x="85682" y="322326"/>
                    </a:lnTo>
                    <a:lnTo>
                      <a:pt x="127000" y="339767"/>
                    </a:lnTo>
                    <a:lnTo>
                      <a:pt x="172974" y="345948"/>
                    </a:lnTo>
                    <a:lnTo>
                      <a:pt x="218948" y="339767"/>
                    </a:lnTo>
                    <a:lnTo>
                      <a:pt x="260265" y="322325"/>
                    </a:lnTo>
                    <a:lnTo>
                      <a:pt x="295275" y="295275"/>
                    </a:lnTo>
                    <a:lnTo>
                      <a:pt x="322325" y="260265"/>
                    </a:lnTo>
                    <a:lnTo>
                      <a:pt x="339767" y="218948"/>
                    </a:lnTo>
                    <a:lnTo>
                      <a:pt x="345948" y="172974"/>
                    </a:lnTo>
                    <a:lnTo>
                      <a:pt x="339767" y="127000"/>
                    </a:lnTo>
                    <a:lnTo>
                      <a:pt x="322325" y="85682"/>
                    </a:lnTo>
                    <a:lnTo>
                      <a:pt x="295275" y="50673"/>
                    </a:lnTo>
                    <a:lnTo>
                      <a:pt x="260265" y="23622"/>
                    </a:lnTo>
                    <a:lnTo>
                      <a:pt x="218948" y="6180"/>
                    </a:lnTo>
                    <a:lnTo>
                      <a:pt x="172974" y="0"/>
                    </a:lnTo>
                    <a:close/>
                  </a:path>
                </a:pathLst>
              </a:custGeom>
              <a:solidFill>
                <a:srgbClr val="073763"/>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900">
                  <a:solidFill>
                    <a:schemeClr val="lt1"/>
                  </a:solidFill>
                  <a:latin typeface="Quattrocento Sans"/>
                  <a:ea typeface="Quattrocento Sans"/>
                  <a:cs typeface="Quattrocento Sans"/>
                  <a:sym typeface="Quattrocento Sans"/>
                </a:endParaRPr>
              </a:p>
            </p:txBody>
          </p:sp>
          <p:sp>
            <p:nvSpPr>
              <p:cNvPr id="501" name="Google Shape;501;p42"/>
              <p:cNvSpPr/>
              <p:nvPr/>
            </p:nvSpPr>
            <p:spPr>
              <a:xfrm>
                <a:off x="5713206" y="4911090"/>
                <a:ext cx="346075" cy="346075"/>
              </a:xfrm>
              <a:custGeom>
                <a:rect b="b" l="l" r="r" t="t"/>
                <a:pathLst>
                  <a:path extrusionOk="0" h="346075" w="346075">
                    <a:moveTo>
                      <a:pt x="0" y="172974"/>
                    </a:moveTo>
                    <a:lnTo>
                      <a:pt x="6180" y="127000"/>
                    </a:lnTo>
                    <a:lnTo>
                      <a:pt x="23622" y="85682"/>
                    </a:lnTo>
                    <a:lnTo>
                      <a:pt x="50673" y="50673"/>
                    </a:lnTo>
                    <a:lnTo>
                      <a:pt x="85682" y="23622"/>
                    </a:lnTo>
                    <a:lnTo>
                      <a:pt x="127000" y="6180"/>
                    </a:lnTo>
                    <a:lnTo>
                      <a:pt x="172974" y="0"/>
                    </a:lnTo>
                    <a:lnTo>
                      <a:pt x="218948" y="6180"/>
                    </a:lnTo>
                    <a:lnTo>
                      <a:pt x="260265" y="23622"/>
                    </a:lnTo>
                    <a:lnTo>
                      <a:pt x="295275" y="50673"/>
                    </a:lnTo>
                    <a:lnTo>
                      <a:pt x="322325" y="85682"/>
                    </a:lnTo>
                    <a:lnTo>
                      <a:pt x="339767" y="127000"/>
                    </a:lnTo>
                    <a:lnTo>
                      <a:pt x="345948" y="172974"/>
                    </a:lnTo>
                    <a:lnTo>
                      <a:pt x="339767" y="218948"/>
                    </a:lnTo>
                    <a:lnTo>
                      <a:pt x="322325" y="260265"/>
                    </a:lnTo>
                    <a:lnTo>
                      <a:pt x="295275" y="295275"/>
                    </a:lnTo>
                    <a:lnTo>
                      <a:pt x="260265" y="322325"/>
                    </a:lnTo>
                    <a:lnTo>
                      <a:pt x="218948" y="339767"/>
                    </a:lnTo>
                    <a:lnTo>
                      <a:pt x="172974" y="345948"/>
                    </a:lnTo>
                    <a:lnTo>
                      <a:pt x="127000" y="339767"/>
                    </a:lnTo>
                    <a:lnTo>
                      <a:pt x="85682" y="322326"/>
                    </a:lnTo>
                    <a:lnTo>
                      <a:pt x="50673" y="295275"/>
                    </a:lnTo>
                    <a:lnTo>
                      <a:pt x="23622" y="260265"/>
                    </a:lnTo>
                    <a:lnTo>
                      <a:pt x="6180" y="218948"/>
                    </a:lnTo>
                    <a:lnTo>
                      <a:pt x="0" y="172974"/>
                    </a:lnTo>
                    <a:close/>
                  </a:path>
                </a:pathLst>
              </a:custGeom>
              <a:solidFill>
                <a:srgbClr val="073763"/>
              </a:solidFill>
              <a:ln cap="flat" cmpd="sng" w="381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900">
                  <a:solidFill>
                    <a:schemeClr val="lt1"/>
                  </a:solidFill>
                  <a:latin typeface="Quattrocento Sans"/>
                  <a:ea typeface="Quattrocento Sans"/>
                  <a:cs typeface="Quattrocento Sans"/>
                  <a:sym typeface="Quattrocento Sans"/>
                </a:endParaRPr>
              </a:p>
            </p:txBody>
          </p:sp>
        </p:grpSp>
        <p:sp>
          <p:nvSpPr>
            <p:cNvPr id="502" name="Google Shape;502;p42"/>
            <p:cNvSpPr txBox="1"/>
            <p:nvPr/>
          </p:nvSpPr>
          <p:spPr>
            <a:xfrm>
              <a:off x="3768511" y="5510276"/>
              <a:ext cx="138300" cy="257100"/>
            </a:xfrm>
            <a:prstGeom prst="rect">
              <a:avLst/>
            </a:prstGeom>
            <a:solidFill>
              <a:srgbClr val="073763"/>
            </a:solidFill>
            <a:ln>
              <a:noFill/>
            </a:ln>
          </p:spPr>
          <p:txBody>
            <a:bodyPr anchorCtr="0" anchor="ctr" bIns="0" lIns="0" spcFirstLastPara="1" rIns="0" wrap="square" tIns="9050">
              <a:spAutoFit/>
            </a:bodyPr>
            <a:lstStyle/>
            <a:p>
              <a:pPr indent="0" lvl="0" marL="12700" marR="0" rtl="0" algn="l">
                <a:lnSpc>
                  <a:spcPct val="100000"/>
                </a:lnSpc>
                <a:spcBef>
                  <a:spcPts val="0"/>
                </a:spcBef>
                <a:spcAft>
                  <a:spcPts val="0"/>
                </a:spcAft>
                <a:buNone/>
              </a:pPr>
              <a:r>
                <a:rPr b="1" lang="es" sz="900">
                  <a:solidFill>
                    <a:schemeClr val="lt1"/>
                  </a:solidFill>
                  <a:latin typeface="Quattrocento Sans"/>
                  <a:ea typeface="Quattrocento Sans"/>
                  <a:cs typeface="Quattrocento Sans"/>
                  <a:sym typeface="Quattrocento Sans"/>
                </a:rPr>
                <a:t>2</a:t>
              </a:r>
              <a:endParaRPr sz="900">
                <a:solidFill>
                  <a:schemeClr val="lt1"/>
                </a:solidFill>
                <a:latin typeface="Quattrocento Sans"/>
                <a:ea typeface="Quattrocento Sans"/>
                <a:cs typeface="Quattrocento Sans"/>
                <a:sym typeface="Quattrocento Sans"/>
              </a:endParaRPr>
            </a:p>
          </p:txBody>
        </p:sp>
      </p:grpSp>
      <p:grpSp>
        <p:nvGrpSpPr>
          <p:cNvPr id="503" name="Google Shape;503;p42"/>
          <p:cNvGrpSpPr/>
          <p:nvPr/>
        </p:nvGrpSpPr>
        <p:grpSpPr>
          <a:xfrm>
            <a:off x="6277406" y="4070874"/>
            <a:ext cx="211622" cy="202006"/>
            <a:chOff x="3668086" y="5468940"/>
            <a:chExt cx="368487" cy="351743"/>
          </a:xfrm>
        </p:grpSpPr>
        <p:grpSp>
          <p:nvGrpSpPr>
            <p:cNvPr id="504" name="Google Shape;504;p42"/>
            <p:cNvGrpSpPr/>
            <p:nvPr/>
          </p:nvGrpSpPr>
          <p:grpSpPr>
            <a:xfrm>
              <a:off x="3668086" y="5468940"/>
              <a:ext cx="368487" cy="351743"/>
              <a:chOff x="5713206" y="4911090"/>
              <a:chExt cx="368487" cy="357281"/>
            </a:xfrm>
          </p:grpSpPr>
          <p:sp>
            <p:nvSpPr>
              <p:cNvPr id="505" name="Google Shape;505;p42"/>
              <p:cNvSpPr/>
              <p:nvPr/>
            </p:nvSpPr>
            <p:spPr>
              <a:xfrm>
                <a:off x="5735618" y="4922296"/>
                <a:ext cx="346075" cy="346075"/>
              </a:xfrm>
              <a:custGeom>
                <a:rect b="b" l="l" r="r" t="t"/>
                <a:pathLst>
                  <a:path extrusionOk="0" h="346075" w="346075">
                    <a:moveTo>
                      <a:pt x="172974" y="0"/>
                    </a:moveTo>
                    <a:lnTo>
                      <a:pt x="127000" y="6180"/>
                    </a:lnTo>
                    <a:lnTo>
                      <a:pt x="85682" y="23622"/>
                    </a:lnTo>
                    <a:lnTo>
                      <a:pt x="50673" y="50673"/>
                    </a:lnTo>
                    <a:lnTo>
                      <a:pt x="23622" y="85682"/>
                    </a:lnTo>
                    <a:lnTo>
                      <a:pt x="6180" y="127000"/>
                    </a:lnTo>
                    <a:lnTo>
                      <a:pt x="0" y="172974"/>
                    </a:lnTo>
                    <a:lnTo>
                      <a:pt x="6180" y="218948"/>
                    </a:lnTo>
                    <a:lnTo>
                      <a:pt x="23622" y="260265"/>
                    </a:lnTo>
                    <a:lnTo>
                      <a:pt x="50673" y="295275"/>
                    </a:lnTo>
                    <a:lnTo>
                      <a:pt x="85682" y="322326"/>
                    </a:lnTo>
                    <a:lnTo>
                      <a:pt x="127000" y="339767"/>
                    </a:lnTo>
                    <a:lnTo>
                      <a:pt x="172974" y="345948"/>
                    </a:lnTo>
                    <a:lnTo>
                      <a:pt x="218948" y="339767"/>
                    </a:lnTo>
                    <a:lnTo>
                      <a:pt x="260265" y="322325"/>
                    </a:lnTo>
                    <a:lnTo>
                      <a:pt x="295275" y="295275"/>
                    </a:lnTo>
                    <a:lnTo>
                      <a:pt x="322325" y="260265"/>
                    </a:lnTo>
                    <a:lnTo>
                      <a:pt x="339767" y="218948"/>
                    </a:lnTo>
                    <a:lnTo>
                      <a:pt x="345948" y="172974"/>
                    </a:lnTo>
                    <a:lnTo>
                      <a:pt x="339767" y="127000"/>
                    </a:lnTo>
                    <a:lnTo>
                      <a:pt x="322325" y="85682"/>
                    </a:lnTo>
                    <a:lnTo>
                      <a:pt x="295275" y="50673"/>
                    </a:lnTo>
                    <a:lnTo>
                      <a:pt x="260265" y="23622"/>
                    </a:lnTo>
                    <a:lnTo>
                      <a:pt x="218948" y="6180"/>
                    </a:lnTo>
                    <a:lnTo>
                      <a:pt x="172974" y="0"/>
                    </a:lnTo>
                    <a:close/>
                  </a:path>
                </a:pathLst>
              </a:custGeom>
              <a:solidFill>
                <a:srgbClr val="073763"/>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900">
                  <a:solidFill>
                    <a:schemeClr val="lt1"/>
                  </a:solidFill>
                  <a:latin typeface="Quattrocento Sans"/>
                  <a:ea typeface="Quattrocento Sans"/>
                  <a:cs typeface="Quattrocento Sans"/>
                  <a:sym typeface="Quattrocento Sans"/>
                </a:endParaRPr>
              </a:p>
            </p:txBody>
          </p:sp>
          <p:sp>
            <p:nvSpPr>
              <p:cNvPr id="506" name="Google Shape;506;p42"/>
              <p:cNvSpPr/>
              <p:nvPr/>
            </p:nvSpPr>
            <p:spPr>
              <a:xfrm>
                <a:off x="5713206" y="4911090"/>
                <a:ext cx="346075" cy="346075"/>
              </a:xfrm>
              <a:custGeom>
                <a:rect b="b" l="l" r="r" t="t"/>
                <a:pathLst>
                  <a:path extrusionOk="0" h="346075" w="346075">
                    <a:moveTo>
                      <a:pt x="0" y="172974"/>
                    </a:moveTo>
                    <a:lnTo>
                      <a:pt x="6180" y="127000"/>
                    </a:lnTo>
                    <a:lnTo>
                      <a:pt x="23622" y="85682"/>
                    </a:lnTo>
                    <a:lnTo>
                      <a:pt x="50673" y="50673"/>
                    </a:lnTo>
                    <a:lnTo>
                      <a:pt x="85682" y="23622"/>
                    </a:lnTo>
                    <a:lnTo>
                      <a:pt x="127000" y="6180"/>
                    </a:lnTo>
                    <a:lnTo>
                      <a:pt x="172974" y="0"/>
                    </a:lnTo>
                    <a:lnTo>
                      <a:pt x="218948" y="6180"/>
                    </a:lnTo>
                    <a:lnTo>
                      <a:pt x="260265" y="23622"/>
                    </a:lnTo>
                    <a:lnTo>
                      <a:pt x="295275" y="50673"/>
                    </a:lnTo>
                    <a:lnTo>
                      <a:pt x="322325" y="85682"/>
                    </a:lnTo>
                    <a:lnTo>
                      <a:pt x="339767" y="127000"/>
                    </a:lnTo>
                    <a:lnTo>
                      <a:pt x="345948" y="172974"/>
                    </a:lnTo>
                    <a:lnTo>
                      <a:pt x="339767" y="218948"/>
                    </a:lnTo>
                    <a:lnTo>
                      <a:pt x="322325" y="260265"/>
                    </a:lnTo>
                    <a:lnTo>
                      <a:pt x="295275" y="295275"/>
                    </a:lnTo>
                    <a:lnTo>
                      <a:pt x="260265" y="322325"/>
                    </a:lnTo>
                    <a:lnTo>
                      <a:pt x="218948" y="339767"/>
                    </a:lnTo>
                    <a:lnTo>
                      <a:pt x="172974" y="345948"/>
                    </a:lnTo>
                    <a:lnTo>
                      <a:pt x="127000" y="339767"/>
                    </a:lnTo>
                    <a:lnTo>
                      <a:pt x="85682" y="322326"/>
                    </a:lnTo>
                    <a:lnTo>
                      <a:pt x="50673" y="295275"/>
                    </a:lnTo>
                    <a:lnTo>
                      <a:pt x="23622" y="260265"/>
                    </a:lnTo>
                    <a:lnTo>
                      <a:pt x="6180" y="218948"/>
                    </a:lnTo>
                    <a:lnTo>
                      <a:pt x="0" y="172974"/>
                    </a:lnTo>
                    <a:close/>
                  </a:path>
                </a:pathLst>
              </a:custGeom>
              <a:solidFill>
                <a:srgbClr val="073763"/>
              </a:solidFill>
              <a:ln cap="flat" cmpd="sng" w="381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900">
                  <a:solidFill>
                    <a:schemeClr val="lt1"/>
                  </a:solidFill>
                  <a:latin typeface="Quattrocento Sans"/>
                  <a:ea typeface="Quattrocento Sans"/>
                  <a:cs typeface="Quattrocento Sans"/>
                  <a:sym typeface="Quattrocento Sans"/>
                </a:endParaRPr>
              </a:p>
            </p:txBody>
          </p:sp>
        </p:grpSp>
        <p:sp>
          <p:nvSpPr>
            <p:cNvPr id="507" name="Google Shape;507;p42"/>
            <p:cNvSpPr txBox="1"/>
            <p:nvPr/>
          </p:nvSpPr>
          <p:spPr>
            <a:xfrm>
              <a:off x="3768511" y="5510276"/>
              <a:ext cx="138300" cy="257100"/>
            </a:xfrm>
            <a:prstGeom prst="rect">
              <a:avLst/>
            </a:prstGeom>
            <a:solidFill>
              <a:srgbClr val="073763"/>
            </a:solidFill>
            <a:ln>
              <a:noFill/>
            </a:ln>
          </p:spPr>
          <p:txBody>
            <a:bodyPr anchorCtr="0" anchor="ctr" bIns="0" lIns="0" spcFirstLastPara="1" rIns="0" wrap="square" tIns="9050">
              <a:spAutoFit/>
            </a:bodyPr>
            <a:lstStyle/>
            <a:p>
              <a:pPr indent="0" lvl="0" marL="12700" marR="0" rtl="0" algn="l">
                <a:lnSpc>
                  <a:spcPct val="100000"/>
                </a:lnSpc>
                <a:spcBef>
                  <a:spcPts val="0"/>
                </a:spcBef>
                <a:spcAft>
                  <a:spcPts val="0"/>
                </a:spcAft>
                <a:buNone/>
              </a:pPr>
              <a:r>
                <a:rPr b="1" lang="es" sz="900">
                  <a:solidFill>
                    <a:schemeClr val="lt1"/>
                  </a:solidFill>
                  <a:latin typeface="Quattrocento Sans"/>
                  <a:ea typeface="Quattrocento Sans"/>
                  <a:cs typeface="Quattrocento Sans"/>
                  <a:sym typeface="Quattrocento Sans"/>
                </a:rPr>
                <a:t>3</a:t>
              </a:r>
              <a:endParaRPr sz="900">
                <a:solidFill>
                  <a:schemeClr val="lt1"/>
                </a:solidFill>
                <a:latin typeface="Quattrocento Sans"/>
                <a:ea typeface="Quattrocento Sans"/>
                <a:cs typeface="Quattrocento Sans"/>
                <a:sym typeface="Quattrocento Sans"/>
              </a:endParaRPr>
            </a:p>
          </p:txBody>
        </p:sp>
      </p:grpSp>
      <p:cxnSp>
        <p:nvCxnSpPr>
          <p:cNvPr id="508" name="Google Shape;508;p42"/>
          <p:cNvCxnSpPr/>
          <p:nvPr/>
        </p:nvCxnSpPr>
        <p:spPr>
          <a:xfrm>
            <a:off x="374925" y="3997875"/>
            <a:ext cx="8511000" cy="0"/>
          </a:xfrm>
          <a:prstGeom prst="straightConnector1">
            <a:avLst/>
          </a:prstGeom>
          <a:noFill/>
          <a:ln cap="flat" cmpd="sng" w="15875">
            <a:solidFill>
              <a:srgbClr val="628B7C"/>
            </a:solidFill>
            <a:prstDash val="solid"/>
            <a:miter lim="800000"/>
            <a:headEnd len="sm" w="sm" type="none"/>
            <a:tailEnd len="sm" w="sm" type="none"/>
          </a:ln>
        </p:spPr>
      </p:cxnSp>
      <p:sp>
        <p:nvSpPr>
          <p:cNvPr id="509" name="Google Shape;509;p42"/>
          <p:cNvSpPr txBox="1"/>
          <p:nvPr/>
        </p:nvSpPr>
        <p:spPr>
          <a:xfrm>
            <a:off x="374925" y="3800600"/>
            <a:ext cx="2487600" cy="1788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None/>
            </a:pPr>
            <a:r>
              <a:rPr lang="es" sz="1100">
                <a:solidFill>
                  <a:srgbClr val="0C0C0C"/>
                </a:solidFill>
                <a:latin typeface="Quattrocento Sans"/>
                <a:ea typeface="Quattrocento Sans"/>
                <a:cs typeface="Quattrocento Sans"/>
                <a:sym typeface="Quattrocento Sans"/>
              </a:rPr>
              <a:t>Must Win Battles &amp; KPIs </a:t>
            </a:r>
            <a:endParaRPr sz="1100"/>
          </a:p>
        </p:txBody>
      </p:sp>
      <p:sp>
        <p:nvSpPr>
          <p:cNvPr id="510" name="Google Shape;510;p42"/>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pic>
        <p:nvPicPr>
          <p:cNvPr id="516" name="Google Shape;516;p43" title="pexels-julianemonarifotografia-29546546.jpg"/>
          <p:cNvPicPr preferRelativeResize="0"/>
          <p:nvPr/>
        </p:nvPicPr>
        <p:blipFill rotWithShape="1">
          <a:blip r:embed="rId3">
            <a:alphaModFix/>
          </a:blip>
          <a:srcRect b="27610" l="0" r="4861" t="36926"/>
          <a:stretch/>
        </p:blipFill>
        <p:spPr>
          <a:xfrm>
            <a:off x="0" y="0"/>
            <a:ext cx="9196800" cy="5143501"/>
          </a:xfrm>
          <a:prstGeom prst="rect">
            <a:avLst/>
          </a:prstGeom>
          <a:noFill/>
          <a:ln>
            <a:noFill/>
          </a:ln>
        </p:spPr>
      </p:pic>
      <p:sp>
        <p:nvSpPr>
          <p:cNvPr id="517" name="Google Shape;517;p43"/>
          <p:cNvSpPr/>
          <p:nvPr/>
        </p:nvSpPr>
        <p:spPr>
          <a:xfrm>
            <a:off x="-26400" y="-304801"/>
            <a:ext cx="9196800" cy="5753100"/>
          </a:xfrm>
          <a:prstGeom prst="rect">
            <a:avLst/>
          </a:prstGeom>
          <a:solidFill>
            <a:schemeClr val="dk1">
              <a:alpha val="62750"/>
            </a:scheme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800"/>
              <a:buFont typeface="Arial"/>
              <a:buNone/>
            </a:pPr>
            <a:r>
              <a:t/>
            </a:r>
            <a:endParaRPr b="0" i="0" sz="800" u="none" cap="none" strike="noStrike">
              <a:solidFill>
                <a:srgbClr val="FFFFFF"/>
              </a:solidFill>
              <a:latin typeface="Calibri"/>
              <a:ea typeface="Calibri"/>
              <a:cs typeface="Calibri"/>
              <a:sym typeface="Calibri"/>
            </a:endParaRPr>
          </a:p>
        </p:txBody>
      </p:sp>
      <p:sp>
        <p:nvSpPr>
          <p:cNvPr id="518" name="Google Shape;518;p43"/>
          <p:cNvSpPr/>
          <p:nvPr/>
        </p:nvSpPr>
        <p:spPr>
          <a:xfrm>
            <a:off x="676850" y="1803568"/>
            <a:ext cx="37800" cy="1485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19" name="Google Shape;519;p43"/>
          <p:cNvSpPr txBox="1"/>
          <p:nvPr/>
        </p:nvSpPr>
        <p:spPr>
          <a:xfrm>
            <a:off x="812420" y="1605170"/>
            <a:ext cx="8234700" cy="1221300"/>
          </a:xfrm>
          <a:prstGeom prst="rect">
            <a:avLst/>
          </a:prstGeom>
          <a:noFill/>
          <a:ln>
            <a:noFill/>
          </a:ln>
        </p:spPr>
        <p:txBody>
          <a:bodyPr anchorCtr="0" anchor="b" bIns="34275" lIns="68575" spcFirstLastPara="1" rIns="68575" wrap="square" tIns="34275">
            <a:normAutofit/>
          </a:bodyPr>
          <a:lstStyle/>
          <a:p>
            <a:pPr indent="0" lvl="0" marL="0" marR="0" rtl="0" algn="l">
              <a:lnSpc>
                <a:spcPct val="120000"/>
              </a:lnSpc>
              <a:spcBef>
                <a:spcPts val="0"/>
              </a:spcBef>
              <a:spcAft>
                <a:spcPts val="0"/>
              </a:spcAft>
              <a:buClr>
                <a:schemeClr val="lt1"/>
              </a:buClr>
              <a:buSzPts val="3000"/>
              <a:buFont typeface="Quattrocento Sans"/>
              <a:buNone/>
            </a:pPr>
            <a:r>
              <a:rPr b="1" lang="es" sz="4000">
                <a:solidFill>
                  <a:schemeClr val="lt1"/>
                </a:solidFill>
                <a:latin typeface="Quattrocento Sans"/>
                <a:ea typeface="Quattrocento Sans"/>
                <a:cs typeface="Quattrocento Sans"/>
                <a:sym typeface="Quattrocento Sans"/>
              </a:rPr>
              <a:t>Impact </a:t>
            </a:r>
            <a:endParaRPr sz="2100"/>
          </a:p>
        </p:txBody>
      </p:sp>
      <p:sp>
        <p:nvSpPr>
          <p:cNvPr id="520" name="Google Shape;520;p43"/>
          <p:cNvSpPr txBox="1"/>
          <p:nvPr>
            <p:ph idx="4294967295" type="sldNum"/>
          </p:nvPr>
        </p:nvSpPr>
        <p:spPr>
          <a:xfrm>
            <a:off x="6822737" y="4905545"/>
            <a:ext cx="2057400" cy="121200"/>
          </a:xfrm>
          <a:prstGeom prst="rect">
            <a:avLst/>
          </a:prstGeom>
          <a:noFill/>
          <a:ln>
            <a:noFill/>
          </a:ln>
        </p:spPr>
        <p:txBody>
          <a:bodyPr anchorCtr="0" anchor="ctr" bIns="34275" lIns="68575" spcFirstLastPara="1" rIns="68575" wrap="square" tIns="34275">
            <a:normAutofit fontScale="40000" lnSpcReduction="20000"/>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44"/>
          <p:cNvSpPr/>
          <p:nvPr/>
        </p:nvSpPr>
        <p:spPr>
          <a:xfrm>
            <a:off x="284475" y="699800"/>
            <a:ext cx="4363800" cy="39270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900">
              <a:solidFill>
                <a:srgbClr val="FFFFFF"/>
              </a:solidFill>
              <a:latin typeface="Open Sans"/>
              <a:ea typeface="Open Sans"/>
              <a:cs typeface="Open Sans"/>
              <a:sym typeface="Open Sans"/>
            </a:endParaRPr>
          </a:p>
        </p:txBody>
      </p:sp>
      <p:sp>
        <p:nvSpPr>
          <p:cNvPr id="527" name="Google Shape;527;p44"/>
          <p:cNvSpPr txBox="1"/>
          <p:nvPr/>
        </p:nvSpPr>
        <p:spPr>
          <a:xfrm>
            <a:off x="198853" y="102394"/>
            <a:ext cx="12726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Financial Impact </a:t>
            </a:r>
            <a:endParaRPr sz="1100"/>
          </a:p>
        </p:txBody>
      </p:sp>
      <p:sp>
        <p:nvSpPr>
          <p:cNvPr id="528" name="Google Shape;528;p44"/>
          <p:cNvSpPr txBox="1"/>
          <p:nvPr/>
        </p:nvSpPr>
        <p:spPr>
          <a:xfrm>
            <a:off x="185081" y="328687"/>
            <a:ext cx="7886700" cy="2841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1800"/>
              <a:buFont typeface="Quattrocento Sans"/>
              <a:buNone/>
            </a:pPr>
            <a:r>
              <a:rPr lang="es" sz="1800">
                <a:solidFill>
                  <a:schemeClr val="dk1"/>
                </a:solidFill>
                <a:latin typeface="Quattrocento Sans"/>
                <a:ea typeface="Quattrocento Sans"/>
                <a:cs typeface="Quattrocento Sans"/>
                <a:sym typeface="Quattrocento Sans"/>
              </a:rPr>
              <a:t>Balancing Risk &amp; Reward while generating steady returns </a:t>
            </a:r>
            <a:endParaRPr sz="1100"/>
          </a:p>
        </p:txBody>
      </p:sp>
      <p:sp>
        <p:nvSpPr>
          <p:cNvPr id="529" name="Google Shape;529;p44"/>
          <p:cNvSpPr/>
          <p:nvPr/>
        </p:nvSpPr>
        <p:spPr>
          <a:xfrm>
            <a:off x="522488" y="3661700"/>
            <a:ext cx="3860700" cy="174900"/>
          </a:xfrm>
          <a:prstGeom prst="rect">
            <a:avLst/>
          </a:prstGeom>
          <a:solidFill>
            <a:srgbClr val="CFE2F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s" sz="800">
                <a:solidFill>
                  <a:schemeClr val="dk1"/>
                </a:solidFill>
                <a:latin typeface="Quattrocento Sans"/>
                <a:ea typeface="Quattrocento Sans"/>
                <a:cs typeface="Quattrocento Sans"/>
                <a:sym typeface="Quattrocento Sans"/>
              </a:rPr>
              <a:t>Assumptions</a:t>
            </a:r>
            <a:endParaRPr b="1" sz="800">
              <a:solidFill>
                <a:schemeClr val="lt1"/>
              </a:solidFill>
              <a:latin typeface="Quattrocento Sans"/>
              <a:ea typeface="Quattrocento Sans"/>
              <a:cs typeface="Quattrocento Sans"/>
              <a:sym typeface="Quattrocento Sans"/>
            </a:endParaRPr>
          </a:p>
        </p:txBody>
      </p:sp>
      <p:cxnSp>
        <p:nvCxnSpPr>
          <p:cNvPr id="530" name="Google Shape;530;p44"/>
          <p:cNvCxnSpPr/>
          <p:nvPr/>
        </p:nvCxnSpPr>
        <p:spPr>
          <a:xfrm>
            <a:off x="4796375" y="1079575"/>
            <a:ext cx="4148700" cy="0"/>
          </a:xfrm>
          <a:prstGeom prst="straightConnector1">
            <a:avLst/>
          </a:prstGeom>
          <a:noFill/>
          <a:ln cap="flat" cmpd="sng" w="19050">
            <a:solidFill>
              <a:schemeClr val="dk1"/>
            </a:solidFill>
            <a:prstDash val="solid"/>
            <a:round/>
            <a:headEnd len="sm" w="sm" type="none"/>
            <a:tailEnd len="sm" w="sm" type="none"/>
          </a:ln>
        </p:spPr>
      </p:cxnSp>
      <p:sp>
        <p:nvSpPr>
          <p:cNvPr id="531" name="Google Shape;531;p44"/>
          <p:cNvSpPr txBox="1"/>
          <p:nvPr/>
        </p:nvSpPr>
        <p:spPr>
          <a:xfrm>
            <a:off x="4796375" y="660325"/>
            <a:ext cx="39555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s" sz="1200">
                <a:latin typeface="Quattrocento Sans"/>
                <a:ea typeface="Quattrocento Sans"/>
                <a:cs typeface="Quattrocento Sans"/>
                <a:sym typeface="Quattrocento Sans"/>
              </a:rPr>
              <a:t>Economies of Scale allow for us to reach 4% with a Franchising strategy </a:t>
            </a:r>
            <a:endParaRPr b="1" sz="1200">
              <a:latin typeface="Quattrocento Sans"/>
              <a:ea typeface="Quattrocento Sans"/>
              <a:cs typeface="Quattrocento Sans"/>
              <a:sym typeface="Quattrocento Sans"/>
            </a:endParaRPr>
          </a:p>
        </p:txBody>
      </p:sp>
      <p:sp>
        <p:nvSpPr>
          <p:cNvPr id="532" name="Google Shape;532;p44"/>
          <p:cNvSpPr txBox="1"/>
          <p:nvPr/>
        </p:nvSpPr>
        <p:spPr>
          <a:xfrm>
            <a:off x="495375" y="3836600"/>
            <a:ext cx="3955500" cy="346200"/>
          </a:xfrm>
          <a:prstGeom prst="rect">
            <a:avLst/>
          </a:prstGeom>
          <a:noFill/>
          <a:ln>
            <a:noFill/>
          </a:ln>
        </p:spPr>
        <p:txBody>
          <a:bodyPr anchorCtr="0" anchor="t" bIns="34275" lIns="68575" spcFirstLastPara="1" rIns="68575" wrap="square" tIns="34275">
            <a:spAutoFit/>
          </a:bodyPr>
          <a:lstStyle/>
          <a:p>
            <a:pPr indent="-222250" lvl="0" marL="215900" marR="0" rtl="0" algn="l">
              <a:spcBef>
                <a:spcPts val="0"/>
              </a:spcBef>
              <a:spcAft>
                <a:spcPts val="0"/>
              </a:spcAft>
              <a:buClr>
                <a:schemeClr val="dk1"/>
              </a:buClr>
              <a:buSzPts val="900"/>
              <a:buFont typeface="Arial"/>
              <a:buChar char="•"/>
            </a:pPr>
            <a:r>
              <a:rPr lang="es" sz="800">
                <a:solidFill>
                  <a:schemeClr val="dk1"/>
                </a:solidFill>
                <a:latin typeface="Quattrocento Sans"/>
                <a:ea typeface="Quattrocento Sans"/>
                <a:cs typeface="Quattrocento Sans"/>
                <a:sym typeface="Quattrocento Sans"/>
              </a:rPr>
              <a:t>2.5% Industry Growth Rate for main chain, 2% Growth of Fast Food Sector </a:t>
            </a:r>
            <a:endParaRPr sz="800">
              <a:solidFill>
                <a:schemeClr val="dk1"/>
              </a:solidFill>
              <a:latin typeface="Quattrocento Sans"/>
              <a:ea typeface="Quattrocento Sans"/>
              <a:cs typeface="Quattrocento Sans"/>
              <a:sym typeface="Quattrocento Sans"/>
            </a:endParaRPr>
          </a:p>
          <a:p>
            <a:pPr indent="-222250" lvl="0" marL="215900" marR="0" rtl="0" algn="l">
              <a:spcBef>
                <a:spcPts val="0"/>
              </a:spcBef>
              <a:spcAft>
                <a:spcPts val="0"/>
              </a:spcAft>
              <a:buClr>
                <a:schemeClr val="dk1"/>
              </a:buClr>
              <a:buSzPts val="900"/>
              <a:buFont typeface="Arial"/>
              <a:buChar char="•"/>
            </a:pPr>
            <a:r>
              <a:rPr lang="es" sz="800">
                <a:solidFill>
                  <a:schemeClr val="dk1"/>
                </a:solidFill>
                <a:latin typeface="Quattrocento Sans"/>
                <a:ea typeface="Quattrocento Sans"/>
                <a:cs typeface="Quattrocento Sans"/>
                <a:sym typeface="Quattrocento Sans"/>
              </a:rPr>
              <a:t>Porcini takes 6% Royalties from Franchisor </a:t>
            </a:r>
            <a:endParaRPr sz="800">
              <a:solidFill>
                <a:schemeClr val="dk1"/>
              </a:solidFill>
              <a:latin typeface="Quattrocento Sans"/>
              <a:ea typeface="Quattrocento Sans"/>
              <a:cs typeface="Quattrocento Sans"/>
              <a:sym typeface="Quattrocento Sans"/>
            </a:endParaRPr>
          </a:p>
        </p:txBody>
      </p:sp>
      <p:sp>
        <p:nvSpPr>
          <p:cNvPr id="533" name="Google Shape;533;p44"/>
          <p:cNvSpPr txBox="1"/>
          <p:nvPr/>
        </p:nvSpPr>
        <p:spPr>
          <a:xfrm>
            <a:off x="522463" y="776122"/>
            <a:ext cx="3730200" cy="184800"/>
          </a:xfrm>
          <a:prstGeom prst="rect">
            <a:avLst/>
          </a:prstGeom>
          <a:noFill/>
          <a:ln>
            <a:noFill/>
          </a:ln>
        </p:spPr>
        <p:txBody>
          <a:bodyPr anchorCtr="0" anchor="t" bIns="0" lIns="0" spcFirstLastPara="1" rIns="0" wrap="square" tIns="0">
            <a:spAutoFit/>
          </a:bodyPr>
          <a:lstStyle/>
          <a:p>
            <a:pPr indent="0" lvl="0" marL="0" marR="0" rtl="0" algn="l">
              <a:lnSpc>
                <a:spcPct val="218687"/>
              </a:lnSpc>
              <a:spcBef>
                <a:spcPts val="0"/>
              </a:spcBef>
              <a:spcAft>
                <a:spcPts val="0"/>
              </a:spcAft>
              <a:buNone/>
            </a:pPr>
            <a:r>
              <a:rPr b="1" lang="es" sz="1200">
                <a:solidFill>
                  <a:srgbClr val="000000"/>
                </a:solidFill>
                <a:latin typeface="Quattrocento Sans"/>
                <a:ea typeface="Quattrocento Sans"/>
                <a:cs typeface="Quattrocento Sans"/>
                <a:sym typeface="Quattrocento Sans"/>
              </a:rPr>
              <a:t>Revenue Breakdown</a:t>
            </a:r>
            <a:endParaRPr sz="1100"/>
          </a:p>
        </p:txBody>
      </p:sp>
      <p:cxnSp>
        <p:nvCxnSpPr>
          <p:cNvPr id="534" name="Google Shape;534;p44"/>
          <p:cNvCxnSpPr/>
          <p:nvPr/>
        </p:nvCxnSpPr>
        <p:spPr>
          <a:xfrm>
            <a:off x="478023" y="1077152"/>
            <a:ext cx="3982200" cy="0"/>
          </a:xfrm>
          <a:prstGeom prst="straightConnector1">
            <a:avLst/>
          </a:prstGeom>
          <a:noFill/>
          <a:ln cap="flat" cmpd="sng" w="19050">
            <a:solidFill>
              <a:schemeClr val="dk1"/>
            </a:solidFill>
            <a:prstDash val="solid"/>
            <a:round/>
            <a:headEnd len="sm" w="sm" type="none"/>
            <a:tailEnd len="sm" w="sm" type="none"/>
          </a:ln>
        </p:spPr>
      </p:cxnSp>
      <p:sp>
        <p:nvSpPr>
          <p:cNvPr id="535" name="Google Shape;535;p44"/>
          <p:cNvSpPr txBox="1"/>
          <p:nvPr/>
        </p:nvSpPr>
        <p:spPr>
          <a:xfrm>
            <a:off x="3516749" y="892575"/>
            <a:ext cx="970800" cy="138600"/>
          </a:xfrm>
          <a:prstGeom prst="rect">
            <a:avLst/>
          </a:prstGeom>
          <a:noFill/>
          <a:ln>
            <a:noFill/>
          </a:ln>
        </p:spPr>
        <p:txBody>
          <a:bodyPr anchorCtr="0" anchor="t" bIns="0" lIns="0" spcFirstLastPara="1" rIns="0" wrap="square" tIns="0">
            <a:spAutoFit/>
          </a:bodyPr>
          <a:lstStyle/>
          <a:p>
            <a:pPr indent="0" lvl="0" marL="0" marR="0" rtl="0" algn="l">
              <a:lnSpc>
                <a:spcPct val="291583"/>
              </a:lnSpc>
              <a:spcBef>
                <a:spcPts val="0"/>
              </a:spcBef>
              <a:spcAft>
                <a:spcPts val="0"/>
              </a:spcAft>
              <a:buNone/>
            </a:pPr>
            <a:r>
              <a:rPr i="1" lang="es" sz="900">
                <a:solidFill>
                  <a:srgbClr val="000000"/>
                </a:solidFill>
                <a:latin typeface="Quattrocento Sans"/>
                <a:ea typeface="Quattrocento Sans"/>
                <a:cs typeface="Quattrocento Sans"/>
                <a:sym typeface="Quattrocento Sans"/>
              </a:rPr>
              <a:t>Values in 000 </a:t>
            </a:r>
            <a:r>
              <a:rPr i="1" lang="es" sz="900">
                <a:latin typeface="Quattrocento Sans"/>
                <a:ea typeface="Quattrocento Sans"/>
                <a:cs typeface="Quattrocento Sans"/>
                <a:sym typeface="Quattrocento Sans"/>
              </a:rPr>
              <a:t>USD</a:t>
            </a:r>
            <a:endParaRPr sz="1100"/>
          </a:p>
        </p:txBody>
      </p:sp>
      <p:sp>
        <p:nvSpPr>
          <p:cNvPr id="536" name="Google Shape;536;p44"/>
          <p:cNvSpPr/>
          <p:nvPr/>
        </p:nvSpPr>
        <p:spPr>
          <a:xfrm>
            <a:off x="284468" y="4250736"/>
            <a:ext cx="4363800" cy="309600"/>
          </a:xfrm>
          <a:prstGeom prst="rect">
            <a:avLst/>
          </a:prstGeom>
          <a:solidFill>
            <a:srgbClr val="3D85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s" sz="1100">
                <a:solidFill>
                  <a:schemeClr val="lt1"/>
                </a:solidFill>
                <a:latin typeface="Quattrocento Sans"/>
                <a:ea typeface="Quattrocento Sans"/>
                <a:cs typeface="Quattrocento Sans"/>
                <a:sym typeface="Quattrocento Sans"/>
              </a:rPr>
              <a:t>Maintaining a 4-5% GPM &amp; 300K+ in Total Franchising Royalties </a:t>
            </a:r>
            <a:endParaRPr sz="1000"/>
          </a:p>
        </p:txBody>
      </p:sp>
      <p:sp>
        <p:nvSpPr>
          <p:cNvPr id="537" name="Google Shape;537;p44"/>
          <p:cNvSpPr/>
          <p:nvPr/>
        </p:nvSpPr>
        <p:spPr>
          <a:xfrm>
            <a:off x="5720275" y="2660825"/>
            <a:ext cx="970800" cy="153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38" name="Google Shape;538;p44"/>
          <p:cNvCxnSpPr/>
          <p:nvPr/>
        </p:nvCxnSpPr>
        <p:spPr>
          <a:xfrm>
            <a:off x="5644071" y="4790797"/>
            <a:ext cx="405000" cy="0"/>
          </a:xfrm>
          <a:prstGeom prst="straightConnector1">
            <a:avLst/>
          </a:prstGeom>
          <a:noFill/>
          <a:ln cap="flat" cmpd="sng" w="12700">
            <a:solidFill>
              <a:srgbClr val="008C65"/>
            </a:solidFill>
            <a:prstDash val="solid"/>
            <a:miter lim="800000"/>
            <a:headEnd len="sm" w="sm" type="none"/>
            <a:tailEnd len="sm" w="sm" type="none"/>
          </a:ln>
        </p:spPr>
      </p:cxnSp>
      <p:sp>
        <p:nvSpPr>
          <p:cNvPr id="539" name="Google Shape;539;p44"/>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540" name="Google Shape;540;p44"/>
          <p:cNvSpPr/>
          <p:nvPr/>
        </p:nvSpPr>
        <p:spPr>
          <a:xfrm>
            <a:off x="1424150" y="1163600"/>
            <a:ext cx="2057400" cy="211800"/>
          </a:xfrm>
          <a:prstGeom prst="rect">
            <a:avLst/>
          </a:prstGeom>
          <a:solidFill>
            <a:srgbClr val="0B539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200">
                <a:solidFill>
                  <a:schemeClr val="lt1"/>
                </a:solidFill>
                <a:latin typeface="Quattrocento Sans"/>
                <a:ea typeface="Quattrocento Sans"/>
                <a:cs typeface="Quattrocento Sans"/>
                <a:sym typeface="Quattrocento Sans"/>
              </a:rPr>
              <a:t>109.4M+ in Total Revenue </a:t>
            </a:r>
            <a:endParaRPr sz="1100"/>
          </a:p>
        </p:txBody>
      </p:sp>
      <p:pic>
        <p:nvPicPr>
          <p:cNvPr id="541" name="Google Shape;541;p44" title="Screenshot 2025-03-27 at 12.57.48 PM.png"/>
          <p:cNvPicPr preferRelativeResize="0"/>
          <p:nvPr/>
        </p:nvPicPr>
        <p:blipFill>
          <a:blip r:embed="rId3">
            <a:alphaModFix/>
          </a:blip>
          <a:stretch>
            <a:fillRect/>
          </a:stretch>
        </p:blipFill>
        <p:spPr>
          <a:xfrm>
            <a:off x="617246" y="1389932"/>
            <a:ext cx="3730200" cy="2159584"/>
          </a:xfrm>
          <a:prstGeom prst="rect">
            <a:avLst/>
          </a:prstGeom>
          <a:noFill/>
          <a:ln>
            <a:noFill/>
          </a:ln>
        </p:spPr>
      </p:pic>
      <p:pic>
        <p:nvPicPr>
          <p:cNvPr id="542" name="Google Shape;542;p44" title="Screenshot 2025-03-27 at 1.08.17 PM.png"/>
          <p:cNvPicPr preferRelativeResize="0"/>
          <p:nvPr/>
        </p:nvPicPr>
        <p:blipFill>
          <a:blip r:embed="rId4">
            <a:alphaModFix/>
          </a:blip>
          <a:stretch>
            <a:fillRect/>
          </a:stretch>
        </p:blipFill>
        <p:spPr>
          <a:xfrm>
            <a:off x="4796418" y="1382163"/>
            <a:ext cx="2409826" cy="1460274"/>
          </a:xfrm>
          <a:prstGeom prst="rect">
            <a:avLst/>
          </a:prstGeom>
          <a:noFill/>
          <a:ln>
            <a:noFill/>
          </a:ln>
        </p:spPr>
      </p:pic>
      <p:sp>
        <p:nvSpPr>
          <p:cNvPr id="543" name="Google Shape;543;p44"/>
          <p:cNvSpPr txBox="1"/>
          <p:nvPr/>
        </p:nvSpPr>
        <p:spPr>
          <a:xfrm>
            <a:off x="4796381" y="1077138"/>
            <a:ext cx="2409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200">
                <a:solidFill>
                  <a:schemeClr val="dk1"/>
                </a:solidFill>
                <a:latin typeface="Calibri"/>
                <a:ea typeface="Calibri"/>
                <a:cs typeface="Calibri"/>
                <a:sym typeface="Calibri"/>
              </a:rPr>
              <a:t>Revenue Breakdown</a:t>
            </a:r>
            <a:endParaRPr/>
          </a:p>
        </p:txBody>
      </p:sp>
      <p:pic>
        <p:nvPicPr>
          <p:cNvPr id="544" name="Google Shape;544;p44" title="Screenshot 2025-03-27 at 1.25.06 PM.png"/>
          <p:cNvPicPr preferRelativeResize="0"/>
          <p:nvPr/>
        </p:nvPicPr>
        <p:blipFill>
          <a:blip r:embed="rId5">
            <a:alphaModFix/>
          </a:blip>
          <a:stretch>
            <a:fillRect/>
          </a:stretch>
        </p:blipFill>
        <p:spPr>
          <a:xfrm>
            <a:off x="4796419" y="3089712"/>
            <a:ext cx="2409825" cy="1417182"/>
          </a:xfrm>
          <a:prstGeom prst="rect">
            <a:avLst/>
          </a:prstGeom>
          <a:noFill/>
          <a:ln>
            <a:noFill/>
          </a:ln>
        </p:spPr>
      </p:pic>
      <p:sp>
        <p:nvSpPr>
          <p:cNvPr id="545" name="Google Shape;545;p44"/>
          <p:cNvSpPr txBox="1"/>
          <p:nvPr/>
        </p:nvSpPr>
        <p:spPr>
          <a:xfrm>
            <a:off x="4796381" y="2796500"/>
            <a:ext cx="2409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200">
                <a:solidFill>
                  <a:schemeClr val="dk1"/>
                </a:solidFill>
                <a:latin typeface="Calibri"/>
                <a:ea typeface="Calibri"/>
                <a:cs typeface="Calibri"/>
                <a:sym typeface="Calibri"/>
              </a:rPr>
              <a:t>Expenditures</a:t>
            </a:r>
            <a:r>
              <a:rPr lang="es" sz="1200">
                <a:solidFill>
                  <a:schemeClr val="dk1"/>
                </a:solidFill>
                <a:latin typeface="Calibri"/>
                <a:ea typeface="Calibri"/>
                <a:cs typeface="Calibri"/>
                <a:sym typeface="Calibri"/>
              </a:rPr>
              <a:t> Breakdown</a:t>
            </a:r>
            <a:endParaRPr/>
          </a:p>
        </p:txBody>
      </p:sp>
      <p:sp>
        <p:nvSpPr>
          <p:cNvPr id="546" name="Google Shape;546;p44"/>
          <p:cNvSpPr txBox="1"/>
          <p:nvPr/>
        </p:nvSpPr>
        <p:spPr>
          <a:xfrm>
            <a:off x="7690251" y="1192247"/>
            <a:ext cx="878100" cy="338700"/>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b="1" lang="es" sz="2200">
                <a:solidFill>
                  <a:srgbClr val="0B5394"/>
                </a:solidFill>
                <a:latin typeface="Calibri"/>
                <a:ea typeface="Calibri"/>
                <a:cs typeface="Calibri"/>
                <a:sym typeface="Calibri"/>
              </a:rPr>
              <a:t>2.85%</a:t>
            </a:r>
            <a:endParaRPr sz="2200">
              <a:solidFill>
                <a:srgbClr val="0B5394"/>
              </a:solidFill>
            </a:endParaRPr>
          </a:p>
        </p:txBody>
      </p:sp>
      <p:sp>
        <p:nvSpPr>
          <p:cNvPr id="547" name="Google Shape;547;p44"/>
          <p:cNvSpPr txBox="1"/>
          <p:nvPr/>
        </p:nvSpPr>
        <p:spPr>
          <a:xfrm>
            <a:off x="7434651" y="1450930"/>
            <a:ext cx="1389300" cy="346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 sz="900">
                <a:solidFill>
                  <a:schemeClr val="dk1"/>
                </a:solidFill>
              </a:rPr>
              <a:t>Revenue CAGR (2013-2016) </a:t>
            </a:r>
            <a:endParaRPr sz="900">
              <a:solidFill>
                <a:schemeClr val="dk1"/>
              </a:solidFill>
              <a:latin typeface="Quattrocento Sans"/>
              <a:ea typeface="Quattrocento Sans"/>
              <a:cs typeface="Quattrocento Sans"/>
              <a:sym typeface="Quattrocento Sans"/>
            </a:endParaRPr>
          </a:p>
        </p:txBody>
      </p:sp>
      <p:sp>
        <p:nvSpPr>
          <p:cNvPr id="548" name="Google Shape;548;p44"/>
          <p:cNvSpPr txBox="1"/>
          <p:nvPr/>
        </p:nvSpPr>
        <p:spPr>
          <a:xfrm>
            <a:off x="7690251" y="1869514"/>
            <a:ext cx="878100" cy="338700"/>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b="1" lang="es" sz="2200">
                <a:solidFill>
                  <a:srgbClr val="0B5394"/>
                </a:solidFill>
                <a:latin typeface="Calibri"/>
                <a:ea typeface="Calibri"/>
                <a:cs typeface="Calibri"/>
                <a:sym typeface="Calibri"/>
              </a:rPr>
              <a:t>88.9K+</a:t>
            </a:r>
            <a:endParaRPr sz="2200">
              <a:solidFill>
                <a:srgbClr val="0B5394"/>
              </a:solidFill>
            </a:endParaRPr>
          </a:p>
        </p:txBody>
      </p:sp>
      <p:sp>
        <p:nvSpPr>
          <p:cNvPr id="549" name="Google Shape;549;p44"/>
          <p:cNvSpPr txBox="1"/>
          <p:nvPr/>
        </p:nvSpPr>
        <p:spPr>
          <a:xfrm>
            <a:off x="7434651" y="2128198"/>
            <a:ext cx="1389300" cy="346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 sz="900">
                <a:solidFill>
                  <a:schemeClr val="dk1"/>
                </a:solidFill>
              </a:rPr>
              <a:t>Expected Royalties in Franchises by 2016 </a:t>
            </a:r>
            <a:endParaRPr sz="900">
              <a:solidFill>
                <a:schemeClr val="dk1"/>
              </a:solidFill>
              <a:latin typeface="Quattrocento Sans"/>
              <a:ea typeface="Quattrocento Sans"/>
              <a:cs typeface="Quattrocento Sans"/>
              <a:sym typeface="Quattrocento Sans"/>
            </a:endParaRPr>
          </a:p>
        </p:txBody>
      </p:sp>
      <p:sp>
        <p:nvSpPr>
          <p:cNvPr id="550" name="Google Shape;550;p44"/>
          <p:cNvSpPr txBox="1"/>
          <p:nvPr/>
        </p:nvSpPr>
        <p:spPr>
          <a:xfrm>
            <a:off x="7690251" y="2546782"/>
            <a:ext cx="878100" cy="338700"/>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b="1" lang="es" sz="2200">
                <a:solidFill>
                  <a:srgbClr val="0B5394"/>
                </a:solidFill>
                <a:latin typeface="Calibri"/>
                <a:ea typeface="Calibri"/>
                <a:cs typeface="Calibri"/>
                <a:sym typeface="Calibri"/>
              </a:rPr>
              <a:t>4.7%</a:t>
            </a:r>
            <a:endParaRPr sz="2200">
              <a:solidFill>
                <a:srgbClr val="0B5394"/>
              </a:solidFill>
            </a:endParaRPr>
          </a:p>
        </p:txBody>
      </p:sp>
      <p:sp>
        <p:nvSpPr>
          <p:cNvPr id="551" name="Google Shape;551;p44"/>
          <p:cNvSpPr txBox="1"/>
          <p:nvPr/>
        </p:nvSpPr>
        <p:spPr>
          <a:xfrm>
            <a:off x="7434651" y="2805465"/>
            <a:ext cx="1389300" cy="346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 sz="900">
                <a:solidFill>
                  <a:schemeClr val="dk1"/>
                </a:solidFill>
              </a:rPr>
              <a:t>Gross Profit Margin (2013-2016) </a:t>
            </a:r>
            <a:endParaRPr sz="900">
              <a:solidFill>
                <a:schemeClr val="dk1"/>
              </a:solidFill>
              <a:latin typeface="Quattrocento Sans"/>
              <a:ea typeface="Quattrocento Sans"/>
              <a:cs typeface="Quattrocento Sans"/>
              <a:sym typeface="Quattrocento Sans"/>
            </a:endParaRPr>
          </a:p>
        </p:txBody>
      </p:sp>
      <p:sp>
        <p:nvSpPr>
          <p:cNvPr id="552" name="Google Shape;552;p44"/>
          <p:cNvSpPr txBox="1"/>
          <p:nvPr/>
        </p:nvSpPr>
        <p:spPr>
          <a:xfrm>
            <a:off x="7690251" y="3224049"/>
            <a:ext cx="878100" cy="338700"/>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b="1" lang="es" sz="2200">
                <a:solidFill>
                  <a:srgbClr val="0B5394"/>
                </a:solidFill>
                <a:latin typeface="Calibri"/>
                <a:ea typeface="Calibri"/>
                <a:cs typeface="Calibri"/>
                <a:sym typeface="Calibri"/>
              </a:rPr>
              <a:t>3.08%</a:t>
            </a:r>
            <a:endParaRPr sz="2200">
              <a:solidFill>
                <a:srgbClr val="0B5394"/>
              </a:solidFill>
            </a:endParaRPr>
          </a:p>
        </p:txBody>
      </p:sp>
      <p:sp>
        <p:nvSpPr>
          <p:cNvPr id="553" name="Google Shape;553;p44"/>
          <p:cNvSpPr txBox="1"/>
          <p:nvPr/>
        </p:nvSpPr>
        <p:spPr>
          <a:xfrm>
            <a:off x="7434651" y="3482733"/>
            <a:ext cx="1389300" cy="346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 sz="900">
                <a:solidFill>
                  <a:schemeClr val="dk1"/>
                </a:solidFill>
              </a:rPr>
              <a:t>Capital Expenditure from Total Investment </a:t>
            </a:r>
            <a:endParaRPr sz="900">
              <a:solidFill>
                <a:schemeClr val="dk1"/>
              </a:solidFill>
              <a:latin typeface="Quattrocento Sans"/>
              <a:ea typeface="Quattrocento Sans"/>
              <a:cs typeface="Quattrocento Sans"/>
              <a:sym typeface="Quattrocento Sans"/>
            </a:endParaRPr>
          </a:p>
        </p:txBody>
      </p:sp>
      <p:sp>
        <p:nvSpPr>
          <p:cNvPr id="554" name="Google Shape;554;p44"/>
          <p:cNvSpPr txBox="1"/>
          <p:nvPr/>
        </p:nvSpPr>
        <p:spPr>
          <a:xfrm>
            <a:off x="7690251" y="3901316"/>
            <a:ext cx="878100" cy="338700"/>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b="1" lang="es" sz="2200">
                <a:solidFill>
                  <a:srgbClr val="0B5394"/>
                </a:solidFill>
                <a:latin typeface="Calibri"/>
                <a:ea typeface="Calibri"/>
                <a:cs typeface="Calibri"/>
                <a:sym typeface="Calibri"/>
              </a:rPr>
              <a:t>0.03%</a:t>
            </a:r>
            <a:endParaRPr sz="2200">
              <a:solidFill>
                <a:srgbClr val="0B5394"/>
              </a:solidFill>
            </a:endParaRPr>
          </a:p>
        </p:txBody>
      </p:sp>
      <p:sp>
        <p:nvSpPr>
          <p:cNvPr id="555" name="Google Shape;555;p44"/>
          <p:cNvSpPr txBox="1"/>
          <p:nvPr/>
        </p:nvSpPr>
        <p:spPr>
          <a:xfrm>
            <a:off x="7434651" y="4160000"/>
            <a:ext cx="1389300" cy="346200"/>
          </a:xfrm>
          <a:prstGeom prst="rect">
            <a:avLst/>
          </a:prstGeom>
          <a:noFill/>
          <a:ln>
            <a:noFill/>
          </a:ln>
        </p:spPr>
        <p:txBody>
          <a:bodyPr anchorCtr="0" anchor="t" bIns="34275" lIns="68575" spcFirstLastPara="1" rIns="68575" wrap="square" tIns="34275">
            <a:spAutoFit/>
          </a:bodyPr>
          <a:lstStyle/>
          <a:p>
            <a:pPr indent="0" lvl="0" marL="0" rtl="0" algn="ctr">
              <a:spcBef>
                <a:spcPts val="0"/>
              </a:spcBef>
              <a:spcAft>
                <a:spcPts val="0"/>
              </a:spcAft>
              <a:buNone/>
            </a:pPr>
            <a:r>
              <a:rPr lang="es" sz="900">
                <a:solidFill>
                  <a:schemeClr val="dk1"/>
                </a:solidFill>
              </a:rPr>
              <a:t>Operational</a:t>
            </a:r>
            <a:r>
              <a:rPr lang="es" sz="900">
                <a:solidFill>
                  <a:schemeClr val="dk1"/>
                </a:solidFill>
              </a:rPr>
              <a:t> Expenditure from Total Investment </a:t>
            </a:r>
            <a:endParaRPr sz="9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grpSp>
        <p:nvGrpSpPr>
          <p:cNvPr id="561" name="Google Shape;561;p45"/>
          <p:cNvGrpSpPr/>
          <p:nvPr/>
        </p:nvGrpSpPr>
        <p:grpSpPr>
          <a:xfrm>
            <a:off x="198845" y="-2082551"/>
            <a:ext cx="8166154" cy="6559064"/>
            <a:chOff x="-143777" y="-2762458"/>
            <a:chExt cx="11266769" cy="9481157"/>
          </a:xfrm>
        </p:grpSpPr>
        <p:grpSp>
          <p:nvGrpSpPr>
            <p:cNvPr id="562" name="Google Shape;562;p45"/>
            <p:cNvGrpSpPr/>
            <p:nvPr/>
          </p:nvGrpSpPr>
          <p:grpSpPr>
            <a:xfrm>
              <a:off x="-143778" y="1549718"/>
              <a:ext cx="6042397" cy="5168981"/>
              <a:chOff x="-143777" y="1549718"/>
              <a:chExt cx="6042397" cy="5168981"/>
            </a:xfrm>
          </p:grpSpPr>
          <p:sp>
            <p:nvSpPr>
              <p:cNvPr id="563" name="Google Shape;563;p45"/>
              <p:cNvSpPr/>
              <p:nvPr/>
            </p:nvSpPr>
            <p:spPr>
              <a:xfrm>
                <a:off x="480665" y="1636295"/>
                <a:ext cx="5345100" cy="45045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Quattrocento Sans"/>
                  <a:ea typeface="Quattrocento Sans"/>
                  <a:cs typeface="Quattrocento Sans"/>
                  <a:sym typeface="Quattrocento Sans"/>
                </a:endParaRPr>
              </a:p>
            </p:txBody>
          </p:sp>
          <p:grpSp>
            <p:nvGrpSpPr>
              <p:cNvPr id="564" name="Google Shape;564;p45"/>
              <p:cNvGrpSpPr/>
              <p:nvPr/>
            </p:nvGrpSpPr>
            <p:grpSpPr>
              <a:xfrm>
                <a:off x="-143778" y="1549718"/>
                <a:ext cx="6042397" cy="5168981"/>
                <a:chOff x="-143777" y="1549718"/>
                <a:chExt cx="6042397" cy="5168981"/>
              </a:xfrm>
            </p:grpSpPr>
            <p:grpSp>
              <p:nvGrpSpPr>
                <p:cNvPr id="565" name="Google Shape;565;p45"/>
                <p:cNvGrpSpPr/>
                <p:nvPr/>
              </p:nvGrpSpPr>
              <p:grpSpPr>
                <a:xfrm>
                  <a:off x="-143777" y="1549718"/>
                  <a:ext cx="564461" cy="4591200"/>
                  <a:chOff x="-143777" y="1549718"/>
                  <a:chExt cx="564461" cy="4591200"/>
                </a:xfrm>
              </p:grpSpPr>
              <p:cxnSp>
                <p:nvCxnSpPr>
                  <p:cNvPr id="566" name="Google Shape;566;p45"/>
                  <p:cNvCxnSpPr/>
                  <p:nvPr/>
                </p:nvCxnSpPr>
                <p:spPr>
                  <a:xfrm rot="10800000">
                    <a:off x="420683" y="1549718"/>
                    <a:ext cx="0" cy="4591200"/>
                  </a:xfrm>
                  <a:prstGeom prst="straightConnector1">
                    <a:avLst/>
                  </a:prstGeom>
                  <a:noFill/>
                  <a:ln cap="flat" cmpd="sng" w="28575">
                    <a:solidFill>
                      <a:srgbClr val="0A3348"/>
                    </a:solidFill>
                    <a:prstDash val="solid"/>
                    <a:miter lim="800000"/>
                    <a:headEnd len="sm" w="sm" type="none"/>
                    <a:tailEnd len="med" w="med" type="triangle"/>
                  </a:ln>
                </p:spPr>
              </p:cxnSp>
              <p:sp>
                <p:nvSpPr>
                  <p:cNvPr id="567" name="Google Shape;567;p45"/>
                  <p:cNvSpPr/>
                  <p:nvPr/>
                </p:nvSpPr>
                <p:spPr>
                  <a:xfrm rot="-5400000">
                    <a:off x="-1544177" y="3531549"/>
                    <a:ext cx="3235200" cy="4344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747474"/>
                      </a:buClr>
                      <a:buSzPts val="900"/>
                      <a:buFont typeface="Quattrocento Sans"/>
                      <a:buNone/>
                    </a:pPr>
                    <a:r>
                      <a:rPr i="1" lang="es" sz="900">
                        <a:solidFill>
                          <a:srgbClr val="747474"/>
                        </a:solidFill>
                        <a:latin typeface="Quattrocento Sans"/>
                        <a:ea typeface="Quattrocento Sans"/>
                        <a:cs typeface="Quattrocento Sans"/>
                        <a:sym typeface="Quattrocento Sans"/>
                      </a:rPr>
                      <a:t>Severity of risk</a:t>
                    </a:r>
                    <a:endParaRPr i="1" sz="1400">
                      <a:solidFill>
                        <a:srgbClr val="747474"/>
                      </a:solidFill>
                      <a:latin typeface="Quattrocento Sans"/>
                      <a:ea typeface="Quattrocento Sans"/>
                      <a:cs typeface="Quattrocento Sans"/>
                      <a:sym typeface="Quattrocento Sans"/>
                    </a:endParaRPr>
                  </a:p>
                </p:txBody>
              </p:sp>
            </p:grpSp>
            <p:grpSp>
              <p:nvGrpSpPr>
                <p:cNvPr id="568" name="Google Shape;568;p45"/>
                <p:cNvGrpSpPr/>
                <p:nvPr/>
              </p:nvGrpSpPr>
              <p:grpSpPr>
                <a:xfrm>
                  <a:off x="429919" y="6140918"/>
                  <a:ext cx="5468700" cy="577781"/>
                  <a:chOff x="429919" y="6140918"/>
                  <a:chExt cx="5468700" cy="577781"/>
                </a:xfrm>
              </p:grpSpPr>
              <p:cxnSp>
                <p:nvCxnSpPr>
                  <p:cNvPr id="569" name="Google Shape;569;p45"/>
                  <p:cNvCxnSpPr/>
                  <p:nvPr/>
                </p:nvCxnSpPr>
                <p:spPr>
                  <a:xfrm>
                    <a:off x="429919" y="6140918"/>
                    <a:ext cx="5468700" cy="43500"/>
                  </a:xfrm>
                  <a:prstGeom prst="straightConnector1">
                    <a:avLst/>
                  </a:prstGeom>
                  <a:noFill/>
                  <a:ln cap="flat" cmpd="sng" w="28575">
                    <a:solidFill>
                      <a:srgbClr val="0A3348"/>
                    </a:solidFill>
                    <a:prstDash val="solid"/>
                    <a:miter lim="800000"/>
                    <a:headEnd len="sm" w="sm" type="none"/>
                    <a:tailEnd len="med" w="med" type="triangle"/>
                  </a:ln>
                </p:spPr>
              </p:cxnSp>
              <p:sp>
                <p:nvSpPr>
                  <p:cNvPr id="570" name="Google Shape;570;p45"/>
                  <p:cNvSpPr/>
                  <p:nvPr/>
                </p:nvSpPr>
                <p:spPr>
                  <a:xfrm>
                    <a:off x="658522" y="6338899"/>
                    <a:ext cx="5013000" cy="3798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747474"/>
                      </a:buClr>
                      <a:buSzPts val="900"/>
                      <a:buFont typeface="Quattrocento Sans"/>
                      <a:buNone/>
                    </a:pPr>
                    <a:r>
                      <a:rPr i="1" lang="es" sz="900">
                        <a:solidFill>
                          <a:srgbClr val="747474"/>
                        </a:solidFill>
                        <a:latin typeface="Quattrocento Sans"/>
                        <a:ea typeface="Quattrocento Sans"/>
                        <a:cs typeface="Quattrocento Sans"/>
                        <a:sym typeface="Quattrocento Sans"/>
                      </a:rPr>
                      <a:t>Probability of occurrence</a:t>
                    </a:r>
                    <a:endParaRPr i="1" sz="1400">
                      <a:solidFill>
                        <a:srgbClr val="747474"/>
                      </a:solidFill>
                      <a:latin typeface="Quattrocento Sans"/>
                      <a:ea typeface="Quattrocento Sans"/>
                      <a:cs typeface="Quattrocento Sans"/>
                      <a:sym typeface="Quattrocento Sans"/>
                    </a:endParaRPr>
                  </a:p>
                </p:txBody>
              </p:sp>
            </p:grpSp>
          </p:grpSp>
        </p:grpSp>
        <p:grpSp>
          <p:nvGrpSpPr>
            <p:cNvPr id="571" name="Google Shape;571;p45"/>
            <p:cNvGrpSpPr/>
            <p:nvPr/>
          </p:nvGrpSpPr>
          <p:grpSpPr>
            <a:xfrm>
              <a:off x="555791" y="-2762458"/>
              <a:ext cx="10567200" cy="8820000"/>
              <a:chOff x="555791" y="-2762458"/>
              <a:chExt cx="10567200" cy="8820000"/>
            </a:xfrm>
          </p:grpSpPr>
          <p:sp>
            <p:nvSpPr>
              <p:cNvPr id="572" name="Google Shape;572;p45"/>
              <p:cNvSpPr/>
              <p:nvPr/>
            </p:nvSpPr>
            <p:spPr>
              <a:xfrm rot="10800000">
                <a:off x="555791" y="-2762458"/>
                <a:ext cx="10567200" cy="8820000"/>
              </a:xfrm>
              <a:prstGeom prst="arc">
                <a:avLst>
                  <a:gd fmla="val 16200000" name="adj1"/>
                  <a:gd fmla="val 0" name="adj2"/>
                </a:avLst>
              </a:prstGeom>
              <a:solidFill>
                <a:srgbClr val="3D85C6"/>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dk1"/>
                  </a:solidFill>
                  <a:latin typeface="Quattrocento Sans"/>
                  <a:ea typeface="Quattrocento Sans"/>
                  <a:cs typeface="Quattrocento Sans"/>
                  <a:sym typeface="Quattrocento Sans"/>
                </a:endParaRPr>
              </a:p>
            </p:txBody>
          </p:sp>
          <p:sp>
            <p:nvSpPr>
              <p:cNvPr id="573" name="Google Shape;573;p45"/>
              <p:cNvSpPr/>
              <p:nvPr/>
            </p:nvSpPr>
            <p:spPr>
              <a:xfrm rot="10800000">
                <a:off x="1545761" y="-2003662"/>
                <a:ext cx="8571900" cy="7308000"/>
              </a:xfrm>
              <a:prstGeom prst="arc">
                <a:avLst>
                  <a:gd fmla="val 16200000" name="adj1"/>
                  <a:gd fmla="val 0" name="adj2"/>
                </a:avLst>
              </a:prstGeom>
              <a:solidFill>
                <a:srgbClr val="0B5394"/>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dk1"/>
                  </a:solidFill>
                  <a:latin typeface="Quattrocento Sans"/>
                  <a:ea typeface="Quattrocento Sans"/>
                  <a:cs typeface="Quattrocento Sans"/>
                  <a:sym typeface="Quattrocento Sans"/>
                </a:endParaRPr>
              </a:p>
            </p:txBody>
          </p:sp>
          <p:sp>
            <p:nvSpPr>
              <p:cNvPr id="574" name="Google Shape;574;p45"/>
              <p:cNvSpPr/>
              <p:nvPr/>
            </p:nvSpPr>
            <p:spPr>
              <a:xfrm rot="10800000">
                <a:off x="2767696" y="-1090873"/>
                <a:ext cx="6127800" cy="5472000"/>
              </a:xfrm>
              <a:prstGeom prst="arc">
                <a:avLst>
                  <a:gd fmla="val 16200000" name="adj1"/>
                  <a:gd fmla="val 0" name="adj2"/>
                </a:avLst>
              </a:prstGeom>
              <a:solidFill>
                <a:srgbClr val="073763"/>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dk1"/>
                  </a:solidFill>
                  <a:latin typeface="Quattrocento Sans"/>
                  <a:ea typeface="Quattrocento Sans"/>
                  <a:cs typeface="Quattrocento Sans"/>
                  <a:sym typeface="Quattrocento Sans"/>
                </a:endParaRPr>
              </a:p>
            </p:txBody>
          </p:sp>
        </p:grpSp>
      </p:grpSp>
      <p:grpSp>
        <p:nvGrpSpPr>
          <p:cNvPr id="575" name="Google Shape;575;p45"/>
          <p:cNvGrpSpPr/>
          <p:nvPr/>
        </p:nvGrpSpPr>
        <p:grpSpPr>
          <a:xfrm>
            <a:off x="1100983" y="2091442"/>
            <a:ext cx="633882" cy="1733724"/>
            <a:chOff x="1678689" y="3105580"/>
            <a:chExt cx="821836" cy="2247795"/>
          </a:xfrm>
        </p:grpSpPr>
        <p:sp>
          <p:nvSpPr>
            <p:cNvPr id="576" name="Google Shape;576;p45"/>
            <p:cNvSpPr/>
            <p:nvPr/>
          </p:nvSpPr>
          <p:spPr>
            <a:xfrm>
              <a:off x="1995625" y="3105580"/>
              <a:ext cx="504900" cy="504900"/>
            </a:xfrm>
            <a:prstGeom prst="ellipse">
              <a:avLst/>
            </a:prstGeom>
            <a:solidFill>
              <a:srgbClr val="C00000"/>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900"/>
                <a:buFont typeface="Quattrocento Sans"/>
                <a:buNone/>
              </a:pPr>
              <a:r>
                <a:rPr b="1" lang="es" sz="900">
                  <a:solidFill>
                    <a:schemeClr val="lt1"/>
                  </a:solidFill>
                  <a:latin typeface="Quattrocento Sans"/>
                  <a:ea typeface="Quattrocento Sans"/>
                  <a:cs typeface="Quattrocento Sans"/>
                  <a:sym typeface="Quattrocento Sans"/>
                </a:rPr>
                <a:t>1</a:t>
              </a:r>
              <a:endParaRPr sz="1100"/>
            </a:p>
          </p:txBody>
        </p:sp>
        <p:sp>
          <p:nvSpPr>
            <p:cNvPr id="577" name="Google Shape;577;p45"/>
            <p:cNvSpPr/>
            <p:nvPr/>
          </p:nvSpPr>
          <p:spPr>
            <a:xfrm>
              <a:off x="1678689" y="4848475"/>
              <a:ext cx="504900" cy="504900"/>
            </a:xfrm>
            <a:prstGeom prst="ellipse">
              <a:avLst/>
            </a:prstGeom>
            <a:solidFill>
              <a:schemeClr val="dk2"/>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900"/>
                <a:buFont typeface="Quattrocento Sans"/>
                <a:buNone/>
              </a:pPr>
              <a:r>
                <a:rPr b="1" lang="es" sz="900">
                  <a:solidFill>
                    <a:schemeClr val="lt1"/>
                  </a:solidFill>
                  <a:latin typeface="Quattrocento Sans"/>
                  <a:ea typeface="Quattrocento Sans"/>
                  <a:cs typeface="Quattrocento Sans"/>
                  <a:sym typeface="Quattrocento Sans"/>
                </a:rPr>
                <a:t>1</a:t>
              </a:r>
              <a:endParaRPr b="1" sz="900">
                <a:solidFill>
                  <a:schemeClr val="lt1"/>
                </a:solidFill>
                <a:latin typeface="Quattrocento Sans"/>
                <a:ea typeface="Quattrocento Sans"/>
                <a:cs typeface="Quattrocento Sans"/>
                <a:sym typeface="Quattrocento Sans"/>
              </a:endParaRPr>
            </a:p>
          </p:txBody>
        </p:sp>
        <p:cxnSp>
          <p:nvCxnSpPr>
            <p:cNvPr id="578" name="Google Shape;578;p45"/>
            <p:cNvCxnSpPr>
              <a:stCxn id="576" idx="4"/>
            </p:cNvCxnSpPr>
            <p:nvPr/>
          </p:nvCxnSpPr>
          <p:spPr>
            <a:xfrm flipH="1">
              <a:off x="2038075" y="3610480"/>
              <a:ext cx="210000" cy="1248000"/>
            </a:xfrm>
            <a:prstGeom prst="straightConnector1">
              <a:avLst/>
            </a:prstGeom>
            <a:noFill/>
            <a:ln cap="flat" cmpd="sng" w="19050">
              <a:solidFill>
                <a:schemeClr val="lt1"/>
              </a:solidFill>
              <a:prstDash val="solid"/>
              <a:miter lim="800000"/>
              <a:headEnd len="sm" w="sm" type="none"/>
              <a:tailEnd len="med" w="med" type="triangle"/>
            </a:ln>
          </p:spPr>
        </p:cxnSp>
      </p:grpSp>
      <p:grpSp>
        <p:nvGrpSpPr>
          <p:cNvPr id="579" name="Google Shape;579;p45"/>
          <p:cNvGrpSpPr/>
          <p:nvPr/>
        </p:nvGrpSpPr>
        <p:grpSpPr>
          <a:xfrm>
            <a:off x="1987193" y="2529134"/>
            <a:ext cx="1084733" cy="1078647"/>
            <a:chOff x="2119695" y="4240336"/>
            <a:chExt cx="1406370" cy="1398479"/>
          </a:xfrm>
        </p:grpSpPr>
        <p:sp>
          <p:nvSpPr>
            <p:cNvPr id="580" name="Google Shape;580;p45"/>
            <p:cNvSpPr/>
            <p:nvPr/>
          </p:nvSpPr>
          <p:spPr>
            <a:xfrm>
              <a:off x="3021165" y="4240336"/>
              <a:ext cx="504900" cy="504900"/>
            </a:xfrm>
            <a:prstGeom prst="ellipse">
              <a:avLst/>
            </a:prstGeom>
            <a:solidFill>
              <a:srgbClr val="C00000"/>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900"/>
                <a:buFont typeface="Quattrocento Sans"/>
                <a:buNone/>
              </a:pPr>
              <a:r>
                <a:rPr b="1" lang="es" sz="900">
                  <a:solidFill>
                    <a:schemeClr val="lt1"/>
                  </a:solidFill>
                  <a:latin typeface="Quattrocento Sans"/>
                  <a:ea typeface="Quattrocento Sans"/>
                  <a:cs typeface="Quattrocento Sans"/>
                  <a:sym typeface="Quattrocento Sans"/>
                </a:rPr>
                <a:t>3</a:t>
              </a:r>
              <a:endParaRPr b="1" sz="900">
                <a:solidFill>
                  <a:schemeClr val="lt1"/>
                </a:solidFill>
                <a:latin typeface="Quattrocento Sans"/>
                <a:ea typeface="Quattrocento Sans"/>
                <a:cs typeface="Quattrocento Sans"/>
                <a:sym typeface="Quattrocento Sans"/>
              </a:endParaRPr>
            </a:p>
          </p:txBody>
        </p:sp>
        <p:sp>
          <p:nvSpPr>
            <p:cNvPr id="581" name="Google Shape;581;p45"/>
            <p:cNvSpPr/>
            <p:nvPr/>
          </p:nvSpPr>
          <p:spPr>
            <a:xfrm>
              <a:off x="2119695" y="5133915"/>
              <a:ext cx="504900" cy="504900"/>
            </a:xfrm>
            <a:prstGeom prst="ellipse">
              <a:avLst/>
            </a:prstGeom>
            <a:solidFill>
              <a:schemeClr val="dk2"/>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chemeClr val="lt1"/>
                </a:buClr>
                <a:buSzPts val="900"/>
                <a:buFont typeface="Quattrocento Sans"/>
                <a:buNone/>
              </a:pPr>
              <a:r>
                <a:rPr b="1" lang="es" sz="900">
                  <a:solidFill>
                    <a:schemeClr val="lt1"/>
                  </a:solidFill>
                  <a:latin typeface="Quattrocento Sans"/>
                  <a:ea typeface="Quattrocento Sans"/>
                  <a:cs typeface="Quattrocento Sans"/>
                  <a:sym typeface="Quattrocento Sans"/>
                </a:rPr>
                <a:t>3</a:t>
              </a:r>
              <a:endParaRPr b="1" sz="900">
                <a:solidFill>
                  <a:schemeClr val="lt1"/>
                </a:solidFill>
                <a:latin typeface="Quattrocento Sans"/>
                <a:ea typeface="Quattrocento Sans"/>
                <a:cs typeface="Quattrocento Sans"/>
                <a:sym typeface="Quattrocento Sans"/>
              </a:endParaRPr>
            </a:p>
          </p:txBody>
        </p:sp>
        <p:cxnSp>
          <p:nvCxnSpPr>
            <p:cNvPr id="582" name="Google Shape;582;p45"/>
            <p:cNvCxnSpPr>
              <a:stCxn id="580" idx="3"/>
            </p:cNvCxnSpPr>
            <p:nvPr/>
          </p:nvCxnSpPr>
          <p:spPr>
            <a:xfrm flipH="1">
              <a:off x="2629806" y="4671295"/>
              <a:ext cx="465300" cy="491400"/>
            </a:xfrm>
            <a:prstGeom prst="straightConnector1">
              <a:avLst/>
            </a:prstGeom>
            <a:noFill/>
            <a:ln cap="flat" cmpd="sng" w="19050">
              <a:solidFill>
                <a:schemeClr val="lt1"/>
              </a:solidFill>
              <a:prstDash val="solid"/>
              <a:miter lim="800000"/>
              <a:headEnd len="sm" w="sm" type="none"/>
              <a:tailEnd len="med" w="med" type="triangle"/>
            </a:ln>
          </p:spPr>
        </p:cxnSp>
      </p:grpSp>
      <p:grpSp>
        <p:nvGrpSpPr>
          <p:cNvPr id="583" name="Google Shape;583;p45"/>
          <p:cNvGrpSpPr/>
          <p:nvPr/>
        </p:nvGrpSpPr>
        <p:grpSpPr>
          <a:xfrm>
            <a:off x="3071934" y="2163752"/>
            <a:ext cx="1122016" cy="1589126"/>
            <a:chOff x="1251675" y="2154132"/>
            <a:chExt cx="1454707" cy="2060321"/>
          </a:xfrm>
        </p:grpSpPr>
        <p:sp>
          <p:nvSpPr>
            <p:cNvPr id="584" name="Google Shape;584;p45"/>
            <p:cNvSpPr/>
            <p:nvPr/>
          </p:nvSpPr>
          <p:spPr>
            <a:xfrm>
              <a:off x="2201482" y="2154132"/>
              <a:ext cx="504900" cy="504900"/>
            </a:xfrm>
            <a:prstGeom prst="ellipse">
              <a:avLst/>
            </a:prstGeom>
            <a:solidFill>
              <a:srgbClr val="C00000"/>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900"/>
                <a:buFont typeface="Quattrocento Sans"/>
                <a:buNone/>
              </a:pPr>
              <a:r>
                <a:rPr b="1" lang="es" sz="900">
                  <a:solidFill>
                    <a:schemeClr val="lt1"/>
                  </a:solidFill>
                  <a:latin typeface="Quattrocento Sans"/>
                  <a:ea typeface="Quattrocento Sans"/>
                  <a:cs typeface="Quattrocento Sans"/>
                  <a:sym typeface="Quattrocento Sans"/>
                </a:rPr>
                <a:t>2</a:t>
              </a:r>
              <a:endParaRPr b="1" sz="900">
                <a:solidFill>
                  <a:schemeClr val="lt1"/>
                </a:solidFill>
                <a:latin typeface="Quattrocento Sans"/>
                <a:ea typeface="Quattrocento Sans"/>
                <a:cs typeface="Quattrocento Sans"/>
                <a:sym typeface="Quattrocento Sans"/>
              </a:endParaRPr>
            </a:p>
          </p:txBody>
        </p:sp>
        <p:sp>
          <p:nvSpPr>
            <p:cNvPr id="585" name="Google Shape;585;p45"/>
            <p:cNvSpPr/>
            <p:nvPr/>
          </p:nvSpPr>
          <p:spPr>
            <a:xfrm>
              <a:off x="1251675" y="3709553"/>
              <a:ext cx="504900" cy="504900"/>
            </a:xfrm>
            <a:prstGeom prst="ellipse">
              <a:avLst/>
            </a:prstGeom>
            <a:solidFill>
              <a:schemeClr val="dk2"/>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900"/>
                <a:buFont typeface="Quattrocento Sans"/>
                <a:buNone/>
              </a:pPr>
              <a:r>
                <a:rPr b="1" lang="es" sz="900">
                  <a:solidFill>
                    <a:schemeClr val="lt1"/>
                  </a:solidFill>
                  <a:latin typeface="Quattrocento Sans"/>
                  <a:ea typeface="Quattrocento Sans"/>
                  <a:cs typeface="Quattrocento Sans"/>
                  <a:sym typeface="Quattrocento Sans"/>
                </a:rPr>
                <a:t>2</a:t>
              </a:r>
              <a:endParaRPr b="1" sz="900">
                <a:solidFill>
                  <a:schemeClr val="lt1"/>
                </a:solidFill>
                <a:latin typeface="Quattrocento Sans"/>
                <a:ea typeface="Quattrocento Sans"/>
                <a:cs typeface="Quattrocento Sans"/>
                <a:sym typeface="Quattrocento Sans"/>
              </a:endParaRPr>
            </a:p>
          </p:txBody>
        </p:sp>
        <p:cxnSp>
          <p:nvCxnSpPr>
            <p:cNvPr id="586" name="Google Shape;586;p45"/>
            <p:cNvCxnSpPr/>
            <p:nvPr/>
          </p:nvCxnSpPr>
          <p:spPr>
            <a:xfrm flipH="1">
              <a:off x="1690448" y="2626583"/>
              <a:ext cx="653100" cy="1071600"/>
            </a:xfrm>
            <a:prstGeom prst="straightConnector1">
              <a:avLst/>
            </a:prstGeom>
            <a:noFill/>
            <a:ln cap="flat" cmpd="sng" w="19050">
              <a:solidFill>
                <a:schemeClr val="lt1"/>
              </a:solidFill>
              <a:prstDash val="solid"/>
              <a:miter lim="800000"/>
              <a:headEnd len="sm" w="sm" type="none"/>
              <a:tailEnd len="med" w="med" type="triangle"/>
            </a:ln>
          </p:spPr>
        </p:cxnSp>
      </p:grpSp>
      <p:sp>
        <p:nvSpPr>
          <p:cNvPr id="587" name="Google Shape;587;p45"/>
          <p:cNvSpPr/>
          <p:nvPr/>
        </p:nvSpPr>
        <p:spPr>
          <a:xfrm flipH="1" rot="10800000">
            <a:off x="5029648" y="867936"/>
            <a:ext cx="3811200" cy="1033800"/>
          </a:xfrm>
          <a:prstGeom prst="rect">
            <a:avLst/>
          </a:prstGeom>
          <a:noFill/>
          <a:ln cap="flat" cmpd="sng" w="1905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588" name="Google Shape;588;p45"/>
          <p:cNvSpPr/>
          <p:nvPr/>
        </p:nvSpPr>
        <p:spPr>
          <a:xfrm>
            <a:off x="4819593" y="1136963"/>
            <a:ext cx="441000" cy="441000"/>
          </a:xfrm>
          <a:prstGeom prst="ellipse">
            <a:avLst/>
          </a:prstGeom>
          <a:solidFill>
            <a:schemeClr val="lt2"/>
          </a:solidFill>
          <a:ln cap="flat" cmpd="sng" w="539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400">
                <a:solidFill>
                  <a:schemeClr val="dk1"/>
                </a:solidFill>
                <a:latin typeface="Arial"/>
                <a:ea typeface="Arial"/>
                <a:cs typeface="Arial"/>
                <a:sym typeface="Arial"/>
              </a:rPr>
              <a:t>1</a:t>
            </a:r>
            <a:endParaRPr sz="1100"/>
          </a:p>
        </p:txBody>
      </p:sp>
      <p:sp>
        <p:nvSpPr>
          <p:cNvPr id="589" name="Google Shape;589;p45"/>
          <p:cNvSpPr/>
          <p:nvPr/>
        </p:nvSpPr>
        <p:spPr>
          <a:xfrm flipH="1" rot="10800000">
            <a:off x="5029648" y="2000248"/>
            <a:ext cx="3811200" cy="1088400"/>
          </a:xfrm>
          <a:prstGeom prst="rect">
            <a:avLst/>
          </a:prstGeom>
          <a:noFill/>
          <a:ln cap="flat" cmpd="sng" w="1905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590" name="Google Shape;590;p45"/>
          <p:cNvSpPr/>
          <p:nvPr/>
        </p:nvSpPr>
        <p:spPr>
          <a:xfrm>
            <a:off x="4819593" y="2323874"/>
            <a:ext cx="441000" cy="441000"/>
          </a:xfrm>
          <a:prstGeom prst="ellipse">
            <a:avLst/>
          </a:prstGeom>
          <a:solidFill>
            <a:schemeClr val="lt2"/>
          </a:solidFill>
          <a:ln cap="flat" cmpd="sng" w="539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400">
                <a:solidFill>
                  <a:schemeClr val="dk1"/>
                </a:solidFill>
                <a:latin typeface="Arial"/>
                <a:ea typeface="Arial"/>
                <a:cs typeface="Arial"/>
                <a:sym typeface="Arial"/>
              </a:rPr>
              <a:t>2</a:t>
            </a:r>
            <a:endParaRPr sz="1100"/>
          </a:p>
        </p:txBody>
      </p:sp>
      <p:sp>
        <p:nvSpPr>
          <p:cNvPr id="591" name="Google Shape;591;p45"/>
          <p:cNvSpPr/>
          <p:nvPr/>
        </p:nvSpPr>
        <p:spPr>
          <a:xfrm flipH="1" rot="10800000">
            <a:off x="5029648" y="3187158"/>
            <a:ext cx="3811200" cy="1088400"/>
          </a:xfrm>
          <a:prstGeom prst="rect">
            <a:avLst/>
          </a:prstGeom>
          <a:noFill/>
          <a:ln cap="flat" cmpd="sng" w="1905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592" name="Google Shape;592;p45"/>
          <p:cNvSpPr/>
          <p:nvPr/>
        </p:nvSpPr>
        <p:spPr>
          <a:xfrm>
            <a:off x="4819593" y="3510784"/>
            <a:ext cx="441000" cy="441000"/>
          </a:xfrm>
          <a:prstGeom prst="ellipse">
            <a:avLst/>
          </a:prstGeom>
          <a:solidFill>
            <a:schemeClr val="lt2"/>
          </a:solidFill>
          <a:ln cap="flat" cmpd="sng" w="539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400">
                <a:solidFill>
                  <a:schemeClr val="dk1"/>
                </a:solidFill>
                <a:latin typeface="Arial"/>
                <a:ea typeface="Arial"/>
                <a:cs typeface="Arial"/>
                <a:sym typeface="Arial"/>
              </a:rPr>
              <a:t>3</a:t>
            </a:r>
            <a:endParaRPr sz="1100"/>
          </a:p>
        </p:txBody>
      </p:sp>
      <p:sp>
        <p:nvSpPr>
          <p:cNvPr id="593" name="Google Shape;593;p45"/>
          <p:cNvSpPr txBox="1"/>
          <p:nvPr/>
        </p:nvSpPr>
        <p:spPr>
          <a:xfrm>
            <a:off x="5357525" y="957900"/>
            <a:ext cx="3416400" cy="946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1" lang="es" sz="1200">
                <a:solidFill>
                  <a:srgbClr val="C00000"/>
                </a:solidFill>
                <a:latin typeface="Quattrocento Sans"/>
                <a:ea typeface="Quattrocento Sans"/>
                <a:cs typeface="Quattrocento Sans"/>
                <a:sym typeface="Quattrocento Sans"/>
              </a:rPr>
              <a:t>Quality Erosion: Franchising/syndication may dilute food/service standards</a:t>
            </a:r>
            <a:endParaRPr sz="1200"/>
          </a:p>
          <a:p>
            <a:pPr indent="0" lvl="0" marL="0" marR="0" rtl="0" algn="l">
              <a:spcBef>
                <a:spcPts val="0"/>
              </a:spcBef>
              <a:spcAft>
                <a:spcPts val="0"/>
              </a:spcAft>
              <a:buNone/>
            </a:pPr>
            <a:r>
              <a:rPr lang="es" sz="1100">
                <a:solidFill>
                  <a:schemeClr val="dk1"/>
                </a:solidFill>
                <a:latin typeface="Quattrocento Sans"/>
                <a:ea typeface="Quattrocento Sans"/>
                <a:cs typeface="Quattrocento Sans"/>
                <a:sym typeface="Quattrocento Sans"/>
              </a:rPr>
              <a:t>Deploy Pathfinder Teams to train new units and conduct monthly mystery shopper audits (target ≥85/100).</a:t>
            </a:r>
            <a:endParaRPr sz="1100">
              <a:solidFill>
                <a:schemeClr val="dk1"/>
              </a:solidFill>
              <a:latin typeface="Quattrocento Sans"/>
              <a:ea typeface="Quattrocento Sans"/>
              <a:cs typeface="Quattrocento Sans"/>
              <a:sym typeface="Quattrocento Sans"/>
            </a:endParaRPr>
          </a:p>
        </p:txBody>
      </p:sp>
      <p:sp>
        <p:nvSpPr>
          <p:cNvPr id="594" name="Google Shape;594;p45"/>
          <p:cNvSpPr txBox="1"/>
          <p:nvPr/>
        </p:nvSpPr>
        <p:spPr>
          <a:xfrm>
            <a:off x="5357525" y="2061375"/>
            <a:ext cx="3483300" cy="977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1" lang="es" sz="1300">
                <a:solidFill>
                  <a:srgbClr val="C00000"/>
                </a:solidFill>
                <a:latin typeface="Quattrocento Sans"/>
                <a:ea typeface="Quattrocento Sans"/>
                <a:cs typeface="Quattrocento Sans"/>
                <a:sym typeface="Quattrocento Sans"/>
              </a:rPr>
              <a:t>Low Brand Awareness: Highway travelers may prefer familiar chains like Denny’s</a:t>
            </a:r>
            <a:endParaRPr sz="1300"/>
          </a:p>
          <a:p>
            <a:pPr indent="0" lvl="0" marL="0" marR="0" rtl="0" algn="l">
              <a:spcBef>
                <a:spcPts val="0"/>
              </a:spcBef>
              <a:spcAft>
                <a:spcPts val="0"/>
              </a:spcAft>
              <a:buNone/>
            </a:pPr>
            <a:r>
              <a:rPr lang="es" sz="1100">
                <a:solidFill>
                  <a:schemeClr val="dk1"/>
                </a:solidFill>
                <a:latin typeface="Quattrocento Sans"/>
                <a:ea typeface="Quattrocento Sans"/>
                <a:cs typeface="Quattrocento Sans"/>
                <a:sym typeface="Quattrocento Sans"/>
              </a:rPr>
              <a:t>Partner with gas stations (e.g., Shell) for co-branding and offer GPS-targeted discounts via Waze/Google Maps. </a:t>
            </a:r>
            <a:endParaRPr sz="1100">
              <a:solidFill>
                <a:schemeClr val="dk1"/>
              </a:solidFill>
            </a:endParaRPr>
          </a:p>
        </p:txBody>
      </p:sp>
      <p:sp>
        <p:nvSpPr>
          <p:cNvPr id="595" name="Google Shape;595;p45"/>
          <p:cNvSpPr txBox="1"/>
          <p:nvPr/>
        </p:nvSpPr>
        <p:spPr>
          <a:xfrm>
            <a:off x="5357525" y="3231300"/>
            <a:ext cx="3360600" cy="946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1" lang="es" sz="1200">
                <a:solidFill>
                  <a:srgbClr val="C00000"/>
                </a:solidFill>
                <a:latin typeface="Quattrocento Sans"/>
                <a:ea typeface="Quattrocento Sans"/>
                <a:cs typeface="Quattrocento Sans"/>
                <a:sym typeface="Quattrocento Sans"/>
              </a:rPr>
              <a:t>Labor Shortages: High turnover may worsen in rural highway locations</a:t>
            </a:r>
            <a:endParaRPr sz="1200"/>
          </a:p>
          <a:p>
            <a:pPr indent="0" lvl="0" marL="0" marR="0" rtl="0" algn="l">
              <a:spcBef>
                <a:spcPts val="0"/>
              </a:spcBef>
              <a:spcAft>
                <a:spcPts val="0"/>
              </a:spcAft>
              <a:buNone/>
            </a:pPr>
            <a:r>
              <a:rPr lang="es" sz="1100">
                <a:solidFill>
                  <a:schemeClr val="dk1"/>
                </a:solidFill>
                <a:latin typeface="Quattrocento Sans"/>
                <a:ea typeface="Quattrocento Sans"/>
                <a:cs typeface="Quattrocento Sans"/>
                <a:sym typeface="Quattrocento Sans"/>
              </a:rPr>
              <a:t>Implement attendance bonuses (1 extra PTO day/month) and cross-train staff for flexible coverage.</a:t>
            </a:r>
            <a:endParaRPr sz="1100">
              <a:solidFill>
                <a:schemeClr val="dk1"/>
              </a:solidFill>
            </a:endParaRPr>
          </a:p>
        </p:txBody>
      </p:sp>
      <p:sp>
        <p:nvSpPr>
          <p:cNvPr id="596" name="Google Shape;596;p45"/>
          <p:cNvSpPr txBox="1"/>
          <p:nvPr/>
        </p:nvSpPr>
        <p:spPr>
          <a:xfrm>
            <a:off x="198853" y="102394"/>
            <a:ext cx="33606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Risk, Mitigations, and Implementation Timeline </a:t>
            </a:r>
            <a:endParaRPr sz="1100"/>
          </a:p>
        </p:txBody>
      </p:sp>
      <p:sp>
        <p:nvSpPr>
          <p:cNvPr id="597" name="Google Shape;597;p45"/>
          <p:cNvSpPr txBox="1"/>
          <p:nvPr/>
        </p:nvSpPr>
        <p:spPr>
          <a:xfrm>
            <a:off x="185081" y="328687"/>
            <a:ext cx="7886700" cy="2841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1800"/>
              <a:buFont typeface="Quattrocento Sans"/>
              <a:buNone/>
            </a:pPr>
            <a:r>
              <a:rPr b="0" i="0" lang="es" sz="1800">
                <a:solidFill>
                  <a:schemeClr val="dk1"/>
                </a:solidFill>
                <a:latin typeface="Quattrocento Sans"/>
                <a:ea typeface="Quattrocento Sans"/>
                <a:cs typeface="Quattrocento Sans"/>
                <a:sym typeface="Quattrocento Sans"/>
              </a:rPr>
              <a:t>A Well-balanced Strategy to be Achieved by 20</a:t>
            </a:r>
            <a:r>
              <a:rPr lang="es" sz="1800">
                <a:solidFill>
                  <a:schemeClr val="dk1"/>
                </a:solidFill>
                <a:latin typeface="Quattrocento Sans"/>
                <a:ea typeface="Quattrocento Sans"/>
                <a:cs typeface="Quattrocento Sans"/>
                <a:sym typeface="Quattrocento Sans"/>
              </a:rPr>
              <a:t>16</a:t>
            </a:r>
            <a:endParaRPr sz="1800">
              <a:solidFill>
                <a:schemeClr val="dk1"/>
              </a:solidFill>
              <a:latin typeface="Quattrocento Sans"/>
              <a:ea typeface="Quattrocento Sans"/>
              <a:cs typeface="Quattrocento Sans"/>
              <a:sym typeface="Quattrocento Sans"/>
            </a:endParaRPr>
          </a:p>
        </p:txBody>
      </p:sp>
      <p:cxnSp>
        <p:nvCxnSpPr>
          <p:cNvPr id="598" name="Google Shape;598;p45"/>
          <p:cNvCxnSpPr/>
          <p:nvPr/>
        </p:nvCxnSpPr>
        <p:spPr>
          <a:xfrm>
            <a:off x="5644071" y="4790797"/>
            <a:ext cx="405000" cy="0"/>
          </a:xfrm>
          <a:prstGeom prst="straightConnector1">
            <a:avLst/>
          </a:prstGeom>
          <a:noFill/>
          <a:ln cap="flat" cmpd="sng" w="12700">
            <a:solidFill>
              <a:srgbClr val="008C65"/>
            </a:solidFill>
            <a:prstDash val="solid"/>
            <a:miter lim="800000"/>
            <a:headEnd len="sm" w="sm" type="none"/>
            <a:tailEnd len="sm" w="sm" type="none"/>
          </a:ln>
        </p:spPr>
      </p:cxnSp>
      <p:sp>
        <p:nvSpPr>
          <p:cNvPr id="599" name="Google Shape;599;p45"/>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cxnSp>
        <p:nvCxnSpPr>
          <p:cNvPr id="605" name="Google Shape;605;p46"/>
          <p:cNvCxnSpPr/>
          <p:nvPr/>
        </p:nvCxnSpPr>
        <p:spPr>
          <a:xfrm>
            <a:off x="245255" y="1022997"/>
            <a:ext cx="1692000" cy="0"/>
          </a:xfrm>
          <a:prstGeom prst="straightConnector1">
            <a:avLst/>
          </a:prstGeom>
          <a:noFill/>
          <a:ln cap="flat" cmpd="sng" w="12700">
            <a:solidFill>
              <a:srgbClr val="073763"/>
            </a:solidFill>
            <a:prstDash val="solid"/>
            <a:miter lim="800000"/>
            <a:headEnd len="sm" w="sm" type="none"/>
            <a:tailEnd len="sm" w="sm" type="none"/>
          </a:ln>
        </p:spPr>
      </p:cxnSp>
      <p:sp>
        <p:nvSpPr>
          <p:cNvPr id="606" name="Google Shape;606;p46"/>
          <p:cNvSpPr txBox="1"/>
          <p:nvPr/>
        </p:nvSpPr>
        <p:spPr>
          <a:xfrm>
            <a:off x="245255" y="826244"/>
            <a:ext cx="13317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1200">
                <a:solidFill>
                  <a:schemeClr val="dk1"/>
                </a:solidFill>
                <a:latin typeface="Quattrocento Sans"/>
                <a:ea typeface="Quattrocento Sans"/>
                <a:cs typeface="Quattrocento Sans"/>
                <a:sym typeface="Quattrocento Sans"/>
              </a:rPr>
              <a:t>Key Issues </a:t>
            </a:r>
            <a:endParaRPr sz="1200">
              <a:solidFill>
                <a:schemeClr val="dk1"/>
              </a:solidFill>
              <a:latin typeface="Quattrocento Sans"/>
              <a:ea typeface="Quattrocento Sans"/>
              <a:cs typeface="Quattrocento Sans"/>
              <a:sym typeface="Quattrocento Sans"/>
            </a:endParaRPr>
          </a:p>
        </p:txBody>
      </p:sp>
      <p:cxnSp>
        <p:nvCxnSpPr>
          <p:cNvPr id="607" name="Google Shape;607;p46"/>
          <p:cNvCxnSpPr/>
          <p:nvPr/>
        </p:nvCxnSpPr>
        <p:spPr>
          <a:xfrm>
            <a:off x="2427657" y="1022997"/>
            <a:ext cx="1785900" cy="0"/>
          </a:xfrm>
          <a:prstGeom prst="straightConnector1">
            <a:avLst/>
          </a:prstGeom>
          <a:noFill/>
          <a:ln cap="flat" cmpd="sng" w="9525">
            <a:solidFill>
              <a:srgbClr val="073763"/>
            </a:solidFill>
            <a:prstDash val="solid"/>
            <a:miter lim="800000"/>
            <a:headEnd len="sm" w="sm" type="none"/>
            <a:tailEnd len="sm" w="sm" type="none"/>
          </a:ln>
        </p:spPr>
      </p:cxnSp>
      <p:sp>
        <p:nvSpPr>
          <p:cNvPr id="608" name="Google Shape;608;p46"/>
          <p:cNvSpPr txBox="1"/>
          <p:nvPr/>
        </p:nvSpPr>
        <p:spPr>
          <a:xfrm>
            <a:off x="2521463" y="826244"/>
            <a:ext cx="13317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1200">
                <a:solidFill>
                  <a:schemeClr val="dk1"/>
                </a:solidFill>
                <a:latin typeface="Quattrocento Sans"/>
                <a:ea typeface="Quattrocento Sans"/>
                <a:cs typeface="Quattrocento Sans"/>
                <a:sym typeface="Quattrocento Sans"/>
              </a:rPr>
              <a:t>Mandate </a:t>
            </a:r>
            <a:endParaRPr sz="1200">
              <a:solidFill>
                <a:schemeClr val="dk1"/>
              </a:solidFill>
              <a:latin typeface="Quattrocento Sans"/>
              <a:ea typeface="Quattrocento Sans"/>
              <a:cs typeface="Quattrocento Sans"/>
              <a:sym typeface="Quattrocento Sans"/>
            </a:endParaRPr>
          </a:p>
        </p:txBody>
      </p:sp>
      <p:cxnSp>
        <p:nvCxnSpPr>
          <p:cNvPr id="609" name="Google Shape;609;p46"/>
          <p:cNvCxnSpPr/>
          <p:nvPr/>
        </p:nvCxnSpPr>
        <p:spPr>
          <a:xfrm>
            <a:off x="4664150" y="1035084"/>
            <a:ext cx="1867200" cy="0"/>
          </a:xfrm>
          <a:prstGeom prst="straightConnector1">
            <a:avLst/>
          </a:prstGeom>
          <a:noFill/>
          <a:ln cap="flat" cmpd="sng" w="12700">
            <a:solidFill>
              <a:srgbClr val="073763"/>
            </a:solidFill>
            <a:prstDash val="solid"/>
            <a:miter lim="800000"/>
            <a:headEnd len="sm" w="sm" type="none"/>
            <a:tailEnd len="sm" w="sm" type="none"/>
          </a:ln>
        </p:spPr>
      </p:cxnSp>
      <p:sp>
        <p:nvSpPr>
          <p:cNvPr id="610" name="Google Shape;610;p46"/>
          <p:cNvSpPr txBox="1"/>
          <p:nvPr/>
        </p:nvSpPr>
        <p:spPr>
          <a:xfrm>
            <a:off x="4755854" y="838331"/>
            <a:ext cx="13317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1200">
                <a:solidFill>
                  <a:schemeClr val="dk1"/>
                </a:solidFill>
                <a:latin typeface="Quattrocento Sans"/>
                <a:ea typeface="Quattrocento Sans"/>
                <a:cs typeface="Quattrocento Sans"/>
                <a:sym typeface="Quattrocento Sans"/>
              </a:rPr>
              <a:t>Alternatives  </a:t>
            </a:r>
            <a:endParaRPr sz="1200">
              <a:solidFill>
                <a:schemeClr val="dk1"/>
              </a:solidFill>
              <a:latin typeface="Quattrocento Sans"/>
              <a:ea typeface="Quattrocento Sans"/>
              <a:cs typeface="Quattrocento Sans"/>
              <a:sym typeface="Quattrocento Sans"/>
            </a:endParaRPr>
          </a:p>
        </p:txBody>
      </p:sp>
      <p:cxnSp>
        <p:nvCxnSpPr>
          <p:cNvPr id="611" name="Google Shape;611;p46"/>
          <p:cNvCxnSpPr/>
          <p:nvPr/>
        </p:nvCxnSpPr>
        <p:spPr>
          <a:xfrm>
            <a:off x="7073877" y="1035084"/>
            <a:ext cx="1692000" cy="0"/>
          </a:xfrm>
          <a:prstGeom prst="straightConnector1">
            <a:avLst/>
          </a:prstGeom>
          <a:noFill/>
          <a:ln cap="flat" cmpd="sng" w="12700">
            <a:solidFill>
              <a:srgbClr val="073763"/>
            </a:solidFill>
            <a:prstDash val="solid"/>
            <a:miter lim="800000"/>
            <a:headEnd len="sm" w="sm" type="none"/>
            <a:tailEnd len="sm" w="sm" type="none"/>
          </a:ln>
        </p:spPr>
      </p:cxnSp>
      <p:sp>
        <p:nvSpPr>
          <p:cNvPr id="612" name="Google Shape;612;p46"/>
          <p:cNvSpPr txBox="1"/>
          <p:nvPr/>
        </p:nvSpPr>
        <p:spPr>
          <a:xfrm>
            <a:off x="7149146" y="838331"/>
            <a:ext cx="13317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1200">
                <a:solidFill>
                  <a:schemeClr val="dk1"/>
                </a:solidFill>
                <a:latin typeface="Quattrocento Sans"/>
                <a:ea typeface="Quattrocento Sans"/>
                <a:cs typeface="Quattrocento Sans"/>
                <a:sym typeface="Quattrocento Sans"/>
              </a:rPr>
              <a:t>Impact </a:t>
            </a:r>
            <a:endParaRPr sz="1200">
              <a:solidFill>
                <a:schemeClr val="dk1"/>
              </a:solidFill>
              <a:latin typeface="Quattrocento Sans"/>
              <a:ea typeface="Quattrocento Sans"/>
              <a:cs typeface="Quattrocento Sans"/>
              <a:sym typeface="Quattrocento Sans"/>
            </a:endParaRPr>
          </a:p>
        </p:txBody>
      </p:sp>
      <p:grpSp>
        <p:nvGrpSpPr>
          <p:cNvPr id="613" name="Google Shape;613;p46"/>
          <p:cNvGrpSpPr/>
          <p:nvPr/>
        </p:nvGrpSpPr>
        <p:grpSpPr>
          <a:xfrm>
            <a:off x="2035856" y="1156827"/>
            <a:ext cx="312075" cy="3492000"/>
            <a:chOff x="2913568" y="1797269"/>
            <a:chExt cx="416100" cy="4656000"/>
          </a:xfrm>
        </p:grpSpPr>
        <p:cxnSp>
          <p:nvCxnSpPr>
            <p:cNvPr id="614" name="Google Shape;614;p46"/>
            <p:cNvCxnSpPr/>
            <p:nvPr/>
          </p:nvCxnSpPr>
          <p:spPr>
            <a:xfrm>
              <a:off x="3121573" y="1797269"/>
              <a:ext cx="0" cy="4656000"/>
            </a:xfrm>
            <a:prstGeom prst="straightConnector1">
              <a:avLst/>
            </a:prstGeom>
            <a:noFill/>
            <a:ln cap="flat" cmpd="sng" w="19050">
              <a:solidFill>
                <a:schemeClr val="lt2"/>
              </a:solidFill>
              <a:prstDash val="solid"/>
              <a:miter lim="800000"/>
              <a:headEnd len="sm" w="sm" type="none"/>
              <a:tailEnd len="sm" w="sm" type="none"/>
            </a:ln>
          </p:spPr>
        </p:cxnSp>
        <p:sp>
          <p:nvSpPr>
            <p:cNvPr id="615" name="Google Shape;615;p46"/>
            <p:cNvSpPr/>
            <p:nvPr/>
          </p:nvSpPr>
          <p:spPr>
            <a:xfrm>
              <a:off x="2913568" y="3917306"/>
              <a:ext cx="416100" cy="416100"/>
            </a:xfrm>
            <a:prstGeom prst="ellipse">
              <a:avLst/>
            </a:prstGeom>
            <a:solidFill>
              <a:srgbClr val="07376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400">
                  <a:solidFill>
                    <a:schemeClr val="lt1"/>
                  </a:solidFill>
                  <a:latin typeface="Arial"/>
                  <a:ea typeface="Arial"/>
                  <a:cs typeface="Arial"/>
                  <a:sym typeface="Arial"/>
                </a:rPr>
                <a:t>&gt;</a:t>
              </a:r>
              <a:endParaRPr sz="1100"/>
            </a:p>
          </p:txBody>
        </p:sp>
      </p:grpSp>
      <p:grpSp>
        <p:nvGrpSpPr>
          <p:cNvPr id="616" name="Google Shape;616;p46"/>
          <p:cNvGrpSpPr/>
          <p:nvPr/>
        </p:nvGrpSpPr>
        <p:grpSpPr>
          <a:xfrm>
            <a:off x="4310327" y="1156827"/>
            <a:ext cx="312075" cy="3492000"/>
            <a:chOff x="5979960" y="1797269"/>
            <a:chExt cx="416100" cy="4656000"/>
          </a:xfrm>
        </p:grpSpPr>
        <p:cxnSp>
          <p:nvCxnSpPr>
            <p:cNvPr id="617" name="Google Shape;617;p46"/>
            <p:cNvCxnSpPr/>
            <p:nvPr/>
          </p:nvCxnSpPr>
          <p:spPr>
            <a:xfrm>
              <a:off x="6187966" y="1797269"/>
              <a:ext cx="0" cy="4656000"/>
            </a:xfrm>
            <a:prstGeom prst="straightConnector1">
              <a:avLst/>
            </a:prstGeom>
            <a:noFill/>
            <a:ln cap="flat" cmpd="sng" w="19050">
              <a:solidFill>
                <a:schemeClr val="lt2"/>
              </a:solidFill>
              <a:prstDash val="solid"/>
              <a:miter lim="800000"/>
              <a:headEnd len="sm" w="sm" type="none"/>
              <a:tailEnd len="sm" w="sm" type="none"/>
            </a:ln>
          </p:spPr>
        </p:cxnSp>
        <p:sp>
          <p:nvSpPr>
            <p:cNvPr id="618" name="Google Shape;618;p46"/>
            <p:cNvSpPr/>
            <p:nvPr/>
          </p:nvSpPr>
          <p:spPr>
            <a:xfrm>
              <a:off x="5979960" y="3917306"/>
              <a:ext cx="416100" cy="416100"/>
            </a:xfrm>
            <a:prstGeom prst="ellipse">
              <a:avLst/>
            </a:prstGeom>
            <a:solidFill>
              <a:srgbClr val="07376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400">
                  <a:solidFill>
                    <a:schemeClr val="lt1"/>
                  </a:solidFill>
                  <a:latin typeface="Arial"/>
                  <a:ea typeface="Arial"/>
                  <a:cs typeface="Arial"/>
                  <a:sym typeface="Arial"/>
                </a:rPr>
                <a:t>&gt;</a:t>
              </a:r>
              <a:endParaRPr sz="1100"/>
            </a:p>
          </p:txBody>
        </p:sp>
      </p:grpSp>
      <p:grpSp>
        <p:nvGrpSpPr>
          <p:cNvPr id="619" name="Google Shape;619;p46"/>
          <p:cNvGrpSpPr/>
          <p:nvPr/>
        </p:nvGrpSpPr>
        <p:grpSpPr>
          <a:xfrm>
            <a:off x="6584798" y="1156827"/>
            <a:ext cx="312075" cy="3492000"/>
            <a:chOff x="9046352" y="1797269"/>
            <a:chExt cx="416100" cy="4656000"/>
          </a:xfrm>
        </p:grpSpPr>
        <p:cxnSp>
          <p:nvCxnSpPr>
            <p:cNvPr id="620" name="Google Shape;620;p46"/>
            <p:cNvCxnSpPr/>
            <p:nvPr/>
          </p:nvCxnSpPr>
          <p:spPr>
            <a:xfrm>
              <a:off x="9254359" y="1797269"/>
              <a:ext cx="0" cy="4656000"/>
            </a:xfrm>
            <a:prstGeom prst="straightConnector1">
              <a:avLst/>
            </a:prstGeom>
            <a:noFill/>
            <a:ln cap="flat" cmpd="sng" w="19050">
              <a:solidFill>
                <a:schemeClr val="lt2"/>
              </a:solidFill>
              <a:prstDash val="solid"/>
              <a:miter lim="800000"/>
              <a:headEnd len="sm" w="sm" type="none"/>
              <a:tailEnd len="sm" w="sm" type="none"/>
            </a:ln>
          </p:spPr>
        </p:cxnSp>
        <p:sp>
          <p:nvSpPr>
            <p:cNvPr id="621" name="Google Shape;621;p46"/>
            <p:cNvSpPr/>
            <p:nvPr/>
          </p:nvSpPr>
          <p:spPr>
            <a:xfrm>
              <a:off x="9046352" y="3917306"/>
              <a:ext cx="416100" cy="416100"/>
            </a:xfrm>
            <a:prstGeom prst="ellipse">
              <a:avLst/>
            </a:prstGeom>
            <a:solidFill>
              <a:srgbClr val="07376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400">
                  <a:solidFill>
                    <a:schemeClr val="lt1"/>
                  </a:solidFill>
                  <a:latin typeface="Arial"/>
                  <a:ea typeface="Arial"/>
                  <a:cs typeface="Arial"/>
                  <a:sym typeface="Arial"/>
                </a:rPr>
                <a:t>&gt;</a:t>
              </a:r>
              <a:endParaRPr sz="1100"/>
            </a:p>
          </p:txBody>
        </p:sp>
      </p:grpSp>
      <p:sp>
        <p:nvSpPr>
          <p:cNvPr id="622" name="Google Shape;622;p46"/>
          <p:cNvSpPr txBox="1"/>
          <p:nvPr/>
        </p:nvSpPr>
        <p:spPr>
          <a:xfrm>
            <a:off x="198849" y="102400"/>
            <a:ext cx="2149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Executive Summary</a:t>
            </a:r>
            <a:endParaRPr sz="1100"/>
          </a:p>
        </p:txBody>
      </p:sp>
      <p:sp>
        <p:nvSpPr>
          <p:cNvPr id="623" name="Google Shape;623;p46"/>
          <p:cNvSpPr txBox="1"/>
          <p:nvPr>
            <p:ph idx="4294967295" type="title"/>
          </p:nvPr>
        </p:nvSpPr>
        <p:spPr>
          <a:xfrm>
            <a:off x="198852" y="345522"/>
            <a:ext cx="80892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500"/>
              <a:buFont typeface="Play"/>
              <a:buNone/>
            </a:pPr>
            <a:r>
              <a:rPr lang="es" sz="1500"/>
              <a:t>Full Flavor, Half the Time: Scaling Porcini's Pronto for Maximum Returns</a:t>
            </a:r>
            <a:endParaRPr sz="1500">
              <a:latin typeface="Quattrocento Sans"/>
              <a:ea typeface="Quattrocento Sans"/>
              <a:cs typeface="Quattrocento Sans"/>
              <a:sym typeface="Quattrocento Sans"/>
            </a:endParaRPr>
          </a:p>
        </p:txBody>
      </p:sp>
      <p:sp>
        <p:nvSpPr>
          <p:cNvPr id="624" name="Google Shape;624;p46"/>
          <p:cNvSpPr/>
          <p:nvPr/>
        </p:nvSpPr>
        <p:spPr>
          <a:xfrm flipH="1">
            <a:off x="2410943" y="1150370"/>
            <a:ext cx="1895400" cy="3529800"/>
          </a:xfrm>
          <a:prstGeom prst="rect">
            <a:avLst/>
          </a:prstGeom>
          <a:solidFill>
            <a:srgbClr val="F2F2F2">
              <a:alpha val="7137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00000"/>
              </a:buClr>
              <a:buFont typeface="Arial"/>
              <a:buNone/>
            </a:pPr>
            <a:r>
              <a:t/>
            </a:r>
            <a:endParaRPr sz="1200">
              <a:solidFill>
                <a:schemeClr val="dk1"/>
              </a:solidFill>
              <a:latin typeface="Quattrocento Sans"/>
              <a:ea typeface="Quattrocento Sans"/>
              <a:cs typeface="Quattrocento Sans"/>
              <a:sym typeface="Quattrocento Sans"/>
            </a:endParaRPr>
          </a:p>
          <a:p>
            <a:pPr indent="0" lvl="0" marL="0" marR="0" rtl="0" algn="ctr">
              <a:spcBef>
                <a:spcPts val="0"/>
              </a:spcBef>
              <a:spcAft>
                <a:spcPts val="0"/>
              </a:spcAft>
              <a:buClr>
                <a:srgbClr val="000000"/>
              </a:buClr>
              <a:buFont typeface="Arial"/>
              <a:buNone/>
            </a:pPr>
            <a:r>
              <a:t/>
            </a:r>
            <a:endParaRPr sz="1200">
              <a:solidFill>
                <a:schemeClr val="dk1"/>
              </a:solidFill>
              <a:latin typeface="Quattrocento Sans"/>
              <a:ea typeface="Quattrocento Sans"/>
              <a:cs typeface="Quattrocento Sans"/>
              <a:sym typeface="Quattrocento Sans"/>
            </a:endParaRPr>
          </a:p>
          <a:p>
            <a:pPr indent="0" lvl="0" marL="0" marR="0" rtl="0" algn="ctr">
              <a:spcBef>
                <a:spcPts val="0"/>
              </a:spcBef>
              <a:spcAft>
                <a:spcPts val="0"/>
              </a:spcAft>
              <a:buClr>
                <a:srgbClr val="000000"/>
              </a:buClr>
              <a:buFont typeface="Arial"/>
              <a:buNone/>
            </a:pPr>
            <a:r>
              <a:t/>
            </a:r>
            <a:endParaRPr sz="1200">
              <a:solidFill>
                <a:schemeClr val="dk1"/>
              </a:solidFill>
              <a:latin typeface="Quattrocento Sans"/>
              <a:ea typeface="Quattrocento Sans"/>
              <a:cs typeface="Quattrocento Sans"/>
              <a:sym typeface="Quattrocento Sans"/>
            </a:endParaRPr>
          </a:p>
          <a:p>
            <a:pPr indent="0" lvl="0" marL="0" marR="0" rtl="0" algn="ctr">
              <a:spcBef>
                <a:spcPts val="0"/>
              </a:spcBef>
              <a:spcAft>
                <a:spcPts val="0"/>
              </a:spcAft>
              <a:buClr>
                <a:srgbClr val="000000"/>
              </a:buClr>
              <a:buFont typeface="Arial"/>
              <a:buNone/>
            </a:pPr>
            <a:r>
              <a:t/>
            </a:r>
            <a:endParaRPr sz="1200">
              <a:solidFill>
                <a:schemeClr val="dk1"/>
              </a:solidFill>
              <a:latin typeface="Quattrocento Sans"/>
              <a:ea typeface="Quattrocento Sans"/>
              <a:cs typeface="Quattrocento Sans"/>
              <a:sym typeface="Quattrocento Sans"/>
            </a:endParaRPr>
          </a:p>
          <a:p>
            <a:pPr indent="0" lvl="0" marL="0" marR="0" rtl="0" algn="ctr">
              <a:spcBef>
                <a:spcPts val="0"/>
              </a:spcBef>
              <a:spcAft>
                <a:spcPts val="0"/>
              </a:spcAft>
              <a:buClr>
                <a:srgbClr val="000000"/>
              </a:buClr>
              <a:buFont typeface="Arial"/>
              <a:buNone/>
            </a:pPr>
            <a:r>
              <a:t/>
            </a:r>
            <a:endParaRPr sz="1200">
              <a:solidFill>
                <a:schemeClr val="dk1"/>
              </a:solidFill>
              <a:latin typeface="Quattrocento Sans"/>
              <a:ea typeface="Quattrocento Sans"/>
              <a:cs typeface="Quattrocento Sans"/>
              <a:sym typeface="Quattrocento Sans"/>
            </a:endParaRPr>
          </a:p>
          <a:p>
            <a:pPr indent="0" lvl="0" marL="0" marR="0" rtl="0" algn="ctr">
              <a:spcBef>
                <a:spcPts val="0"/>
              </a:spcBef>
              <a:spcAft>
                <a:spcPts val="0"/>
              </a:spcAft>
              <a:buClr>
                <a:srgbClr val="000000"/>
              </a:buClr>
              <a:buFont typeface="Arial"/>
              <a:buNone/>
            </a:pPr>
            <a:r>
              <a:t/>
            </a:r>
            <a:endParaRPr sz="1200">
              <a:solidFill>
                <a:schemeClr val="dk1"/>
              </a:solidFill>
              <a:latin typeface="Quattrocento Sans"/>
              <a:ea typeface="Quattrocento Sans"/>
              <a:cs typeface="Quattrocento Sans"/>
              <a:sym typeface="Quattrocento Sans"/>
            </a:endParaRPr>
          </a:p>
          <a:p>
            <a:pPr indent="0" lvl="0" marL="0" marR="0" rtl="0" algn="ctr">
              <a:spcBef>
                <a:spcPts val="0"/>
              </a:spcBef>
              <a:spcAft>
                <a:spcPts val="0"/>
              </a:spcAft>
              <a:buClr>
                <a:srgbClr val="000000"/>
              </a:buClr>
              <a:buFont typeface="Arial"/>
              <a:buNone/>
            </a:pPr>
            <a:r>
              <a:t/>
            </a:r>
            <a:endParaRPr sz="1200">
              <a:solidFill>
                <a:schemeClr val="dk1"/>
              </a:solidFill>
              <a:latin typeface="Quattrocento Sans"/>
              <a:ea typeface="Quattrocento Sans"/>
              <a:cs typeface="Quattrocento Sans"/>
              <a:sym typeface="Quattrocento Sans"/>
            </a:endParaRPr>
          </a:p>
          <a:p>
            <a:pPr indent="0" lvl="0" marL="0" marR="0" rtl="0" algn="ctr">
              <a:spcBef>
                <a:spcPts val="0"/>
              </a:spcBef>
              <a:spcAft>
                <a:spcPts val="0"/>
              </a:spcAft>
              <a:buClr>
                <a:srgbClr val="000000"/>
              </a:buClr>
              <a:buFont typeface="Arial"/>
              <a:buNone/>
            </a:pPr>
            <a:r>
              <a:rPr lang="es" sz="1200">
                <a:solidFill>
                  <a:schemeClr val="dk1"/>
                </a:solidFill>
                <a:latin typeface="Quattrocento Sans"/>
                <a:ea typeface="Quattrocento Sans"/>
                <a:cs typeface="Quattrocento Sans"/>
                <a:sym typeface="Quattrocento Sans"/>
              </a:rPr>
              <a:t>How can Porcini drive </a:t>
            </a:r>
            <a:r>
              <a:rPr b="1" lang="es" sz="1200">
                <a:solidFill>
                  <a:schemeClr val="dk1"/>
                </a:solidFill>
                <a:latin typeface="Quattrocento Sans"/>
                <a:ea typeface="Quattrocento Sans"/>
                <a:cs typeface="Quattrocento Sans"/>
                <a:sym typeface="Quattrocento Sans"/>
              </a:rPr>
              <a:t>domestic growth</a:t>
            </a:r>
            <a:r>
              <a:rPr lang="es" sz="1200">
                <a:solidFill>
                  <a:schemeClr val="dk1"/>
                </a:solidFill>
                <a:latin typeface="Quattrocento Sans"/>
                <a:ea typeface="Quattrocento Sans"/>
                <a:cs typeface="Quattrocento Sans"/>
                <a:sym typeface="Quattrocento Sans"/>
              </a:rPr>
              <a:t> by launching </a:t>
            </a:r>
            <a:r>
              <a:rPr b="1" lang="es" sz="1200">
                <a:solidFill>
                  <a:schemeClr val="dk1"/>
                </a:solidFill>
                <a:latin typeface="Quattrocento Sans"/>
                <a:ea typeface="Quattrocento Sans"/>
                <a:cs typeface="Quattrocento Sans"/>
                <a:sym typeface="Quattrocento Sans"/>
              </a:rPr>
              <a:t>Pronto</a:t>
            </a:r>
            <a:r>
              <a:rPr lang="es" sz="1200">
                <a:solidFill>
                  <a:schemeClr val="dk1"/>
                </a:solidFill>
                <a:latin typeface="Quattrocento Sans"/>
                <a:ea typeface="Quattrocento Sans"/>
                <a:cs typeface="Quattrocento Sans"/>
                <a:sym typeface="Quattrocento Sans"/>
              </a:rPr>
              <a:t>, focusing on </a:t>
            </a:r>
            <a:r>
              <a:rPr b="1" lang="es" sz="1200">
                <a:solidFill>
                  <a:schemeClr val="dk1"/>
                </a:solidFill>
                <a:latin typeface="Quattrocento Sans"/>
                <a:ea typeface="Quattrocento Sans"/>
                <a:cs typeface="Quattrocento Sans"/>
                <a:sym typeface="Quattrocento Sans"/>
              </a:rPr>
              <a:t>quick &amp; efficient</a:t>
            </a:r>
            <a:r>
              <a:rPr lang="es" sz="1200">
                <a:solidFill>
                  <a:schemeClr val="dk1"/>
                </a:solidFill>
                <a:latin typeface="Quattrocento Sans"/>
                <a:ea typeface="Quattrocento Sans"/>
                <a:cs typeface="Quattrocento Sans"/>
                <a:sym typeface="Quattrocento Sans"/>
              </a:rPr>
              <a:t>, high </a:t>
            </a:r>
            <a:r>
              <a:rPr b="1" lang="es" sz="1200">
                <a:solidFill>
                  <a:schemeClr val="dk1"/>
                </a:solidFill>
                <a:latin typeface="Quattrocento Sans"/>
                <a:ea typeface="Quattrocento Sans"/>
                <a:cs typeface="Quattrocento Sans"/>
                <a:sym typeface="Quattrocento Sans"/>
              </a:rPr>
              <a:t>quality</a:t>
            </a:r>
            <a:r>
              <a:rPr lang="es" sz="1200">
                <a:solidFill>
                  <a:schemeClr val="dk1"/>
                </a:solidFill>
                <a:latin typeface="Quattrocento Sans"/>
                <a:ea typeface="Quattrocento Sans"/>
                <a:cs typeface="Quattrocento Sans"/>
                <a:sym typeface="Quattrocento Sans"/>
              </a:rPr>
              <a:t> food to travelers while achieving </a:t>
            </a:r>
            <a:r>
              <a:rPr b="1" lang="es" sz="1200">
                <a:solidFill>
                  <a:schemeClr val="dk1"/>
                </a:solidFill>
                <a:latin typeface="Quattrocento Sans"/>
                <a:ea typeface="Quattrocento Sans"/>
                <a:cs typeface="Quattrocento Sans"/>
                <a:sym typeface="Quattrocento Sans"/>
              </a:rPr>
              <a:t>profitable returns</a:t>
            </a:r>
            <a:r>
              <a:rPr lang="es" sz="1200">
                <a:solidFill>
                  <a:schemeClr val="dk1"/>
                </a:solidFill>
                <a:latin typeface="Quattrocento Sans"/>
                <a:ea typeface="Quattrocento Sans"/>
                <a:cs typeface="Quattrocento Sans"/>
                <a:sym typeface="Quattrocento Sans"/>
              </a:rPr>
              <a:t>?</a:t>
            </a:r>
            <a:endParaRPr sz="1200">
              <a:solidFill>
                <a:schemeClr val="dk1"/>
              </a:solidFill>
              <a:latin typeface="Quattrocento Sans"/>
              <a:ea typeface="Quattrocento Sans"/>
              <a:cs typeface="Quattrocento Sans"/>
              <a:sym typeface="Quattrocento Sans"/>
            </a:endParaRPr>
          </a:p>
        </p:txBody>
      </p:sp>
      <p:sp>
        <p:nvSpPr>
          <p:cNvPr id="625" name="Google Shape;625;p46"/>
          <p:cNvSpPr txBox="1"/>
          <p:nvPr/>
        </p:nvSpPr>
        <p:spPr>
          <a:xfrm>
            <a:off x="2433385" y="1124176"/>
            <a:ext cx="807600" cy="1116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6800">
                <a:solidFill>
                  <a:srgbClr val="073763"/>
                </a:solidFill>
                <a:latin typeface="Quattrocento Sans"/>
                <a:ea typeface="Quattrocento Sans"/>
                <a:cs typeface="Quattrocento Sans"/>
                <a:sym typeface="Quattrocento Sans"/>
              </a:rPr>
              <a:t>”</a:t>
            </a:r>
            <a:endParaRPr sz="6800">
              <a:solidFill>
                <a:srgbClr val="073763"/>
              </a:solidFill>
              <a:latin typeface="Quattrocento Sans"/>
              <a:ea typeface="Quattrocento Sans"/>
              <a:cs typeface="Quattrocento Sans"/>
              <a:sym typeface="Quattrocento Sans"/>
            </a:endParaRPr>
          </a:p>
        </p:txBody>
      </p:sp>
      <p:sp>
        <p:nvSpPr>
          <p:cNvPr id="626" name="Google Shape;626;p46"/>
          <p:cNvSpPr txBox="1"/>
          <p:nvPr/>
        </p:nvSpPr>
        <p:spPr>
          <a:xfrm>
            <a:off x="3848920" y="4101349"/>
            <a:ext cx="617400" cy="1116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6800">
                <a:solidFill>
                  <a:srgbClr val="073763"/>
                </a:solidFill>
                <a:latin typeface="Quattrocento Sans"/>
                <a:ea typeface="Quattrocento Sans"/>
                <a:cs typeface="Quattrocento Sans"/>
                <a:sym typeface="Quattrocento Sans"/>
              </a:rPr>
              <a:t>“</a:t>
            </a:r>
            <a:endParaRPr sz="6800">
              <a:solidFill>
                <a:srgbClr val="073763"/>
              </a:solidFill>
              <a:latin typeface="Quattrocento Sans"/>
              <a:ea typeface="Quattrocento Sans"/>
              <a:cs typeface="Quattrocento Sans"/>
              <a:sym typeface="Quattrocento Sans"/>
            </a:endParaRPr>
          </a:p>
        </p:txBody>
      </p:sp>
      <p:sp>
        <p:nvSpPr>
          <p:cNvPr id="627" name="Google Shape;627;p46"/>
          <p:cNvSpPr/>
          <p:nvPr/>
        </p:nvSpPr>
        <p:spPr>
          <a:xfrm>
            <a:off x="330620" y="1446357"/>
            <a:ext cx="1606800" cy="8712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28" name="Google Shape;628;p46"/>
          <p:cNvSpPr txBox="1"/>
          <p:nvPr/>
        </p:nvSpPr>
        <p:spPr>
          <a:xfrm>
            <a:off x="136256" y="1267904"/>
            <a:ext cx="8076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s" sz="2700">
                <a:solidFill>
                  <a:srgbClr val="073763"/>
                </a:solidFill>
                <a:latin typeface="Quattrocento Sans"/>
                <a:ea typeface="Quattrocento Sans"/>
                <a:cs typeface="Quattrocento Sans"/>
                <a:sym typeface="Quattrocento Sans"/>
              </a:rPr>
              <a:t>1.</a:t>
            </a:r>
            <a:endParaRPr b="1" sz="2700">
              <a:solidFill>
                <a:srgbClr val="073763"/>
              </a:solidFill>
              <a:latin typeface="Quattrocento Sans"/>
              <a:ea typeface="Quattrocento Sans"/>
              <a:cs typeface="Quattrocento Sans"/>
              <a:sym typeface="Quattrocento Sans"/>
            </a:endParaRPr>
          </a:p>
        </p:txBody>
      </p:sp>
      <p:sp>
        <p:nvSpPr>
          <p:cNvPr id="629" name="Google Shape;629;p46"/>
          <p:cNvSpPr/>
          <p:nvPr/>
        </p:nvSpPr>
        <p:spPr>
          <a:xfrm>
            <a:off x="330620" y="2483057"/>
            <a:ext cx="1606800" cy="8712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30" name="Google Shape;630;p46"/>
          <p:cNvSpPr txBox="1"/>
          <p:nvPr/>
        </p:nvSpPr>
        <p:spPr>
          <a:xfrm>
            <a:off x="589677" y="2528825"/>
            <a:ext cx="1204500" cy="74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1100">
                <a:solidFill>
                  <a:schemeClr val="dk1"/>
                </a:solidFill>
                <a:latin typeface="Quattrocento Sans"/>
                <a:ea typeface="Quattrocento Sans"/>
                <a:cs typeface="Quattrocento Sans"/>
                <a:sym typeface="Quattrocento Sans"/>
              </a:rPr>
              <a:t>Comparing &amp; Contrasting the best expansion model</a:t>
            </a:r>
            <a:endParaRPr sz="1100">
              <a:solidFill>
                <a:schemeClr val="dk1"/>
              </a:solidFill>
              <a:latin typeface="Quattrocento Sans"/>
              <a:ea typeface="Quattrocento Sans"/>
              <a:cs typeface="Quattrocento Sans"/>
              <a:sym typeface="Quattrocento Sans"/>
            </a:endParaRPr>
          </a:p>
        </p:txBody>
      </p:sp>
      <p:sp>
        <p:nvSpPr>
          <p:cNvPr id="631" name="Google Shape;631;p46"/>
          <p:cNvSpPr txBox="1"/>
          <p:nvPr/>
        </p:nvSpPr>
        <p:spPr>
          <a:xfrm>
            <a:off x="136256" y="2313285"/>
            <a:ext cx="8076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s" sz="2700">
                <a:solidFill>
                  <a:srgbClr val="073763"/>
                </a:solidFill>
                <a:latin typeface="Quattrocento Sans"/>
                <a:ea typeface="Quattrocento Sans"/>
                <a:cs typeface="Quattrocento Sans"/>
                <a:sym typeface="Quattrocento Sans"/>
              </a:rPr>
              <a:t>2.</a:t>
            </a:r>
            <a:endParaRPr b="1" sz="2700">
              <a:solidFill>
                <a:srgbClr val="073763"/>
              </a:solidFill>
              <a:latin typeface="Quattrocento Sans"/>
              <a:ea typeface="Quattrocento Sans"/>
              <a:cs typeface="Quattrocento Sans"/>
              <a:sym typeface="Quattrocento Sans"/>
            </a:endParaRPr>
          </a:p>
        </p:txBody>
      </p:sp>
      <p:sp>
        <p:nvSpPr>
          <p:cNvPr id="632" name="Google Shape;632;p46"/>
          <p:cNvSpPr txBox="1"/>
          <p:nvPr/>
        </p:nvSpPr>
        <p:spPr>
          <a:xfrm>
            <a:off x="612201" y="1541625"/>
            <a:ext cx="1182000" cy="6234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None/>
            </a:pPr>
            <a:r>
              <a:rPr lang="es" sz="1200">
                <a:solidFill>
                  <a:schemeClr val="dk1"/>
                </a:solidFill>
                <a:latin typeface="Quattrocento Sans"/>
                <a:ea typeface="Quattrocento Sans"/>
                <a:cs typeface="Quattrocento Sans"/>
                <a:sym typeface="Quattrocento Sans"/>
              </a:rPr>
              <a:t>Maintaining food &amp; service quality</a:t>
            </a:r>
            <a:endParaRPr sz="1200">
              <a:solidFill>
                <a:srgbClr val="C00000"/>
              </a:solidFill>
              <a:latin typeface="Quattrocento Sans"/>
              <a:ea typeface="Quattrocento Sans"/>
              <a:cs typeface="Quattrocento Sans"/>
              <a:sym typeface="Quattrocento Sans"/>
            </a:endParaRPr>
          </a:p>
        </p:txBody>
      </p:sp>
      <p:sp>
        <p:nvSpPr>
          <p:cNvPr id="633" name="Google Shape;633;p46"/>
          <p:cNvSpPr/>
          <p:nvPr/>
        </p:nvSpPr>
        <p:spPr>
          <a:xfrm>
            <a:off x="344144" y="3580412"/>
            <a:ext cx="1593300" cy="8712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34" name="Google Shape;634;p46"/>
          <p:cNvSpPr txBox="1"/>
          <p:nvPr/>
        </p:nvSpPr>
        <p:spPr>
          <a:xfrm>
            <a:off x="596730" y="3707299"/>
            <a:ext cx="13761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1100">
                <a:solidFill>
                  <a:schemeClr val="dk1"/>
                </a:solidFill>
                <a:latin typeface="Quattrocento Sans"/>
                <a:ea typeface="Quattrocento Sans"/>
                <a:cs typeface="Quattrocento Sans"/>
                <a:sym typeface="Quattrocento Sans"/>
              </a:rPr>
              <a:t>Standing out with Porcini’s Competitive Edge </a:t>
            </a:r>
            <a:endParaRPr sz="1100">
              <a:solidFill>
                <a:schemeClr val="dk1"/>
              </a:solidFill>
              <a:latin typeface="Quattrocento Sans"/>
              <a:ea typeface="Quattrocento Sans"/>
              <a:cs typeface="Quattrocento Sans"/>
              <a:sym typeface="Quattrocento Sans"/>
            </a:endParaRPr>
          </a:p>
        </p:txBody>
      </p:sp>
      <p:sp>
        <p:nvSpPr>
          <p:cNvPr id="635" name="Google Shape;635;p46"/>
          <p:cNvSpPr txBox="1"/>
          <p:nvPr/>
        </p:nvSpPr>
        <p:spPr>
          <a:xfrm>
            <a:off x="149780" y="3410640"/>
            <a:ext cx="8076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s" sz="2700">
                <a:solidFill>
                  <a:srgbClr val="073763"/>
                </a:solidFill>
                <a:latin typeface="Quattrocento Sans"/>
                <a:ea typeface="Quattrocento Sans"/>
                <a:cs typeface="Quattrocento Sans"/>
                <a:sym typeface="Quattrocento Sans"/>
              </a:rPr>
              <a:t>3.</a:t>
            </a:r>
            <a:endParaRPr b="1" sz="2700">
              <a:solidFill>
                <a:srgbClr val="073763"/>
              </a:solidFill>
              <a:latin typeface="Quattrocento Sans"/>
              <a:ea typeface="Quattrocento Sans"/>
              <a:cs typeface="Quattrocento Sans"/>
              <a:sym typeface="Quattrocento Sans"/>
            </a:endParaRPr>
          </a:p>
        </p:txBody>
      </p:sp>
      <p:sp>
        <p:nvSpPr>
          <p:cNvPr id="636" name="Google Shape;636;p46"/>
          <p:cNvSpPr/>
          <p:nvPr/>
        </p:nvSpPr>
        <p:spPr>
          <a:xfrm>
            <a:off x="6985340" y="1325075"/>
            <a:ext cx="1869000" cy="934200"/>
          </a:xfrm>
          <a:prstGeom prst="rect">
            <a:avLst/>
          </a:prstGeom>
          <a:solidFill>
            <a:schemeClr val="lt2"/>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b="1" lang="es">
                <a:solidFill>
                  <a:schemeClr val="dk1"/>
                </a:solidFill>
                <a:latin typeface="Quattrocento Sans"/>
                <a:ea typeface="Quattrocento Sans"/>
                <a:cs typeface="Quattrocento Sans"/>
                <a:sym typeface="Quattrocento Sans"/>
              </a:rPr>
              <a:t>109M+ </a:t>
            </a:r>
            <a:r>
              <a:rPr lang="es">
                <a:solidFill>
                  <a:schemeClr val="dk1"/>
                </a:solidFill>
                <a:latin typeface="Quattrocento Sans"/>
                <a:ea typeface="Quattrocento Sans"/>
                <a:cs typeface="Quattrocento Sans"/>
                <a:sym typeface="Quattrocento Sans"/>
              </a:rPr>
              <a:t>in Total Revenue by 2016</a:t>
            </a:r>
            <a:endParaRPr b="1">
              <a:solidFill>
                <a:schemeClr val="dk1"/>
              </a:solidFill>
              <a:latin typeface="Quattrocento Sans"/>
              <a:ea typeface="Quattrocento Sans"/>
              <a:cs typeface="Quattrocento Sans"/>
              <a:sym typeface="Quattrocento Sans"/>
            </a:endParaRPr>
          </a:p>
        </p:txBody>
      </p:sp>
      <p:sp>
        <p:nvSpPr>
          <p:cNvPr id="637" name="Google Shape;637;p46"/>
          <p:cNvSpPr/>
          <p:nvPr/>
        </p:nvSpPr>
        <p:spPr>
          <a:xfrm>
            <a:off x="6985340" y="2527259"/>
            <a:ext cx="1869000" cy="934200"/>
          </a:xfrm>
          <a:prstGeom prst="rect">
            <a:avLst/>
          </a:prstGeom>
          <a:solidFill>
            <a:srgbClr val="A7BDB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s" sz="1400">
                <a:solidFill>
                  <a:schemeClr val="lt1"/>
                </a:solidFill>
                <a:latin typeface="Quattrocento Sans"/>
                <a:ea typeface="Quattrocento Sans"/>
                <a:cs typeface="Quattrocento Sans"/>
                <a:sym typeface="Quattrocento Sans"/>
              </a:rPr>
              <a:t>1 Million DKK </a:t>
            </a:r>
            <a:r>
              <a:rPr lang="es" sz="1400">
                <a:solidFill>
                  <a:schemeClr val="lt1"/>
                </a:solidFill>
                <a:latin typeface="Quattrocento Sans"/>
                <a:ea typeface="Quattrocento Sans"/>
                <a:cs typeface="Quattrocento Sans"/>
                <a:sym typeface="Quattrocento Sans"/>
              </a:rPr>
              <a:t>in Profits by 2027</a:t>
            </a:r>
            <a:endParaRPr sz="1100"/>
          </a:p>
        </p:txBody>
      </p:sp>
      <p:sp>
        <p:nvSpPr>
          <p:cNvPr id="638" name="Google Shape;638;p46"/>
          <p:cNvSpPr/>
          <p:nvPr/>
        </p:nvSpPr>
        <p:spPr>
          <a:xfrm>
            <a:off x="6985340" y="3707299"/>
            <a:ext cx="1869000" cy="9342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s">
                <a:solidFill>
                  <a:schemeClr val="dk1"/>
                </a:solidFill>
                <a:latin typeface="Quattrocento Sans"/>
                <a:ea typeface="Quattrocento Sans"/>
                <a:cs typeface="Quattrocento Sans"/>
                <a:sym typeface="Quattrocento Sans"/>
              </a:rPr>
              <a:t>4.95% Gross Profit Margin </a:t>
            </a:r>
            <a:r>
              <a:rPr lang="es">
                <a:solidFill>
                  <a:schemeClr val="dk1"/>
                </a:solidFill>
                <a:latin typeface="Quattrocento Sans"/>
                <a:ea typeface="Quattrocento Sans"/>
                <a:cs typeface="Quattrocento Sans"/>
                <a:sym typeface="Quattrocento Sans"/>
              </a:rPr>
              <a:t>by 2016 </a:t>
            </a:r>
            <a:endParaRPr sz="1100"/>
          </a:p>
        </p:txBody>
      </p:sp>
      <p:sp>
        <p:nvSpPr>
          <p:cNvPr id="639" name="Google Shape;639;p46"/>
          <p:cNvSpPr/>
          <p:nvPr/>
        </p:nvSpPr>
        <p:spPr>
          <a:xfrm>
            <a:off x="6985340" y="2527259"/>
            <a:ext cx="1869000" cy="9342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s">
                <a:solidFill>
                  <a:schemeClr val="dk1"/>
                </a:solidFill>
                <a:latin typeface="Quattrocento Sans"/>
                <a:ea typeface="Quattrocento Sans"/>
                <a:cs typeface="Quattrocento Sans"/>
                <a:sym typeface="Quattrocento Sans"/>
              </a:rPr>
              <a:t>88.9K+</a:t>
            </a:r>
            <a:r>
              <a:rPr b="1" lang="es" sz="1400">
                <a:solidFill>
                  <a:schemeClr val="dk1"/>
                </a:solidFill>
                <a:latin typeface="Quattrocento Sans"/>
                <a:ea typeface="Quattrocento Sans"/>
                <a:cs typeface="Quattrocento Sans"/>
                <a:sym typeface="Quattrocento Sans"/>
              </a:rPr>
              <a:t> </a:t>
            </a:r>
            <a:r>
              <a:rPr lang="es" sz="1400">
                <a:solidFill>
                  <a:schemeClr val="dk1"/>
                </a:solidFill>
                <a:latin typeface="Quattrocento Sans"/>
                <a:ea typeface="Quattrocento Sans"/>
                <a:cs typeface="Quattrocento Sans"/>
                <a:sym typeface="Quattrocento Sans"/>
              </a:rPr>
              <a:t>in Fran</a:t>
            </a:r>
            <a:r>
              <a:rPr lang="es">
                <a:solidFill>
                  <a:schemeClr val="dk1"/>
                </a:solidFill>
                <a:latin typeface="Quattrocento Sans"/>
                <a:ea typeface="Quattrocento Sans"/>
                <a:cs typeface="Quattrocento Sans"/>
                <a:sym typeface="Quattrocento Sans"/>
              </a:rPr>
              <a:t>chise Royalties by 2016</a:t>
            </a:r>
            <a:endParaRPr>
              <a:solidFill>
                <a:schemeClr val="dk1"/>
              </a:solidFill>
              <a:latin typeface="Quattrocento Sans"/>
              <a:ea typeface="Quattrocento Sans"/>
              <a:cs typeface="Quattrocento Sans"/>
              <a:sym typeface="Quattrocento Sans"/>
            </a:endParaRPr>
          </a:p>
        </p:txBody>
      </p:sp>
      <p:sp>
        <p:nvSpPr>
          <p:cNvPr id="640" name="Google Shape;640;p46"/>
          <p:cNvSpPr/>
          <p:nvPr/>
        </p:nvSpPr>
        <p:spPr>
          <a:xfrm>
            <a:off x="4669090" y="1260437"/>
            <a:ext cx="1869000" cy="934200"/>
          </a:xfrm>
          <a:prstGeom prst="rect">
            <a:avLst/>
          </a:prstGeom>
          <a:solidFill>
            <a:srgbClr val="CFE2F3">
              <a:alpha val="51270"/>
            </a:srgbClr>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b="1" lang="es">
                <a:solidFill>
                  <a:schemeClr val="dk1"/>
                </a:solidFill>
                <a:latin typeface="Quattrocento Sans"/>
                <a:ea typeface="Quattrocento Sans"/>
                <a:cs typeface="Quattrocento Sans"/>
                <a:sym typeface="Quattrocento Sans"/>
              </a:rPr>
              <a:t>Organic, Company-Owned Growth</a:t>
            </a:r>
            <a:endParaRPr sz="1100">
              <a:latin typeface="Quattrocento Sans"/>
              <a:ea typeface="Quattrocento Sans"/>
              <a:cs typeface="Quattrocento Sans"/>
              <a:sym typeface="Quattrocento Sans"/>
            </a:endParaRPr>
          </a:p>
        </p:txBody>
      </p:sp>
      <p:sp>
        <p:nvSpPr>
          <p:cNvPr id="641" name="Google Shape;641;p46"/>
          <p:cNvSpPr/>
          <p:nvPr/>
        </p:nvSpPr>
        <p:spPr>
          <a:xfrm>
            <a:off x="4669090" y="3642661"/>
            <a:ext cx="1869000" cy="934200"/>
          </a:xfrm>
          <a:prstGeom prst="rect">
            <a:avLst/>
          </a:prstGeom>
          <a:solidFill>
            <a:srgbClr val="CFE2F3">
              <a:alpha val="51270"/>
            </a:srgbClr>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b="1" lang="es">
                <a:solidFill>
                  <a:schemeClr val="dk1"/>
                </a:solidFill>
                <a:latin typeface="Quattrocento Sans"/>
                <a:ea typeface="Quattrocento Sans"/>
                <a:cs typeface="Quattrocento Sans"/>
                <a:sym typeface="Quattrocento Sans"/>
              </a:rPr>
              <a:t>Syndication</a:t>
            </a:r>
            <a:endParaRPr sz="1100"/>
          </a:p>
        </p:txBody>
      </p:sp>
      <p:sp>
        <p:nvSpPr>
          <p:cNvPr id="642" name="Google Shape;642;p46"/>
          <p:cNvSpPr/>
          <p:nvPr/>
        </p:nvSpPr>
        <p:spPr>
          <a:xfrm>
            <a:off x="4669090" y="2462622"/>
            <a:ext cx="1869000" cy="934200"/>
          </a:xfrm>
          <a:prstGeom prst="rect">
            <a:avLst/>
          </a:prstGeom>
          <a:solidFill>
            <a:srgbClr val="6FA8DC">
              <a:alpha val="88240"/>
            </a:srgbClr>
          </a:solidFill>
          <a:ln>
            <a:noFill/>
          </a:ln>
        </p:spPr>
        <p:txBody>
          <a:bodyPr anchorCtr="0" anchor="ctr" bIns="34275" lIns="68575" spcFirstLastPara="1" rIns="68575" wrap="square" tIns="34275">
            <a:noAutofit/>
          </a:bodyPr>
          <a:lstStyle/>
          <a:p>
            <a:pPr indent="0" lvl="0" marL="0" rtl="0" algn="ctr">
              <a:spcBef>
                <a:spcPts val="0"/>
              </a:spcBef>
              <a:spcAft>
                <a:spcPts val="0"/>
              </a:spcAft>
              <a:buClr>
                <a:schemeClr val="dk1"/>
              </a:buClr>
              <a:buFont typeface="Arial"/>
              <a:buNone/>
            </a:pPr>
            <a:r>
              <a:rPr b="1" lang="es">
                <a:solidFill>
                  <a:schemeClr val="dk1"/>
                </a:solidFill>
                <a:latin typeface="Quattrocento Sans"/>
                <a:ea typeface="Quattrocento Sans"/>
                <a:cs typeface="Quattrocento Sans"/>
                <a:sym typeface="Quattrocento Sans"/>
              </a:rPr>
              <a:t>Franchising</a:t>
            </a:r>
            <a:endParaRPr sz="1100"/>
          </a:p>
        </p:txBody>
      </p:sp>
      <p:sp>
        <p:nvSpPr>
          <p:cNvPr id="643" name="Google Shape;643;p46"/>
          <p:cNvSpPr/>
          <p:nvPr/>
        </p:nvSpPr>
        <p:spPr>
          <a:xfrm>
            <a:off x="3091600" y="4714075"/>
            <a:ext cx="4181400" cy="371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4" name="Google Shape;644;p46"/>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s"/>
              <a:t>‹#›</a:t>
            </a:fld>
            <a:endParaRPr/>
          </a:p>
        </p:txBody>
      </p:sp>
      <p:pic>
        <p:nvPicPr>
          <p:cNvPr id="645" name="Google Shape;645;p46"/>
          <p:cNvPicPr preferRelativeResize="0"/>
          <p:nvPr/>
        </p:nvPicPr>
        <p:blipFill>
          <a:blip r:embed="rId3">
            <a:alphaModFix/>
          </a:blip>
          <a:stretch>
            <a:fillRect/>
          </a:stretch>
        </p:blipFill>
        <p:spPr>
          <a:xfrm>
            <a:off x="2726874" y="1541624"/>
            <a:ext cx="1204500" cy="109668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pic>
        <p:nvPicPr>
          <p:cNvPr id="651" name="Google Shape;651;p47" title="pexels-julianemonarifotografia-29546546.jpg"/>
          <p:cNvPicPr preferRelativeResize="0"/>
          <p:nvPr/>
        </p:nvPicPr>
        <p:blipFill rotWithShape="1">
          <a:blip r:embed="rId3">
            <a:alphaModFix/>
          </a:blip>
          <a:srcRect b="27610" l="0" r="4861" t="36926"/>
          <a:stretch/>
        </p:blipFill>
        <p:spPr>
          <a:xfrm>
            <a:off x="0" y="0"/>
            <a:ext cx="9196800" cy="5143501"/>
          </a:xfrm>
          <a:prstGeom prst="rect">
            <a:avLst/>
          </a:prstGeom>
          <a:noFill/>
          <a:ln>
            <a:noFill/>
          </a:ln>
        </p:spPr>
      </p:pic>
      <p:sp>
        <p:nvSpPr>
          <p:cNvPr id="652" name="Google Shape;652;p47"/>
          <p:cNvSpPr/>
          <p:nvPr/>
        </p:nvSpPr>
        <p:spPr>
          <a:xfrm>
            <a:off x="-26400" y="-304801"/>
            <a:ext cx="9196800" cy="5753100"/>
          </a:xfrm>
          <a:prstGeom prst="rect">
            <a:avLst/>
          </a:prstGeom>
          <a:solidFill>
            <a:schemeClr val="dk1">
              <a:alpha val="62750"/>
            </a:scheme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800"/>
              <a:buFont typeface="Arial"/>
              <a:buNone/>
            </a:pPr>
            <a:r>
              <a:t/>
            </a:r>
            <a:endParaRPr b="0" i="0" sz="800" u="none" cap="none" strike="noStrike">
              <a:solidFill>
                <a:srgbClr val="FFFFFF"/>
              </a:solidFill>
              <a:latin typeface="Calibri"/>
              <a:ea typeface="Calibri"/>
              <a:cs typeface="Calibri"/>
              <a:sym typeface="Calibri"/>
            </a:endParaRPr>
          </a:p>
        </p:txBody>
      </p:sp>
      <p:sp>
        <p:nvSpPr>
          <p:cNvPr id="653" name="Google Shape;653;p47"/>
          <p:cNvSpPr/>
          <p:nvPr/>
        </p:nvSpPr>
        <p:spPr>
          <a:xfrm>
            <a:off x="676850" y="1803568"/>
            <a:ext cx="37800" cy="1485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54" name="Google Shape;654;p47"/>
          <p:cNvSpPr txBox="1"/>
          <p:nvPr/>
        </p:nvSpPr>
        <p:spPr>
          <a:xfrm>
            <a:off x="812420" y="1605170"/>
            <a:ext cx="8234700" cy="1221300"/>
          </a:xfrm>
          <a:prstGeom prst="rect">
            <a:avLst/>
          </a:prstGeom>
          <a:noFill/>
          <a:ln>
            <a:noFill/>
          </a:ln>
        </p:spPr>
        <p:txBody>
          <a:bodyPr anchorCtr="0" anchor="b" bIns="34275" lIns="68575" spcFirstLastPara="1" rIns="68575" wrap="square" tIns="34275">
            <a:normAutofit/>
          </a:bodyPr>
          <a:lstStyle/>
          <a:p>
            <a:pPr indent="0" lvl="0" marL="0" marR="0" rtl="0" algn="l">
              <a:lnSpc>
                <a:spcPct val="120000"/>
              </a:lnSpc>
              <a:spcBef>
                <a:spcPts val="0"/>
              </a:spcBef>
              <a:spcAft>
                <a:spcPts val="0"/>
              </a:spcAft>
              <a:buClr>
                <a:schemeClr val="lt1"/>
              </a:buClr>
              <a:buSzPts val="3000"/>
              <a:buFont typeface="Quattrocento Sans"/>
              <a:buNone/>
            </a:pPr>
            <a:r>
              <a:rPr b="1" lang="es" sz="4000">
                <a:solidFill>
                  <a:schemeClr val="lt1"/>
                </a:solidFill>
                <a:latin typeface="Quattrocento Sans"/>
                <a:ea typeface="Quattrocento Sans"/>
                <a:cs typeface="Quattrocento Sans"/>
                <a:sym typeface="Quattrocento Sans"/>
              </a:rPr>
              <a:t>Appendix </a:t>
            </a:r>
            <a:r>
              <a:rPr b="1" lang="es" sz="4000">
                <a:solidFill>
                  <a:schemeClr val="lt1"/>
                </a:solidFill>
                <a:latin typeface="Quattrocento Sans"/>
                <a:ea typeface="Quattrocento Sans"/>
                <a:cs typeface="Quattrocento Sans"/>
                <a:sym typeface="Quattrocento Sans"/>
              </a:rPr>
              <a:t> </a:t>
            </a:r>
            <a:endParaRPr sz="2100"/>
          </a:p>
        </p:txBody>
      </p:sp>
      <p:sp>
        <p:nvSpPr>
          <p:cNvPr id="655" name="Google Shape;655;p47"/>
          <p:cNvSpPr txBox="1"/>
          <p:nvPr>
            <p:ph idx="4294967295" type="sldNum"/>
          </p:nvPr>
        </p:nvSpPr>
        <p:spPr>
          <a:xfrm>
            <a:off x="6822737" y="4905545"/>
            <a:ext cx="2057400" cy="121200"/>
          </a:xfrm>
          <a:prstGeom prst="rect">
            <a:avLst/>
          </a:prstGeom>
          <a:noFill/>
          <a:ln>
            <a:noFill/>
          </a:ln>
        </p:spPr>
        <p:txBody>
          <a:bodyPr anchorCtr="0" anchor="ctr" bIns="34275" lIns="68575" spcFirstLastPara="1" rIns="68575" wrap="square" tIns="34275">
            <a:normAutofit fontScale="40000" lnSpcReduction="20000"/>
          </a:bodyPr>
          <a:lstStyle/>
          <a:p>
            <a:pPr indent="0" lvl="0" marL="0" rtl="0" algn="r">
              <a:spcBef>
                <a:spcPts val="0"/>
              </a:spcBef>
              <a:spcAft>
                <a:spcPts val="0"/>
              </a:spcAft>
              <a:buNone/>
            </a:pPr>
            <a:fld id="{00000000-1234-1234-1234-123412341234}" type="slidenum">
              <a:rPr lang="es"/>
              <a:t>‹#›</a:t>
            </a:fld>
            <a:endParaRPr/>
          </a:p>
        </p:txBody>
      </p:sp>
      <p:sp>
        <p:nvSpPr>
          <p:cNvPr id="656" name="Google Shape;656;p47"/>
          <p:cNvSpPr txBox="1"/>
          <p:nvPr/>
        </p:nvSpPr>
        <p:spPr>
          <a:xfrm>
            <a:off x="4966197" y="906450"/>
            <a:ext cx="2262300" cy="2224200"/>
          </a:xfrm>
          <a:prstGeom prst="rect">
            <a:avLst/>
          </a:prstGeom>
          <a:noFill/>
          <a:ln>
            <a:noFill/>
          </a:ln>
        </p:spPr>
        <p:txBody>
          <a:bodyPr anchorCtr="0" anchor="t" bIns="34275" lIns="68575" spcFirstLastPara="1" rIns="68575" wrap="square" tIns="34275">
            <a:spAutoFit/>
          </a:bodyPr>
          <a:lstStyle/>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extLst>
                    <a:ext uri="{A12FA001-AC4F-418D-AE19-62706E023703}">
                      <ahyp:hlinkClr val="tx"/>
                    </a:ext>
                  </a:extLst>
                </a:hlinkClick>
              </a:rPr>
              <a:t>Executive Summary</a:t>
            </a:r>
            <a:endParaRPr sz="1000">
              <a:solidFill>
                <a:schemeClr val="lt1"/>
              </a:solidFill>
              <a:latin typeface="Quattrocento Sans"/>
              <a:ea typeface="Quattrocento Sans"/>
              <a:cs typeface="Quattrocento Sans"/>
              <a:sym typeface="Quattrocento Sans"/>
            </a:endParaRPr>
          </a:p>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extLst>
                    <a:ext uri="{A12FA001-AC4F-418D-AE19-62706E023703}">
                      <ahyp:hlinkClr val="tx"/>
                    </a:ext>
                  </a:extLst>
                </a:hlinkClick>
              </a:rPr>
              <a:t>Company Overview </a:t>
            </a:r>
            <a:endParaRPr sz="1000">
              <a:solidFill>
                <a:schemeClr val="lt1"/>
              </a:solidFill>
              <a:latin typeface="Quattrocento Sans"/>
              <a:ea typeface="Quattrocento Sans"/>
              <a:cs typeface="Quattrocento Sans"/>
              <a:sym typeface="Quattrocento Sans"/>
            </a:endParaRPr>
          </a:p>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ction="ppaction://hlinksldjump" r:id="rId4">
                  <a:extLst>
                    <a:ext uri="{A12FA001-AC4F-418D-AE19-62706E023703}">
                      <ahyp:hlinkClr val="tx"/>
                    </a:ext>
                  </a:extLst>
                </a:hlinkClick>
              </a:rPr>
              <a:t>Market Landscape  &amp; Competitor Analysis</a:t>
            </a:r>
            <a:endParaRPr sz="1000">
              <a:solidFill>
                <a:schemeClr val="lt1"/>
              </a:solidFill>
              <a:latin typeface="Quattrocento Sans"/>
              <a:ea typeface="Quattrocento Sans"/>
              <a:cs typeface="Quattrocento Sans"/>
              <a:sym typeface="Quattrocento Sans"/>
            </a:endParaRPr>
          </a:p>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extLst>
                    <a:ext uri="{A12FA001-AC4F-418D-AE19-62706E023703}">
                      <ahyp:hlinkClr val="tx"/>
                    </a:ext>
                  </a:extLst>
                </a:hlinkClick>
              </a:rPr>
              <a:t>Customer Analysis </a:t>
            </a:r>
            <a:endParaRPr sz="1000">
              <a:solidFill>
                <a:schemeClr val="lt1"/>
              </a:solidFill>
              <a:latin typeface="Quattrocento Sans"/>
              <a:ea typeface="Quattrocento Sans"/>
              <a:cs typeface="Quattrocento Sans"/>
              <a:sym typeface="Quattrocento Sans"/>
            </a:endParaRPr>
          </a:p>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extLst>
                    <a:ext uri="{A12FA001-AC4F-418D-AE19-62706E023703}">
                      <ahyp:hlinkClr val="tx"/>
                    </a:ext>
                  </a:extLst>
                </a:hlinkClick>
              </a:rPr>
              <a:t>Location Analysis </a:t>
            </a:r>
            <a:endParaRPr sz="1000">
              <a:solidFill>
                <a:schemeClr val="lt1"/>
              </a:solidFill>
              <a:latin typeface="Quattrocento Sans"/>
              <a:ea typeface="Quattrocento Sans"/>
              <a:cs typeface="Quattrocento Sans"/>
              <a:sym typeface="Quattrocento Sans"/>
            </a:endParaRPr>
          </a:p>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extLst>
                    <a:ext uri="{A12FA001-AC4F-418D-AE19-62706E023703}">
                      <ahyp:hlinkClr val="tx"/>
                    </a:ext>
                  </a:extLst>
                </a:hlinkClick>
              </a:rPr>
              <a:t>Alternatives </a:t>
            </a:r>
            <a:endParaRPr sz="1000">
              <a:solidFill>
                <a:schemeClr val="lt1"/>
              </a:solidFill>
              <a:latin typeface="Quattrocento Sans"/>
              <a:ea typeface="Quattrocento Sans"/>
              <a:cs typeface="Quattrocento Sans"/>
              <a:sym typeface="Quattrocento Sans"/>
            </a:endParaRPr>
          </a:p>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extLst>
                    <a:ext uri="{A12FA001-AC4F-418D-AE19-62706E023703}">
                      <ahyp:hlinkClr val="tx"/>
                    </a:ext>
                  </a:extLst>
                </a:hlinkClick>
              </a:rPr>
              <a:t>Alternative 1 </a:t>
            </a:r>
            <a:endParaRPr sz="1000">
              <a:solidFill>
                <a:schemeClr val="lt1"/>
              </a:solidFill>
              <a:latin typeface="Quattrocento Sans"/>
              <a:ea typeface="Quattrocento Sans"/>
              <a:cs typeface="Quattrocento Sans"/>
              <a:sym typeface="Quattrocento Sans"/>
            </a:endParaRPr>
          </a:p>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extLst>
                    <a:ext uri="{A12FA001-AC4F-418D-AE19-62706E023703}">
                      <ahyp:hlinkClr val="tx"/>
                    </a:ext>
                  </a:extLst>
                </a:hlinkClick>
              </a:rPr>
              <a:t>Alternative 2</a:t>
            </a:r>
            <a:endParaRPr sz="1000">
              <a:solidFill>
                <a:schemeClr val="lt1"/>
              </a:solidFill>
              <a:latin typeface="Quattrocento Sans"/>
              <a:ea typeface="Quattrocento Sans"/>
              <a:cs typeface="Quattrocento Sans"/>
              <a:sym typeface="Quattrocento Sans"/>
            </a:endParaRPr>
          </a:p>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extLst>
                    <a:ext uri="{A12FA001-AC4F-418D-AE19-62706E023703}">
                      <ahyp:hlinkClr val="tx"/>
                    </a:ext>
                  </a:extLst>
                </a:hlinkClick>
              </a:rPr>
              <a:t>Alternative 3</a:t>
            </a:r>
            <a:endParaRPr sz="1000">
              <a:solidFill>
                <a:schemeClr val="lt1"/>
              </a:solidFill>
              <a:latin typeface="Quattrocento Sans"/>
              <a:ea typeface="Quattrocento Sans"/>
              <a:cs typeface="Quattrocento Sans"/>
              <a:sym typeface="Quattrocento Sans"/>
            </a:endParaRPr>
          </a:p>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extLst>
                    <a:ext uri="{A12FA001-AC4F-418D-AE19-62706E023703}">
                      <ahyp:hlinkClr val="tx"/>
                    </a:ext>
                  </a:extLst>
                </a:hlinkClick>
              </a:rPr>
              <a:t>Recommendations</a:t>
            </a:r>
            <a:r>
              <a:rPr lang="es" sz="1000">
                <a:solidFill>
                  <a:schemeClr val="lt1"/>
                </a:solidFill>
                <a:latin typeface="Quattrocento Sans"/>
                <a:ea typeface="Quattrocento Sans"/>
                <a:cs typeface="Quattrocento Sans"/>
                <a:sym typeface="Quattrocento Sans"/>
              </a:rPr>
              <a:t> </a:t>
            </a:r>
            <a:endParaRPr sz="1000">
              <a:solidFill>
                <a:schemeClr val="lt1"/>
              </a:solidFill>
              <a:latin typeface="Quattrocento Sans"/>
              <a:ea typeface="Quattrocento Sans"/>
              <a:cs typeface="Quattrocento Sans"/>
              <a:sym typeface="Quattrocento Sans"/>
            </a:endParaRPr>
          </a:p>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extLst>
                    <a:ext uri="{A12FA001-AC4F-418D-AE19-62706E023703}">
                      <ahyp:hlinkClr val="tx"/>
                    </a:ext>
                  </a:extLst>
                </a:hlinkClick>
              </a:rPr>
              <a:t>Impact </a:t>
            </a:r>
            <a:endParaRPr sz="1000">
              <a:solidFill>
                <a:schemeClr val="lt1"/>
              </a:solidFill>
              <a:latin typeface="Quattrocento Sans"/>
              <a:ea typeface="Quattrocento Sans"/>
              <a:cs typeface="Quattrocento Sans"/>
              <a:sym typeface="Quattrocento Sans"/>
            </a:endParaRPr>
          </a:p>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ction="ppaction://hlinksldjump" r:id="rId5">
                  <a:extLst>
                    <a:ext uri="{A12FA001-AC4F-418D-AE19-62706E023703}">
                      <ahyp:hlinkClr val="tx"/>
                    </a:ext>
                  </a:extLst>
                </a:hlinkClick>
              </a:rPr>
              <a:t>Implementation</a:t>
            </a:r>
            <a:endParaRPr sz="1000">
              <a:solidFill>
                <a:schemeClr val="lt1"/>
              </a:solidFill>
              <a:latin typeface="Quattrocento Sans"/>
              <a:ea typeface="Quattrocento Sans"/>
              <a:cs typeface="Quattrocento Sans"/>
              <a:sym typeface="Quattrocento Sans"/>
            </a:endParaRPr>
          </a:p>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extLst>
                    <a:ext uri="{A12FA001-AC4F-418D-AE19-62706E023703}">
                      <ahyp:hlinkClr val="tx"/>
                    </a:ext>
                  </a:extLst>
                </a:hlinkClick>
              </a:rPr>
              <a:t>Risks </a:t>
            </a:r>
            <a:endParaRPr sz="1000">
              <a:solidFill>
                <a:schemeClr val="lt1"/>
              </a:solidFill>
              <a:latin typeface="Quattrocento Sans"/>
              <a:ea typeface="Quattrocento Sans"/>
              <a:cs typeface="Quattrocento Sans"/>
              <a:sym typeface="Quattrocento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48"/>
          <p:cNvSpPr txBox="1"/>
          <p:nvPr/>
        </p:nvSpPr>
        <p:spPr>
          <a:xfrm>
            <a:off x="198853" y="102394"/>
            <a:ext cx="33606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Financial Overview </a:t>
            </a:r>
            <a:endParaRPr sz="1100"/>
          </a:p>
        </p:txBody>
      </p:sp>
      <p:sp>
        <p:nvSpPr>
          <p:cNvPr id="662" name="Google Shape;662;p48"/>
          <p:cNvSpPr txBox="1"/>
          <p:nvPr/>
        </p:nvSpPr>
        <p:spPr>
          <a:xfrm>
            <a:off x="185081" y="328687"/>
            <a:ext cx="78867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Quattrocento Sans"/>
              <a:buNone/>
            </a:pPr>
            <a:r>
              <a:rPr lang="es" sz="1800">
                <a:solidFill>
                  <a:schemeClr val="dk1"/>
                </a:solidFill>
                <a:latin typeface="Quattrocento Sans"/>
                <a:ea typeface="Quattrocento Sans"/>
                <a:cs typeface="Quattrocento Sans"/>
                <a:sym typeface="Quattrocento Sans"/>
              </a:rPr>
              <a:t>Financial estimates for strategy</a:t>
            </a:r>
            <a:endParaRPr sz="1800">
              <a:solidFill>
                <a:schemeClr val="dk1"/>
              </a:solidFill>
              <a:latin typeface="Quattrocento Sans"/>
              <a:ea typeface="Quattrocento Sans"/>
              <a:cs typeface="Quattrocento Sans"/>
              <a:sym typeface="Quattrocento Sans"/>
            </a:endParaRPr>
          </a:p>
        </p:txBody>
      </p:sp>
      <p:sp>
        <p:nvSpPr>
          <p:cNvPr id="663" name="Google Shape;663;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664" name="Google Shape;664;p48" title="Screenshot 2025-03-27 at 1.43.54 PM.png"/>
          <p:cNvPicPr preferRelativeResize="0"/>
          <p:nvPr/>
        </p:nvPicPr>
        <p:blipFill>
          <a:blip r:embed="rId3">
            <a:alphaModFix/>
          </a:blip>
          <a:stretch>
            <a:fillRect/>
          </a:stretch>
        </p:blipFill>
        <p:spPr>
          <a:xfrm>
            <a:off x="152400" y="765180"/>
            <a:ext cx="5126400" cy="1129150"/>
          </a:xfrm>
          <a:prstGeom prst="rect">
            <a:avLst/>
          </a:prstGeom>
          <a:noFill/>
          <a:ln>
            <a:noFill/>
          </a:ln>
        </p:spPr>
      </p:pic>
      <p:pic>
        <p:nvPicPr>
          <p:cNvPr id="665" name="Google Shape;665;p48" title="Screenshot 2025-03-27 at 1.44.05 PM.png"/>
          <p:cNvPicPr preferRelativeResize="0"/>
          <p:nvPr/>
        </p:nvPicPr>
        <p:blipFill>
          <a:blip r:embed="rId4">
            <a:alphaModFix/>
          </a:blip>
          <a:stretch>
            <a:fillRect/>
          </a:stretch>
        </p:blipFill>
        <p:spPr>
          <a:xfrm>
            <a:off x="5315500" y="765175"/>
            <a:ext cx="3785026" cy="1068600"/>
          </a:xfrm>
          <a:prstGeom prst="rect">
            <a:avLst/>
          </a:prstGeom>
          <a:noFill/>
          <a:ln>
            <a:noFill/>
          </a:ln>
        </p:spPr>
      </p:pic>
      <p:pic>
        <p:nvPicPr>
          <p:cNvPr id="666" name="Google Shape;666;p48" title="Screenshot 2025-03-27 at 1.44.32 PM.png"/>
          <p:cNvPicPr preferRelativeResize="0"/>
          <p:nvPr/>
        </p:nvPicPr>
        <p:blipFill>
          <a:blip r:embed="rId5">
            <a:alphaModFix/>
          </a:blip>
          <a:stretch>
            <a:fillRect/>
          </a:stretch>
        </p:blipFill>
        <p:spPr>
          <a:xfrm>
            <a:off x="7603250" y="3175488"/>
            <a:ext cx="1417900" cy="1476675"/>
          </a:xfrm>
          <a:prstGeom prst="rect">
            <a:avLst/>
          </a:prstGeom>
          <a:noFill/>
          <a:ln>
            <a:noFill/>
          </a:ln>
        </p:spPr>
      </p:pic>
      <p:pic>
        <p:nvPicPr>
          <p:cNvPr id="667" name="Google Shape;667;p48" title="Screenshot 2025-03-27 at 1.45.23 PM.png"/>
          <p:cNvPicPr preferRelativeResize="0"/>
          <p:nvPr/>
        </p:nvPicPr>
        <p:blipFill>
          <a:blip r:embed="rId6">
            <a:alphaModFix/>
          </a:blip>
          <a:stretch>
            <a:fillRect/>
          </a:stretch>
        </p:blipFill>
        <p:spPr>
          <a:xfrm>
            <a:off x="152400" y="1986175"/>
            <a:ext cx="5126401" cy="458883"/>
          </a:xfrm>
          <a:prstGeom prst="rect">
            <a:avLst/>
          </a:prstGeom>
          <a:noFill/>
          <a:ln>
            <a:noFill/>
          </a:ln>
        </p:spPr>
      </p:pic>
      <p:pic>
        <p:nvPicPr>
          <p:cNvPr id="668" name="Google Shape;668;p48" title="Screenshot 2025-03-27 at 1.45.59 PM.png"/>
          <p:cNvPicPr preferRelativeResize="0"/>
          <p:nvPr/>
        </p:nvPicPr>
        <p:blipFill>
          <a:blip r:embed="rId7">
            <a:alphaModFix/>
          </a:blip>
          <a:stretch>
            <a:fillRect/>
          </a:stretch>
        </p:blipFill>
        <p:spPr>
          <a:xfrm>
            <a:off x="198850" y="2536908"/>
            <a:ext cx="3154663" cy="2393641"/>
          </a:xfrm>
          <a:prstGeom prst="rect">
            <a:avLst/>
          </a:prstGeom>
          <a:noFill/>
          <a:ln>
            <a:noFill/>
          </a:ln>
        </p:spPr>
      </p:pic>
      <p:pic>
        <p:nvPicPr>
          <p:cNvPr id="669" name="Google Shape;669;p48" title="Screenshot 2025-03-27 at 1.46.12 PM.png"/>
          <p:cNvPicPr preferRelativeResize="0"/>
          <p:nvPr/>
        </p:nvPicPr>
        <p:blipFill>
          <a:blip r:embed="rId8">
            <a:alphaModFix/>
          </a:blip>
          <a:stretch>
            <a:fillRect/>
          </a:stretch>
        </p:blipFill>
        <p:spPr>
          <a:xfrm>
            <a:off x="3491975" y="3175500"/>
            <a:ext cx="3867900" cy="1651925"/>
          </a:xfrm>
          <a:prstGeom prst="rect">
            <a:avLst/>
          </a:prstGeom>
          <a:noFill/>
          <a:ln>
            <a:noFill/>
          </a:ln>
        </p:spPr>
      </p:pic>
      <p:pic>
        <p:nvPicPr>
          <p:cNvPr id="670" name="Google Shape;670;p48" title="Screenshot 2025-03-27 at 1.46.34 PM.png"/>
          <p:cNvPicPr preferRelativeResize="0"/>
          <p:nvPr/>
        </p:nvPicPr>
        <p:blipFill>
          <a:blip r:embed="rId9">
            <a:alphaModFix/>
          </a:blip>
          <a:stretch>
            <a:fillRect/>
          </a:stretch>
        </p:blipFill>
        <p:spPr>
          <a:xfrm>
            <a:off x="5454325" y="1833768"/>
            <a:ext cx="3334661" cy="11291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49"/>
          <p:cNvSpPr txBox="1"/>
          <p:nvPr/>
        </p:nvSpPr>
        <p:spPr>
          <a:xfrm>
            <a:off x="198848" y="102400"/>
            <a:ext cx="23745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Appendix </a:t>
            </a:r>
            <a:endParaRPr sz="1100"/>
          </a:p>
        </p:txBody>
      </p:sp>
      <p:sp>
        <p:nvSpPr>
          <p:cNvPr id="676" name="Google Shape;676;p49"/>
          <p:cNvSpPr txBox="1"/>
          <p:nvPr>
            <p:ph idx="4294967295" type="title"/>
          </p:nvPr>
        </p:nvSpPr>
        <p:spPr>
          <a:xfrm>
            <a:off x="198853" y="345522"/>
            <a:ext cx="7886700" cy="2841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lang="es" sz="1400"/>
              <a:t>Franchising vs Hybrid: Porcini’s core competencies in quality assurance allow for it to be scaled up with </a:t>
            </a:r>
            <a:r>
              <a:rPr lang="es" sz="1400"/>
              <a:t>ambitious</a:t>
            </a:r>
            <a:r>
              <a:rPr lang="es" sz="1400"/>
              <a:t> plans for revenue growth</a:t>
            </a:r>
            <a:endParaRPr sz="1800"/>
          </a:p>
        </p:txBody>
      </p:sp>
      <p:sp>
        <p:nvSpPr>
          <p:cNvPr id="677" name="Google Shape;677;p49"/>
          <p:cNvSpPr txBox="1"/>
          <p:nvPr/>
        </p:nvSpPr>
        <p:spPr>
          <a:xfrm>
            <a:off x="-3604850" y="0"/>
            <a:ext cx="3000000" cy="3404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br>
              <a:rPr lang="es"/>
            </a:br>
            <a:r>
              <a:rPr lang="es" sz="1200">
                <a:solidFill>
                  <a:srgbClr val="404040"/>
                </a:solidFill>
                <a:latin typeface="Roboto"/>
                <a:ea typeface="Roboto"/>
                <a:cs typeface="Roboto"/>
                <a:sym typeface="Roboto"/>
              </a:rPr>
              <a:t>Charlotte, North Carolina, is a rapidly growing city with a diverse population and a mix of cultural and economic influences. Understanding the demographics and preferences of Charlotte residents can help determine whether they are more likely to be interested in </a:t>
            </a:r>
            <a:r>
              <a:rPr b="1" lang="es" sz="1200">
                <a:solidFill>
                  <a:srgbClr val="404040"/>
                </a:solidFill>
                <a:latin typeface="Roboto"/>
                <a:ea typeface="Roboto"/>
                <a:cs typeface="Roboto"/>
                <a:sym typeface="Roboto"/>
              </a:rPr>
              <a:t>high-end Italian food</a:t>
            </a:r>
            <a:r>
              <a:rPr lang="es" sz="1200">
                <a:solidFill>
                  <a:srgbClr val="404040"/>
                </a:solidFill>
                <a:latin typeface="Roboto"/>
                <a:ea typeface="Roboto"/>
                <a:cs typeface="Roboto"/>
                <a:sym typeface="Roboto"/>
              </a:rPr>
              <a:t> or </a:t>
            </a:r>
            <a:r>
              <a:rPr b="1" lang="es" sz="1200">
                <a:solidFill>
                  <a:srgbClr val="404040"/>
                </a:solidFill>
                <a:latin typeface="Roboto"/>
                <a:ea typeface="Roboto"/>
                <a:cs typeface="Roboto"/>
                <a:sym typeface="Roboto"/>
              </a:rPr>
              <a:t>casual fast-food Italian</a:t>
            </a:r>
            <a:r>
              <a:rPr lang="es" sz="1200">
                <a:solidFill>
                  <a:srgbClr val="404040"/>
                </a:solidFill>
                <a:latin typeface="Roboto"/>
                <a:ea typeface="Roboto"/>
                <a:cs typeface="Roboto"/>
                <a:sym typeface="Roboto"/>
              </a:rPr>
              <a:t>. Here's an analysis:</a:t>
            </a:r>
            <a:endParaRPr sz="1200">
              <a:solidFill>
                <a:srgbClr val="404040"/>
              </a:solidFill>
              <a:latin typeface="Roboto"/>
              <a:ea typeface="Roboto"/>
              <a:cs typeface="Roboto"/>
              <a:sym typeface="Roboto"/>
            </a:endParaRPr>
          </a:p>
          <a:p>
            <a:pPr indent="0" lvl="0" marL="0" rtl="0" algn="l">
              <a:lnSpc>
                <a:spcPct val="115000"/>
              </a:lnSpc>
              <a:spcBef>
                <a:spcPts val="1200"/>
              </a:spcBef>
              <a:spcAft>
                <a:spcPts val="0"/>
              </a:spcAft>
              <a:buNone/>
            </a:pPr>
            <a:r>
              <a:t/>
            </a:r>
            <a:endParaRPr sz="1200">
              <a:solidFill>
                <a:srgbClr val="404040"/>
              </a:solidFill>
              <a:latin typeface="Roboto"/>
              <a:ea typeface="Roboto"/>
              <a:cs typeface="Roboto"/>
              <a:sym typeface="Roboto"/>
            </a:endParaRPr>
          </a:p>
          <a:p>
            <a:pPr indent="0" lvl="0" marL="0" rtl="0" algn="l">
              <a:lnSpc>
                <a:spcPct val="150000"/>
              </a:lnSpc>
              <a:spcBef>
                <a:spcPts val="1400"/>
              </a:spcBef>
              <a:spcAft>
                <a:spcPts val="0"/>
              </a:spcAft>
              <a:buNone/>
            </a:pPr>
            <a:r>
              <a:rPr b="1" lang="es" sz="1300">
                <a:solidFill>
                  <a:srgbClr val="404040"/>
                </a:solidFill>
                <a:latin typeface="Roboto"/>
                <a:ea typeface="Roboto"/>
                <a:cs typeface="Roboto"/>
                <a:sym typeface="Roboto"/>
              </a:rPr>
              <a:t>Demographics of Charlotte, NC</a:t>
            </a:r>
            <a:endParaRPr b="1" sz="1300">
              <a:solidFill>
                <a:srgbClr val="404040"/>
              </a:solidFill>
              <a:latin typeface="Roboto"/>
              <a:ea typeface="Roboto"/>
              <a:cs typeface="Roboto"/>
              <a:sym typeface="Roboto"/>
            </a:endParaRPr>
          </a:p>
          <a:p>
            <a:pPr indent="-304800" lvl="0" marL="457200" rtl="0" algn="l">
              <a:lnSpc>
                <a:spcPct val="115000"/>
              </a:lnSpc>
              <a:spcBef>
                <a:spcPts val="400"/>
              </a:spcBef>
              <a:spcAft>
                <a:spcPts val="0"/>
              </a:spcAft>
              <a:buClr>
                <a:srgbClr val="404040"/>
              </a:buClr>
              <a:buSzPts val="1200"/>
              <a:buFont typeface="Roboto"/>
              <a:buAutoNum type="arabicPeriod"/>
            </a:pPr>
            <a:r>
              <a:rPr b="1" lang="es" sz="1200">
                <a:solidFill>
                  <a:srgbClr val="404040"/>
                </a:solidFill>
                <a:latin typeface="Roboto"/>
                <a:ea typeface="Roboto"/>
                <a:cs typeface="Roboto"/>
                <a:sym typeface="Roboto"/>
              </a:rPr>
              <a:t>Population Growth</a:t>
            </a:r>
            <a:r>
              <a:rPr lang="es" sz="1200">
                <a:solidFill>
                  <a:srgbClr val="404040"/>
                </a:solidFill>
                <a:latin typeface="Roboto"/>
                <a:ea typeface="Roboto"/>
                <a:cs typeface="Roboto"/>
                <a:sym typeface="Roboto"/>
              </a:rPr>
              <a:t>:</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Charlotte is one of the fastest-growing cities in the U.S., with a population of over </a:t>
            </a:r>
            <a:r>
              <a:rPr b="1" lang="es" sz="1200">
                <a:solidFill>
                  <a:srgbClr val="404040"/>
                </a:solidFill>
                <a:latin typeface="Roboto"/>
                <a:ea typeface="Roboto"/>
                <a:cs typeface="Roboto"/>
                <a:sym typeface="Roboto"/>
              </a:rPr>
              <a:t>900,000</a:t>
            </a:r>
            <a:r>
              <a:rPr lang="es" sz="1200">
                <a:solidFill>
                  <a:srgbClr val="404040"/>
                </a:solidFill>
                <a:latin typeface="Roboto"/>
                <a:ea typeface="Roboto"/>
                <a:cs typeface="Roboto"/>
                <a:sym typeface="Roboto"/>
              </a:rPr>
              <a:t> (city proper) and </a:t>
            </a:r>
            <a:r>
              <a:rPr b="1" lang="es" sz="1200">
                <a:solidFill>
                  <a:srgbClr val="404040"/>
                </a:solidFill>
                <a:latin typeface="Roboto"/>
                <a:ea typeface="Roboto"/>
                <a:cs typeface="Roboto"/>
                <a:sym typeface="Roboto"/>
              </a:rPr>
              <a:t>2.7 million</a:t>
            </a:r>
            <a:r>
              <a:rPr lang="es" sz="1200">
                <a:solidFill>
                  <a:srgbClr val="404040"/>
                </a:solidFill>
                <a:latin typeface="Roboto"/>
                <a:ea typeface="Roboto"/>
                <a:cs typeface="Roboto"/>
                <a:sym typeface="Roboto"/>
              </a:rPr>
              <a:t> in the metropolitan area.</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The city attracts young professionals, families, and retirees due to its strong economy and quality of life.</a:t>
            </a:r>
            <a:endParaRPr sz="1200">
              <a:solidFill>
                <a:srgbClr val="404040"/>
              </a:solidFill>
              <a:latin typeface="Roboto"/>
              <a:ea typeface="Roboto"/>
              <a:cs typeface="Roboto"/>
              <a:sym typeface="Roboto"/>
            </a:endParaRPr>
          </a:p>
          <a:p>
            <a:pPr indent="-304800" lvl="0" marL="457200" rtl="0" algn="l">
              <a:lnSpc>
                <a:spcPct val="115000"/>
              </a:lnSpc>
              <a:spcBef>
                <a:spcPts val="0"/>
              </a:spcBef>
              <a:spcAft>
                <a:spcPts val="0"/>
              </a:spcAft>
              <a:buClr>
                <a:srgbClr val="404040"/>
              </a:buClr>
              <a:buSzPts val="1200"/>
              <a:buFont typeface="Roboto"/>
              <a:buAutoNum type="arabicPeriod"/>
            </a:pPr>
            <a:r>
              <a:rPr b="1" lang="es" sz="1200">
                <a:solidFill>
                  <a:srgbClr val="404040"/>
                </a:solidFill>
                <a:latin typeface="Roboto"/>
                <a:ea typeface="Roboto"/>
                <a:cs typeface="Roboto"/>
                <a:sym typeface="Roboto"/>
              </a:rPr>
              <a:t>Age Distribution</a:t>
            </a:r>
            <a:r>
              <a:rPr lang="es" sz="1200">
                <a:solidFill>
                  <a:srgbClr val="404040"/>
                </a:solidFill>
                <a:latin typeface="Roboto"/>
                <a:ea typeface="Roboto"/>
                <a:cs typeface="Roboto"/>
                <a:sym typeface="Roboto"/>
              </a:rPr>
              <a:t>:</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b="1" lang="es" sz="1200">
                <a:solidFill>
                  <a:srgbClr val="404040"/>
                </a:solidFill>
                <a:latin typeface="Roboto"/>
                <a:ea typeface="Roboto"/>
                <a:cs typeface="Roboto"/>
                <a:sym typeface="Roboto"/>
              </a:rPr>
              <a:t>Median Age</a:t>
            </a:r>
            <a:r>
              <a:rPr lang="es" sz="1200">
                <a:solidFill>
                  <a:srgbClr val="404040"/>
                </a:solidFill>
                <a:latin typeface="Roboto"/>
                <a:ea typeface="Roboto"/>
                <a:cs typeface="Roboto"/>
                <a:sym typeface="Roboto"/>
              </a:rPr>
              <a:t>: 34.6 years (younger than the national median of 38.5).</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A significant portion of the population is in the </a:t>
            </a:r>
            <a:r>
              <a:rPr b="1" lang="es" sz="1200">
                <a:solidFill>
                  <a:srgbClr val="404040"/>
                </a:solidFill>
                <a:latin typeface="Roboto"/>
                <a:ea typeface="Roboto"/>
                <a:cs typeface="Roboto"/>
                <a:sym typeface="Roboto"/>
              </a:rPr>
              <a:t>25-44 age range</a:t>
            </a:r>
            <a:r>
              <a:rPr lang="es" sz="1200">
                <a:solidFill>
                  <a:srgbClr val="404040"/>
                </a:solidFill>
                <a:latin typeface="Roboto"/>
                <a:ea typeface="Roboto"/>
                <a:cs typeface="Roboto"/>
                <a:sym typeface="Roboto"/>
              </a:rPr>
              <a:t>, which is a key demographic for dining out.</a:t>
            </a:r>
            <a:endParaRPr sz="1200">
              <a:solidFill>
                <a:srgbClr val="404040"/>
              </a:solidFill>
              <a:latin typeface="Roboto"/>
              <a:ea typeface="Roboto"/>
              <a:cs typeface="Roboto"/>
              <a:sym typeface="Roboto"/>
            </a:endParaRPr>
          </a:p>
          <a:p>
            <a:pPr indent="-304800" lvl="0" marL="457200" rtl="0" algn="l">
              <a:lnSpc>
                <a:spcPct val="115000"/>
              </a:lnSpc>
              <a:spcBef>
                <a:spcPts val="0"/>
              </a:spcBef>
              <a:spcAft>
                <a:spcPts val="0"/>
              </a:spcAft>
              <a:buClr>
                <a:srgbClr val="404040"/>
              </a:buClr>
              <a:buSzPts val="1200"/>
              <a:buFont typeface="Roboto"/>
              <a:buAutoNum type="arabicPeriod"/>
            </a:pPr>
            <a:r>
              <a:rPr b="1" lang="es" sz="1200">
                <a:solidFill>
                  <a:srgbClr val="404040"/>
                </a:solidFill>
                <a:latin typeface="Roboto"/>
                <a:ea typeface="Roboto"/>
                <a:cs typeface="Roboto"/>
                <a:sym typeface="Roboto"/>
              </a:rPr>
              <a:t>Income Levels</a:t>
            </a:r>
            <a:r>
              <a:rPr lang="es" sz="1200">
                <a:solidFill>
                  <a:srgbClr val="404040"/>
                </a:solidFill>
                <a:latin typeface="Roboto"/>
                <a:ea typeface="Roboto"/>
                <a:cs typeface="Roboto"/>
                <a:sym typeface="Roboto"/>
              </a:rPr>
              <a:t>:</a:t>
            </a:r>
            <a:endParaRPr sz="1200">
              <a:solidFill>
                <a:srgbClr val="404040"/>
              </a:solidFill>
              <a:latin typeface="Roboto"/>
              <a:ea typeface="Roboto"/>
              <a:cs typeface="Roboto"/>
              <a:sym typeface="Roboto"/>
            </a:endParaRPr>
          </a:p>
          <a:p>
            <a:pPr indent="-304800" lvl="1" marL="914400" rtl="0" algn="l">
              <a:lnSpc>
                <a:spcPct val="120000"/>
              </a:lnSpc>
              <a:spcBef>
                <a:spcPts val="0"/>
              </a:spcBef>
              <a:spcAft>
                <a:spcPts val="0"/>
              </a:spcAft>
              <a:buClr>
                <a:srgbClr val="404040"/>
              </a:buClr>
              <a:buSzPts val="1200"/>
              <a:buFont typeface="Roboto"/>
              <a:buChar char="○"/>
            </a:pPr>
            <a:r>
              <a:rPr b="1" lang="es" sz="1200">
                <a:solidFill>
                  <a:srgbClr val="404040"/>
                </a:solidFill>
                <a:latin typeface="Roboto"/>
                <a:ea typeface="Roboto"/>
                <a:cs typeface="Roboto"/>
                <a:sym typeface="Roboto"/>
              </a:rPr>
              <a:t>Median Household Income</a:t>
            </a:r>
            <a:r>
              <a:rPr lang="es" sz="1200">
                <a:solidFill>
                  <a:srgbClr val="404040"/>
                </a:solidFill>
                <a:latin typeface="Roboto"/>
                <a:ea typeface="Roboto"/>
                <a:cs typeface="Roboto"/>
                <a:sym typeface="Roboto"/>
              </a:rPr>
              <a:t>: ~</a:t>
            </a:r>
            <a:endParaRPr sz="1200">
              <a:solidFill>
                <a:srgbClr val="404040"/>
              </a:solidFill>
              <a:latin typeface="Roboto"/>
              <a:ea typeface="Roboto"/>
              <a:cs typeface="Roboto"/>
              <a:sym typeface="Roboto"/>
            </a:endParaRPr>
          </a:p>
          <a:p>
            <a:pPr indent="-304800" lvl="1" marL="914400" rtl="0" algn="l">
              <a:lnSpc>
                <a:spcPct val="120000"/>
              </a:lnSpc>
              <a:spcBef>
                <a:spcPts val="0"/>
              </a:spcBef>
              <a:spcAft>
                <a:spcPts val="0"/>
              </a:spcAft>
              <a:buClr>
                <a:srgbClr val="404040"/>
              </a:buClr>
              <a:buSzPts val="1200"/>
              <a:buFont typeface="Roboto"/>
              <a:buChar char="○"/>
            </a:pPr>
            <a:r>
              <a:rPr lang="es" sz="1450">
                <a:solidFill>
                  <a:srgbClr val="404040"/>
                </a:solidFill>
                <a:latin typeface="Times New Roman"/>
                <a:ea typeface="Times New Roman"/>
                <a:cs typeface="Times New Roman"/>
                <a:sym typeface="Times New Roman"/>
              </a:rPr>
              <a:t>65,000(slightlyabovethenationalmedianof </a:t>
            </a:r>
            <a:endParaRPr sz="1450">
              <a:solidFill>
                <a:srgbClr val="404040"/>
              </a:solidFill>
              <a:latin typeface="Times New Roman"/>
              <a:ea typeface="Times New Roman"/>
              <a:cs typeface="Times New Roman"/>
              <a:sym typeface="Times New Roman"/>
            </a:endParaRPr>
          </a:p>
          <a:p>
            <a:pPr indent="-304800" lvl="1" marL="914400" rtl="0" algn="l">
              <a:lnSpc>
                <a:spcPct val="115000"/>
              </a:lnSpc>
              <a:spcBef>
                <a:spcPts val="0"/>
              </a:spcBef>
              <a:spcAft>
                <a:spcPts val="0"/>
              </a:spcAft>
              <a:buClr>
                <a:srgbClr val="404040"/>
              </a:buClr>
              <a:buSzPts val="1200"/>
              <a:buFont typeface="Roboto"/>
              <a:buChar char="○"/>
            </a:pPr>
            <a:r>
              <a:rPr lang="es" sz="1450">
                <a:solidFill>
                  <a:srgbClr val="404040"/>
                </a:solidFill>
                <a:latin typeface="Times New Roman"/>
                <a:ea typeface="Times New Roman"/>
                <a:cs typeface="Times New Roman"/>
                <a:sym typeface="Times New Roman"/>
              </a:rPr>
              <a:t>65,000(</a:t>
            </a:r>
            <a:r>
              <a:rPr i="1" lang="es" sz="1450">
                <a:solidFill>
                  <a:srgbClr val="404040"/>
                </a:solidFill>
                <a:latin typeface="Times New Roman"/>
                <a:ea typeface="Times New Roman"/>
                <a:cs typeface="Times New Roman"/>
                <a:sym typeface="Times New Roman"/>
              </a:rPr>
              <a:t>slightlyabovethenationalmedianof</a:t>
            </a:r>
            <a:r>
              <a:rPr lang="es" sz="1450">
                <a:solidFill>
                  <a:srgbClr val="404040"/>
                </a:solidFill>
                <a:latin typeface="Times New Roman"/>
                <a:ea typeface="Times New Roman"/>
                <a:cs typeface="Times New Roman"/>
                <a:sym typeface="Times New Roman"/>
              </a:rPr>
              <a:t> </a:t>
            </a:r>
            <a:r>
              <a:rPr lang="es" sz="1200">
                <a:solidFill>
                  <a:srgbClr val="404040"/>
                </a:solidFill>
                <a:latin typeface="Roboto"/>
                <a:ea typeface="Roboto"/>
                <a:cs typeface="Roboto"/>
                <a:sym typeface="Roboto"/>
              </a:rPr>
              <a:t>62,000).</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The city has a growing affluent population, particularly in neighborhoods like SouthPark, Ballantyne, and Dilworth, where incomes are higher.</a:t>
            </a:r>
            <a:endParaRPr sz="1200">
              <a:solidFill>
                <a:srgbClr val="404040"/>
              </a:solidFill>
              <a:latin typeface="Roboto"/>
              <a:ea typeface="Roboto"/>
              <a:cs typeface="Roboto"/>
              <a:sym typeface="Roboto"/>
            </a:endParaRPr>
          </a:p>
          <a:p>
            <a:pPr indent="-304800" lvl="0" marL="457200" rtl="0" algn="l">
              <a:lnSpc>
                <a:spcPct val="115000"/>
              </a:lnSpc>
              <a:spcBef>
                <a:spcPts val="0"/>
              </a:spcBef>
              <a:spcAft>
                <a:spcPts val="0"/>
              </a:spcAft>
              <a:buClr>
                <a:srgbClr val="404040"/>
              </a:buClr>
              <a:buSzPts val="1200"/>
              <a:buFont typeface="Roboto"/>
              <a:buAutoNum type="arabicPeriod"/>
            </a:pPr>
            <a:r>
              <a:rPr b="1" lang="es" sz="1200">
                <a:solidFill>
                  <a:srgbClr val="404040"/>
                </a:solidFill>
                <a:latin typeface="Roboto"/>
                <a:ea typeface="Roboto"/>
                <a:cs typeface="Roboto"/>
                <a:sym typeface="Roboto"/>
              </a:rPr>
              <a:t>Cultural Diversity</a:t>
            </a:r>
            <a:r>
              <a:rPr lang="es" sz="1200">
                <a:solidFill>
                  <a:srgbClr val="404040"/>
                </a:solidFill>
                <a:latin typeface="Roboto"/>
                <a:ea typeface="Roboto"/>
                <a:cs typeface="Roboto"/>
                <a:sym typeface="Roboto"/>
              </a:rPr>
              <a:t>:</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Charlotte is becoming increasingly diverse, with a growing Hispanic/Latino population (14%) and a significant African American population (35%).</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The city also has a growing international community, including professionals and students.</a:t>
            </a:r>
            <a:endParaRPr sz="1200">
              <a:solidFill>
                <a:srgbClr val="404040"/>
              </a:solidFill>
              <a:latin typeface="Roboto"/>
              <a:ea typeface="Roboto"/>
              <a:cs typeface="Roboto"/>
              <a:sym typeface="Roboto"/>
            </a:endParaRPr>
          </a:p>
          <a:p>
            <a:pPr indent="-304800" lvl="0" marL="457200" rtl="0" algn="l">
              <a:lnSpc>
                <a:spcPct val="115000"/>
              </a:lnSpc>
              <a:spcBef>
                <a:spcPts val="0"/>
              </a:spcBef>
              <a:spcAft>
                <a:spcPts val="0"/>
              </a:spcAft>
              <a:buClr>
                <a:srgbClr val="404040"/>
              </a:buClr>
              <a:buSzPts val="1200"/>
              <a:buFont typeface="Roboto"/>
              <a:buAutoNum type="arabicPeriod"/>
            </a:pPr>
            <a:r>
              <a:rPr b="1" lang="es" sz="1200">
                <a:solidFill>
                  <a:srgbClr val="404040"/>
                </a:solidFill>
                <a:latin typeface="Roboto"/>
                <a:ea typeface="Roboto"/>
                <a:cs typeface="Roboto"/>
                <a:sym typeface="Roboto"/>
              </a:rPr>
              <a:t>Lifestyle Trends</a:t>
            </a:r>
            <a:r>
              <a:rPr lang="es" sz="1200">
                <a:solidFill>
                  <a:srgbClr val="404040"/>
                </a:solidFill>
                <a:latin typeface="Roboto"/>
                <a:ea typeface="Roboto"/>
                <a:cs typeface="Roboto"/>
                <a:sym typeface="Roboto"/>
              </a:rPr>
              <a:t>:</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Charlotte residents value a mix of convenience and quality. The city has a thriving food scene, with a strong preference for locally owned restaurants and unique dining experiences.</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The presence of major corporations (e.g., Bank of America, Wells Fargo, Duke Energy) has created a demand for both upscale dining and quick, casual options.</a:t>
            </a:r>
            <a:endParaRPr sz="1200">
              <a:solidFill>
                <a:srgbClr val="404040"/>
              </a:solidFill>
              <a:latin typeface="Roboto"/>
              <a:ea typeface="Roboto"/>
              <a:cs typeface="Roboto"/>
              <a:sym typeface="Roboto"/>
            </a:endParaRPr>
          </a:p>
          <a:p>
            <a:pPr indent="0" lvl="0" marL="0" rtl="0" algn="l">
              <a:lnSpc>
                <a:spcPct val="115000"/>
              </a:lnSpc>
              <a:spcBef>
                <a:spcPts val="0"/>
              </a:spcBef>
              <a:spcAft>
                <a:spcPts val="0"/>
              </a:spcAft>
              <a:buNone/>
            </a:pPr>
            <a:r>
              <a:t/>
            </a:r>
            <a:endParaRPr sz="1200">
              <a:solidFill>
                <a:srgbClr val="404040"/>
              </a:solidFill>
              <a:latin typeface="Roboto"/>
              <a:ea typeface="Roboto"/>
              <a:cs typeface="Roboto"/>
              <a:sym typeface="Roboto"/>
            </a:endParaRPr>
          </a:p>
          <a:p>
            <a:pPr indent="0" lvl="0" marL="0" rtl="0" algn="l">
              <a:lnSpc>
                <a:spcPct val="150000"/>
              </a:lnSpc>
              <a:spcBef>
                <a:spcPts val="1400"/>
              </a:spcBef>
              <a:spcAft>
                <a:spcPts val="0"/>
              </a:spcAft>
              <a:buNone/>
            </a:pPr>
            <a:r>
              <a:rPr b="1" lang="es" sz="1300">
                <a:solidFill>
                  <a:srgbClr val="404040"/>
                </a:solidFill>
                <a:latin typeface="Roboto"/>
                <a:ea typeface="Roboto"/>
                <a:cs typeface="Roboto"/>
                <a:sym typeface="Roboto"/>
              </a:rPr>
              <a:t>Interest in High-End Italian vs. Casual Fast-Food Italian</a:t>
            </a:r>
            <a:endParaRPr b="1" sz="1300">
              <a:solidFill>
                <a:srgbClr val="404040"/>
              </a:solidFill>
              <a:latin typeface="Roboto"/>
              <a:ea typeface="Roboto"/>
              <a:cs typeface="Roboto"/>
              <a:sym typeface="Roboto"/>
            </a:endParaRPr>
          </a:p>
          <a:p>
            <a:pPr indent="0" lvl="0" marL="0" rtl="0" algn="l">
              <a:lnSpc>
                <a:spcPct val="115000"/>
              </a:lnSpc>
              <a:spcBef>
                <a:spcPts val="400"/>
              </a:spcBef>
              <a:spcAft>
                <a:spcPts val="0"/>
              </a:spcAft>
              <a:buNone/>
            </a:pPr>
            <a:r>
              <a:rPr lang="es" sz="1200">
                <a:solidFill>
                  <a:srgbClr val="404040"/>
                </a:solidFill>
                <a:latin typeface="Roboto"/>
                <a:ea typeface="Roboto"/>
                <a:cs typeface="Roboto"/>
                <a:sym typeface="Roboto"/>
              </a:rPr>
              <a:t>Based on Charlotte's demographics and trends, here's how the interest in high-end Italian and casual fast-food Italian might break down:</a:t>
            </a:r>
            <a:endParaRPr sz="1200">
              <a:solidFill>
                <a:srgbClr val="404040"/>
              </a:solidFill>
              <a:latin typeface="Roboto"/>
              <a:ea typeface="Roboto"/>
              <a:cs typeface="Roboto"/>
              <a:sym typeface="Roboto"/>
            </a:endParaRPr>
          </a:p>
          <a:p>
            <a:pPr indent="0" lvl="0" marL="0" rtl="0" algn="l">
              <a:lnSpc>
                <a:spcPct val="115000"/>
              </a:lnSpc>
              <a:spcBef>
                <a:spcPts val="1200"/>
              </a:spcBef>
              <a:spcAft>
                <a:spcPts val="0"/>
              </a:spcAft>
              <a:buNone/>
            </a:pPr>
            <a:r>
              <a:rPr b="1" lang="es" sz="1200">
                <a:solidFill>
                  <a:srgbClr val="404040"/>
                </a:solidFill>
                <a:latin typeface="Roboto"/>
                <a:ea typeface="Roboto"/>
                <a:cs typeface="Roboto"/>
                <a:sym typeface="Roboto"/>
              </a:rPr>
              <a:t>High-End Italian Food</a:t>
            </a:r>
            <a:endParaRPr b="1" sz="1200">
              <a:solidFill>
                <a:srgbClr val="404040"/>
              </a:solidFill>
              <a:latin typeface="Roboto"/>
              <a:ea typeface="Roboto"/>
              <a:cs typeface="Roboto"/>
              <a:sym typeface="Roboto"/>
            </a:endParaRPr>
          </a:p>
          <a:p>
            <a:pPr indent="-304800" lvl="0" marL="457200" rtl="0" algn="l">
              <a:lnSpc>
                <a:spcPct val="115000"/>
              </a:lnSpc>
              <a:spcBef>
                <a:spcPts val="200"/>
              </a:spcBef>
              <a:spcAft>
                <a:spcPts val="0"/>
              </a:spcAft>
              <a:buClr>
                <a:srgbClr val="404040"/>
              </a:buClr>
              <a:buSzPts val="1200"/>
              <a:buFont typeface="Roboto"/>
              <a:buChar char="●"/>
            </a:pPr>
            <a:r>
              <a:rPr b="1" lang="es" sz="1200">
                <a:solidFill>
                  <a:srgbClr val="404040"/>
                </a:solidFill>
                <a:latin typeface="Roboto"/>
                <a:ea typeface="Roboto"/>
                <a:cs typeface="Roboto"/>
                <a:sym typeface="Roboto"/>
              </a:rPr>
              <a:t>Target Audience</a:t>
            </a:r>
            <a:r>
              <a:rPr lang="es" sz="1200">
                <a:solidFill>
                  <a:srgbClr val="404040"/>
                </a:solidFill>
                <a:latin typeface="Roboto"/>
                <a:ea typeface="Roboto"/>
                <a:cs typeface="Roboto"/>
                <a:sym typeface="Roboto"/>
              </a:rPr>
              <a:t>: Affluent professionals, older millennials, Gen Xers, and retirees in upscale neighborhoods like SouthPark, Myers Park, and Uptown.</a:t>
            </a:r>
            <a:endParaRPr sz="1200">
              <a:solidFill>
                <a:srgbClr val="404040"/>
              </a:solidFill>
              <a:latin typeface="Roboto"/>
              <a:ea typeface="Roboto"/>
              <a:cs typeface="Roboto"/>
              <a:sym typeface="Roboto"/>
            </a:endParaRPr>
          </a:p>
          <a:p>
            <a:pPr indent="-304800" lvl="0" marL="457200" rtl="0" algn="l">
              <a:lnSpc>
                <a:spcPct val="115000"/>
              </a:lnSpc>
              <a:spcBef>
                <a:spcPts val="0"/>
              </a:spcBef>
              <a:spcAft>
                <a:spcPts val="0"/>
              </a:spcAft>
              <a:buClr>
                <a:srgbClr val="404040"/>
              </a:buClr>
              <a:buSzPts val="1200"/>
              <a:buFont typeface="Roboto"/>
              <a:buChar char="●"/>
            </a:pPr>
            <a:r>
              <a:rPr b="1" lang="es" sz="1200">
                <a:solidFill>
                  <a:srgbClr val="404040"/>
                </a:solidFill>
                <a:latin typeface="Roboto"/>
                <a:ea typeface="Roboto"/>
                <a:cs typeface="Roboto"/>
                <a:sym typeface="Roboto"/>
              </a:rPr>
              <a:t>Why It Fits</a:t>
            </a:r>
            <a:r>
              <a:rPr lang="es" sz="1200">
                <a:solidFill>
                  <a:srgbClr val="404040"/>
                </a:solidFill>
                <a:latin typeface="Roboto"/>
                <a:ea typeface="Roboto"/>
                <a:cs typeface="Roboto"/>
                <a:sym typeface="Roboto"/>
              </a:rPr>
              <a:t>:</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Charlotte's growing affluent population and strong corporate presence create demand for fine dining experiences.</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High-end Italian restaurants can cater to business dinners, date nights, and special occasions.</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The city's food scene is becoming more sophisticated, with residents willing to pay for quality and ambiance.</a:t>
            </a:r>
            <a:endParaRPr sz="1200">
              <a:solidFill>
                <a:srgbClr val="404040"/>
              </a:solidFill>
              <a:latin typeface="Roboto"/>
              <a:ea typeface="Roboto"/>
              <a:cs typeface="Roboto"/>
              <a:sym typeface="Roboto"/>
            </a:endParaRPr>
          </a:p>
          <a:p>
            <a:pPr indent="0" lvl="0" marL="0" rtl="0" algn="l">
              <a:lnSpc>
                <a:spcPct val="115000"/>
              </a:lnSpc>
              <a:spcBef>
                <a:spcPts val="1200"/>
              </a:spcBef>
              <a:spcAft>
                <a:spcPts val="0"/>
              </a:spcAft>
              <a:buNone/>
            </a:pPr>
            <a:r>
              <a:rPr b="1" lang="es" sz="1200">
                <a:solidFill>
                  <a:srgbClr val="404040"/>
                </a:solidFill>
                <a:latin typeface="Roboto"/>
                <a:ea typeface="Roboto"/>
                <a:cs typeface="Roboto"/>
                <a:sym typeface="Roboto"/>
              </a:rPr>
              <a:t>Casual Fast-Food Italian</a:t>
            </a:r>
            <a:endParaRPr b="1" sz="1200">
              <a:solidFill>
                <a:srgbClr val="404040"/>
              </a:solidFill>
              <a:latin typeface="Roboto"/>
              <a:ea typeface="Roboto"/>
              <a:cs typeface="Roboto"/>
              <a:sym typeface="Roboto"/>
            </a:endParaRPr>
          </a:p>
          <a:p>
            <a:pPr indent="-304800" lvl="0" marL="457200" rtl="0" algn="l">
              <a:lnSpc>
                <a:spcPct val="115000"/>
              </a:lnSpc>
              <a:spcBef>
                <a:spcPts val="200"/>
              </a:spcBef>
              <a:spcAft>
                <a:spcPts val="0"/>
              </a:spcAft>
              <a:buClr>
                <a:srgbClr val="404040"/>
              </a:buClr>
              <a:buSzPts val="1200"/>
              <a:buFont typeface="Roboto"/>
              <a:buChar char="●"/>
            </a:pPr>
            <a:r>
              <a:rPr b="1" lang="es" sz="1200">
                <a:solidFill>
                  <a:srgbClr val="404040"/>
                </a:solidFill>
                <a:latin typeface="Roboto"/>
                <a:ea typeface="Roboto"/>
                <a:cs typeface="Roboto"/>
                <a:sym typeface="Roboto"/>
              </a:rPr>
              <a:t>Target Audience</a:t>
            </a:r>
            <a:r>
              <a:rPr lang="es" sz="1200">
                <a:solidFill>
                  <a:srgbClr val="404040"/>
                </a:solidFill>
                <a:latin typeface="Roboto"/>
                <a:ea typeface="Roboto"/>
                <a:cs typeface="Roboto"/>
                <a:sym typeface="Roboto"/>
              </a:rPr>
              <a:t>: Younger millennials, Gen Z, families, and budget-conscious diners in suburban areas like University City, Steele Creek, and Concord.</a:t>
            </a:r>
            <a:endParaRPr sz="1200">
              <a:solidFill>
                <a:srgbClr val="404040"/>
              </a:solidFill>
              <a:latin typeface="Roboto"/>
              <a:ea typeface="Roboto"/>
              <a:cs typeface="Roboto"/>
              <a:sym typeface="Roboto"/>
            </a:endParaRPr>
          </a:p>
          <a:p>
            <a:pPr indent="-304800" lvl="0" marL="457200" rtl="0" algn="l">
              <a:lnSpc>
                <a:spcPct val="115000"/>
              </a:lnSpc>
              <a:spcBef>
                <a:spcPts val="0"/>
              </a:spcBef>
              <a:spcAft>
                <a:spcPts val="0"/>
              </a:spcAft>
              <a:buClr>
                <a:srgbClr val="404040"/>
              </a:buClr>
              <a:buSzPts val="1200"/>
              <a:buFont typeface="Roboto"/>
              <a:buChar char="●"/>
            </a:pPr>
            <a:r>
              <a:rPr b="1" lang="es" sz="1200">
                <a:solidFill>
                  <a:srgbClr val="404040"/>
                </a:solidFill>
                <a:latin typeface="Roboto"/>
                <a:ea typeface="Roboto"/>
                <a:cs typeface="Roboto"/>
                <a:sym typeface="Roboto"/>
              </a:rPr>
              <a:t>Why It Fits</a:t>
            </a:r>
            <a:r>
              <a:rPr lang="es" sz="1200">
                <a:solidFill>
                  <a:srgbClr val="404040"/>
                </a:solidFill>
                <a:latin typeface="Roboto"/>
                <a:ea typeface="Roboto"/>
                <a:cs typeface="Roboto"/>
                <a:sym typeface="Roboto"/>
              </a:rPr>
              <a:t>:</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The fast-paced lifestyle of young professionals and families makes casual dining a convenient option.</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Casual fast-food Italian (e.g., build-your-own pasta bowls, pizza by the slice) appeals to a broader audience, including students and middle-income families.</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The city's diverse population may prefer affordable, customizable options.</a:t>
            </a:r>
            <a:endParaRPr sz="1200">
              <a:solidFill>
                <a:srgbClr val="404040"/>
              </a:solidFill>
              <a:latin typeface="Roboto"/>
              <a:ea typeface="Roboto"/>
              <a:cs typeface="Roboto"/>
              <a:sym typeface="Roboto"/>
            </a:endParaRPr>
          </a:p>
          <a:p>
            <a:pPr indent="0" lvl="0" marL="0" rtl="0" algn="l">
              <a:lnSpc>
                <a:spcPct val="115000"/>
              </a:lnSpc>
              <a:spcBef>
                <a:spcPts val="0"/>
              </a:spcBef>
              <a:spcAft>
                <a:spcPts val="0"/>
              </a:spcAft>
              <a:buNone/>
            </a:pPr>
            <a:r>
              <a:t/>
            </a:r>
            <a:endParaRPr sz="1200">
              <a:solidFill>
                <a:srgbClr val="404040"/>
              </a:solidFill>
              <a:latin typeface="Roboto"/>
              <a:ea typeface="Roboto"/>
              <a:cs typeface="Roboto"/>
              <a:sym typeface="Roboto"/>
            </a:endParaRPr>
          </a:p>
          <a:p>
            <a:pPr indent="0" lvl="0" marL="0" rtl="0" algn="l">
              <a:lnSpc>
                <a:spcPct val="150000"/>
              </a:lnSpc>
              <a:spcBef>
                <a:spcPts val="1400"/>
              </a:spcBef>
              <a:spcAft>
                <a:spcPts val="0"/>
              </a:spcAft>
              <a:buNone/>
            </a:pPr>
            <a:r>
              <a:rPr b="1" lang="es" sz="1300">
                <a:solidFill>
                  <a:srgbClr val="404040"/>
                </a:solidFill>
                <a:latin typeface="Roboto"/>
                <a:ea typeface="Roboto"/>
                <a:cs typeface="Roboto"/>
                <a:sym typeface="Roboto"/>
              </a:rPr>
              <a:t>Market Opportunities</a:t>
            </a:r>
            <a:endParaRPr b="1" sz="1300">
              <a:solidFill>
                <a:srgbClr val="404040"/>
              </a:solidFill>
              <a:latin typeface="Roboto"/>
              <a:ea typeface="Roboto"/>
              <a:cs typeface="Roboto"/>
              <a:sym typeface="Roboto"/>
            </a:endParaRPr>
          </a:p>
          <a:p>
            <a:pPr indent="-304800" lvl="0" marL="457200" rtl="0" algn="l">
              <a:lnSpc>
                <a:spcPct val="115000"/>
              </a:lnSpc>
              <a:spcBef>
                <a:spcPts val="400"/>
              </a:spcBef>
              <a:spcAft>
                <a:spcPts val="0"/>
              </a:spcAft>
              <a:buClr>
                <a:srgbClr val="404040"/>
              </a:buClr>
              <a:buSzPts val="1200"/>
              <a:buFont typeface="Roboto"/>
              <a:buAutoNum type="arabicPeriod"/>
            </a:pPr>
            <a:r>
              <a:rPr b="1" lang="es" sz="1200">
                <a:solidFill>
                  <a:srgbClr val="404040"/>
                </a:solidFill>
                <a:latin typeface="Roboto"/>
                <a:ea typeface="Roboto"/>
                <a:cs typeface="Roboto"/>
                <a:sym typeface="Roboto"/>
              </a:rPr>
              <a:t>High-End Italian</a:t>
            </a:r>
            <a:r>
              <a:rPr lang="es" sz="1200">
                <a:solidFill>
                  <a:srgbClr val="404040"/>
                </a:solidFill>
                <a:latin typeface="Roboto"/>
                <a:ea typeface="Roboto"/>
                <a:cs typeface="Roboto"/>
                <a:sym typeface="Roboto"/>
              </a:rPr>
              <a:t>:</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Focus on affluent neighborhoods and areas with high foot traffic (e.g., Uptown, South End).</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Emphasize premium ingredients, authentic recipes, and a sophisticated dining experience.</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Offer wine pairings, private dining, and chef’s table experiences to attract corporate clients and special occasions.</a:t>
            </a:r>
            <a:endParaRPr sz="1200">
              <a:solidFill>
                <a:srgbClr val="404040"/>
              </a:solidFill>
              <a:latin typeface="Roboto"/>
              <a:ea typeface="Roboto"/>
              <a:cs typeface="Roboto"/>
              <a:sym typeface="Roboto"/>
            </a:endParaRPr>
          </a:p>
          <a:p>
            <a:pPr indent="-304800" lvl="0" marL="457200" rtl="0" algn="l">
              <a:lnSpc>
                <a:spcPct val="115000"/>
              </a:lnSpc>
              <a:spcBef>
                <a:spcPts val="0"/>
              </a:spcBef>
              <a:spcAft>
                <a:spcPts val="0"/>
              </a:spcAft>
              <a:buClr>
                <a:srgbClr val="404040"/>
              </a:buClr>
              <a:buSzPts val="1200"/>
              <a:buFont typeface="Roboto"/>
              <a:buAutoNum type="arabicPeriod"/>
            </a:pPr>
            <a:r>
              <a:rPr b="1" lang="es" sz="1200">
                <a:solidFill>
                  <a:srgbClr val="404040"/>
                </a:solidFill>
                <a:latin typeface="Roboto"/>
                <a:ea typeface="Roboto"/>
                <a:cs typeface="Roboto"/>
                <a:sym typeface="Roboto"/>
              </a:rPr>
              <a:t>Casual Fast-Food Italian</a:t>
            </a:r>
            <a:r>
              <a:rPr lang="es" sz="1200">
                <a:solidFill>
                  <a:srgbClr val="404040"/>
                </a:solidFill>
                <a:latin typeface="Roboto"/>
                <a:ea typeface="Roboto"/>
                <a:cs typeface="Roboto"/>
                <a:sym typeface="Roboto"/>
              </a:rPr>
              <a:t>:</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Target suburban areas, college campuses, and shopping centers.</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Emphasize speed, affordability, and customization (e.g., build-your-own pasta, pizza, or salads).</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Leverage delivery and takeout options to cater to busy professionals and families.</a:t>
            </a:r>
            <a:endParaRPr sz="1200">
              <a:solidFill>
                <a:srgbClr val="404040"/>
              </a:solidFill>
              <a:latin typeface="Roboto"/>
              <a:ea typeface="Roboto"/>
              <a:cs typeface="Roboto"/>
              <a:sym typeface="Roboto"/>
            </a:endParaRPr>
          </a:p>
        </p:txBody>
      </p:sp>
      <p:sp>
        <p:nvSpPr>
          <p:cNvPr id="678" name="Google Shape;678;p49"/>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s"/>
              <a:t>‹#›</a:t>
            </a:fld>
            <a:endParaRPr/>
          </a:p>
        </p:txBody>
      </p:sp>
      <p:sp>
        <p:nvSpPr>
          <p:cNvPr id="679" name="Google Shape;679;p49"/>
          <p:cNvSpPr/>
          <p:nvPr/>
        </p:nvSpPr>
        <p:spPr>
          <a:xfrm>
            <a:off x="3091600" y="4714075"/>
            <a:ext cx="4181400" cy="371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0" name="Google Shape;680;p49"/>
          <p:cNvSpPr txBox="1"/>
          <p:nvPr/>
        </p:nvSpPr>
        <p:spPr>
          <a:xfrm>
            <a:off x="148175" y="5310075"/>
            <a:ext cx="8646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s" sz="1000" u="sng"/>
              <a:t>https://www.deliverect.com/en/blog/trending/exploring-fast-fine-dining-the-rise-of-a-new-food-service-trend</a:t>
            </a:r>
            <a:endParaRPr i="1" sz="1000" u="sng"/>
          </a:p>
        </p:txBody>
      </p:sp>
      <p:pic>
        <p:nvPicPr>
          <p:cNvPr id="681" name="Google Shape;681;p49" title="Screenshot 2025-03-27 at 2.16.22 PM.png"/>
          <p:cNvPicPr preferRelativeResize="0"/>
          <p:nvPr/>
        </p:nvPicPr>
        <p:blipFill>
          <a:blip r:embed="rId3">
            <a:alphaModFix/>
          </a:blip>
          <a:stretch>
            <a:fillRect/>
          </a:stretch>
        </p:blipFill>
        <p:spPr>
          <a:xfrm>
            <a:off x="302675" y="1037275"/>
            <a:ext cx="8212671" cy="1054946"/>
          </a:xfrm>
          <a:prstGeom prst="rect">
            <a:avLst/>
          </a:prstGeom>
          <a:noFill/>
          <a:ln>
            <a:noFill/>
          </a:ln>
        </p:spPr>
      </p:pic>
      <p:pic>
        <p:nvPicPr>
          <p:cNvPr id="682" name="Google Shape;682;p49" title="Screenshot 2025-03-27 at 2.16.44 PM.png"/>
          <p:cNvPicPr preferRelativeResize="0"/>
          <p:nvPr/>
        </p:nvPicPr>
        <p:blipFill>
          <a:blip r:embed="rId4">
            <a:alphaModFix/>
          </a:blip>
          <a:stretch>
            <a:fillRect/>
          </a:stretch>
        </p:blipFill>
        <p:spPr>
          <a:xfrm>
            <a:off x="249750" y="2218983"/>
            <a:ext cx="8212674" cy="90572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50"/>
          <p:cNvSpPr txBox="1"/>
          <p:nvPr/>
        </p:nvSpPr>
        <p:spPr>
          <a:xfrm>
            <a:off x="198848" y="102400"/>
            <a:ext cx="23745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Appendix </a:t>
            </a:r>
            <a:endParaRPr sz="1100"/>
          </a:p>
        </p:txBody>
      </p:sp>
      <p:sp>
        <p:nvSpPr>
          <p:cNvPr id="688" name="Google Shape;688;p50"/>
          <p:cNvSpPr txBox="1"/>
          <p:nvPr>
            <p:ph idx="4294967295" type="title"/>
          </p:nvPr>
        </p:nvSpPr>
        <p:spPr>
          <a:xfrm>
            <a:off x="198853" y="345522"/>
            <a:ext cx="7886700" cy="2841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lang="es" sz="1400"/>
              <a:t>Market Trends in Franchising </a:t>
            </a:r>
            <a:endParaRPr sz="1800"/>
          </a:p>
        </p:txBody>
      </p:sp>
      <p:sp>
        <p:nvSpPr>
          <p:cNvPr id="689" name="Google Shape;689;p50"/>
          <p:cNvSpPr txBox="1"/>
          <p:nvPr/>
        </p:nvSpPr>
        <p:spPr>
          <a:xfrm>
            <a:off x="-3604850" y="0"/>
            <a:ext cx="3000000" cy="3404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br>
              <a:rPr lang="es"/>
            </a:br>
            <a:r>
              <a:rPr lang="es" sz="1200">
                <a:solidFill>
                  <a:srgbClr val="404040"/>
                </a:solidFill>
                <a:latin typeface="Roboto"/>
                <a:ea typeface="Roboto"/>
                <a:cs typeface="Roboto"/>
                <a:sym typeface="Roboto"/>
              </a:rPr>
              <a:t>Charlotte, North Carolina, is a rapidly growing city with a diverse population and a mix of cultural and economic influences. Understanding the demographics and preferences of Charlotte residents can help determine whether they are more likely to be interested in </a:t>
            </a:r>
            <a:r>
              <a:rPr b="1" lang="es" sz="1200">
                <a:solidFill>
                  <a:srgbClr val="404040"/>
                </a:solidFill>
                <a:latin typeface="Roboto"/>
                <a:ea typeface="Roboto"/>
                <a:cs typeface="Roboto"/>
                <a:sym typeface="Roboto"/>
              </a:rPr>
              <a:t>high-end Italian food</a:t>
            </a:r>
            <a:r>
              <a:rPr lang="es" sz="1200">
                <a:solidFill>
                  <a:srgbClr val="404040"/>
                </a:solidFill>
                <a:latin typeface="Roboto"/>
                <a:ea typeface="Roboto"/>
                <a:cs typeface="Roboto"/>
                <a:sym typeface="Roboto"/>
              </a:rPr>
              <a:t> or </a:t>
            </a:r>
            <a:r>
              <a:rPr b="1" lang="es" sz="1200">
                <a:solidFill>
                  <a:srgbClr val="404040"/>
                </a:solidFill>
                <a:latin typeface="Roboto"/>
                <a:ea typeface="Roboto"/>
                <a:cs typeface="Roboto"/>
                <a:sym typeface="Roboto"/>
              </a:rPr>
              <a:t>casual fast-food Italian</a:t>
            </a:r>
            <a:r>
              <a:rPr lang="es" sz="1200">
                <a:solidFill>
                  <a:srgbClr val="404040"/>
                </a:solidFill>
                <a:latin typeface="Roboto"/>
                <a:ea typeface="Roboto"/>
                <a:cs typeface="Roboto"/>
                <a:sym typeface="Roboto"/>
              </a:rPr>
              <a:t>. Here's an analysis:</a:t>
            </a:r>
            <a:endParaRPr sz="1200">
              <a:solidFill>
                <a:srgbClr val="404040"/>
              </a:solidFill>
              <a:latin typeface="Roboto"/>
              <a:ea typeface="Roboto"/>
              <a:cs typeface="Roboto"/>
              <a:sym typeface="Roboto"/>
            </a:endParaRPr>
          </a:p>
          <a:p>
            <a:pPr indent="0" lvl="0" marL="0" rtl="0" algn="l">
              <a:lnSpc>
                <a:spcPct val="115000"/>
              </a:lnSpc>
              <a:spcBef>
                <a:spcPts val="1200"/>
              </a:spcBef>
              <a:spcAft>
                <a:spcPts val="0"/>
              </a:spcAft>
              <a:buNone/>
            </a:pPr>
            <a:r>
              <a:t/>
            </a:r>
            <a:endParaRPr sz="1200">
              <a:solidFill>
                <a:srgbClr val="404040"/>
              </a:solidFill>
              <a:latin typeface="Roboto"/>
              <a:ea typeface="Roboto"/>
              <a:cs typeface="Roboto"/>
              <a:sym typeface="Roboto"/>
            </a:endParaRPr>
          </a:p>
          <a:p>
            <a:pPr indent="0" lvl="0" marL="0" rtl="0" algn="l">
              <a:lnSpc>
                <a:spcPct val="150000"/>
              </a:lnSpc>
              <a:spcBef>
                <a:spcPts val="1400"/>
              </a:spcBef>
              <a:spcAft>
                <a:spcPts val="0"/>
              </a:spcAft>
              <a:buNone/>
            </a:pPr>
            <a:r>
              <a:rPr b="1" lang="es" sz="1300">
                <a:solidFill>
                  <a:srgbClr val="404040"/>
                </a:solidFill>
                <a:latin typeface="Roboto"/>
                <a:ea typeface="Roboto"/>
                <a:cs typeface="Roboto"/>
                <a:sym typeface="Roboto"/>
              </a:rPr>
              <a:t>Demographics of Charlotte, NC</a:t>
            </a:r>
            <a:endParaRPr b="1" sz="1300">
              <a:solidFill>
                <a:srgbClr val="404040"/>
              </a:solidFill>
              <a:latin typeface="Roboto"/>
              <a:ea typeface="Roboto"/>
              <a:cs typeface="Roboto"/>
              <a:sym typeface="Roboto"/>
            </a:endParaRPr>
          </a:p>
          <a:p>
            <a:pPr indent="-304800" lvl="0" marL="457200" rtl="0" algn="l">
              <a:lnSpc>
                <a:spcPct val="115000"/>
              </a:lnSpc>
              <a:spcBef>
                <a:spcPts val="400"/>
              </a:spcBef>
              <a:spcAft>
                <a:spcPts val="0"/>
              </a:spcAft>
              <a:buClr>
                <a:srgbClr val="404040"/>
              </a:buClr>
              <a:buSzPts val="1200"/>
              <a:buFont typeface="Roboto"/>
              <a:buAutoNum type="arabicPeriod"/>
            </a:pPr>
            <a:r>
              <a:rPr b="1" lang="es" sz="1200">
                <a:solidFill>
                  <a:srgbClr val="404040"/>
                </a:solidFill>
                <a:latin typeface="Roboto"/>
                <a:ea typeface="Roboto"/>
                <a:cs typeface="Roboto"/>
                <a:sym typeface="Roboto"/>
              </a:rPr>
              <a:t>Population Growth</a:t>
            </a:r>
            <a:r>
              <a:rPr lang="es" sz="1200">
                <a:solidFill>
                  <a:srgbClr val="404040"/>
                </a:solidFill>
                <a:latin typeface="Roboto"/>
                <a:ea typeface="Roboto"/>
                <a:cs typeface="Roboto"/>
                <a:sym typeface="Roboto"/>
              </a:rPr>
              <a:t>:</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Charlotte is one of the fastest-growing cities in the U.S., with a population of over </a:t>
            </a:r>
            <a:r>
              <a:rPr b="1" lang="es" sz="1200">
                <a:solidFill>
                  <a:srgbClr val="404040"/>
                </a:solidFill>
                <a:latin typeface="Roboto"/>
                <a:ea typeface="Roboto"/>
                <a:cs typeface="Roboto"/>
                <a:sym typeface="Roboto"/>
              </a:rPr>
              <a:t>900,000</a:t>
            </a:r>
            <a:r>
              <a:rPr lang="es" sz="1200">
                <a:solidFill>
                  <a:srgbClr val="404040"/>
                </a:solidFill>
                <a:latin typeface="Roboto"/>
                <a:ea typeface="Roboto"/>
                <a:cs typeface="Roboto"/>
                <a:sym typeface="Roboto"/>
              </a:rPr>
              <a:t> (city proper) and </a:t>
            </a:r>
            <a:r>
              <a:rPr b="1" lang="es" sz="1200">
                <a:solidFill>
                  <a:srgbClr val="404040"/>
                </a:solidFill>
                <a:latin typeface="Roboto"/>
                <a:ea typeface="Roboto"/>
                <a:cs typeface="Roboto"/>
                <a:sym typeface="Roboto"/>
              </a:rPr>
              <a:t>2.7 million</a:t>
            </a:r>
            <a:r>
              <a:rPr lang="es" sz="1200">
                <a:solidFill>
                  <a:srgbClr val="404040"/>
                </a:solidFill>
                <a:latin typeface="Roboto"/>
                <a:ea typeface="Roboto"/>
                <a:cs typeface="Roboto"/>
                <a:sym typeface="Roboto"/>
              </a:rPr>
              <a:t> in the metropolitan area.</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The city attracts young professionals, families, and retirees due to its strong economy and quality of life.</a:t>
            </a:r>
            <a:endParaRPr sz="1200">
              <a:solidFill>
                <a:srgbClr val="404040"/>
              </a:solidFill>
              <a:latin typeface="Roboto"/>
              <a:ea typeface="Roboto"/>
              <a:cs typeface="Roboto"/>
              <a:sym typeface="Roboto"/>
            </a:endParaRPr>
          </a:p>
          <a:p>
            <a:pPr indent="-304800" lvl="0" marL="457200" rtl="0" algn="l">
              <a:lnSpc>
                <a:spcPct val="115000"/>
              </a:lnSpc>
              <a:spcBef>
                <a:spcPts val="0"/>
              </a:spcBef>
              <a:spcAft>
                <a:spcPts val="0"/>
              </a:spcAft>
              <a:buClr>
                <a:srgbClr val="404040"/>
              </a:buClr>
              <a:buSzPts val="1200"/>
              <a:buFont typeface="Roboto"/>
              <a:buAutoNum type="arabicPeriod"/>
            </a:pPr>
            <a:r>
              <a:rPr b="1" lang="es" sz="1200">
                <a:solidFill>
                  <a:srgbClr val="404040"/>
                </a:solidFill>
                <a:latin typeface="Roboto"/>
                <a:ea typeface="Roboto"/>
                <a:cs typeface="Roboto"/>
                <a:sym typeface="Roboto"/>
              </a:rPr>
              <a:t>Age Distribution</a:t>
            </a:r>
            <a:r>
              <a:rPr lang="es" sz="1200">
                <a:solidFill>
                  <a:srgbClr val="404040"/>
                </a:solidFill>
                <a:latin typeface="Roboto"/>
                <a:ea typeface="Roboto"/>
                <a:cs typeface="Roboto"/>
                <a:sym typeface="Roboto"/>
              </a:rPr>
              <a:t>:</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b="1" lang="es" sz="1200">
                <a:solidFill>
                  <a:srgbClr val="404040"/>
                </a:solidFill>
                <a:latin typeface="Roboto"/>
                <a:ea typeface="Roboto"/>
                <a:cs typeface="Roboto"/>
                <a:sym typeface="Roboto"/>
              </a:rPr>
              <a:t>Median Age</a:t>
            </a:r>
            <a:r>
              <a:rPr lang="es" sz="1200">
                <a:solidFill>
                  <a:srgbClr val="404040"/>
                </a:solidFill>
                <a:latin typeface="Roboto"/>
                <a:ea typeface="Roboto"/>
                <a:cs typeface="Roboto"/>
                <a:sym typeface="Roboto"/>
              </a:rPr>
              <a:t>: 34.6 years (younger than the national median of 38.5).</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A significant portion of the population is in the </a:t>
            </a:r>
            <a:r>
              <a:rPr b="1" lang="es" sz="1200">
                <a:solidFill>
                  <a:srgbClr val="404040"/>
                </a:solidFill>
                <a:latin typeface="Roboto"/>
                <a:ea typeface="Roboto"/>
                <a:cs typeface="Roboto"/>
                <a:sym typeface="Roboto"/>
              </a:rPr>
              <a:t>25-44 age range</a:t>
            </a:r>
            <a:r>
              <a:rPr lang="es" sz="1200">
                <a:solidFill>
                  <a:srgbClr val="404040"/>
                </a:solidFill>
                <a:latin typeface="Roboto"/>
                <a:ea typeface="Roboto"/>
                <a:cs typeface="Roboto"/>
                <a:sym typeface="Roboto"/>
              </a:rPr>
              <a:t>, which is a key demographic for dining out.</a:t>
            </a:r>
            <a:endParaRPr sz="1200">
              <a:solidFill>
                <a:srgbClr val="404040"/>
              </a:solidFill>
              <a:latin typeface="Roboto"/>
              <a:ea typeface="Roboto"/>
              <a:cs typeface="Roboto"/>
              <a:sym typeface="Roboto"/>
            </a:endParaRPr>
          </a:p>
          <a:p>
            <a:pPr indent="-304800" lvl="0" marL="457200" rtl="0" algn="l">
              <a:lnSpc>
                <a:spcPct val="115000"/>
              </a:lnSpc>
              <a:spcBef>
                <a:spcPts val="0"/>
              </a:spcBef>
              <a:spcAft>
                <a:spcPts val="0"/>
              </a:spcAft>
              <a:buClr>
                <a:srgbClr val="404040"/>
              </a:buClr>
              <a:buSzPts val="1200"/>
              <a:buFont typeface="Roboto"/>
              <a:buAutoNum type="arabicPeriod"/>
            </a:pPr>
            <a:r>
              <a:rPr b="1" lang="es" sz="1200">
                <a:solidFill>
                  <a:srgbClr val="404040"/>
                </a:solidFill>
                <a:latin typeface="Roboto"/>
                <a:ea typeface="Roboto"/>
                <a:cs typeface="Roboto"/>
                <a:sym typeface="Roboto"/>
              </a:rPr>
              <a:t>Income Levels</a:t>
            </a:r>
            <a:r>
              <a:rPr lang="es" sz="1200">
                <a:solidFill>
                  <a:srgbClr val="404040"/>
                </a:solidFill>
                <a:latin typeface="Roboto"/>
                <a:ea typeface="Roboto"/>
                <a:cs typeface="Roboto"/>
                <a:sym typeface="Roboto"/>
              </a:rPr>
              <a:t>:</a:t>
            </a:r>
            <a:endParaRPr sz="1200">
              <a:solidFill>
                <a:srgbClr val="404040"/>
              </a:solidFill>
              <a:latin typeface="Roboto"/>
              <a:ea typeface="Roboto"/>
              <a:cs typeface="Roboto"/>
              <a:sym typeface="Roboto"/>
            </a:endParaRPr>
          </a:p>
          <a:p>
            <a:pPr indent="-304800" lvl="1" marL="914400" rtl="0" algn="l">
              <a:lnSpc>
                <a:spcPct val="120000"/>
              </a:lnSpc>
              <a:spcBef>
                <a:spcPts val="0"/>
              </a:spcBef>
              <a:spcAft>
                <a:spcPts val="0"/>
              </a:spcAft>
              <a:buClr>
                <a:srgbClr val="404040"/>
              </a:buClr>
              <a:buSzPts val="1200"/>
              <a:buFont typeface="Roboto"/>
              <a:buChar char="○"/>
            </a:pPr>
            <a:r>
              <a:rPr b="1" lang="es" sz="1200">
                <a:solidFill>
                  <a:srgbClr val="404040"/>
                </a:solidFill>
                <a:latin typeface="Roboto"/>
                <a:ea typeface="Roboto"/>
                <a:cs typeface="Roboto"/>
                <a:sym typeface="Roboto"/>
              </a:rPr>
              <a:t>Median Household Income</a:t>
            </a:r>
            <a:r>
              <a:rPr lang="es" sz="1200">
                <a:solidFill>
                  <a:srgbClr val="404040"/>
                </a:solidFill>
                <a:latin typeface="Roboto"/>
                <a:ea typeface="Roboto"/>
                <a:cs typeface="Roboto"/>
                <a:sym typeface="Roboto"/>
              </a:rPr>
              <a:t>: ~</a:t>
            </a:r>
            <a:endParaRPr sz="1200">
              <a:solidFill>
                <a:srgbClr val="404040"/>
              </a:solidFill>
              <a:latin typeface="Roboto"/>
              <a:ea typeface="Roboto"/>
              <a:cs typeface="Roboto"/>
              <a:sym typeface="Roboto"/>
            </a:endParaRPr>
          </a:p>
          <a:p>
            <a:pPr indent="-304800" lvl="1" marL="914400" rtl="0" algn="l">
              <a:lnSpc>
                <a:spcPct val="120000"/>
              </a:lnSpc>
              <a:spcBef>
                <a:spcPts val="0"/>
              </a:spcBef>
              <a:spcAft>
                <a:spcPts val="0"/>
              </a:spcAft>
              <a:buClr>
                <a:srgbClr val="404040"/>
              </a:buClr>
              <a:buSzPts val="1200"/>
              <a:buFont typeface="Roboto"/>
              <a:buChar char="○"/>
            </a:pPr>
            <a:r>
              <a:rPr lang="es" sz="1450">
                <a:solidFill>
                  <a:srgbClr val="404040"/>
                </a:solidFill>
                <a:latin typeface="Times New Roman"/>
                <a:ea typeface="Times New Roman"/>
                <a:cs typeface="Times New Roman"/>
                <a:sym typeface="Times New Roman"/>
              </a:rPr>
              <a:t>65,000(slightlyabovethenationalmedianof </a:t>
            </a:r>
            <a:endParaRPr sz="1450">
              <a:solidFill>
                <a:srgbClr val="404040"/>
              </a:solidFill>
              <a:latin typeface="Times New Roman"/>
              <a:ea typeface="Times New Roman"/>
              <a:cs typeface="Times New Roman"/>
              <a:sym typeface="Times New Roman"/>
            </a:endParaRPr>
          </a:p>
          <a:p>
            <a:pPr indent="-304800" lvl="1" marL="914400" rtl="0" algn="l">
              <a:lnSpc>
                <a:spcPct val="115000"/>
              </a:lnSpc>
              <a:spcBef>
                <a:spcPts val="0"/>
              </a:spcBef>
              <a:spcAft>
                <a:spcPts val="0"/>
              </a:spcAft>
              <a:buClr>
                <a:srgbClr val="404040"/>
              </a:buClr>
              <a:buSzPts val="1200"/>
              <a:buFont typeface="Roboto"/>
              <a:buChar char="○"/>
            </a:pPr>
            <a:r>
              <a:rPr lang="es" sz="1450">
                <a:solidFill>
                  <a:srgbClr val="404040"/>
                </a:solidFill>
                <a:latin typeface="Times New Roman"/>
                <a:ea typeface="Times New Roman"/>
                <a:cs typeface="Times New Roman"/>
                <a:sym typeface="Times New Roman"/>
              </a:rPr>
              <a:t>65,000(</a:t>
            </a:r>
            <a:r>
              <a:rPr i="1" lang="es" sz="1450">
                <a:solidFill>
                  <a:srgbClr val="404040"/>
                </a:solidFill>
                <a:latin typeface="Times New Roman"/>
                <a:ea typeface="Times New Roman"/>
                <a:cs typeface="Times New Roman"/>
                <a:sym typeface="Times New Roman"/>
              </a:rPr>
              <a:t>slightlyabovethenationalmedianof</a:t>
            </a:r>
            <a:r>
              <a:rPr lang="es" sz="1450">
                <a:solidFill>
                  <a:srgbClr val="404040"/>
                </a:solidFill>
                <a:latin typeface="Times New Roman"/>
                <a:ea typeface="Times New Roman"/>
                <a:cs typeface="Times New Roman"/>
                <a:sym typeface="Times New Roman"/>
              </a:rPr>
              <a:t> </a:t>
            </a:r>
            <a:r>
              <a:rPr lang="es" sz="1200">
                <a:solidFill>
                  <a:srgbClr val="404040"/>
                </a:solidFill>
                <a:latin typeface="Roboto"/>
                <a:ea typeface="Roboto"/>
                <a:cs typeface="Roboto"/>
                <a:sym typeface="Roboto"/>
              </a:rPr>
              <a:t>62,000).</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The city has a growing affluent population, particularly in neighborhoods like SouthPark, Ballantyne, and Dilworth, where incomes are higher.</a:t>
            </a:r>
            <a:endParaRPr sz="1200">
              <a:solidFill>
                <a:srgbClr val="404040"/>
              </a:solidFill>
              <a:latin typeface="Roboto"/>
              <a:ea typeface="Roboto"/>
              <a:cs typeface="Roboto"/>
              <a:sym typeface="Roboto"/>
            </a:endParaRPr>
          </a:p>
          <a:p>
            <a:pPr indent="-304800" lvl="0" marL="457200" rtl="0" algn="l">
              <a:lnSpc>
                <a:spcPct val="115000"/>
              </a:lnSpc>
              <a:spcBef>
                <a:spcPts val="0"/>
              </a:spcBef>
              <a:spcAft>
                <a:spcPts val="0"/>
              </a:spcAft>
              <a:buClr>
                <a:srgbClr val="404040"/>
              </a:buClr>
              <a:buSzPts val="1200"/>
              <a:buFont typeface="Roboto"/>
              <a:buAutoNum type="arabicPeriod"/>
            </a:pPr>
            <a:r>
              <a:rPr b="1" lang="es" sz="1200">
                <a:solidFill>
                  <a:srgbClr val="404040"/>
                </a:solidFill>
                <a:latin typeface="Roboto"/>
                <a:ea typeface="Roboto"/>
                <a:cs typeface="Roboto"/>
                <a:sym typeface="Roboto"/>
              </a:rPr>
              <a:t>Cultural Diversity</a:t>
            </a:r>
            <a:r>
              <a:rPr lang="es" sz="1200">
                <a:solidFill>
                  <a:srgbClr val="404040"/>
                </a:solidFill>
                <a:latin typeface="Roboto"/>
                <a:ea typeface="Roboto"/>
                <a:cs typeface="Roboto"/>
                <a:sym typeface="Roboto"/>
              </a:rPr>
              <a:t>:</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Charlotte is becoming increasingly diverse, with a growing Hispanic/Latino population (14%) and a significant African American population (35%).</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The city also has a growing international community, including professionals and students.</a:t>
            </a:r>
            <a:endParaRPr sz="1200">
              <a:solidFill>
                <a:srgbClr val="404040"/>
              </a:solidFill>
              <a:latin typeface="Roboto"/>
              <a:ea typeface="Roboto"/>
              <a:cs typeface="Roboto"/>
              <a:sym typeface="Roboto"/>
            </a:endParaRPr>
          </a:p>
          <a:p>
            <a:pPr indent="-304800" lvl="0" marL="457200" rtl="0" algn="l">
              <a:lnSpc>
                <a:spcPct val="115000"/>
              </a:lnSpc>
              <a:spcBef>
                <a:spcPts val="0"/>
              </a:spcBef>
              <a:spcAft>
                <a:spcPts val="0"/>
              </a:spcAft>
              <a:buClr>
                <a:srgbClr val="404040"/>
              </a:buClr>
              <a:buSzPts val="1200"/>
              <a:buFont typeface="Roboto"/>
              <a:buAutoNum type="arabicPeriod"/>
            </a:pPr>
            <a:r>
              <a:rPr b="1" lang="es" sz="1200">
                <a:solidFill>
                  <a:srgbClr val="404040"/>
                </a:solidFill>
                <a:latin typeface="Roboto"/>
                <a:ea typeface="Roboto"/>
                <a:cs typeface="Roboto"/>
                <a:sym typeface="Roboto"/>
              </a:rPr>
              <a:t>Lifestyle Trends</a:t>
            </a:r>
            <a:r>
              <a:rPr lang="es" sz="1200">
                <a:solidFill>
                  <a:srgbClr val="404040"/>
                </a:solidFill>
                <a:latin typeface="Roboto"/>
                <a:ea typeface="Roboto"/>
                <a:cs typeface="Roboto"/>
                <a:sym typeface="Roboto"/>
              </a:rPr>
              <a:t>:</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Charlotte residents value a mix of convenience and quality. The city has a thriving food scene, with a strong preference for locally owned restaurants and unique dining experiences.</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The presence of major corporations (e.g., Bank of America, Wells Fargo, Duke Energy) has created a demand for both upscale dining and quick, casual options.</a:t>
            </a:r>
            <a:endParaRPr sz="1200">
              <a:solidFill>
                <a:srgbClr val="404040"/>
              </a:solidFill>
              <a:latin typeface="Roboto"/>
              <a:ea typeface="Roboto"/>
              <a:cs typeface="Roboto"/>
              <a:sym typeface="Roboto"/>
            </a:endParaRPr>
          </a:p>
          <a:p>
            <a:pPr indent="0" lvl="0" marL="0" rtl="0" algn="l">
              <a:lnSpc>
                <a:spcPct val="115000"/>
              </a:lnSpc>
              <a:spcBef>
                <a:spcPts val="0"/>
              </a:spcBef>
              <a:spcAft>
                <a:spcPts val="0"/>
              </a:spcAft>
              <a:buNone/>
            </a:pPr>
            <a:r>
              <a:t/>
            </a:r>
            <a:endParaRPr sz="1200">
              <a:solidFill>
                <a:srgbClr val="404040"/>
              </a:solidFill>
              <a:latin typeface="Roboto"/>
              <a:ea typeface="Roboto"/>
              <a:cs typeface="Roboto"/>
              <a:sym typeface="Roboto"/>
            </a:endParaRPr>
          </a:p>
          <a:p>
            <a:pPr indent="0" lvl="0" marL="0" rtl="0" algn="l">
              <a:lnSpc>
                <a:spcPct val="150000"/>
              </a:lnSpc>
              <a:spcBef>
                <a:spcPts val="1400"/>
              </a:spcBef>
              <a:spcAft>
                <a:spcPts val="0"/>
              </a:spcAft>
              <a:buNone/>
            </a:pPr>
            <a:r>
              <a:rPr b="1" lang="es" sz="1300">
                <a:solidFill>
                  <a:srgbClr val="404040"/>
                </a:solidFill>
                <a:latin typeface="Roboto"/>
                <a:ea typeface="Roboto"/>
                <a:cs typeface="Roboto"/>
                <a:sym typeface="Roboto"/>
              </a:rPr>
              <a:t>Interest in High-End Italian vs. Casual Fast-Food Italian</a:t>
            </a:r>
            <a:endParaRPr b="1" sz="1300">
              <a:solidFill>
                <a:srgbClr val="404040"/>
              </a:solidFill>
              <a:latin typeface="Roboto"/>
              <a:ea typeface="Roboto"/>
              <a:cs typeface="Roboto"/>
              <a:sym typeface="Roboto"/>
            </a:endParaRPr>
          </a:p>
          <a:p>
            <a:pPr indent="0" lvl="0" marL="0" rtl="0" algn="l">
              <a:lnSpc>
                <a:spcPct val="115000"/>
              </a:lnSpc>
              <a:spcBef>
                <a:spcPts val="400"/>
              </a:spcBef>
              <a:spcAft>
                <a:spcPts val="0"/>
              </a:spcAft>
              <a:buNone/>
            </a:pPr>
            <a:r>
              <a:rPr lang="es" sz="1200">
                <a:solidFill>
                  <a:srgbClr val="404040"/>
                </a:solidFill>
                <a:latin typeface="Roboto"/>
                <a:ea typeface="Roboto"/>
                <a:cs typeface="Roboto"/>
                <a:sym typeface="Roboto"/>
              </a:rPr>
              <a:t>Based on Charlotte's demographics and trends, here's how the interest in high-end Italian and casual fast-food Italian might break down:</a:t>
            </a:r>
            <a:endParaRPr sz="1200">
              <a:solidFill>
                <a:srgbClr val="404040"/>
              </a:solidFill>
              <a:latin typeface="Roboto"/>
              <a:ea typeface="Roboto"/>
              <a:cs typeface="Roboto"/>
              <a:sym typeface="Roboto"/>
            </a:endParaRPr>
          </a:p>
          <a:p>
            <a:pPr indent="0" lvl="0" marL="0" rtl="0" algn="l">
              <a:lnSpc>
                <a:spcPct val="115000"/>
              </a:lnSpc>
              <a:spcBef>
                <a:spcPts val="1200"/>
              </a:spcBef>
              <a:spcAft>
                <a:spcPts val="0"/>
              </a:spcAft>
              <a:buNone/>
            </a:pPr>
            <a:r>
              <a:rPr b="1" lang="es" sz="1200">
                <a:solidFill>
                  <a:srgbClr val="404040"/>
                </a:solidFill>
                <a:latin typeface="Roboto"/>
                <a:ea typeface="Roboto"/>
                <a:cs typeface="Roboto"/>
                <a:sym typeface="Roboto"/>
              </a:rPr>
              <a:t>High-End Italian Food</a:t>
            </a:r>
            <a:endParaRPr b="1" sz="1200">
              <a:solidFill>
                <a:srgbClr val="404040"/>
              </a:solidFill>
              <a:latin typeface="Roboto"/>
              <a:ea typeface="Roboto"/>
              <a:cs typeface="Roboto"/>
              <a:sym typeface="Roboto"/>
            </a:endParaRPr>
          </a:p>
          <a:p>
            <a:pPr indent="-304800" lvl="0" marL="457200" rtl="0" algn="l">
              <a:lnSpc>
                <a:spcPct val="115000"/>
              </a:lnSpc>
              <a:spcBef>
                <a:spcPts val="200"/>
              </a:spcBef>
              <a:spcAft>
                <a:spcPts val="0"/>
              </a:spcAft>
              <a:buClr>
                <a:srgbClr val="404040"/>
              </a:buClr>
              <a:buSzPts val="1200"/>
              <a:buFont typeface="Roboto"/>
              <a:buChar char="●"/>
            </a:pPr>
            <a:r>
              <a:rPr b="1" lang="es" sz="1200">
                <a:solidFill>
                  <a:srgbClr val="404040"/>
                </a:solidFill>
                <a:latin typeface="Roboto"/>
                <a:ea typeface="Roboto"/>
                <a:cs typeface="Roboto"/>
                <a:sym typeface="Roboto"/>
              </a:rPr>
              <a:t>Target Audience</a:t>
            </a:r>
            <a:r>
              <a:rPr lang="es" sz="1200">
                <a:solidFill>
                  <a:srgbClr val="404040"/>
                </a:solidFill>
                <a:latin typeface="Roboto"/>
                <a:ea typeface="Roboto"/>
                <a:cs typeface="Roboto"/>
                <a:sym typeface="Roboto"/>
              </a:rPr>
              <a:t>: Affluent professionals, older millennials, Gen Xers, and retirees in upscale neighborhoods like SouthPark, Myers Park, and Uptown.</a:t>
            </a:r>
            <a:endParaRPr sz="1200">
              <a:solidFill>
                <a:srgbClr val="404040"/>
              </a:solidFill>
              <a:latin typeface="Roboto"/>
              <a:ea typeface="Roboto"/>
              <a:cs typeface="Roboto"/>
              <a:sym typeface="Roboto"/>
            </a:endParaRPr>
          </a:p>
          <a:p>
            <a:pPr indent="-304800" lvl="0" marL="457200" rtl="0" algn="l">
              <a:lnSpc>
                <a:spcPct val="115000"/>
              </a:lnSpc>
              <a:spcBef>
                <a:spcPts val="0"/>
              </a:spcBef>
              <a:spcAft>
                <a:spcPts val="0"/>
              </a:spcAft>
              <a:buClr>
                <a:srgbClr val="404040"/>
              </a:buClr>
              <a:buSzPts val="1200"/>
              <a:buFont typeface="Roboto"/>
              <a:buChar char="●"/>
            </a:pPr>
            <a:r>
              <a:rPr b="1" lang="es" sz="1200">
                <a:solidFill>
                  <a:srgbClr val="404040"/>
                </a:solidFill>
                <a:latin typeface="Roboto"/>
                <a:ea typeface="Roboto"/>
                <a:cs typeface="Roboto"/>
                <a:sym typeface="Roboto"/>
              </a:rPr>
              <a:t>Why It Fits</a:t>
            </a:r>
            <a:r>
              <a:rPr lang="es" sz="1200">
                <a:solidFill>
                  <a:srgbClr val="404040"/>
                </a:solidFill>
                <a:latin typeface="Roboto"/>
                <a:ea typeface="Roboto"/>
                <a:cs typeface="Roboto"/>
                <a:sym typeface="Roboto"/>
              </a:rPr>
              <a:t>:</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Charlotte's growing affluent population and strong corporate presence create demand for fine dining experiences.</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High-end Italian restaurants can cater to business dinners, date nights, and special occasions.</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The city's food scene is becoming more sophisticated, with residents willing to pay for quality and ambiance.</a:t>
            </a:r>
            <a:endParaRPr sz="1200">
              <a:solidFill>
                <a:srgbClr val="404040"/>
              </a:solidFill>
              <a:latin typeface="Roboto"/>
              <a:ea typeface="Roboto"/>
              <a:cs typeface="Roboto"/>
              <a:sym typeface="Roboto"/>
            </a:endParaRPr>
          </a:p>
          <a:p>
            <a:pPr indent="0" lvl="0" marL="0" rtl="0" algn="l">
              <a:lnSpc>
                <a:spcPct val="115000"/>
              </a:lnSpc>
              <a:spcBef>
                <a:spcPts val="1200"/>
              </a:spcBef>
              <a:spcAft>
                <a:spcPts val="0"/>
              </a:spcAft>
              <a:buNone/>
            </a:pPr>
            <a:r>
              <a:rPr b="1" lang="es" sz="1200">
                <a:solidFill>
                  <a:srgbClr val="404040"/>
                </a:solidFill>
                <a:latin typeface="Roboto"/>
                <a:ea typeface="Roboto"/>
                <a:cs typeface="Roboto"/>
                <a:sym typeface="Roboto"/>
              </a:rPr>
              <a:t>Casual Fast-Food Italian</a:t>
            </a:r>
            <a:endParaRPr b="1" sz="1200">
              <a:solidFill>
                <a:srgbClr val="404040"/>
              </a:solidFill>
              <a:latin typeface="Roboto"/>
              <a:ea typeface="Roboto"/>
              <a:cs typeface="Roboto"/>
              <a:sym typeface="Roboto"/>
            </a:endParaRPr>
          </a:p>
          <a:p>
            <a:pPr indent="-304800" lvl="0" marL="457200" rtl="0" algn="l">
              <a:lnSpc>
                <a:spcPct val="115000"/>
              </a:lnSpc>
              <a:spcBef>
                <a:spcPts val="200"/>
              </a:spcBef>
              <a:spcAft>
                <a:spcPts val="0"/>
              </a:spcAft>
              <a:buClr>
                <a:srgbClr val="404040"/>
              </a:buClr>
              <a:buSzPts val="1200"/>
              <a:buFont typeface="Roboto"/>
              <a:buChar char="●"/>
            </a:pPr>
            <a:r>
              <a:rPr b="1" lang="es" sz="1200">
                <a:solidFill>
                  <a:srgbClr val="404040"/>
                </a:solidFill>
                <a:latin typeface="Roboto"/>
                <a:ea typeface="Roboto"/>
                <a:cs typeface="Roboto"/>
                <a:sym typeface="Roboto"/>
              </a:rPr>
              <a:t>Target Audience</a:t>
            </a:r>
            <a:r>
              <a:rPr lang="es" sz="1200">
                <a:solidFill>
                  <a:srgbClr val="404040"/>
                </a:solidFill>
                <a:latin typeface="Roboto"/>
                <a:ea typeface="Roboto"/>
                <a:cs typeface="Roboto"/>
                <a:sym typeface="Roboto"/>
              </a:rPr>
              <a:t>: Younger millennials, Gen Z, families, and budget-conscious diners in suburban areas like University City, Steele Creek, and Concord.</a:t>
            </a:r>
            <a:endParaRPr sz="1200">
              <a:solidFill>
                <a:srgbClr val="404040"/>
              </a:solidFill>
              <a:latin typeface="Roboto"/>
              <a:ea typeface="Roboto"/>
              <a:cs typeface="Roboto"/>
              <a:sym typeface="Roboto"/>
            </a:endParaRPr>
          </a:p>
          <a:p>
            <a:pPr indent="-304800" lvl="0" marL="457200" rtl="0" algn="l">
              <a:lnSpc>
                <a:spcPct val="115000"/>
              </a:lnSpc>
              <a:spcBef>
                <a:spcPts val="0"/>
              </a:spcBef>
              <a:spcAft>
                <a:spcPts val="0"/>
              </a:spcAft>
              <a:buClr>
                <a:srgbClr val="404040"/>
              </a:buClr>
              <a:buSzPts val="1200"/>
              <a:buFont typeface="Roboto"/>
              <a:buChar char="●"/>
            </a:pPr>
            <a:r>
              <a:rPr b="1" lang="es" sz="1200">
                <a:solidFill>
                  <a:srgbClr val="404040"/>
                </a:solidFill>
                <a:latin typeface="Roboto"/>
                <a:ea typeface="Roboto"/>
                <a:cs typeface="Roboto"/>
                <a:sym typeface="Roboto"/>
              </a:rPr>
              <a:t>Why It Fits</a:t>
            </a:r>
            <a:r>
              <a:rPr lang="es" sz="1200">
                <a:solidFill>
                  <a:srgbClr val="404040"/>
                </a:solidFill>
                <a:latin typeface="Roboto"/>
                <a:ea typeface="Roboto"/>
                <a:cs typeface="Roboto"/>
                <a:sym typeface="Roboto"/>
              </a:rPr>
              <a:t>:</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The fast-paced lifestyle of young professionals and families makes casual dining a convenient option.</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Casual fast-food Italian (e.g., build-your-own pasta bowls, pizza by the slice) appeals to a broader audience, including students and middle-income families.</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The city's diverse population may prefer affordable, customizable options.</a:t>
            </a:r>
            <a:endParaRPr sz="1200">
              <a:solidFill>
                <a:srgbClr val="404040"/>
              </a:solidFill>
              <a:latin typeface="Roboto"/>
              <a:ea typeface="Roboto"/>
              <a:cs typeface="Roboto"/>
              <a:sym typeface="Roboto"/>
            </a:endParaRPr>
          </a:p>
          <a:p>
            <a:pPr indent="0" lvl="0" marL="0" rtl="0" algn="l">
              <a:lnSpc>
                <a:spcPct val="115000"/>
              </a:lnSpc>
              <a:spcBef>
                <a:spcPts val="0"/>
              </a:spcBef>
              <a:spcAft>
                <a:spcPts val="0"/>
              </a:spcAft>
              <a:buNone/>
            </a:pPr>
            <a:r>
              <a:t/>
            </a:r>
            <a:endParaRPr sz="1200">
              <a:solidFill>
                <a:srgbClr val="404040"/>
              </a:solidFill>
              <a:latin typeface="Roboto"/>
              <a:ea typeface="Roboto"/>
              <a:cs typeface="Roboto"/>
              <a:sym typeface="Roboto"/>
            </a:endParaRPr>
          </a:p>
          <a:p>
            <a:pPr indent="0" lvl="0" marL="0" rtl="0" algn="l">
              <a:lnSpc>
                <a:spcPct val="150000"/>
              </a:lnSpc>
              <a:spcBef>
                <a:spcPts val="1400"/>
              </a:spcBef>
              <a:spcAft>
                <a:spcPts val="0"/>
              </a:spcAft>
              <a:buNone/>
            </a:pPr>
            <a:r>
              <a:rPr b="1" lang="es" sz="1300">
                <a:solidFill>
                  <a:srgbClr val="404040"/>
                </a:solidFill>
                <a:latin typeface="Roboto"/>
                <a:ea typeface="Roboto"/>
                <a:cs typeface="Roboto"/>
                <a:sym typeface="Roboto"/>
              </a:rPr>
              <a:t>Market Opportunities</a:t>
            </a:r>
            <a:endParaRPr b="1" sz="1300">
              <a:solidFill>
                <a:srgbClr val="404040"/>
              </a:solidFill>
              <a:latin typeface="Roboto"/>
              <a:ea typeface="Roboto"/>
              <a:cs typeface="Roboto"/>
              <a:sym typeface="Roboto"/>
            </a:endParaRPr>
          </a:p>
          <a:p>
            <a:pPr indent="-304800" lvl="0" marL="457200" rtl="0" algn="l">
              <a:lnSpc>
                <a:spcPct val="115000"/>
              </a:lnSpc>
              <a:spcBef>
                <a:spcPts val="400"/>
              </a:spcBef>
              <a:spcAft>
                <a:spcPts val="0"/>
              </a:spcAft>
              <a:buClr>
                <a:srgbClr val="404040"/>
              </a:buClr>
              <a:buSzPts val="1200"/>
              <a:buFont typeface="Roboto"/>
              <a:buAutoNum type="arabicPeriod"/>
            </a:pPr>
            <a:r>
              <a:rPr b="1" lang="es" sz="1200">
                <a:solidFill>
                  <a:srgbClr val="404040"/>
                </a:solidFill>
                <a:latin typeface="Roboto"/>
                <a:ea typeface="Roboto"/>
                <a:cs typeface="Roboto"/>
                <a:sym typeface="Roboto"/>
              </a:rPr>
              <a:t>High-End Italian</a:t>
            </a:r>
            <a:r>
              <a:rPr lang="es" sz="1200">
                <a:solidFill>
                  <a:srgbClr val="404040"/>
                </a:solidFill>
                <a:latin typeface="Roboto"/>
                <a:ea typeface="Roboto"/>
                <a:cs typeface="Roboto"/>
                <a:sym typeface="Roboto"/>
              </a:rPr>
              <a:t>:</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Focus on affluent neighborhoods and areas with high foot traffic (e.g., Uptown, South End).</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Emphasize premium ingredients, authentic recipes, and a sophisticated dining experience.</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Offer wine pairings, private dining, and chef’s table experiences to attract corporate clients and special occasions.</a:t>
            </a:r>
            <a:endParaRPr sz="1200">
              <a:solidFill>
                <a:srgbClr val="404040"/>
              </a:solidFill>
              <a:latin typeface="Roboto"/>
              <a:ea typeface="Roboto"/>
              <a:cs typeface="Roboto"/>
              <a:sym typeface="Roboto"/>
            </a:endParaRPr>
          </a:p>
          <a:p>
            <a:pPr indent="-304800" lvl="0" marL="457200" rtl="0" algn="l">
              <a:lnSpc>
                <a:spcPct val="115000"/>
              </a:lnSpc>
              <a:spcBef>
                <a:spcPts val="0"/>
              </a:spcBef>
              <a:spcAft>
                <a:spcPts val="0"/>
              </a:spcAft>
              <a:buClr>
                <a:srgbClr val="404040"/>
              </a:buClr>
              <a:buSzPts val="1200"/>
              <a:buFont typeface="Roboto"/>
              <a:buAutoNum type="arabicPeriod"/>
            </a:pPr>
            <a:r>
              <a:rPr b="1" lang="es" sz="1200">
                <a:solidFill>
                  <a:srgbClr val="404040"/>
                </a:solidFill>
                <a:latin typeface="Roboto"/>
                <a:ea typeface="Roboto"/>
                <a:cs typeface="Roboto"/>
                <a:sym typeface="Roboto"/>
              </a:rPr>
              <a:t>Casual Fast-Food Italian</a:t>
            </a:r>
            <a:r>
              <a:rPr lang="es" sz="1200">
                <a:solidFill>
                  <a:srgbClr val="404040"/>
                </a:solidFill>
                <a:latin typeface="Roboto"/>
                <a:ea typeface="Roboto"/>
                <a:cs typeface="Roboto"/>
                <a:sym typeface="Roboto"/>
              </a:rPr>
              <a:t>:</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Target suburban areas, college campuses, and shopping centers.</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Emphasize speed, affordability, and customization (e.g., build-your-own pasta, pizza, or salads).</a:t>
            </a:r>
            <a:endParaRPr sz="1200">
              <a:solidFill>
                <a:srgbClr val="404040"/>
              </a:solidFill>
              <a:latin typeface="Roboto"/>
              <a:ea typeface="Roboto"/>
              <a:cs typeface="Roboto"/>
              <a:sym typeface="Roboto"/>
            </a:endParaRPr>
          </a:p>
          <a:p>
            <a:pPr indent="-304800" lvl="1" marL="914400" rtl="0" algn="l">
              <a:lnSpc>
                <a:spcPct val="115000"/>
              </a:lnSpc>
              <a:spcBef>
                <a:spcPts val="0"/>
              </a:spcBef>
              <a:spcAft>
                <a:spcPts val="0"/>
              </a:spcAft>
              <a:buClr>
                <a:srgbClr val="404040"/>
              </a:buClr>
              <a:buSzPts val="1200"/>
              <a:buFont typeface="Roboto"/>
              <a:buChar char="○"/>
            </a:pPr>
            <a:r>
              <a:rPr lang="es" sz="1200">
                <a:solidFill>
                  <a:srgbClr val="404040"/>
                </a:solidFill>
                <a:latin typeface="Roboto"/>
                <a:ea typeface="Roboto"/>
                <a:cs typeface="Roboto"/>
                <a:sym typeface="Roboto"/>
              </a:rPr>
              <a:t>Leverage delivery and takeout options to cater to busy professionals and families.</a:t>
            </a:r>
            <a:endParaRPr sz="1200">
              <a:solidFill>
                <a:srgbClr val="404040"/>
              </a:solidFill>
              <a:latin typeface="Roboto"/>
              <a:ea typeface="Roboto"/>
              <a:cs typeface="Roboto"/>
              <a:sym typeface="Roboto"/>
            </a:endParaRPr>
          </a:p>
        </p:txBody>
      </p:sp>
      <p:sp>
        <p:nvSpPr>
          <p:cNvPr id="690" name="Google Shape;690;p50"/>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s"/>
              <a:t>‹#›</a:t>
            </a:fld>
            <a:endParaRPr/>
          </a:p>
        </p:txBody>
      </p:sp>
      <p:sp>
        <p:nvSpPr>
          <p:cNvPr id="691" name="Google Shape;691;p50"/>
          <p:cNvSpPr/>
          <p:nvPr/>
        </p:nvSpPr>
        <p:spPr>
          <a:xfrm>
            <a:off x="3091600" y="4714075"/>
            <a:ext cx="4181400" cy="371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2" name="Google Shape;692;p50"/>
          <p:cNvSpPr txBox="1"/>
          <p:nvPr/>
        </p:nvSpPr>
        <p:spPr>
          <a:xfrm>
            <a:off x="148175" y="5310075"/>
            <a:ext cx="8646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s" sz="1000" u="sng"/>
              <a:t>https://www.deliverect.com/en/blog/trending/exploring-fast-fine-dining-the-rise-of-a-new-food-service-trend</a:t>
            </a:r>
            <a:endParaRPr i="1" sz="1000" u="sng"/>
          </a:p>
        </p:txBody>
      </p:sp>
      <p:pic>
        <p:nvPicPr>
          <p:cNvPr id="693" name="Google Shape;693;p50" title="Screenshot 2025-03-27 at 2.13.07 PM.png"/>
          <p:cNvPicPr preferRelativeResize="0"/>
          <p:nvPr/>
        </p:nvPicPr>
        <p:blipFill>
          <a:blip r:embed="rId3">
            <a:alphaModFix/>
          </a:blip>
          <a:stretch>
            <a:fillRect/>
          </a:stretch>
        </p:blipFill>
        <p:spPr>
          <a:xfrm>
            <a:off x="316024" y="1525887"/>
            <a:ext cx="4830426" cy="3032425"/>
          </a:xfrm>
          <a:prstGeom prst="rect">
            <a:avLst/>
          </a:prstGeom>
          <a:noFill/>
          <a:ln>
            <a:noFill/>
          </a:ln>
        </p:spPr>
      </p:pic>
      <p:pic>
        <p:nvPicPr>
          <p:cNvPr id="694" name="Google Shape;694;p50" title="Screenshot 2025-03-27 at 2.13.31 PM.png"/>
          <p:cNvPicPr preferRelativeResize="0"/>
          <p:nvPr/>
        </p:nvPicPr>
        <p:blipFill>
          <a:blip r:embed="rId4">
            <a:alphaModFix/>
          </a:blip>
          <a:stretch>
            <a:fillRect/>
          </a:stretch>
        </p:blipFill>
        <p:spPr>
          <a:xfrm>
            <a:off x="239875" y="785475"/>
            <a:ext cx="8373217" cy="584650"/>
          </a:xfrm>
          <a:prstGeom prst="rect">
            <a:avLst/>
          </a:prstGeom>
          <a:noFill/>
          <a:ln>
            <a:noFill/>
          </a:ln>
        </p:spPr>
      </p:pic>
      <p:sp>
        <p:nvSpPr>
          <p:cNvPr id="695" name="Google Shape;695;p50"/>
          <p:cNvSpPr txBox="1"/>
          <p:nvPr/>
        </p:nvSpPr>
        <p:spPr>
          <a:xfrm>
            <a:off x="5302250" y="1525975"/>
            <a:ext cx="3630000" cy="280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950">
                <a:solidFill>
                  <a:srgbClr val="455F7C"/>
                </a:solidFill>
                <a:highlight>
                  <a:srgbClr val="FFFFFF"/>
                </a:highlight>
                <a:latin typeface="Open Sans"/>
                <a:ea typeface="Open Sans"/>
                <a:cs typeface="Open Sans"/>
                <a:sym typeface="Open Sans"/>
              </a:rPr>
              <a:t>In 2024, there were an estimated 811,000 franchise establishments in the United States. Franchising is a business concept where a franchisee is contractually permitted to use the franchisor’s ideas and business model. </a:t>
            </a:r>
            <a:endParaRPr sz="950">
              <a:solidFill>
                <a:srgbClr val="455F7C"/>
              </a:solidFill>
              <a:highlight>
                <a:srgbClr val="FFFFFF"/>
              </a:highlight>
              <a:latin typeface="Open Sans"/>
              <a:ea typeface="Open Sans"/>
              <a:cs typeface="Open Sans"/>
              <a:sym typeface="Open Sans"/>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rPr b="1" lang="es" sz="950">
                <a:solidFill>
                  <a:srgbClr val="455F7C"/>
                </a:solidFill>
                <a:highlight>
                  <a:srgbClr val="FFFFFF"/>
                </a:highlight>
                <a:latin typeface="Open Sans"/>
                <a:ea typeface="Open Sans"/>
                <a:cs typeface="Open Sans"/>
                <a:sym typeface="Open Sans"/>
              </a:rPr>
              <a:t>Franchising in the United States</a:t>
            </a:r>
            <a:endParaRPr b="1" sz="950">
              <a:solidFill>
                <a:srgbClr val="455F7C"/>
              </a:solidFill>
              <a:highlight>
                <a:srgbClr val="FFFFFF"/>
              </a:highlight>
              <a:latin typeface="Open Sans"/>
              <a:ea typeface="Open Sans"/>
              <a:cs typeface="Open Sans"/>
              <a:sym typeface="Open Sans"/>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rPr lang="es" sz="950">
                <a:solidFill>
                  <a:srgbClr val="455F7C"/>
                </a:solidFill>
                <a:highlight>
                  <a:srgbClr val="FFFFFF"/>
                </a:highlight>
                <a:latin typeface="Open Sans"/>
                <a:ea typeface="Open Sans"/>
                <a:cs typeface="Open Sans"/>
                <a:sym typeface="Open Sans"/>
              </a:rPr>
              <a:t>The franchise industry in the United States allows for companies to put licenses on their brand and distribute to a separate business. These smaller businesses work under the title of the bigger company. Franchises are available through different types of establishments. More notably, the franchise industry is commonly known for its fast food sector. In 2024, the </a:t>
            </a:r>
            <a:r>
              <a:rPr lang="es" sz="950" u="sng">
                <a:solidFill>
                  <a:srgbClr val="0666E5"/>
                </a:solidFill>
                <a:highlight>
                  <a:srgbClr val="FFFFFF"/>
                </a:highlight>
                <a:latin typeface="Open Sans"/>
                <a:ea typeface="Open Sans"/>
                <a:cs typeface="Open Sans"/>
                <a:sym typeface="Open Sans"/>
                <a:hlinkClick r:id="rId5">
                  <a:extLst>
                    <a:ext uri="{A12FA001-AC4F-418D-AE19-62706E023703}">
                      <ahyp:hlinkClr val="tx"/>
                    </a:ext>
                  </a:extLst>
                </a:hlinkClick>
              </a:rPr>
              <a:t>economic output of franchise establishments in the United States</a:t>
            </a:r>
            <a:r>
              <a:rPr lang="es" sz="950">
                <a:solidFill>
                  <a:srgbClr val="455F7C"/>
                </a:solidFill>
                <a:highlight>
                  <a:srgbClr val="FFFFFF"/>
                </a:highlight>
                <a:latin typeface="Open Sans"/>
                <a:ea typeface="Open Sans"/>
                <a:cs typeface="Open Sans"/>
                <a:sym typeface="Open Sans"/>
              </a:rPr>
              <a:t> was about 897 billion U.S. dollars. Contributing to the economic output of franchise establishments in the United States were more than </a:t>
            </a:r>
            <a:r>
              <a:rPr lang="es" sz="950" u="sng">
                <a:solidFill>
                  <a:srgbClr val="0666E5"/>
                </a:solidFill>
                <a:highlight>
                  <a:srgbClr val="FFFFFF"/>
                </a:highlight>
                <a:latin typeface="Open Sans"/>
                <a:ea typeface="Open Sans"/>
                <a:cs typeface="Open Sans"/>
                <a:sym typeface="Open Sans"/>
                <a:hlinkClick r:id="rId6">
                  <a:extLst>
                    <a:ext uri="{A12FA001-AC4F-418D-AE19-62706E023703}">
                      <ahyp:hlinkClr val="tx"/>
                    </a:ext>
                  </a:extLst>
                </a:hlinkClick>
              </a:rPr>
              <a:t>8 million people who worked for a franchise business</a:t>
            </a:r>
            <a:r>
              <a:rPr lang="es" sz="950">
                <a:solidFill>
                  <a:srgbClr val="455F7C"/>
                </a:solidFill>
                <a:highlight>
                  <a:srgbClr val="FFFFFF"/>
                </a:highlight>
                <a:latin typeface="Open Sans"/>
                <a:ea typeface="Open Sans"/>
                <a:cs typeface="Open Sans"/>
                <a:sym typeface="Open Sans"/>
              </a:rPr>
              <a:t>.</a:t>
            </a:r>
            <a:endParaRPr sz="12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51"/>
          <p:cNvSpPr txBox="1"/>
          <p:nvPr>
            <p:ph idx="4294967295" type="title"/>
          </p:nvPr>
        </p:nvSpPr>
        <p:spPr>
          <a:xfrm>
            <a:off x="198853" y="345522"/>
            <a:ext cx="78867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Play"/>
              <a:buNone/>
            </a:pPr>
            <a:r>
              <a:rPr lang="es" sz="1800"/>
              <a:t>Company Analysis </a:t>
            </a:r>
            <a:endParaRPr/>
          </a:p>
        </p:txBody>
      </p:sp>
      <p:cxnSp>
        <p:nvCxnSpPr>
          <p:cNvPr id="701" name="Google Shape;701;p51"/>
          <p:cNvCxnSpPr/>
          <p:nvPr/>
        </p:nvCxnSpPr>
        <p:spPr>
          <a:xfrm>
            <a:off x="259727" y="1016956"/>
            <a:ext cx="4078500" cy="0"/>
          </a:xfrm>
          <a:prstGeom prst="straightConnector1">
            <a:avLst/>
          </a:prstGeom>
          <a:noFill/>
          <a:ln cap="flat" cmpd="sng" w="12700">
            <a:solidFill>
              <a:srgbClr val="073763"/>
            </a:solidFill>
            <a:prstDash val="solid"/>
            <a:miter lim="800000"/>
            <a:headEnd len="sm" w="sm" type="none"/>
            <a:tailEnd len="sm" w="sm" type="none"/>
          </a:ln>
        </p:spPr>
      </p:cxnSp>
      <p:sp>
        <p:nvSpPr>
          <p:cNvPr id="702" name="Google Shape;702;p51"/>
          <p:cNvSpPr/>
          <p:nvPr/>
        </p:nvSpPr>
        <p:spPr>
          <a:xfrm>
            <a:off x="1357882" y="1224929"/>
            <a:ext cx="1882200" cy="13500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703" name="Google Shape;703;p51"/>
          <p:cNvSpPr/>
          <p:nvPr/>
        </p:nvSpPr>
        <p:spPr>
          <a:xfrm>
            <a:off x="5829634" y="1226203"/>
            <a:ext cx="1882200" cy="13500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704" name="Google Shape;704;p51"/>
          <p:cNvSpPr/>
          <p:nvPr/>
        </p:nvSpPr>
        <p:spPr>
          <a:xfrm>
            <a:off x="1045875" y="1745210"/>
            <a:ext cx="312000" cy="312000"/>
          </a:xfrm>
          <a:prstGeom prst="ellipse">
            <a:avLst/>
          </a:prstGeom>
          <a:solidFill>
            <a:srgbClr val="073763"/>
          </a:solidFill>
          <a:ln cap="flat" cmpd="sng" w="412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400">
                <a:solidFill>
                  <a:schemeClr val="lt1"/>
                </a:solidFill>
                <a:latin typeface="Arial"/>
                <a:ea typeface="Arial"/>
                <a:cs typeface="Arial"/>
                <a:sym typeface="Arial"/>
              </a:rPr>
              <a:t>1</a:t>
            </a:r>
            <a:endParaRPr sz="1100"/>
          </a:p>
        </p:txBody>
      </p:sp>
      <p:sp>
        <p:nvSpPr>
          <p:cNvPr id="705" name="Google Shape;705;p51"/>
          <p:cNvSpPr/>
          <p:nvPr/>
        </p:nvSpPr>
        <p:spPr>
          <a:xfrm>
            <a:off x="5517619" y="1745197"/>
            <a:ext cx="312000" cy="312000"/>
          </a:xfrm>
          <a:prstGeom prst="ellipse">
            <a:avLst/>
          </a:prstGeom>
          <a:solidFill>
            <a:srgbClr val="073763"/>
          </a:solidFill>
          <a:ln cap="flat" cmpd="sng" w="412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400">
                <a:solidFill>
                  <a:schemeClr val="lt1"/>
                </a:solidFill>
                <a:latin typeface="Arial"/>
                <a:ea typeface="Arial"/>
                <a:cs typeface="Arial"/>
                <a:sym typeface="Arial"/>
              </a:rPr>
              <a:t>2</a:t>
            </a:r>
            <a:endParaRPr sz="1100"/>
          </a:p>
        </p:txBody>
      </p:sp>
      <p:sp>
        <p:nvSpPr>
          <p:cNvPr id="706" name="Google Shape;706;p51"/>
          <p:cNvSpPr txBox="1"/>
          <p:nvPr/>
        </p:nvSpPr>
        <p:spPr>
          <a:xfrm>
            <a:off x="1390127" y="1793500"/>
            <a:ext cx="1817700" cy="215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a:solidFill>
                  <a:schemeClr val="dk1"/>
                </a:solidFill>
                <a:latin typeface="Quattrocento Sans"/>
                <a:ea typeface="Quattrocento Sans"/>
                <a:cs typeface="Quattrocento Sans"/>
                <a:sym typeface="Quattrocento Sans"/>
              </a:rPr>
              <a:t>STRENGTHS</a:t>
            </a:r>
            <a:endParaRPr b="1">
              <a:solidFill>
                <a:schemeClr val="dk1"/>
              </a:solidFill>
              <a:latin typeface="Quattrocento Sans"/>
              <a:ea typeface="Quattrocento Sans"/>
              <a:cs typeface="Quattrocento Sans"/>
              <a:sym typeface="Quattrocento Sans"/>
            </a:endParaRPr>
          </a:p>
        </p:txBody>
      </p:sp>
      <p:sp>
        <p:nvSpPr>
          <p:cNvPr id="707" name="Google Shape;707;p51"/>
          <p:cNvSpPr txBox="1"/>
          <p:nvPr/>
        </p:nvSpPr>
        <p:spPr>
          <a:xfrm>
            <a:off x="5757326" y="1792225"/>
            <a:ext cx="2026800" cy="215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a:solidFill>
                  <a:schemeClr val="dk1"/>
                </a:solidFill>
                <a:latin typeface="Quattrocento Sans"/>
                <a:ea typeface="Quattrocento Sans"/>
                <a:cs typeface="Quattrocento Sans"/>
                <a:sym typeface="Quattrocento Sans"/>
              </a:rPr>
              <a:t>WEAKNESSES</a:t>
            </a:r>
            <a:endParaRPr sz="1300">
              <a:solidFill>
                <a:schemeClr val="dk1"/>
              </a:solidFill>
              <a:latin typeface="Quattrocento Sans"/>
              <a:ea typeface="Quattrocento Sans"/>
              <a:cs typeface="Quattrocento Sans"/>
              <a:sym typeface="Quattrocento Sans"/>
            </a:endParaRPr>
          </a:p>
        </p:txBody>
      </p:sp>
      <p:cxnSp>
        <p:nvCxnSpPr>
          <p:cNvPr id="708" name="Google Shape;708;p51"/>
          <p:cNvCxnSpPr/>
          <p:nvPr/>
        </p:nvCxnSpPr>
        <p:spPr>
          <a:xfrm>
            <a:off x="259730" y="2691797"/>
            <a:ext cx="4078500" cy="0"/>
          </a:xfrm>
          <a:prstGeom prst="straightConnector1">
            <a:avLst/>
          </a:prstGeom>
          <a:noFill/>
          <a:ln cap="flat" cmpd="sng" w="12700">
            <a:solidFill>
              <a:srgbClr val="073763"/>
            </a:solidFill>
            <a:prstDash val="solid"/>
            <a:miter lim="800000"/>
            <a:headEnd len="sm" w="sm" type="none"/>
            <a:tailEnd len="sm" w="sm" type="none"/>
          </a:ln>
        </p:spPr>
      </p:cxnSp>
      <p:sp>
        <p:nvSpPr>
          <p:cNvPr id="709" name="Google Shape;709;p51"/>
          <p:cNvSpPr txBox="1"/>
          <p:nvPr/>
        </p:nvSpPr>
        <p:spPr>
          <a:xfrm>
            <a:off x="743603" y="3172766"/>
            <a:ext cx="3610500" cy="184800"/>
          </a:xfrm>
          <a:prstGeom prst="rect">
            <a:avLst/>
          </a:prstGeom>
          <a:noFill/>
          <a:ln>
            <a:noFill/>
          </a:ln>
        </p:spPr>
        <p:txBody>
          <a:bodyPr anchorCtr="0" anchor="ctr" bIns="0" lIns="0" spcFirstLastPara="1" rIns="0" wrap="square" tIns="0">
            <a:spAutoFit/>
          </a:bodyPr>
          <a:lstStyle/>
          <a:p>
            <a:pPr indent="-304800" lvl="0" marL="457200" marR="0" rtl="0" algn="l">
              <a:spcBef>
                <a:spcPts val="0"/>
              </a:spcBef>
              <a:spcAft>
                <a:spcPts val="0"/>
              </a:spcAft>
              <a:buSzPts val="1200"/>
              <a:buFont typeface="Quattrocento Sans"/>
              <a:buChar char="●"/>
            </a:pPr>
            <a:r>
              <a:rPr lang="es" sz="1200">
                <a:solidFill>
                  <a:schemeClr val="dk1"/>
                </a:solidFill>
                <a:latin typeface="Quattrocento Sans"/>
                <a:ea typeface="Quattrocento Sans"/>
                <a:cs typeface="Quattrocento Sans"/>
                <a:sym typeface="Quattrocento Sans"/>
              </a:rPr>
              <a:t>Strong brand and quality reputation</a:t>
            </a:r>
            <a:endParaRPr sz="1200">
              <a:solidFill>
                <a:schemeClr val="dk1"/>
              </a:solidFill>
              <a:latin typeface="Quattrocento Sans"/>
              <a:ea typeface="Quattrocento Sans"/>
              <a:cs typeface="Quattrocento Sans"/>
              <a:sym typeface="Quattrocento Sans"/>
            </a:endParaRPr>
          </a:p>
        </p:txBody>
      </p:sp>
      <p:sp>
        <p:nvSpPr>
          <p:cNvPr id="710" name="Google Shape;710;p51"/>
          <p:cNvSpPr txBox="1"/>
          <p:nvPr/>
        </p:nvSpPr>
        <p:spPr>
          <a:xfrm>
            <a:off x="743603" y="3498070"/>
            <a:ext cx="3692100" cy="184800"/>
          </a:xfrm>
          <a:prstGeom prst="rect">
            <a:avLst/>
          </a:prstGeom>
          <a:noFill/>
          <a:ln>
            <a:noFill/>
          </a:ln>
        </p:spPr>
        <p:txBody>
          <a:bodyPr anchorCtr="0" anchor="ctr" bIns="0" lIns="0" spcFirstLastPara="1" rIns="0" wrap="square" tIns="0">
            <a:spAutoFit/>
          </a:bodyPr>
          <a:lstStyle/>
          <a:p>
            <a:pPr indent="-304800" lvl="0" marL="457200" marR="0" rtl="0" algn="l">
              <a:spcBef>
                <a:spcPts val="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Customer loyalty and unique ambience</a:t>
            </a:r>
            <a:endParaRPr sz="1200">
              <a:solidFill>
                <a:schemeClr val="dk1"/>
              </a:solidFill>
              <a:latin typeface="Quattrocento Sans"/>
              <a:ea typeface="Quattrocento Sans"/>
              <a:cs typeface="Quattrocento Sans"/>
              <a:sym typeface="Quattrocento Sans"/>
            </a:endParaRPr>
          </a:p>
        </p:txBody>
      </p:sp>
      <p:sp>
        <p:nvSpPr>
          <p:cNvPr id="711" name="Google Shape;711;p51"/>
          <p:cNvSpPr txBox="1"/>
          <p:nvPr/>
        </p:nvSpPr>
        <p:spPr>
          <a:xfrm>
            <a:off x="743603" y="3823373"/>
            <a:ext cx="3500700" cy="184800"/>
          </a:xfrm>
          <a:prstGeom prst="rect">
            <a:avLst/>
          </a:prstGeom>
          <a:noFill/>
          <a:ln>
            <a:noFill/>
          </a:ln>
        </p:spPr>
        <p:txBody>
          <a:bodyPr anchorCtr="0" anchor="ctr" bIns="0" lIns="0" spcFirstLastPara="1" rIns="0" wrap="square" tIns="0">
            <a:spAutoFit/>
          </a:bodyPr>
          <a:lstStyle/>
          <a:p>
            <a:pPr indent="-304800" lvl="0" marL="457200" marR="0" rtl="0" algn="l">
              <a:spcBef>
                <a:spcPts val="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Consistent financial growth</a:t>
            </a:r>
            <a:endParaRPr sz="1200">
              <a:solidFill>
                <a:schemeClr val="dk1"/>
              </a:solidFill>
              <a:latin typeface="Quattrocento Sans"/>
              <a:ea typeface="Quattrocento Sans"/>
              <a:cs typeface="Quattrocento Sans"/>
              <a:sym typeface="Quattrocento Sans"/>
            </a:endParaRPr>
          </a:p>
        </p:txBody>
      </p:sp>
      <p:cxnSp>
        <p:nvCxnSpPr>
          <p:cNvPr id="712" name="Google Shape;712;p51"/>
          <p:cNvCxnSpPr/>
          <p:nvPr/>
        </p:nvCxnSpPr>
        <p:spPr>
          <a:xfrm>
            <a:off x="3248971" y="4790797"/>
            <a:ext cx="405000" cy="0"/>
          </a:xfrm>
          <a:prstGeom prst="straightConnector1">
            <a:avLst/>
          </a:prstGeom>
          <a:noFill/>
          <a:ln cap="flat" cmpd="sng" w="12700">
            <a:solidFill>
              <a:srgbClr val="008C65"/>
            </a:solidFill>
            <a:prstDash val="solid"/>
            <a:miter lim="800000"/>
            <a:headEnd len="sm" w="sm" type="none"/>
            <a:tailEnd len="sm" w="sm" type="none"/>
          </a:ln>
        </p:spPr>
      </p:cxnSp>
      <p:grpSp>
        <p:nvGrpSpPr>
          <p:cNvPr id="713" name="Google Shape;713;p51"/>
          <p:cNvGrpSpPr/>
          <p:nvPr/>
        </p:nvGrpSpPr>
        <p:grpSpPr>
          <a:xfrm>
            <a:off x="4415052" y="1156827"/>
            <a:ext cx="312075" cy="3492000"/>
            <a:chOff x="5979960" y="1797269"/>
            <a:chExt cx="416100" cy="4656000"/>
          </a:xfrm>
        </p:grpSpPr>
        <p:cxnSp>
          <p:nvCxnSpPr>
            <p:cNvPr id="714" name="Google Shape;714;p51"/>
            <p:cNvCxnSpPr/>
            <p:nvPr/>
          </p:nvCxnSpPr>
          <p:spPr>
            <a:xfrm>
              <a:off x="6187966" y="1797269"/>
              <a:ext cx="0" cy="4656000"/>
            </a:xfrm>
            <a:prstGeom prst="straightConnector1">
              <a:avLst/>
            </a:prstGeom>
            <a:noFill/>
            <a:ln cap="flat" cmpd="sng" w="19050">
              <a:solidFill>
                <a:schemeClr val="lt2"/>
              </a:solidFill>
              <a:prstDash val="solid"/>
              <a:miter lim="800000"/>
              <a:headEnd len="sm" w="sm" type="none"/>
              <a:tailEnd len="sm" w="sm" type="none"/>
            </a:ln>
          </p:spPr>
        </p:cxnSp>
        <p:sp>
          <p:nvSpPr>
            <p:cNvPr id="715" name="Google Shape;715;p51"/>
            <p:cNvSpPr/>
            <p:nvPr/>
          </p:nvSpPr>
          <p:spPr>
            <a:xfrm>
              <a:off x="5979960" y="3917306"/>
              <a:ext cx="416100" cy="416100"/>
            </a:xfrm>
            <a:prstGeom prst="ellipse">
              <a:avLst/>
            </a:prstGeom>
            <a:solidFill>
              <a:srgbClr val="07376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400">
                  <a:solidFill>
                    <a:schemeClr val="lt1"/>
                  </a:solidFill>
                  <a:latin typeface="Arial"/>
                  <a:ea typeface="Arial"/>
                  <a:cs typeface="Arial"/>
                  <a:sym typeface="Arial"/>
                </a:rPr>
                <a:t>&gt;</a:t>
              </a:r>
              <a:endParaRPr sz="1100"/>
            </a:p>
          </p:txBody>
        </p:sp>
      </p:grpSp>
      <p:cxnSp>
        <p:nvCxnSpPr>
          <p:cNvPr id="716" name="Google Shape;716;p51"/>
          <p:cNvCxnSpPr/>
          <p:nvPr/>
        </p:nvCxnSpPr>
        <p:spPr>
          <a:xfrm>
            <a:off x="4731477" y="1016956"/>
            <a:ext cx="4078500" cy="0"/>
          </a:xfrm>
          <a:prstGeom prst="straightConnector1">
            <a:avLst/>
          </a:prstGeom>
          <a:noFill/>
          <a:ln cap="flat" cmpd="sng" w="12700">
            <a:solidFill>
              <a:srgbClr val="073763"/>
            </a:solidFill>
            <a:prstDash val="solid"/>
            <a:miter lim="800000"/>
            <a:headEnd len="sm" w="sm" type="none"/>
            <a:tailEnd len="sm" w="sm" type="none"/>
          </a:ln>
        </p:spPr>
      </p:cxnSp>
      <p:cxnSp>
        <p:nvCxnSpPr>
          <p:cNvPr id="717" name="Google Shape;717;p51"/>
          <p:cNvCxnSpPr/>
          <p:nvPr/>
        </p:nvCxnSpPr>
        <p:spPr>
          <a:xfrm>
            <a:off x="4731480" y="2691797"/>
            <a:ext cx="4078500" cy="0"/>
          </a:xfrm>
          <a:prstGeom prst="straightConnector1">
            <a:avLst/>
          </a:prstGeom>
          <a:noFill/>
          <a:ln cap="flat" cmpd="sng" w="12700">
            <a:solidFill>
              <a:srgbClr val="073763"/>
            </a:solidFill>
            <a:prstDash val="solid"/>
            <a:miter lim="800000"/>
            <a:headEnd len="sm" w="sm" type="none"/>
            <a:tailEnd len="sm" w="sm" type="none"/>
          </a:ln>
        </p:spPr>
      </p:cxnSp>
      <p:sp>
        <p:nvSpPr>
          <p:cNvPr id="718" name="Google Shape;718;p51"/>
          <p:cNvSpPr txBox="1"/>
          <p:nvPr/>
        </p:nvSpPr>
        <p:spPr>
          <a:xfrm>
            <a:off x="4897878" y="3172766"/>
            <a:ext cx="3610500" cy="184800"/>
          </a:xfrm>
          <a:prstGeom prst="rect">
            <a:avLst/>
          </a:prstGeom>
          <a:noFill/>
          <a:ln>
            <a:noFill/>
          </a:ln>
        </p:spPr>
        <p:txBody>
          <a:bodyPr anchorCtr="0" anchor="ctr" bIns="0" lIns="0" spcFirstLastPara="1" rIns="0" wrap="square" tIns="0">
            <a:spAutoFit/>
          </a:bodyPr>
          <a:lstStyle/>
          <a:p>
            <a:pPr indent="-304800" lvl="0" marL="457200" marR="0" rtl="0" algn="l">
              <a:spcBef>
                <a:spcPts val="0"/>
              </a:spcBef>
              <a:spcAft>
                <a:spcPts val="0"/>
              </a:spcAft>
              <a:buSzPts val="1200"/>
              <a:buFont typeface="Quattrocento Sans"/>
              <a:buChar char="●"/>
            </a:pPr>
            <a:r>
              <a:rPr lang="es" sz="1200">
                <a:solidFill>
                  <a:schemeClr val="dk1"/>
                </a:solidFill>
                <a:latin typeface="Quattrocento Sans"/>
                <a:ea typeface="Quattrocento Sans"/>
                <a:cs typeface="Quattrocento Sans"/>
                <a:sym typeface="Quattrocento Sans"/>
              </a:rPr>
              <a:t>Limited capital for expansion</a:t>
            </a:r>
            <a:endParaRPr sz="1200">
              <a:solidFill>
                <a:schemeClr val="dk1"/>
              </a:solidFill>
              <a:latin typeface="Quattrocento Sans"/>
              <a:ea typeface="Quattrocento Sans"/>
              <a:cs typeface="Quattrocento Sans"/>
              <a:sym typeface="Quattrocento Sans"/>
            </a:endParaRPr>
          </a:p>
        </p:txBody>
      </p:sp>
      <p:sp>
        <p:nvSpPr>
          <p:cNvPr id="719" name="Google Shape;719;p51"/>
          <p:cNvSpPr txBox="1"/>
          <p:nvPr/>
        </p:nvSpPr>
        <p:spPr>
          <a:xfrm>
            <a:off x="4897878" y="3498070"/>
            <a:ext cx="3692100" cy="184800"/>
          </a:xfrm>
          <a:prstGeom prst="rect">
            <a:avLst/>
          </a:prstGeom>
          <a:noFill/>
          <a:ln>
            <a:noFill/>
          </a:ln>
        </p:spPr>
        <p:txBody>
          <a:bodyPr anchorCtr="0" anchor="ctr" bIns="0" lIns="0" spcFirstLastPara="1" rIns="0" wrap="square" tIns="0">
            <a:spAutoFit/>
          </a:bodyPr>
          <a:lstStyle/>
          <a:p>
            <a:pPr indent="-304800" lvl="0" marL="457200" marR="0" rtl="0" algn="l">
              <a:spcBef>
                <a:spcPts val="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Lack of brand recognition outside NorthEast</a:t>
            </a:r>
            <a:endParaRPr sz="1200">
              <a:solidFill>
                <a:schemeClr val="dk1"/>
              </a:solidFill>
              <a:latin typeface="Quattrocento Sans"/>
              <a:ea typeface="Quattrocento Sans"/>
              <a:cs typeface="Quattrocento Sans"/>
              <a:sym typeface="Quattrocento Sans"/>
            </a:endParaRPr>
          </a:p>
        </p:txBody>
      </p:sp>
      <p:sp>
        <p:nvSpPr>
          <p:cNvPr id="720" name="Google Shape;720;p51"/>
          <p:cNvSpPr txBox="1"/>
          <p:nvPr/>
        </p:nvSpPr>
        <p:spPr>
          <a:xfrm>
            <a:off x="4897878" y="3823373"/>
            <a:ext cx="3500700" cy="184800"/>
          </a:xfrm>
          <a:prstGeom prst="rect">
            <a:avLst/>
          </a:prstGeom>
          <a:noFill/>
          <a:ln>
            <a:noFill/>
          </a:ln>
        </p:spPr>
        <p:txBody>
          <a:bodyPr anchorCtr="0" anchor="ctr" bIns="0" lIns="0" spcFirstLastPara="1" rIns="0" wrap="square" tIns="0">
            <a:spAutoFit/>
          </a:bodyPr>
          <a:lstStyle/>
          <a:p>
            <a:pPr indent="-304800" lvl="0" marL="457200" marR="0" rtl="0" algn="l">
              <a:spcBef>
                <a:spcPts val="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Operational complexity</a:t>
            </a:r>
            <a:endParaRPr sz="1200">
              <a:solidFill>
                <a:schemeClr val="dk1"/>
              </a:solidFill>
              <a:latin typeface="Quattrocento Sans"/>
              <a:ea typeface="Quattrocento Sans"/>
              <a:cs typeface="Quattrocento Sans"/>
              <a:sym typeface="Quattrocento Sans"/>
            </a:endParaRPr>
          </a:p>
        </p:txBody>
      </p:sp>
      <p:sp>
        <p:nvSpPr>
          <p:cNvPr id="721" name="Google Shape;721;p51"/>
          <p:cNvSpPr/>
          <p:nvPr/>
        </p:nvSpPr>
        <p:spPr>
          <a:xfrm>
            <a:off x="3002175" y="4714275"/>
            <a:ext cx="3605100" cy="349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