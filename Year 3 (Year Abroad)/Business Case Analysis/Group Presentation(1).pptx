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5143500" cx="9144000"/>
  <p:notesSz cx="6858000" cy="9144000"/>
  <p:embeddedFontLst>
    <p:embeddedFont>
      <p:font typeface="Play"/>
      <p:regular r:id="rId28"/>
      <p:bold r:id="rId29"/>
    </p:embeddedFont>
    <p:embeddedFont>
      <p:font typeface="Roboto"/>
      <p:regular r:id="rId30"/>
      <p:bold r:id="rId31"/>
      <p:italic r:id="rId32"/>
      <p:boldItalic r:id="rId33"/>
    </p:embeddedFont>
    <p:embeddedFont>
      <p:font typeface="Lato"/>
      <p:regular r:id="rId34"/>
      <p:bold r:id="rId35"/>
      <p:italic r:id="rId36"/>
      <p:boldItalic r:id="rId37"/>
    </p:embeddedFont>
    <p:embeddedFont>
      <p:font typeface="Quattrocento Sans"/>
      <p:regular r:id="rId38"/>
      <p:bold r:id="rId39"/>
      <p:italic r:id="rId40"/>
      <p:boldItalic r:id="rId41"/>
    </p:embeddedFont>
    <p:embeddedFont>
      <p:font typeface="Open Sans"/>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D721C88-F452-4778-8C19-BF253FB8F64B}">
  <a:tblStyle styleId="{1D721C88-F452-4778-8C19-BF253FB8F64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QuattrocentoSans-italic.fntdata"/><Relationship Id="rId20" Type="http://schemas.openxmlformats.org/officeDocument/2006/relationships/slide" Target="slides/slide13.xml"/><Relationship Id="rId42" Type="http://schemas.openxmlformats.org/officeDocument/2006/relationships/font" Target="fonts/OpenSans-regular.fntdata"/><Relationship Id="rId41" Type="http://schemas.openxmlformats.org/officeDocument/2006/relationships/font" Target="fonts/QuattrocentoSans-boldItalic.fntdata"/><Relationship Id="rId22" Type="http://schemas.openxmlformats.org/officeDocument/2006/relationships/slide" Target="slides/slide15.xml"/><Relationship Id="rId44" Type="http://schemas.openxmlformats.org/officeDocument/2006/relationships/font" Target="fonts/OpenSans-italic.fntdata"/><Relationship Id="rId21" Type="http://schemas.openxmlformats.org/officeDocument/2006/relationships/slide" Target="slides/slide14.xml"/><Relationship Id="rId43" Type="http://schemas.openxmlformats.org/officeDocument/2006/relationships/font" Target="fonts/OpenSans-bold.fntdata"/><Relationship Id="rId24" Type="http://schemas.openxmlformats.org/officeDocument/2006/relationships/slide" Target="slides/slide17.xml"/><Relationship Id="rId23" Type="http://schemas.openxmlformats.org/officeDocument/2006/relationships/slide" Target="slides/slide16.xml"/><Relationship Id="rId45" Type="http://schemas.openxmlformats.org/officeDocument/2006/relationships/font" Target="fonts/Open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Play-regular.fntdata"/><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Play-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4.xml"/><Relationship Id="rId33" Type="http://schemas.openxmlformats.org/officeDocument/2006/relationships/font" Target="fonts/Roboto-boldItalic.fntdata"/><Relationship Id="rId10" Type="http://schemas.openxmlformats.org/officeDocument/2006/relationships/slide" Target="slides/slide3.xml"/><Relationship Id="rId32" Type="http://schemas.openxmlformats.org/officeDocument/2006/relationships/font" Target="fonts/Roboto-italic.fntdata"/><Relationship Id="rId13" Type="http://schemas.openxmlformats.org/officeDocument/2006/relationships/slide" Target="slides/slide6.xml"/><Relationship Id="rId35" Type="http://schemas.openxmlformats.org/officeDocument/2006/relationships/font" Target="fonts/Lato-bold.fntdata"/><Relationship Id="rId12" Type="http://schemas.openxmlformats.org/officeDocument/2006/relationships/slide" Target="slides/slide5.xml"/><Relationship Id="rId34" Type="http://schemas.openxmlformats.org/officeDocument/2006/relationships/font" Target="fonts/Lato-regular.fntdata"/><Relationship Id="rId15" Type="http://schemas.openxmlformats.org/officeDocument/2006/relationships/slide" Target="slides/slide8.xml"/><Relationship Id="rId37" Type="http://schemas.openxmlformats.org/officeDocument/2006/relationships/font" Target="fonts/Lato-boldItalic.fntdata"/><Relationship Id="rId14" Type="http://schemas.openxmlformats.org/officeDocument/2006/relationships/slide" Target="slides/slide7.xml"/><Relationship Id="rId36" Type="http://schemas.openxmlformats.org/officeDocument/2006/relationships/font" Target="fonts/Lato-italic.fntdata"/><Relationship Id="rId17" Type="http://schemas.openxmlformats.org/officeDocument/2006/relationships/slide" Target="slides/slide10.xml"/><Relationship Id="rId39" Type="http://schemas.openxmlformats.org/officeDocument/2006/relationships/font" Target="fonts/QuattrocentoSans-bold.fntdata"/><Relationship Id="rId16" Type="http://schemas.openxmlformats.org/officeDocument/2006/relationships/slide" Target="slides/slide9.xml"/><Relationship Id="rId38" Type="http://schemas.openxmlformats.org/officeDocument/2006/relationships/font" Target="fonts/QuattrocentoSans-regular.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47f66573f2_10_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g347f66573f2_10_1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g347f66573f2_10_1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47f66573f2_17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347f66573f2_17_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g347f66573f2_17_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47f66573f2_17_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g347f66573f2_17_1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g347f66573f2_17_1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47f66573f2_11_23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b="1">
              <a:solidFill>
                <a:schemeClr val="dk1"/>
              </a:solidFill>
            </a:endParaRPr>
          </a:p>
        </p:txBody>
      </p:sp>
      <p:sp>
        <p:nvSpPr>
          <p:cNvPr id="282" name="Google Shape;282;g347f66573f2_11_2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47f66573f2_17_2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g347f66573f2_17_2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g347f66573f2_17_2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47f66573f2_13_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None/>
            </a:pPr>
            <a:r>
              <a:t/>
            </a:r>
            <a:endParaRPr b="1">
              <a:solidFill>
                <a:schemeClr val="dk1"/>
              </a:solidFill>
            </a:endParaRPr>
          </a:p>
        </p:txBody>
      </p:sp>
      <p:sp>
        <p:nvSpPr>
          <p:cNvPr id="333" name="Google Shape;333;g347f66573f2_13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47f66573f2_11_2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Based on the decision matrix, I recommend </a:t>
            </a:r>
            <a:r>
              <a:rPr b="1" lang="es">
                <a:solidFill>
                  <a:schemeClr val="dk1"/>
                </a:solidFill>
              </a:rPr>
              <a:t>franchising</a:t>
            </a:r>
            <a:r>
              <a:rPr lang="es">
                <a:solidFill>
                  <a:schemeClr val="dk1"/>
                </a:solidFill>
              </a:rPr>
              <a:t> as the best strategic option for Porcini’s Pronto. While it offers lower operational control than company-owned sites, it excels where it matters most for this expansion: </a:t>
            </a:r>
            <a:r>
              <a:rPr b="1" lang="es">
                <a:solidFill>
                  <a:schemeClr val="dk1"/>
                </a:solidFill>
              </a:rPr>
              <a:t>speed and scalability</a:t>
            </a:r>
            <a:r>
              <a:rPr lang="es">
                <a:solidFill>
                  <a:schemeClr val="dk1"/>
                </a:solidFill>
              </a:rPr>
              <a:t>. Franchising allows rapid rollout along interstate highways, capturing time-sensitive traffic and building early brand presence.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It also minimizes capital intensity—critical for a company like Porcini’s with limited resources—enabling growth without tying up funds in property and construction. Although the profit margin is lower at 2%, the ability to scale quickly compensates by driving higher aggregate returns. this margin is also after tax, so the other ones may be lower.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Yes, brand consistency poses a risk due to lower operational control—but this can be mitigated through carefully designed contracts, strict quality standards, and close monitoring. In short, franchising balances financial prudence, market opportunity, and strategic growth—making it the best fit for achieving Porcini’s domestic expansion mandate.</a:t>
            </a:r>
            <a:endParaRPr>
              <a:solidFill>
                <a:schemeClr val="dk1"/>
              </a:solidFill>
            </a:endParaRPr>
          </a:p>
          <a:p>
            <a:pPr indent="0" lvl="0" marL="0" rtl="0" algn="l">
              <a:spcBef>
                <a:spcPts val="1200"/>
              </a:spcBef>
              <a:spcAft>
                <a:spcPts val="0"/>
              </a:spcAft>
              <a:buNone/>
            </a:pPr>
            <a:r>
              <a:t/>
            </a:r>
            <a:endParaRPr/>
          </a:p>
        </p:txBody>
      </p:sp>
      <p:sp>
        <p:nvSpPr>
          <p:cNvPr id="353" name="Google Shape;353;g347f66573f2_11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47f66573f2_11_6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Based on the decision matrix, I recommend </a:t>
            </a:r>
            <a:r>
              <a:rPr b="1" lang="es">
                <a:solidFill>
                  <a:schemeClr val="dk1"/>
                </a:solidFill>
              </a:rPr>
              <a:t>franchising</a:t>
            </a:r>
            <a:r>
              <a:rPr lang="es">
                <a:solidFill>
                  <a:schemeClr val="dk1"/>
                </a:solidFill>
              </a:rPr>
              <a:t> as the best strategic option for Porcini’s Pronto. While it offers lower operational control than company-owned sites, it excels where it matters most for this expansion: </a:t>
            </a:r>
            <a:r>
              <a:rPr b="1" lang="es">
                <a:solidFill>
                  <a:schemeClr val="dk1"/>
                </a:solidFill>
              </a:rPr>
              <a:t>speed and scalability</a:t>
            </a:r>
            <a:r>
              <a:rPr lang="es">
                <a:solidFill>
                  <a:schemeClr val="dk1"/>
                </a:solidFill>
              </a:rPr>
              <a:t>. Franchising allows rapid rollout along interstate highways, capturing time-sensitive traffic and building early brand presence.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It also minimizes capital intensity—critical for a company like Porcini’s with limited resources—enabling growth without tying up funds in property and construction. Although the profit margin is lower at 2%, the ability to scale quickly compensates by driving higher aggregate returns. this margin is also after tax, so the other ones may be lower.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Yes, brand consistency poses a risk due to lower operational control—but this can be mitigated through carefully designed contracts, strict quality standards, and close monitoring. In short, franchising balances financial prudence, market opportunity, and strategic growth—making it the best fit for achieving Porcini’s domestic expansion mandate.</a:t>
            </a:r>
            <a:endParaRPr>
              <a:solidFill>
                <a:schemeClr val="dk1"/>
              </a:solidFill>
            </a:endParaRPr>
          </a:p>
          <a:p>
            <a:pPr indent="0" lvl="0" marL="0" rtl="0" algn="l">
              <a:spcBef>
                <a:spcPts val="1200"/>
              </a:spcBef>
              <a:spcAft>
                <a:spcPts val="0"/>
              </a:spcAft>
              <a:buNone/>
            </a:pPr>
            <a:r>
              <a:t/>
            </a:r>
            <a:endParaRPr/>
          </a:p>
        </p:txBody>
      </p:sp>
      <p:sp>
        <p:nvSpPr>
          <p:cNvPr id="398" name="Google Shape;398;g347f66573f2_11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48315f5378_0_33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Based on the decision matrix, I recommend </a:t>
            </a:r>
            <a:r>
              <a:rPr b="1" lang="es">
                <a:solidFill>
                  <a:schemeClr val="dk1"/>
                </a:solidFill>
              </a:rPr>
              <a:t>franchising</a:t>
            </a:r>
            <a:r>
              <a:rPr lang="es">
                <a:solidFill>
                  <a:schemeClr val="dk1"/>
                </a:solidFill>
              </a:rPr>
              <a:t> as the best strategic option for Porcini’s Pronto. While it offers lower operational control than company-owned sites, it excels where it matters most for this expansion: </a:t>
            </a:r>
            <a:r>
              <a:rPr b="1" lang="es">
                <a:solidFill>
                  <a:schemeClr val="dk1"/>
                </a:solidFill>
              </a:rPr>
              <a:t>speed and scalability</a:t>
            </a:r>
            <a:r>
              <a:rPr lang="es">
                <a:solidFill>
                  <a:schemeClr val="dk1"/>
                </a:solidFill>
              </a:rPr>
              <a:t>. Franchising allows rapid rollout along interstate highways, capturing time-sensitive traffic and building early brand presence.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It also minimizes capital intensity—critical for a company like Porcini’s with limited resources—enabling growth without tying up funds in property and construction. Although the profit margin is lower at 2%, the ability to scale quickly compensates by driving higher aggregate returns. this margin is also after tax, so the other ones may be lower.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Yes, brand consistency poses a risk due to lower operational control—but this can be mitigated through carefully designed contracts, strict quality standards, and close monitoring. In short, franchising balances financial prudence, market opportunity, and strategic growth—making it the best fit for achieving Porcini’s domestic expansion mandate.</a:t>
            </a:r>
            <a:endParaRPr>
              <a:solidFill>
                <a:schemeClr val="dk1"/>
              </a:solidFill>
            </a:endParaRPr>
          </a:p>
          <a:p>
            <a:pPr indent="0" lvl="0" marL="0" rtl="0" algn="l">
              <a:spcBef>
                <a:spcPts val="1200"/>
              </a:spcBef>
              <a:spcAft>
                <a:spcPts val="0"/>
              </a:spcAft>
              <a:buNone/>
            </a:pPr>
            <a:r>
              <a:t/>
            </a:r>
            <a:endParaRPr/>
          </a:p>
        </p:txBody>
      </p:sp>
      <p:sp>
        <p:nvSpPr>
          <p:cNvPr id="444" name="Google Shape;444;g348315f5378_0_3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47f66573f2_11_3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2" name="Google Shape;492;g347f66573f2_11_3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g347f66573f2_11_3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47f66573f2_11_16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Based on the decision matrix, I recommend </a:t>
            </a:r>
            <a:r>
              <a:rPr b="1" lang="es">
                <a:solidFill>
                  <a:schemeClr val="dk1"/>
                </a:solidFill>
              </a:rPr>
              <a:t>franchising</a:t>
            </a:r>
            <a:r>
              <a:rPr lang="es">
                <a:solidFill>
                  <a:schemeClr val="dk1"/>
                </a:solidFill>
              </a:rPr>
              <a:t> as the best strategic option for Porcini’s Pronto. While it offers lower operational control than company-owned sites, it excels where it matters most for this expansion: </a:t>
            </a:r>
            <a:r>
              <a:rPr b="1" lang="es">
                <a:solidFill>
                  <a:schemeClr val="dk1"/>
                </a:solidFill>
              </a:rPr>
              <a:t>speed and scalability</a:t>
            </a:r>
            <a:r>
              <a:rPr lang="es">
                <a:solidFill>
                  <a:schemeClr val="dk1"/>
                </a:solidFill>
              </a:rPr>
              <a:t>. Franchising allows rapid rollout along interstate highways, capturing time-sensitive traffic and building early brand presence.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It also minimizes capital intensity—critical for a company like Porcini’s with limited resources—enabling growth without tying up funds in property and construction. Although the profit margin is lower at 2%, the ability to scale quickly compensates by driving higher aggregate returns. this margin is also after tax, so the other ones may be lower.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Yes, brand consistency poses a risk due to lower operational control—but this can be mitigated through carefully designed contracts, strict quality standards, and close monitoring. In short, franchising balances financial prudence, market opportunity, and strategic growth—making it the best fit for achieving Porcini’s domestic expansion mandate.</a:t>
            </a:r>
            <a:endParaRPr>
              <a:solidFill>
                <a:schemeClr val="dk1"/>
              </a:solidFill>
            </a:endParaRPr>
          </a:p>
          <a:p>
            <a:pPr indent="0" lvl="0" marL="0" rtl="0" algn="l">
              <a:spcBef>
                <a:spcPts val="1200"/>
              </a:spcBef>
              <a:spcAft>
                <a:spcPts val="0"/>
              </a:spcAft>
              <a:buNone/>
            </a:pPr>
            <a:r>
              <a:t/>
            </a:r>
            <a:endParaRPr/>
          </a:p>
        </p:txBody>
      </p:sp>
      <p:sp>
        <p:nvSpPr>
          <p:cNvPr id="502" name="Google Shape;502;g347f66573f2_11_1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47f66573f2_11_13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Based on the decision matrix, I recommend </a:t>
            </a:r>
            <a:r>
              <a:rPr b="1" lang="es">
                <a:solidFill>
                  <a:schemeClr val="dk1"/>
                </a:solidFill>
              </a:rPr>
              <a:t>franchising</a:t>
            </a:r>
            <a:r>
              <a:rPr lang="es">
                <a:solidFill>
                  <a:schemeClr val="dk1"/>
                </a:solidFill>
              </a:rPr>
              <a:t> as the best strategic option for Porcini’s Pronto. While it offers lower operational control than company-owned sites, it excels where it matters most for this expansion: </a:t>
            </a:r>
            <a:r>
              <a:rPr b="1" lang="es">
                <a:solidFill>
                  <a:schemeClr val="dk1"/>
                </a:solidFill>
              </a:rPr>
              <a:t>speed and scalability</a:t>
            </a:r>
            <a:r>
              <a:rPr lang="es">
                <a:solidFill>
                  <a:schemeClr val="dk1"/>
                </a:solidFill>
              </a:rPr>
              <a:t>. Franchising allows rapid rollout along interstate highways, capturing time-sensitive traffic and building early brand presence.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It also minimizes capital intensity—critical for a company like Porcini’s with limited resources—enabling growth without tying up funds in property and construction. Although the profit margin is lower at 2%, the ability to scale quickly compensates by driving higher aggregate returns. this margin is also after tax, so the other ones may be lower.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Yes, brand consistency poses a risk due to lower operational control—but this can be mitigated through carefully designed contracts, strict quality standards, and close monitoring. In short, franchising balances financial prudence, market opportunity, and strategic growth—making it the best fit for achieving Porcini’s domestic expansion mandate.</a:t>
            </a:r>
            <a:endParaRPr>
              <a:solidFill>
                <a:schemeClr val="dk1"/>
              </a:solidFill>
            </a:endParaRPr>
          </a:p>
          <a:p>
            <a:pPr indent="0" lvl="0" marL="0" rtl="0" algn="l">
              <a:spcBef>
                <a:spcPts val="1200"/>
              </a:spcBef>
              <a:spcAft>
                <a:spcPts val="0"/>
              </a:spcAft>
              <a:buNone/>
            </a:pPr>
            <a:r>
              <a:t/>
            </a:r>
            <a:endParaRPr/>
          </a:p>
        </p:txBody>
      </p:sp>
      <p:sp>
        <p:nvSpPr>
          <p:cNvPr id="547" name="Google Shape;547;g347f66573f2_11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47f66573f2_11_14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a:solidFill>
                  <a:schemeClr val="dk1"/>
                </a:solidFill>
              </a:rPr>
              <a:t>Based on the decision matrix, I recommend </a:t>
            </a:r>
            <a:r>
              <a:rPr b="1" lang="es">
                <a:solidFill>
                  <a:schemeClr val="dk1"/>
                </a:solidFill>
              </a:rPr>
              <a:t>franchising</a:t>
            </a:r>
            <a:r>
              <a:rPr lang="es">
                <a:solidFill>
                  <a:schemeClr val="dk1"/>
                </a:solidFill>
              </a:rPr>
              <a:t> as the best strategic option for Porcini’s Pronto. While it offers lower operational control than company-owned sites, it excels where it matters most for this expansion: </a:t>
            </a:r>
            <a:r>
              <a:rPr b="1" lang="es">
                <a:solidFill>
                  <a:schemeClr val="dk1"/>
                </a:solidFill>
              </a:rPr>
              <a:t>speed and scalability</a:t>
            </a:r>
            <a:r>
              <a:rPr lang="es">
                <a:solidFill>
                  <a:schemeClr val="dk1"/>
                </a:solidFill>
              </a:rPr>
              <a:t>. Franchising allows rapid rollout along interstate highways, capturing time-sensitive traffic and building early brand presence.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It also minimizes capital intensity—critical for a company like Porcini’s with limited resources—enabling growth without tying up funds in property and construction. Although the profit margin is lower at 2%, the ability to scale quickly compensates by driving higher aggregate returns. this margin is also after tax, so the other ones may be lower.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Yes, brand consistency poses a risk due to lower operational control—but this can be mitigated through carefully designed contracts, strict quality standards, and close monitoring. In short, franchising balances financial prudence, market opportunity, and strategic growth—making it the best fit for achieving Porcini’s domestic expansion mandate.</a:t>
            </a:r>
            <a:endParaRPr>
              <a:solidFill>
                <a:schemeClr val="dk1"/>
              </a:solidFill>
            </a:endParaRPr>
          </a:p>
          <a:p>
            <a:pPr indent="0" lvl="0" marL="0" rtl="0" algn="l">
              <a:spcBef>
                <a:spcPts val="1200"/>
              </a:spcBef>
              <a:spcAft>
                <a:spcPts val="0"/>
              </a:spcAft>
              <a:buNone/>
            </a:pPr>
            <a:r>
              <a:t/>
            </a:r>
            <a:endParaRPr/>
          </a:p>
        </p:txBody>
      </p:sp>
      <p:sp>
        <p:nvSpPr>
          <p:cNvPr id="567" name="Google Shape;567;g347f66573f2_11_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47f66573f2_17_4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g347f66573f2_17_4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4" name="Google Shape;594;g347f66573f2_17_4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47f66573f2_11_3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6" name="Google Shape;626;g347f66573f2_11_3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7" name="Google Shape;627;g347f66573f2_11_3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48315f5378_0_1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6" name="Google Shape;636;g348315f5378_0_1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g348315f5378_0_1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48315f5378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0" name="Google Shape;680;g348315f5378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1" name="Google Shape;681;g348315f5378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47f66573f2_11_2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5" name="Google Shape;715;g347f66573f2_11_2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6" name="Google Shape;716;g347f66573f2_11_2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47f66573f2_13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347f66573f2_13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48315f5378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348315f5378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2" name="Google Shape;52;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3" name="Google Shape;53;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4" name="Google Shape;54;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
        <p:nvSpPr>
          <p:cNvPr id="55" name="Google Shape;55;p13"/>
          <p:cNvSpPr txBox="1"/>
          <p:nvPr/>
        </p:nvSpPr>
        <p:spPr>
          <a:xfrm>
            <a:off x="1216650" y="4733800"/>
            <a:ext cx="7298700" cy="27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000">
                <a:solidFill>
                  <a:schemeClr val="dk2"/>
                </a:solidFill>
              </a:rPr>
              <a:t>Analysis      Recommendations    Implementation &amp; Impact </a:t>
            </a:r>
            <a:endParaRPr sz="1000">
              <a:solidFill>
                <a:schemeClr val="dk2"/>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OBJECT_1">
    <p:spTree>
      <p:nvGrpSpPr>
        <p:cNvPr id="56" name="Shape 56"/>
        <p:cNvGrpSpPr/>
        <p:nvPr/>
      </p:nvGrpSpPr>
      <p:grpSpPr>
        <a:xfrm>
          <a:off x="0" y="0"/>
          <a:ext cx="0" cy="0"/>
          <a:chOff x="0" y="0"/>
          <a:chExt cx="0" cy="0"/>
        </a:xfrm>
      </p:grpSpPr>
      <p:sp>
        <p:nvSpPr>
          <p:cNvPr id="57" name="Google Shape;57;p1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8" name="Google Shape;58;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9" name="Google Shape;59;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60" name="Google Shape;60;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
        <p:nvSpPr>
          <p:cNvPr id="61" name="Google Shape;61;p14"/>
          <p:cNvSpPr txBox="1"/>
          <p:nvPr/>
        </p:nvSpPr>
        <p:spPr>
          <a:xfrm>
            <a:off x="1216650" y="4733800"/>
            <a:ext cx="7298700" cy="27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000">
                <a:solidFill>
                  <a:schemeClr val="dk2"/>
                </a:solidFill>
              </a:rPr>
              <a:t>Analysis      Recommendations    Implementation &amp; Impact </a:t>
            </a:r>
            <a:endParaRPr sz="1000">
              <a:solidFill>
                <a:schemeClr val="dk2"/>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 name="Shape 68"/>
        <p:cNvGrpSpPr/>
        <p:nvPr/>
      </p:nvGrpSpPr>
      <p:grpSpPr>
        <a:xfrm>
          <a:off x="0" y="0"/>
          <a:ext cx="0" cy="0"/>
          <a:chOff x="0" y="0"/>
          <a:chExt cx="0" cy="0"/>
        </a:xfrm>
      </p:grpSpPr>
      <p:sp>
        <p:nvSpPr>
          <p:cNvPr id="69" name="Google Shape;69;p16"/>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6"/>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71" name="Google Shape;71;p1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4" name="Shape 74"/>
        <p:cNvGrpSpPr/>
        <p:nvPr/>
      </p:nvGrpSpPr>
      <p:grpSpPr>
        <a:xfrm>
          <a:off x="0" y="0"/>
          <a:ext cx="0" cy="0"/>
          <a:chOff x="0" y="0"/>
          <a:chExt cx="0" cy="0"/>
        </a:xfrm>
      </p:grpSpPr>
      <p:sp>
        <p:nvSpPr>
          <p:cNvPr id="75" name="Google Shape;75;p1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7"/>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Google Shape;78;p1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2" name="Google Shape;82;p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84" name="Shape 84"/>
        <p:cNvGrpSpPr/>
        <p:nvPr/>
      </p:nvGrpSpPr>
      <p:grpSpPr>
        <a:xfrm>
          <a:off x="0" y="0"/>
          <a:ext cx="0" cy="0"/>
          <a:chOff x="0" y="0"/>
          <a:chExt cx="0" cy="0"/>
        </a:xfrm>
      </p:grpSpPr>
      <p:sp>
        <p:nvSpPr>
          <p:cNvPr id="85" name="Google Shape;85;p19"/>
          <p:cNvSpPr/>
          <p:nvPr>
            <p:ph idx="2" type="pic"/>
          </p:nvPr>
        </p:nvSpPr>
        <p:spPr>
          <a:xfrm>
            <a:off x="-2381" y="0"/>
            <a:ext cx="9146381" cy="5143500"/>
          </a:xfrm>
          <a:prstGeom prst="rect">
            <a:avLst/>
          </a:prstGeom>
          <a:noFill/>
          <a:ln>
            <a:noFill/>
          </a:ln>
        </p:spPr>
      </p:sp>
      <p:cxnSp>
        <p:nvCxnSpPr>
          <p:cNvPr id="86" name="Google Shape;86;p19"/>
          <p:cNvCxnSpPr/>
          <p:nvPr/>
        </p:nvCxnSpPr>
        <p:spPr>
          <a:xfrm>
            <a:off x="459358" y="2447921"/>
            <a:ext cx="2225059" cy="0"/>
          </a:xfrm>
          <a:prstGeom prst="straightConnector1">
            <a:avLst/>
          </a:prstGeom>
          <a:noFill/>
          <a:ln cap="flat" cmpd="sng" w="28575">
            <a:solidFill>
              <a:schemeClr val="lt1"/>
            </a:solidFill>
            <a:prstDash val="solid"/>
            <a:miter lim="800000"/>
            <a:headEnd len="sm" w="sm" type="none"/>
            <a:tailEnd len="sm" w="sm" type="none"/>
          </a:ln>
        </p:spPr>
      </p:cxnSp>
      <p:sp>
        <p:nvSpPr>
          <p:cNvPr id="87" name="Google Shape;87;p19"/>
          <p:cNvSpPr/>
          <p:nvPr>
            <p:ph idx="3" type="pic"/>
          </p:nvPr>
        </p:nvSpPr>
        <p:spPr>
          <a:xfrm>
            <a:off x="3831236" y="3599703"/>
            <a:ext cx="926100" cy="926100"/>
          </a:xfrm>
          <a:prstGeom prst="ellipse">
            <a:avLst/>
          </a:prstGeom>
          <a:noFill/>
          <a:ln>
            <a:noFill/>
          </a:ln>
        </p:spPr>
      </p:sp>
      <p:sp>
        <p:nvSpPr>
          <p:cNvPr id="88" name="Google Shape;88;p19"/>
          <p:cNvSpPr/>
          <p:nvPr>
            <p:ph idx="4" type="pic"/>
          </p:nvPr>
        </p:nvSpPr>
        <p:spPr>
          <a:xfrm>
            <a:off x="5186424" y="3599703"/>
            <a:ext cx="926100" cy="926100"/>
          </a:xfrm>
          <a:prstGeom prst="ellipse">
            <a:avLst/>
          </a:prstGeom>
          <a:noFill/>
          <a:ln>
            <a:noFill/>
          </a:ln>
        </p:spPr>
      </p:sp>
      <p:sp>
        <p:nvSpPr>
          <p:cNvPr id="89" name="Google Shape;89;p19"/>
          <p:cNvSpPr/>
          <p:nvPr>
            <p:ph idx="5" type="pic"/>
          </p:nvPr>
        </p:nvSpPr>
        <p:spPr>
          <a:xfrm>
            <a:off x="6536547" y="3596166"/>
            <a:ext cx="926100" cy="926100"/>
          </a:xfrm>
          <a:prstGeom prst="ellipse">
            <a:avLst/>
          </a:prstGeom>
          <a:noFill/>
          <a:ln>
            <a:noFill/>
          </a:ln>
        </p:spPr>
      </p:sp>
      <p:sp>
        <p:nvSpPr>
          <p:cNvPr id="90" name="Google Shape;90;p19"/>
          <p:cNvSpPr/>
          <p:nvPr>
            <p:ph idx="6" type="pic"/>
          </p:nvPr>
        </p:nvSpPr>
        <p:spPr>
          <a:xfrm>
            <a:off x="7878703" y="3596166"/>
            <a:ext cx="926100" cy="926100"/>
          </a:xfrm>
          <a:prstGeom prst="ellipse">
            <a:avLst/>
          </a:prstGeom>
          <a:noFill/>
          <a:ln>
            <a:noFill/>
          </a:ln>
        </p:spPr>
      </p:sp>
      <p:grpSp>
        <p:nvGrpSpPr>
          <p:cNvPr id="91" name="Google Shape;91;p19"/>
          <p:cNvGrpSpPr/>
          <p:nvPr/>
        </p:nvGrpSpPr>
        <p:grpSpPr>
          <a:xfrm>
            <a:off x="3783344" y="3538410"/>
            <a:ext cx="5070184" cy="1041085"/>
            <a:chOff x="5123377" y="6288748"/>
            <a:chExt cx="6760245" cy="1388113"/>
          </a:xfrm>
        </p:grpSpPr>
        <p:sp>
          <p:nvSpPr>
            <p:cNvPr id="92" name="Google Shape;92;p19"/>
            <p:cNvSpPr/>
            <p:nvPr/>
          </p:nvSpPr>
          <p:spPr>
            <a:xfrm>
              <a:off x="5123377" y="6288748"/>
              <a:ext cx="1377977" cy="1377977"/>
            </a:xfrm>
            <a:prstGeom prst="ellipse">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3" name="Google Shape;93;p19"/>
            <p:cNvSpPr/>
            <p:nvPr/>
          </p:nvSpPr>
          <p:spPr>
            <a:xfrm>
              <a:off x="6912311" y="6298884"/>
              <a:ext cx="1377977" cy="1377977"/>
            </a:xfrm>
            <a:prstGeom prst="ellipse">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4" name="Google Shape;94;p19"/>
            <p:cNvSpPr/>
            <p:nvPr/>
          </p:nvSpPr>
          <p:spPr>
            <a:xfrm>
              <a:off x="8716711" y="6288748"/>
              <a:ext cx="1377977" cy="1377977"/>
            </a:xfrm>
            <a:prstGeom prst="ellipse">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5" name="Google Shape;95;p19"/>
            <p:cNvSpPr/>
            <p:nvPr/>
          </p:nvSpPr>
          <p:spPr>
            <a:xfrm>
              <a:off x="10505645" y="6288748"/>
              <a:ext cx="1377977" cy="1377977"/>
            </a:xfrm>
            <a:prstGeom prst="ellipse">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sp>
        <p:nvSpPr>
          <p:cNvPr id="96" name="Google Shape;96;p19"/>
          <p:cNvSpPr txBox="1"/>
          <p:nvPr>
            <p:ph type="title"/>
          </p:nvPr>
        </p:nvSpPr>
        <p:spPr>
          <a:xfrm>
            <a:off x="449036" y="1453749"/>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4100"/>
              <a:buFont typeface="Quattrocento Sans"/>
              <a:buNone/>
              <a:defRPr b="1" sz="4100">
                <a:solidFill>
                  <a:schemeClr val="lt1"/>
                </a:solidFill>
                <a:latin typeface="Quattrocento Sans"/>
                <a:ea typeface="Quattrocento Sans"/>
                <a:cs typeface="Quattrocento Sans"/>
                <a:sym typeface="Quattrocento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7" name="Google Shape;97;p19"/>
          <p:cNvSpPr txBox="1"/>
          <p:nvPr>
            <p:ph idx="1" type="body"/>
          </p:nvPr>
        </p:nvSpPr>
        <p:spPr>
          <a:xfrm>
            <a:off x="463450" y="4353509"/>
            <a:ext cx="2553890" cy="546497"/>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lt1"/>
              </a:buClr>
              <a:buSzPts val="1500"/>
              <a:buNone/>
              <a:defRPr b="1" sz="1500">
                <a:solidFill>
                  <a:schemeClr val="lt1"/>
                </a:solidFill>
                <a:latin typeface="Quattrocento Sans"/>
                <a:ea typeface="Quattrocento Sans"/>
                <a:cs typeface="Quattrocento Sans"/>
                <a:sym typeface="Quattrocento Sans"/>
              </a:defRPr>
            </a:lvl1pPr>
            <a:lvl2pPr indent="-228600" lvl="1" marL="914400" algn="l">
              <a:lnSpc>
                <a:spcPct val="90000"/>
              </a:lnSpc>
              <a:spcBef>
                <a:spcPts val="400"/>
              </a:spcBef>
              <a:spcAft>
                <a:spcPts val="0"/>
              </a:spcAft>
              <a:buClr>
                <a:schemeClr val="dk1"/>
              </a:buClr>
              <a:buSzPts val="1800"/>
              <a:buNone/>
              <a:defRPr>
                <a:latin typeface="Quattrocento Sans"/>
                <a:ea typeface="Quattrocento Sans"/>
                <a:cs typeface="Quattrocento Sans"/>
                <a:sym typeface="Quattrocento Sans"/>
              </a:defRPr>
            </a:lvl2pPr>
            <a:lvl3pPr indent="-228600" lvl="2" marL="1371600" algn="l">
              <a:lnSpc>
                <a:spcPct val="90000"/>
              </a:lnSpc>
              <a:spcBef>
                <a:spcPts val="400"/>
              </a:spcBef>
              <a:spcAft>
                <a:spcPts val="0"/>
              </a:spcAft>
              <a:buClr>
                <a:schemeClr val="dk1"/>
              </a:buClr>
              <a:buSzPts val="1500"/>
              <a:buNone/>
              <a:defRPr>
                <a:latin typeface="Quattrocento Sans"/>
                <a:ea typeface="Quattrocento Sans"/>
                <a:cs typeface="Quattrocento Sans"/>
                <a:sym typeface="Quattrocento Sans"/>
              </a:defRPr>
            </a:lvl3pPr>
            <a:lvl4pPr indent="-228600" lvl="3" marL="1828800" algn="l">
              <a:lnSpc>
                <a:spcPct val="90000"/>
              </a:lnSpc>
              <a:spcBef>
                <a:spcPts val="400"/>
              </a:spcBef>
              <a:spcAft>
                <a:spcPts val="0"/>
              </a:spcAft>
              <a:buClr>
                <a:schemeClr val="dk1"/>
              </a:buClr>
              <a:buSzPts val="1400"/>
              <a:buNone/>
              <a:defRPr>
                <a:latin typeface="Quattrocento Sans"/>
                <a:ea typeface="Quattrocento Sans"/>
                <a:cs typeface="Quattrocento Sans"/>
                <a:sym typeface="Quattrocento Sans"/>
              </a:defRPr>
            </a:lvl4pPr>
            <a:lvl5pPr indent="-228600" lvl="4" marL="2286000" algn="l">
              <a:lnSpc>
                <a:spcPct val="90000"/>
              </a:lnSpc>
              <a:spcBef>
                <a:spcPts val="400"/>
              </a:spcBef>
              <a:spcAft>
                <a:spcPts val="0"/>
              </a:spcAft>
              <a:buClr>
                <a:schemeClr val="dk1"/>
              </a:buClr>
              <a:buSzPts val="1400"/>
              <a:buNone/>
              <a:defRPr>
                <a:latin typeface="Quattrocento Sans"/>
                <a:ea typeface="Quattrocento Sans"/>
                <a:cs typeface="Quattrocento Sans"/>
                <a:sym typeface="Quattrocento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 name="Google Shape;98;p19"/>
          <p:cNvSpPr txBox="1"/>
          <p:nvPr>
            <p:ph idx="7" type="body"/>
          </p:nvPr>
        </p:nvSpPr>
        <p:spPr>
          <a:xfrm>
            <a:off x="3588434" y="4666514"/>
            <a:ext cx="1411706" cy="546497"/>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lt1"/>
              </a:buClr>
              <a:buSzPts val="1200"/>
              <a:buNone/>
              <a:defRPr sz="1200">
                <a:solidFill>
                  <a:schemeClr val="lt1"/>
                </a:solidFill>
                <a:latin typeface="Quattrocento Sans"/>
                <a:ea typeface="Quattrocento Sans"/>
                <a:cs typeface="Quattrocento Sans"/>
                <a:sym typeface="Quattrocento Sans"/>
              </a:defRPr>
            </a:lvl1pPr>
            <a:lvl2pPr indent="-228600" lvl="1" marL="914400" algn="ctr">
              <a:lnSpc>
                <a:spcPct val="90000"/>
              </a:lnSpc>
              <a:spcBef>
                <a:spcPts val="400"/>
              </a:spcBef>
              <a:spcAft>
                <a:spcPts val="0"/>
              </a:spcAft>
              <a:buClr>
                <a:schemeClr val="dk1"/>
              </a:buClr>
              <a:buSzPts val="1100"/>
              <a:buNone/>
              <a:defRPr sz="1100">
                <a:latin typeface="Quattrocento Sans"/>
                <a:ea typeface="Quattrocento Sans"/>
                <a:cs typeface="Quattrocento Sans"/>
                <a:sym typeface="Quattrocento Sans"/>
              </a:defRPr>
            </a:lvl2pPr>
            <a:lvl3pPr indent="-228600" lvl="2" marL="1371600" algn="ctr">
              <a:lnSpc>
                <a:spcPct val="90000"/>
              </a:lnSpc>
              <a:spcBef>
                <a:spcPts val="400"/>
              </a:spcBef>
              <a:spcAft>
                <a:spcPts val="0"/>
              </a:spcAft>
              <a:buClr>
                <a:schemeClr val="dk1"/>
              </a:buClr>
              <a:buSzPts val="900"/>
              <a:buNone/>
              <a:defRPr sz="900">
                <a:latin typeface="Quattrocento Sans"/>
                <a:ea typeface="Quattrocento Sans"/>
                <a:cs typeface="Quattrocento Sans"/>
                <a:sym typeface="Quattrocento Sans"/>
              </a:defRPr>
            </a:lvl3pPr>
            <a:lvl4pPr indent="-228600" lvl="3" marL="1828800" algn="ctr">
              <a:lnSpc>
                <a:spcPct val="90000"/>
              </a:lnSpc>
              <a:spcBef>
                <a:spcPts val="400"/>
              </a:spcBef>
              <a:spcAft>
                <a:spcPts val="0"/>
              </a:spcAft>
              <a:buClr>
                <a:schemeClr val="dk1"/>
              </a:buClr>
              <a:buSzPts val="800"/>
              <a:buNone/>
              <a:defRPr sz="800">
                <a:latin typeface="Quattrocento Sans"/>
                <a:ea typeface="Quattrocento Sans"/>
                <a:cs typeface="Quattrocento Sans"/>
                <a:sym typeface="Quattrocento Sans"/>
              </a:defRPr>
            </a:lvl4pPr>
            <a:lvl5pPr indent="-228600" lvl="4" marL="2286000" algn="ctr">
              <a:lnSpc>
                <a:spcPct val="90000"/>
              </a:lnSpc>
              <a:spcBef>
                <a:spcPts val="400"/>
              </a:spcBef>
              <a:spcAft>
                <a:spcPts val="0"/>
              </a:spcAft>
              <a:buClr>
                <a:schemeClr val="dk1"/>
              </a:buClr>
              <a:buSzPts val="800"/>
              <a:buNone/>
              <a:defRPr sz="800">
                <a:latin typeface="Quattrocento Sans"/>
                <a:ea typeface="Quattrocento Sans"/>
                <a:cs typeface="Quattrocento Sans"/>
                <a:sym typeface="Quattrocento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9" name="Google Shape;99;p19"/>
          <p:cNvSpPr txBox="1"/>
          <p:nvPr>
            <p:ph idx="8" type="body"/>
          </p:nvPr>
        </p:nvSpPr>
        <p:spPr>
          <a:xfrm>
            <a:off x="4935933" y="4674116"/>
            <a:ext cx="1411706" cy="546497"/>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lt1"/>
              </a:buClr>
              <a:buSzPts val="1200"/>
              <a:buNone/>
              <a:defRPr sz="1200">
                <a:solidFill>
                  <a:schemeClr val="lt1"/>
                </a:solidFill>
                <a:latin typeface="Quattrocento Sans"/>
                <a:ea typeface="Quattrocento Sans"/>
                <a:cs typeface="Quattrocento Sans"/>
                <a:sym typeface="Quattrocento Sans"/>
              </a:defRPr>
            </a:lvl1pPr>
            <a:lvl2pPr indent="-228600" lvl="1" marL="914400" algn="ctr">
              <a:lnSpc>
                <a:spcPct val="90000"/>
              </a:lnSpc>
              <a:spcBef>
                <a:spcPts val="400"/>
              </a:spcBef>
              <a:spcAft>
                <a:spcPts val="0"/>
              </a:spcAft>
              <a:buClr>
                <a:schemeClr val="dk1"/>
              </a:buClr>
              <a:buSzPts val="1100"/>
              <a:buNone/>
              <a:defRPr sz="1100">
                <a:latin typeface="Quattrocento Sans"/>
                <a:ea typeface="Quattrocento Sans"/>
                <a:cs typeface="Quattrocento Sans"/>
                <a:sym typeface="Quattrocento Sans"/>
              </a:defRPr>
            </a:lvl2pPr>
            <a:lvl3pPr indent="-228600" lvl="2" marL="1371600" algn="ctr">
              <a:lnSpc>
                <a:spcPct val="90000"/>
              </a:lnSpc>
              <a:spcBef>
                <a:spcPts val="400"/>
              </a:spcBef>
              <a:spcAft>
                <a:spcPts val="0"/>
              </a:spcAft>
              <a:buClr>
                <a:schemeClr val="dk1"/>
              </a:buClr>
              <a:buSzPts val="900"/>
              <a:buNone/>
              <a:defRPr sz="900">
                <a:latin typeface="Quattrocento Sans"/>
                <a:ea typeface="Quattrocento Sans"/>
                <a:cs typeface="Quattrocento Sans"/>
                <a:sym typeface="Quattrocento Sans"/>
              </a:defRPr>
            </a:lvl3pPr>
            <a:lvl4pPr indent="-228600" lvl="3" marL="1828800" algn="ctr">
              <a:lnSpc>
                <a:spcPct val="90000"/>
              </a:lnSpc>
              <a:spcBef>
                <a:spcPts val="400"/>
              </a:spcBef>
              <a:spcAft>
                <a:spcPts val="0"/>
              </a:spcAft>
              <a:buClr>
                <a:schemeClr val="dk1"/>
              </a:buClr>
              <a:buSzPts val="800"/>
              <a:buNone/>
              <a:defRPr sz="800">
                <a:latin typeface="Quattrocento Sans"/>
                <a:ea typeface="Quattrocento Sans"/>
                <a:cs typeface="Quattrocento Sans"/>
                <a:sym typeface="Quattrocento Sans"/>
              </a:defRPr>
            </a:lvl4pPr>
            <a:lvl5pPr indent="-228600" lvl="4" marL="2286000" algn="ctr">
              <a:lnSpc>
                <a:spcPct val="90000"/>
              </a:lnSpc>
              <a:spcBef>
                <a:spcPts val="400"/>
              </a:spcBef>
              <a:spcAft>
                <a:spcPts val="0"/>
              </a:spcAft>
              <a:buClr>
                <a:schemeClr val="dk1"/>
              </a:buClr>
              <a:buSzPts val="800"/>
              <a:buNone/>
              <a:defRPr sz="800">
                <a:latin typeface="Quattrocento Sans"/>
                <a:ea typeface="Quattrocento Sans"/>
                <a:cs typeface="Quattrocento Sans"/>
                <a:sym typeface="Quattrocento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0" name="Google Shape;100;p19"/>
          <p:cNvSpPr txBox="1"/>
          <p:nvPr>
            <p:ph idx="9" type="body"/>
          </p:nvPr>
        </p:nvSpPr>
        <p:spPr>
          <a:xfrm>
            <a:off x="6289233" y="4681718"/>
            <a:ext cx="1411706" cy="546497"/>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lt1"/>
              </a:buClr>
              <a:buSzPts val="1200"/>
              <a:buNone/>
              <a:defRPr sz="1200">
                <a:solidFill>
                  <a:schemeClr val="lt1"/>
                </a:solidFill>
                <a:latin typeface="Quattrocento Sans"/>
                <a:ea typeface="Quattrocento Sans"/>
                <a:cs typeface="Quattrocento Sans"/>
                <a:sym typeface="Quattrocento Sans"/>
              </a:defRPr>
            </a:lvl1pPr>
            <a:lvl2pPr indent="-228600" lvl="1" marL="914400" algn="ctr">
              <a:lnSpc>
                <a:spcPct val="90000"/>
              </a:lnSpc>
              <a:spcBef>
                <a:spcPts val="400"/>
              </a:spcBef>
              <a:spcAft>
                <a:spcPts val="0"/>
              </a:spcAft>
              <a:buClr>
                <a:schemeClr val="dk1"/>
              </a:buClr>
              <a:buSzPts val="1100"/>
              <a:buNone/>
              <a:defRPr sz="1100">
                <a:latin typeface="Quattrocento Sans"/>
                <a:ea typeface="Quattrocento Sans"/>
                <a:cs typeface="Quattrocento Sans"/>
                <a:sym typeface="Quattrocento Sans"/>
              </a:defRPr>
            </a:lvl2pPr>
            <a:lvl3pPr indent="-228600" lvl="2" marL="1371600" algn="ctr">
              <a:lnSpc>
                <a:spcPct val="90000"/>
              </a:lnSpc>
              <a:spcBef>
                <a:spcPts val="400"/>
              </a:spcBef>
              <a:spcAft>
                <a:spcPts val="0"/>
              </a:spcAft>
              <a:buClr>
                <a:schemeClr val="dk1"/>
              </a:buClr>
              <a:buSzPts val="900"/>
              <a:buNone/>
              <a:defRPr sz="900">
                <a:latin typeface="Quattrocento Sans"/>
                <a:ea typeface="Quattrocento Sans"/>
                <a:cs typeface="Quattrocento Sans"/>
                <a:sym typeface="Quattrocento Sans"/>
              </a:defRPr>
            </a:lvl3pPr>
            <a:lvl4pPr indent="-228600" lvl="3" marL="1828800" algn="ctr">
              <a:lnSpc>
                <a:spcPct val="90000"/>
              </a:lnSpc>
              <a:spcBef>
                <a:spcPts val="400"/>
              </a:spcBef>
              <a:spcAft>
                <a:spcPts val="0"/>
              </a:spcAft>
              <a:buClr>
                <a:schemeClr val="dk1"/>
              </a:buClr>
              <a:buSzPts val="800"/>
              <a:buNone/>
              <a:defRPr sz="800">
                <a:latin typeface="Quattrocento Sans"/>
                <a:ea typeface="Quattrocento Sans"/>
                <a:cs typeface="Quattrocento Sans"/>
                <a:sym typeface="Quattrocento Sans"/>
              </a:defRPr>
            </a:lvl4pPr>
            <a:lvl5pPr indent="-228600" lvl="4" marL="2286000" algn="ctr">
              <a:lnSpc>
                <a:spcPct val="90000"/>
              </a:lnSpc>
              <a:spcBef>
                <a:spcPts val="400"/>
              </a:spcBef>
              <a:spcAft>
                <a:spcPts val="0"/>
              </a:spcAft>
              <a:buClr>
                <a:schemeClr val="dk1"/>
              </a:buClr>
              <a:buSzPts val="800"/>
              <a:buNone/>
              <a:defRPr sz="800">
                <a:latin typeface="Quattrocento Sans"/>
                <a:ea typeface="Quattrocento Sans"/>
                <a:cs typeface="Quattrocento Sans"/>
                <a:sym typeface="Quattrocento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 name="Google Shape;101;p19"/>
          <p:cNvSpPr txBox="1"/>
          <p:nvPr>
            <p:ph idx="13" type="body"/>
          </p:nvPr>
        </p:nvSpPr>
        <p:spPr>
          <a:xfrm>
            <a:off x="7629884" y="4681718"/>
            <a:ext cx="1411706" cy="546497"/>
          </a:xfrm>
          <a:prstGeom prst="rect">
            <a:avLst/>
          </a:prstGeom>
          <a:noFill/>
          <a:ln>
            <a:noFill/>
          </a:ln>
        </p:spPr>
        <p:txBody>
          <a:bodyPr anchorCtr="0" anchor="t" bIns="34275" lIns="68575" spcFirstLastPara="1" rIns="68575" wrap="square" tIns="34275">
            <a:noAutofit/>
          </a:bodyPr>
          <a:lstStyle>
            <a:lvl1pPr indent="-228600" lvl="0" marL="457200" algn="ctr">
              <a:lnSpc>
                <a:spcPct val="90000"/>
              </a:lnSpc>
              <a:spcBef>
                <a:spcPts val="800"/>
              </a:spcBef>
              <a:spcAft>
                <a:spcPts val="0"/>
              </a:spcAft>
              <a:buClr>
                <a:schemeClr val="lt1"/>
              </a:buClr>
              <a:buSzPts val="1200"/>
              <a:buNone/>
              <a:defRPr sz="1200">
                <a:solidFill>
                  <a:schemeClr val="lt1"/>
                </a:solidFill>
                <a:latin typeface="Quattrocento Sans"/>
                <a:ea typeface="Quattrocento Sans"/>
                <a:cs typeface="Quattrocento Sans"/>
                <a:sym typeface="Quattrocento Sans"/>
              </a:defRPr>
            </a:lvl1pPr>
            <a:lvl2pPr indent="-228600" lvl="1" marL="914400" algn="ctr">
              <a:lnSpc>
                <a:spcPct val="90000"/>
              </a:lnSpc>
              <a:spcBef>
                <a:spcPts val="400"/>
              </a:spcBef>
              <a:spcAft>
                <a:spcPts val="0"/>
              </a:spcAft>
              <a:buClr>
                <a:schemeClr val="dk1"/>
              </a:buClr>
              <a:buSzPts val="1100"/>
              <a:buNone/>
              <a:defRPr sz="1100">
                <a:latin typeface="Quattrocento Sans"/>
                <a:ea typeface="Quattrocento Sans"/>
                <a:cs typeface="Quattrocento Sans"/>
                <a:sym typeface="Quattrocento Sans"/>
              </a:defRPr>
            </a:lvl2pPr>
            <a:lvl3pPr indent="-228600" lvl="2" marL="1371600" algn="ctr">
              <a:lnSpc>
                <a:spcPct val="90000"/>
              </a:lnSpc>
              <a:spcBef>
                <a:spcPts val="400"/>
              </a:spcBef>
              <a:spcAft>
                <a:spcPts val="0"/>
              </a:spcAft>
              <a:buClr>
                <a:schemeClr val="dk1"/>
              </a:buClr>
              <a:buSzPts val="900"/>
              <a:buNone/>
              <a:defRPr sz="900">
                <a:latin typeface="Quattrocento Sans"/>
                <a:ea typeface="Quattrocento Sans"/>
                <a:cs typeface="Quattrocento Sans"/>
                <a:sym typeface="Quattrocento Sans"/>
              </a:defRPr>
            </a:lvl3pPr>
            <a:lvl4pPr indent="-228600" lvl="3" marL="1828800" algn="ctr">
              <a:lnSpc>
                <a:spcPct val="90000"/>
              </a:lnSpc>
              <a:spcBef>
                <a:spcPts val="400"/>
              </a:spcBef>
              <a:spcAft>
                <a:spcPts val="0"/>
              </a:spcAft>
              <a:buClr>
                <a:schemeClr val="dk1"/>
              </a:buClr>
              <a:buSzPts val="800"/>
              <a:buNone/>
              <a:defRPr sz="800">
                <a:latin typeface="Quattrocento Sans"/>
                <a:ea typeface="Quattrocento Sans"/>
                <a:cs typeface="Quattrocento Sans"/>
                <a:sym typeface="Quattrocento Sans"/>
              </a:defRPr>
            </a:lvl4pPr>
            <a:lvl5pPr indent="-228600" lvl="4" marL="2286000" algn="ctr">
              <a:lnSpc>
                <a:spcPct val="90000"/>
              </a:lnSpc>
              <a:spcBef>
                <a:spcPts val="400"/>
              </a:spcBef>
              <a:spcAft>
                <a:spcPts val="0"/>
              </a:spcAft>
              <a:buClr>
                <a:schemeClr val="dk1"/>
              </a:buClr>
              <a:buSzPts val="800"/>
              <a:buNone/>
              <a:defRPr sz="800">
                <a:latin typeface="Quattrocento Sans"/>
                <a:ea typeface="Quattrocento Sans"/>
                <a:cs typeface="Quattrocento Sans"/>
                <a:sym typeface="Quattrocento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2" name="Google Shape;102;p19"/>
          <p:cNvSpPr txBox="1"/>
          <p:nvPr>
            <p:ph idx="14" type="body"/>
          </p:nvPr>
        </p:nvSpPr>
        <p:spPr>
          <a:xfrm>
            <a:off x="448866" y="2542542"/>
            <a:ext cx="7722394" cy="546497"/>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800"/>
              <a:buNone/>
              <a:defRPr i="1" sz="1800">
                <a:solidFill>
                  <a:schemeClr val="lt1"/>
                </a:solidFill>
                <a:latin typeface="Quattrocento Sans"/>
                <a:ea typeface="Quattrocento Sans"/>
                <a:cs typeface="Quattrocento Sans"/>
                <a:sym typeface="Quattrocento Sans"/>
              </a:defRPr>
            </a:lvl1pPr>
            <a:lvl2pPr indent="-228600" lvl="1" marL="914400" algn="l">
              <a:lnSpc>
                <a:spcPct val="9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indent="-228600" lvl="2" marL="1371600" algn="l">
              <a:lnSpc>
                <a:spcPct val="90000"/>
              </a:lnSpc>
              <a:spcBef>
                <a:spcPts val="400"/>
              </a:spcBef>
              <a:spcAft>
                <a:spcPts val="0"/>
              </a:spcAft>
              <a:buClr>
                <a:schemeClr val="lt1"/>
              </a:buClr>
              <a:buSzPts val="1500"/>
              <a:buNone/>
              <a:defRPr>
                <a:solidFill>
                  <a:schemeClr val="lt1"/>
                </a:solidFill>
                <a:latin typeface="Quattrocento Sans"/>
                <a:ea typeface="Quattrocento Sans"/>
                <a:cs typeface="Quattrocento Sans"/>
                <a:sym typeface="Quattrocento Sans"/>
              </a:defRPr>
            </a:lvl3pPr>
            <a:lvl4pPr indent="-228600" lvl="3" marL="1828800" algn="l">
              <a:lnSpc>
                <a:spcPct val="90000"/>
              </a:lnSpc>
              <a:spcBef>
                <a:spcPts val="400"/>
              </a:spcBef>
              <a:spcAft>
                <a:spcPts val="0"/>
              </a:spcAft>
              <a:buClr>
                <a:schemeClr val="lt1"/>
              </a:buClr>
              <a:buSzPts val="1400"/>
              <a:buNone/>
              <a:defRPr>
                <a:solidFill>
                  <a:schemeClr val="lt1"/>
                </a:solidFill>
                <a:latin typeface="Quattrocento Sans"/>
                <a:ea typeface="Quattrocento Sans"/>
                <a:cs typeface="Quattrocento Sans"/>
                <a:sym typeface="Quattrocento Sans"/>
              </a:defRPr>
            </a:lvl4pPr>
            <a:lvl5pPr indent="-228600" lvl="4" marL="2286000" algn="l">
              <a:lnSpc>
                <a:spcPct val="90000"/>
              </a:lnSpc>
              <a:spcBef>
                <a:spcPts val="400"/>
              </a:spcBef>
              <a:spcAft>
                <a:spcPts val="0"/>
              </a:spcAft>
              <a:buClr>
                <a:schemeClr val="lt1"/>
              </a:buClr>
              <a:buSzPts val="1400"/>
              <a:buNone/>
              <a:defRPr>
                <a:solidFill>
                  <a:schemeClr val="lt1"/>
                </a:solidFill>
                <a:latin typeface="Quattrocento Sans"/>
                <a:ea typeface="Quattrocento Sans"/>
                <a:cs typeface="Quattrocento Sans"/>
                <a:sym typeface="Quattrocento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03" name="Shape 103"/>
        <p:cNvGrpSpPr/>
        <p:nvPr/>
      </p:nvGrpSpPr>
      <p:grpSpPr>
        <a:xfrm>
          <a:off x="0" y="0"/>
          <a:ext cx="0" cy="0"/>
          <a:chOff x="0" y="0"/>
          <a:chExt cx="0" cy="0"/>
        </a:xfrm>
      </p:grpSpPr>
      <p:sp>
        <p:nvSpPr>
          <p:cNvPr id="104" name="Google Shape;104;p20"/>
          <p:cNvSpPr txBox="1"/>
          <p:nvPr>
            <p:ph type="title"/>
          </p:nvPr>
        </p:nvSpPr>
        <p:spPr>
          <a:xfrm>
            <a:off x="198835" y="371473"/>
            <a:ext cx="8139852" cy="386841"/>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800"/>
              <a:buFont typeface="Play"/>
              <a:buNone/>
              <a:defRPr sz="18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5" name="Google Shape;105;p20"/>
          <p:cNvSpPr txBox="1"/>
          <p:nvPr>
            <p:ph idx="1" type="body"/>
          </p:nvPr>
        </p:nvSpPr>
        <p:spPr>
          <a:xfrm>
            <a:off x="198853" y="939998"/>
            <a:ext cx="8139852"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6" name="Google Shape;106;p2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7" name="Google Shape;107;p2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8" name="Google Shape;108;p2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
        <p:nvSpPr>
          <p:cNvPr id="109" name="Google Shape;109;p20"/>
          <p:cNvSpPr txBox="1"/>
          <p:nvPr>
            <p:ph idx="2" type="body"/>
          </p:nvPr>
        </p:nvSpPr>
        <p:spPr>
          <a:xfrm>
            <a:off x="198835" y="139303"/>
            <a:ext cx="4237434" cy="253603"/>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1F5C99"/>
              </a:buClr>
              <a:buSzPts val="1200"/>
              <a:buNone/>
              <a:defRPr sz="1200">
                <a:solidFill>
                  <a:srgbClr val="1F5C99"/>
                </a:solidFill>
                <a:latin typeface="Quattrocento Sans"/>
                <a:ea typeface="Quattrocento Sans"/>
                <a:cs typeface="Quattrocento Sans"/>
                <a:sym typeface="Quattrocento Sans"/>
              </a:defRPr>
            </a:lvl1pPr>
            <a:lvl2pPr indent="-228600" lvl="1" marL="914400" algn="l">
              <a:lnSpc>
                <a:spcPct val="90000"/>
              </a:lnSpc>
              <a:spcBef>
                <a:spcPts val="400"/>
              </a:spcBef>
              <a:spcAft>
                <a:spcPts val="0"/>
              </a:spcAft>
              <a:buClr>
                <a:schemeClr val="dk1"/>
              </a:buClr>
              <a:buSzPts val="1800"/>
              <a:buNone/>
              <a:defRPr>
                <a:latin typeface="Quattrocento Sans"/>
                <a:ea typeface="Quattrocento Sans"/>
                <a:cs typeface="Quattrocento Sans"/>
                <a:sym typeface="Quattrocento Sans"/>
              </a:defRPr>
            </a:lvl2pPr>
            <a:lvl3pPr indent="-228600" lvl="2" marL="1371600" algn="l">
              <a:lnSpc>
                <a:spcPct val="90000"/>
              </a:lnSpc>
              <a:spcBef>
                <a:spcPts val="400"/>
              </a:spcBef>
              <a:spcAft>
                <a:spcPts val="0"/>
              </a:spcAft>
              <a:buClr>
                <a:schemeClr val="dk1"/>
              </a:buClr>
              <a:buSzPts val="1500"/>
              <a:buNone/>
              <a:defRPr>
                <a:latin typeface="Quattrocento Sans"/>
                <a:ea typeface="Quattrocento Sans"/>
                <a:cs typeface="Quattrocento Sans"/>
                <a:sym typeface="Quattrocento Sans"/>
              </a:defRPr>
            </a:lvl3pPr>
            <a:lvl4pPr indent="-228600" lvl="3" marL="1828800" algn="l">
              <a:lnSpc>
                <a:spcPct val="90000"/>
              </a:lnSpc>
              <a:spcBef>
                <a:spcPts val="400"/>
              </a:spcBef>
              <a:spcAft>
                <a:spcPts val="0"/>
              </a:spcAft>
              <a:buClr>
                <a:schemeClr val="dk1"/>
              </a:buClr>
              <a:buSzPts val="1400"/>
              <a:buNone/>
              <a:defRPr>
                <a:latin typeface="Quattrocento Sans"/>
                <a:ea typeface="Quattrocento Sans"/>
                <a:cs typeface="Quattrocento Sans"/>
                <a:sym typeface="Quattrocento Sans"/>
              </a:defRPr>
            </a:lvl4pPr>
            <a:lvl5pPr indent="-228600" lvl="4" marL="2286000" algn="l">
              <a:lnSpc>
                <a:spcPct val="90000"/>
              </a:lnSpc>
              <a:spcBef>
                <a:spcPts val="400"/>
              </a:spcBef>
              <a:spcAft>
                <a:spcPts val="0"/>
              </a:spcAft>
              <a:buClr>
                <a:schemeClr val="dk1"/>
              </a:buClr>
              <a:buSzPts val="1400"/>
              <a:buNone/>
              <a:defRPr>
                <a:latin typeface="Quattrocento Sans"/>
                <a:ea typeface="Quattrocento Sans"/>
                <a:cs typeface="Quattrocento Sans"/>
                <a:sym typeface="Quattrocento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0" name="Google Shape;110;p20"/>
          <p:cNvSpPr txBox="1"/>
          <p:nvPr/>
        </p:nvSpPr>
        <p:spPr>
          <a:xfrm>
            <a:off x="2819102" y="4767263"/>
            <a:ext cx="3505795" cy="273844"/>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0" i="0" lang="es" sz="800">
                <a:solidFill>
                  <a:schemeClr val="dk1"/>
                </a:solidFill>
                <a:latin typeface="Quattrocento Sans"/>
                <a:ea typeface="Quattrocento Sans"/>
                <a:cs typeface="Quattrocento Sans"/>
                <a:sym typeface="Quattrocento Sans"/>
              </a:rPr>
              <a:t>Executive Summary          Insights          Strategy           Impact</a:t>
            </a:r>
            <a:endParaRPr sz="110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11" name="Shape 111"/>
        <p:cNvGrpSpPr/>
        <p:nvPr/>
      </p:nvGrpSpPr>
      <p:grpSpPr>
        <a:xfrm>
          <a:off x="0" y="0"/>
          <a:ext cx="0" cy="0"/>
          <a:chOff x="0" y="0"/>
          <a:chExt cx="0" cy="0"/>
        </a:xfrm>
      </p:grpSpPr>
      <p:sp>
        <p:nvSpPr>
          <p:cNvPr id="112" name="Google Shape;112;p2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3" name="Google Shape;113;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4" name="Google Shape;114;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5" name="Google Shape;115;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
        <p:nvSpPr>
          <p:cNvPr id="116" name="Google Shape;116;p21"/>
          <p:cNvSpPr txBox="1"/>
          <p:nvPr/>
        </p:nvSpPr>
        <p:spPr>
          <a:xfrm>
            <a:off x="168752" y="4765734"/>
            <a:ext cx="589007" cy="20774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900">
                <a:solidFill>
                  <a:schemeClr val="dk1"/>
                </a:solidFill>
                <a:latin typeface="Quattrocento Sans"/>
                <a:ea typeface="Quattrocento Sans"/>
                <a:cs typeface="Quattrocento Sans"/>
                <a:sym typeface="Quattrocento Sans"/>
              </a:rPr>
              <a:t>Sources: </a:t>
            </a:r>
            <a:endParaRPr sz="11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117" name="Shape 117"/>
        <p:cNvGrpSpPr/>
        <p:nvPr/>
      </p:nvGrpSpPr>
      <p:grpSpPr>
        <a:xfrm>
          <a:off x="0" y="0"/>
          <a:ext cx="0" cy="0"/>
          <a:chOff x="0" y="0"/>
          <a:chExt cx="0" cy="0"/>
        </a:xfrm>
      </p:grpSpPr>
      <p:sp>
        <p:nvSpPr>
          <p:cNvPr id="118" name="Google Shape;118;p22"/>
          <p:cNvSpPr txBox="1"/>
          <p:nvPr>
            <p:ph type="title"/>
          </p:nvPr>
        </p:nvSpPr>
        <p:spPr>
          <a:xfrm>
            <a:off x="251752" y="207738"/>
            <a:ext cx="7886700" cy="388709"/>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9" name="Google Shape;119;p22"/>
          <p:cNvSpPr txBox="1"/>
          <p:nvPr>
            <p:ph idx="1" type="body"/>
          </p:nvPr>
        </p:nvSpPr>
        <p:spPr>
          <a:xfrm>
            <a:off x="251752" y="740467"/>
            <a:ext cx="8640497" cy="3810593"/>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0" name="Google Shape;120;p22"/>
          <p:cNvSpPr txBox="1"/>
          <p:nvPr>
            <p:ph idx="11" type="ftr"/>
          </p:nvPr>
        </p:nvSpPr>
        <p:spPr>
          <a:xfrm>
            <a:off x="207781" y="4881649"/>
            <a:ext cx="3000239" cy="159457"/>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100"/>
              <a:buNone/>
              <a:defRPr sz="800">
                <a:solidFill>
                  <a:schemeClr val="dk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1" name="Google Shape;121;p22"/>
          <p:cNvSpPr txBox="1"/>
          <p:nvPr>
            <p:ph idx="12" type="sldNum"/>
          </p:nvPr>
        </p:nvSpPr>
        <p:spPr>
          <a:xfrm>
            <a:off x="7453690" y="4881649"/>
            <a:ext cx="1482530" cy="159457"/>
          </a:xfrm>
          <a:prstGeom prst="rect">
            <a:avLst/>
          </a:prstGeom>
          <a:noFill/>
          <a:ln>
            <a:noFill/>
          </a:ln>
        </p:spPr>
        <p:txBody>
          <a:bodyPr anchorCtr="0" anchor="b" bIns="0" lIns="0" spcFirstLastPara="1" rIns="0" wrap="square" tIns="0">
            <a:noAutofit/>
          </a:bodyPr>
          <a:lstStyle>
            <a:lvl1pPr indent="0" lvl="0" marL="0" algn="r">
              <a:spcBef>
                <a:spcPts val="0"/>
              </a:spcBef>
              <a:buNone/>
              <a:defRPr sz="800">
                <a:solidFill>
                  <a:schemeClr val="dk1"/>
                </a:solidFill>
                <a:latin typeface="Arial"/>
                <a:ea typeface="Arial"/>
                <a:cs typeface="Arial"/>
                <a:sym typeface="Arial"/>
              </a:defRPr>
            </a:lvl1pPr>
            <a:lvl2pPr indent="0" lvl="1" marL="0" algn="r">
              <a:spcBef>
                <a:spcPts val="0"/>
              </a:spcBef>
              <a:buNone/>
              <a:defRPr sz="800">
                <a:solidFill>
                  <a:schemeClr val="dk1"/>
                </a:solidFill>
                <a:latin typeface="Arial"/>
                <a:ea typeface="Arial"/>
                <a:cs typeface="Arial"/>
                <a:sym typeface="Arial"/>
              </a:defRPr>
            </a:lvl2pPr>
            <a:lvl3pPr indent="0" lvl="2" marL="0" algn="r">
              <a:spcBef>
                <a:spcPts val="0"/>
              </a:spcBef>
              <a:buNone/>
              <a:defRPr sz="800">
                <a:solidFill>
                  <a:schemeClr val="dk1"/>
                </a:solidFill>
                <a:latin typeface="Arial"/>
                <a:ea typeface="Arial"/>
                <a:cs typeface="Arial"/>
                <a:sym typeface="Arial"/>
              </a:defRPr>
            </a:lvl3pPr>
            <a:lvl4pPr indent="0" lvl="3" marL="0" algn="r">
              <a:spcBef>
                <a:spcPts val="0"/>
              </a:spcBef>
              <a:buNone/>
              <a:defRPr sz="800">
                <a:solidFill>
                  <a:schemeClr val="dk1"/>
                </a:solidFill>
                <a:latin typeface="Arial"/>
                <a:ea typeface="Arial"/>
                <a:cs typeface="Arial"/>
                <a:sym typeface="Arial"/>
              </a:defRPr>
            </a:lvl4pPr>
            <a:lvl5pPr indent="0" lvl="4" marL="0" algn="r">
              <a:spcBef>
                <a:spcPts val="0"/>
              </a:spcBef>
              <a:buNone/>
              <a:defRPr sz="800">
                <a:solidFill>
                  <a:schemeClr val="dk1"/>
                </a:solidFill>
                <a:latin typeface="Arial"/>
                <a:ea typeface="Arial"/>
                <a:cs typeface="Arial"/>
                <a:sym typeface="Arial"/>
              </a:defRPr>
            </a:lvl5pPr>
            <a:lvl6pPr indent="0" lvl="5" marL="0" algn="r">
              <a:spcBef>
                <a:spcPts val="0"/>
              </a:spcBef>
              <a:buNone/>
              <a:defRPr sz="800">
                <a:solidFill>
                  <a:schemeClr val="dk1"/>
                </a:solidFill>
                <a:latin typeface="Arial"/>
                <a:ea typeface="Arial"/>
                <a:cs typeface="Arial"/>
                <a:sym typeface="Arial"/>
              </a:defRPr>
            </a:lvl6pPr>
            <a:lvl7pPr indent="0" lvl="6" marL="0" algn="r">
              <a:spcBef>
                <a:spcPts val="0"/>
              </a:spcBef>
              <a:buNone/>
              <a:defRPr sz="800">
                <a:solidFill>
                  <a:schemeClr val="dk1"/>
                </a:solidFill>
                <a:latin typeface="Arial"/>
                <a:ea typeface="Arial"/>
                <a:cs typeface="Arial"/>
                <a:sym typeface="Arial"/>
              </a:defRPr>
            </a:lvl7pPr>
            <a:lvl8pPr indent="0" lvl="7" marL="0" algn="r">
              <a:spcBef>
                <a:spcPts val="0"/>
              </a:spcBef>
              <a:buNone/>
              <a:defRPr sz="800">
                <a:solidFill>
                  <a:schemeClr val="dk1"/>
                </a:solidFill>
                <a:latin typeface="Arial"/>
                <a:ea typeface="Arial"/>
                <a:cs typeface="Arial"/>
                <a:sym typeface="Arial"/>
              </a:defRPr>
            </a:lvl8pPr>
            <a:lvl9pPr indent="0" lvl="8" marL="0" algn="r">
              <a:spcBef>
                <a:spcPts val="0"/>
              </a:spcBef>
              <a:buNone/>
              <a:defRPr sz="800">
                <a:solidFill>
                  <a:schemeClr val="dk1"/>
                </a:solidFill>
                <a:latin typeface="Arial"/>
                <a:ea typeface="Arial"/>
                <a:cs typeface="Arial"/>
                <a:sym typeface="Arial"/>
              </a:defRPr>
            </a:lvl9pPr>
          </a:lstStyle>
          <a:p>
            <a:pPr indent="0" lvl="0" marL="0" rtl="0" algn="r">
              <a:spcBef>
                <a:spcPts val="0"/>
              </a:spcBef>
              <a:spcAft>
                <a:spcPts val="0"/>
              </a:spcAft>
              <a:buNone/>
            </a:pPr>
            <a:r>
              <a:rPr lang="es"/>
              <a:t>  |  </a:t>
            </a:r>
            <a:fld id="{00000000-1234-1234-1234-123412341234}" type="slidenum">
              <a:rPr lang="es"/>
              <a:t>‹#›</a:t>
            </a:fld>
            <a:endParaRPr/>
          </a:p>
        </p:txBody>
      </p:sp>
      <p:cxnSp>
        <p:nvCxnSpPr>
          <p:cNvPr id="122" name="Google Shape;122;p22"/>
          <p:cNvCxnSpPr/>
          <p:nvPr/>
        </p:nvCxnSpPr>
        <p:spPr>
          <a:xfrm>
            <a:off x="0" y="4842683"/>
            <a:ext cx="9144000" cy="0"/>
          </a:xfrm>
          <a:prstGeom prst="straightConnector1">
            <a:avLst/>
          </a:prstGeom>
          <a:noFill/>
          <a:ln cap="flat" cmpd="sng" w="9525">
            <a:solidFill>
              <a:srgbClr val="AEAEAE"/>
            </a:solidFill>
            <a:prstDash val="solid"/>
            <a:miter lim="800000"/>
            <a:headEnd len="sm" w="sm" type="none"/>
            <a:tailEnd len="sm" w="sm"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23" name="Shape 123"/>
        <p:cNvGrpSpPr/>
        <p:nvPr/>
      </p:nvGrpSpPr>
      <p:grpSpPr>
        <a:xfrm>
          <a:off x="0" y="0"/>
          <a:ext cx="0" cy="0"/>
          <a:chOff x="0" y="0"/>
          <a:chExt cx="0" cy="0"/>
        </a:xfrm>
      </p:grpSpPr>
      <p:sp>
        <p:nvSpPr>
          <p:cNvPr id="124" name="Google Shape;124;p23"/>
          <p:cNvSpPr/>
          <p:nvPr/>
        </p:nvSpPr>
        <p:spPr>
          <a:xfrm>
            <a:off x="0" y="225910"/>
            <a:ext cx="355002" cy="580913"/>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5" name="Google Shape;125;p23"/>
          <p:cNvSpPr txBox="1"/>
          <p:nvPr>
            <p:ph idx="1" type="body"/>
          </p:nvPr>
        </p:nvSpPr>
        <p:spPr>
          <a:xfrm>
            <a:off x="462663" y="574040"/>
            <a:ext cx="7207748" cy="232784"/>
          </a:xfrm>
          <a:prstGeom prst="rect">
            <a:avLst/>
          </a:prstGeom>
          <a:noFill/>
          <a:ln>
            <a:noFill/>
          </a:ln>
        </p:spPr>
        <p:txBody>
          <a:bodyPr anchorCtr="0" anchor="b" bIns="0" lIns="0" spcFirstLastPara="1" rIns="0" wrap="square" tIns="0">
            <a:normAutofit/>
          </a:bodyPr>
          <a:lstStyle>
            <a:lvl1pPr indent="-228600" lvl="0" marL="457200" algn="l">
              <a:lnSpc>
                <a:spcPct val="90000"/>
              </a:lnSpc>
              <a:spcBef>
                <a:spcPts val="800"/>
              </a:spcBef>
              <a:spcAft>
                <a:spcPts val="0"/>
              </a:spcAft>
              <a:buClr>
                <a:srgbClr val="0C3512"/>
              </a:buClr>
              <a:buSzPts val="1500"/>
              <a:buNone/>
              <a:defRPr b="0" i="1" sz="1500">
                <a:solidFill>
                  <a:srgbClr val="0C3512"/>
                </a:solidFill>
                <a:latin typeface="Quattrocento Sans"/>
                <a:ea typeface="Quattrocento Sans"/>
                <a:cs typeface="Quattrocento Sans"/>
                <a:sym typeface="Quattrocento Sans"/>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6" name="Google Shape;126;p23"/>
          <p:cNvSpPr txBox="1"/>
          <p:nvPr>
            <p:ph type="title"/>
          </p:nvPr>
        </p:nvSpPr>
        <p:spPr>
          <a:xfrm>
            <a:off x="462663" y="222647"/>
            <a:ext cx="7207748" cy="351393"/>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descr="About | StraitsX Indonesia" id="127" name="Google Shape;127;p23">
            <a:hlinkClick/>
          </p:cNvPr>
          <p:cNvPicPr preferRelativeResize="0"/>
          <p:nvPr/>
        </p:nvPicPr>
        <p:blipFill rotWithShape="1">
          <a:blip r:embed="rId2">
            <a:alphaModFix/>
          </a:blip>
          <a:srcRect b="0" l="0" r="0" t="0"/>
          <a:stretch/>
        </p:blipFill>
        <p:spPr>
          <a:xfrm>
            <a:off x="7973964" y="379444"/>
            <a:ext cx="911625" cy="273844"/>
          </a:xfrm>
          <a:prstGeom prst="rect">
            <a:avLst/>
          </a:prstGeom>
          <a:noFill/>
          <a:ln>
            <a:noFill/>
          </a:ln>
        </p:spPr>
      </p:pic>
      <p:sp>
        <p:nvSpPr>
          <p:cNvPr id="128" name="Google Shape;128;p23"/>
          <p:cNvSpPr txBox="1"/>
          <p:nvPr>
            <p:ph idx="12" type="sldNum"/>
          </p:nvPr>
        </p:nvSpPr>
        <p:spPr>
          <a:xfrm>
            <a:off x="6974285"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900">
                <a:solidFill>
                  <a:srgbClr val="888888"/>
                </a:solidFill>
                <a:latin typeface="Arial"/>
                <a:ea typeface="Arial"/>
                <a:cs typeface="Arial"/>
                <a:sym typeface="Arial"/>
              </a:defRPr>
            </a:lvl1pPr>
            <a:lvl2pPr indent="0" lvl="1" marL="0" algn="r">
              <a:spcBef>
                <a:spcPts val="0"/>
              </a:spcBef>
              <a:buNone/>
              <a:defRPr sz="900">
                <a:solidFill>
                  <a:srgbClr val="888888"/>
                </a:solidFill>
                <a:latin typeface="Arial"/>
                <a:ea typeface="Arial"/>
                <a:cs typeface="Arial"/>
                <a:sym typeface="Arial"/>
              </a:defRPr>
            </a:lvl2pPr>
            <a:lvl3pPr indent="0" lvl="2" marL="0" algn="r">
              <a:spcBef>
                <a:spcPts val="0"/>
              </a:spcBef>
              <a:buNone/>
              <a:defRPr sz="900">
                <a:solidFill>
                  <a:srgbClr val="888888"/>
                </a:solidFill>
                <a:latin typeface="Arial"/>
                <a:ea typeface="Arial"/>
                <a:cs typeface="Arial"/>
                <a:sym typeface="Arial"/>
              </a:defRPr>
            </a:lvl3pPr>
            <a:lvl4pPr indent="0" lvl="3" marL="0" algn="r">
              <a:spcBef>
                <a:spcPts val="0"/>
              </a:spcBef>
              <a:buNone/>
              <a:defRPr sz="900">
                <a:solidFill>
                  <a:srgbClr val="888888"/>
                </a:solidFill>
                <a:latin typeface="Arial"/>
                <a:ea typeface="Arial"/>
                <a:cs typeface="Arial"/>
                <a:sym typeface="Arial"/>
              </a:defRPr>
            </a:lvl4pPr>
            <a:lvl5pPr indent="0" lvl="4" marL="0" algn="r">
              <a:spcBef>
                <a:spcPts val="0"/>
              </a:spcBef>
              <a:buNone/>
              <a:defRPr sz="900">
                <a:solidFill>
                  <a:srgbClr val="888888"/>
                </a:solidFill>
                <a:latin typeface="Arial"/>
                <a:ea typeface="Arial"/>
                <a:cs typeface="Arial"/>
                <a:sym typeface="Arial"/>
              </a:defRPr>
            </a:lvl5pPr>
            <a:lvl6pPr indent="0" lvl="5" marL="0" algn="r">
              <a:spcBef>
                <a:spcPts val="0"/>
              </a:spcBef>
              <a:buNone/>
              <a:defRPr sz="900">
                <a:solidFill>
                  <a:srgbClr val="888888"/>
                </a:solidFill>
                <a:latin typeface="Arial"/>
                <a:ea typeface="Arial"/>
                <a:cs typeface="Arial"/>
                <a:sym typeface="Arial"/>
              </a:defRPr>
            </a:lvl6pPr>
            <a:lvl7pPr indent="0" lvl="6" marL="0" algn="r">
              <a:spcBef>
                <a:spcPts val="0"/>
              </a:spcBef>
              <a:buNone/>
              <a:defRPr sz="900">
                <a:solidFill>
                  <a:srgbClr val="888888"/>
                </a:solidFill>
                <a:latin typeface="Arial"/>
                <a:ea typeface="Arial"/>
                <a:cs typeface="Arial"/>
                <a:sym typeface="Arial"/>
              </a:defRPr>
            </a:lvl7pPr>
            <a:lvl8pPr indent="0" lvl="7" marL="0" algn="r">
              <a:spcBef>
                <a:spcPts val="0"/>
              </a:spcBef>
              <a:buNone/>
              <a:defRPr sz="900">
                <a:solidFill>
                  <a:srgbClr val="888888"/>
                </a:solidFill>
                <a:latin typeface="Arial"/>
                <a:ea typeface="Arial"/>
                <a:cs typeface="Arial"/>
                <a:sym typeface="Arial"/>
              </a:defRPr>
            </a:lvl8pPr>
            <a:lvl9pPr indent="0" lvl="8" marL="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extLst>
    <p:ext uri="{DCECCB84-F9BA-43D5-87BE-67443E8EF086}">
      <p15:sldGuideLst>
        <p15:guide id="1" orient="horz" pos="140">
          <p15:clr>
            <a:srgbClr val="FBAE40"/>
          </p15:clr>
        </p15:guide>
        <p15:guide id="2" pos="125">
          <p15:clr>
            <a:srgbClr val="FBAE40"/>
          </p15:clr>
        </p15:guide>
        <p15:guide id="3" pos="4836">
          <p15:clr>
            <a:srgbClr val="FBAE40"/>
          </p15:clr>
        </p15:guide>
        <p15:guide id="4" orient="horz" pos="3117">
          <p15:clr>
            <a:srgbClr val="FBAE40"/>
          </p15:clr>
        </p15:guide>
        <p15:guide id="5" orient="horz" pos="599">
          <p15:clr>
            <a:srgbClr val="FBAE40"/>
          </p15:clr>
        </p15:guide>
        <p15:guide id="6" pos="5635">
          <p15:clr>
            <a:srgbClr val="FBAE40"/>
          </p15:clr>
        </p15:guide>
        <p15:guide id="7" pos="2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egy">
  <p:cSld name="Strategy">
    <p:spTree>
      <p:nvGrpSpPr>
        <p:cNvPr id="129" name="Shape 129"/>
        <p:cNvGrpSpPr/>
        <p:nvPr/>
      </p:nvGrpSpPr>
      <p:grpSpPr>
        <a:xfrm>
          <a:off x="0" y="0"/>
          <a:ext cx="0" cy="0"/>
          <a:chOff x="0" y="0"/>
          <a:chExt cx="0" cy="0"/>
        </a:xfrm>
      </p:grpSpPr>
      <p:sp>
        <p:nvSpPr>
          <p:cNvPr id="130" name="Google Shape;130;p24"/>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1" name="Google Shape;131;p24"/>
          <p:cNvSpPr/>
          <p:nvPr/>
        </p:nvSpPr>
        <p:spPr>
          <a:xfrm>
            <a:off x="1" y="160867"/>
            <a:ext cx="114299" cy="507572"/>
          </a:xfrm>
          <a:prstGeom prst="rect">
            <a:avLst/>
          </a:prstGeom>
          <a:solidFill>
            <a:srgbClr val="4892DC"/>
          </a:solidFill>
          <a:ln>
            <a:noFill/>
          </a:ln>
        </p:spPr>
        <p:txBody>
          <a:bodyPr anchorCtr="0" anchor="ctr" bIns="29225" lIns="58450" spcFirstLastPara="1" rIns="58450" wrap="square" tIns="29225">
            <a:noAutofit/>
          </a:bodyPr>
          <a:lstStyle/>
          <a:p>
            <a:pPr indent="0" lvl="0" marL="0" marR="0" rtl="0" algn="ctr">
              <a:spcBef>
                <a:spcPts val="0"/>
              </a:spcBef>
              <a:spcAft>
                <a:spcPts val="0"/>
              </a:spcAft>
              <a:buClr>
                <a:schemeClr val="dk1"/>
              </a:buClr>
              <a:buSzPts val="700"/>
              <a:buFont typeface="Arial"/>
              <a:buNone/>
            </a:pPr>
            <a:r>
              <a:t/>
            </a:r>
            <a:endParaRPr b="0" sz="700">
              <a:solidFill>
                <a:schemeClr val="lt1"/>
              </a:solidFill>
              <a:latin typeface="Arial"/>
              <a:ea typeface="Arial"/>
              <a:cs typeface="Arial"/>
              <a:sym typeface="Arial"/>
            </a:endParaRPr>
          </a:p>
        </p:txBody>
      </p:sp>
      <p:sp>
        <p:nvSpPr>
          <p:cNvPr id="132" name="Google Shape;132;p24"/>
          <p:cNvSpPr txBox="1"/>
          <p:nvPr>
            <p:ph idx="2" type="body"/>
          </p:nvPr>
        </p:nvSpPr>
        <p:spPr>
          <a:xfrm>
            <a:off x="198835" y="160735"/>
            <a:ext cx="3305175" cy="20955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rgbClr val="4892DC"/>
              </a:buClr>
              <a:buSzPts val="1200"/>
              <a:buNone/>
              <a:defRPr sz="1200">
                <a:solidFill>
                  <a:srgbClr val="4892DC"/>
                </a:solidFill>
                <a:latin typeface="Quattrocento Sans"/>
                <a:ea typeface="Quattrocento Sans"/>
                <a:cs typeface="Quattrocento Sans"/>
                <a:sym typeface="Quattrocento Sans"/>
              </a:defRPr>
            </a:lvl1pPr>
            <a:lvl2pPr indent="-228600" lvl="1" marL="914400" algn="l">
              <a:lnSpc>
                <a:spcPct val="90000"/>
              </a:lnSpc>
              <a:spcBef>
                <a:spcPts val="400"/>
              </a:spcBef>
              <a:spcAft>
                <a:spcPts val="0"/>
              </a:spcAft>
              <a:buClr>
                <a:srgbClr val="4892DC"/>
              </a:buClr>
              <a:buSzPts val="1200"/>
              <a:buNone/>
              <a:defRPr sz="1200">
                <a:solidFill>
                  <a:srgbClr val="4892DC"/>
                </a:solidFill>
                <a:latin typeface="Quattrocento Sans"/>
                <a:ea typeface="Quattrocento Sans"/>
                <a:cs typeface="Quattrocento Sans"/>
                <a:sym typeface="Quattrocento Sans"/>
              </a:defRPr>
            </a:lvl2pPr>
            <a:lvl3pPr indent="-228600" lvl="2" marL="1371600" algn="l">
              <a:lnSpc>
                <a:spcPct val="90000"/>
              </a:lnSpc>
              <a:spcBef>
                <a:spcPts val="400"/>
              </a:spcBef>
              <a:spcAft>
                <a:spcPts val="0"/>
              </a:spcAft>
              <a:buClr>
                <a:srgbClr val="4892DC"/>
              </a:buClr>
              <a:buSzPts val="1200"/>
              <a:buNone/>
              <a:defRPr sz="1200">
                <a:solidFill>
                  <a:srgbClr val="4892DC"/>
                </a:solidFill>
                <a:latin typeface="Quattrocento Sans"/>
                <a:ea typeface="Quattrocento Sans"/>
                <a:cs typeface="Quattrocento Sans"/>
                <a:sym typeface="Quattrocento Sans"/>
              </a:defRPr>
            </a:lvl3pPr>
            <a:lvl4pPr indent="-228600" lvl="3" marL="1828800" algn="l">
              <a:lnSpc>
                <a:spcPct val="90000"/>
              </a:lnSpc>
              <a:spcBef>
                <a:spcPts val="400"/>
              </a:spcBef>
              <a:spcAft>
                <a:spcPts val="0"/>
              </a:spcAft>
              <a:buClr>
                <a:srgbClr val="4892DC"/>
              </a:buClr>
              <a:buSzPts val="1200"/>
              <a:buNone/>
              <a:defRPr sz="1200">
                <a:solidFill>
                  <a:srgbClr val="4892DC"/>
                </a:solidFill>
                <a:latin typeface="Quattrocento Sans"/>
                <a:ea typeface="Quattrocento Sans"/>
                <a:cs typeface="Quattrocento Sans"/>
                <a:sym typeface="Quattrocento Sans"/>
              </a:defRPr>
            </a:lvl4pPr>
            <a:lvl5pPr indent="-228600" lvl="4" marL="2286000" algn="l">
              <a:lnSpc>
                <a:spcPct val="90000"/>
              </a:lnSpc>
              <a:spcBef>
                <a:spcPts val="400"/>
              </a:spcBef>
              <a:spcAft>
                <a:spcPts val="0"/>
              </a:spcAft>
              <a:buClr>
                <a:srgbClr val="4892DC"/>
              </a:buClr>
              <a:buSzPts val="1200"/>
              <a:buNone/>
              <a:defRPr sz="1200">
                <a:solidFill>
                  <a:srgbClr val="4892DC"/>
                </a:solidFill>
                <a:latin typeface="Quattrocento Sans"/>
                <a:ea typeface="Quattrocento Sans"/>
                <a:cs typeface="Quattrocento Sans"/>
                <a:sym typeface="Quattrocento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3" name="Google Shape;133;p24"/>
          <p:cNvSpPr txBox="1"/>
          <p:nvPr>
            <p:ph idx="12" type="sldNum"/>
          </p:nvPr>
        </p:nvSpPr>
        <p:spPr>
          <a:xfrm>
            <a:off x="6694592"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
        <p:nvSpPr>
          <p:cNvPr id="134" name="Google Shape;134;p24"/>
          <p:cNvSpPr txBox="1"/>
          <p:nvPr/>
        </p:nvSpPr>
        <p:spPr>
          <a:xfrm>
            <a:off x="255685" y="4814030"/>
            <a:ext cx="479939" cy="17312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700">
                <a:solidFill>
                  <a:schemeClr val="dk1"/>
                </a:solidFill>
                <a:latin typeface="Quattrocento Sans"/>
                <a:ea typeface="Quattrocento Sans"/>
                <a:cs typeface="Quattrocento Sans"/>
                <a:sym typeface="Quattrocento Sans"/>
              </a:rPr>
              <a:t>Sources: </a:t>
            </a:r>
            <a:endParaRPr sz="1100"/>
          </a:p>
        </p:txBody>
      </p:sp>
      <p:sp>
        <p:nvSpPr>
          <p:cNvPr id="135" name="Google Shape;135;p24"/>
          <p:cNvSpPr txBox="1"/>
          <p:nvPr>
            <p:ph idx="3" type="body"/>
          </p:nvPr>
        </p:nvSpPr>
        <p:spPr>
          <a:xfrm>
            <a:off x="678891" y="4813112"/>
            <a:ext cx="1874865" cy="206087"/>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800"/>
              <a:buNone/>
              <a:defRPr sz="800">
                <a:latin typeface="Quattrocento Sans"/>
                <a:ea typeface="Quattrocento Sans"/>
                <a:cs typeface="Quattrocento Sans"/>
                <a:sym typeface="Quattrocento Sans"/>
              </a:defRPr>
            </a:lvl1pPr>
            <a:lvl2pPr indent="-228600" lvl="1" marL="914400" algn="ctr">
              <a:lnSpc>
                <a:spcPct val="90000"/>
              </a:lnSpc>
              <a:spcBef>
                <a:spcPts val="400"/>
              </a:spcBef>
              <a:spcAft>
                <a:spcPts val="0"/>
              </a:spcAft>
              <a:buClr>
                <a:schemeClr val="dk1"/>
              </a:buClr>
              <a:buSzPts val="1800"/>
              <a:buNone/>
              <a:defRPr>
                <a:latin typeface="Quattrocento Sans"/>
                <a:ea typeface="Quattrocento Sans"/>
                <a:cs typeface="Quattrocento Sans"/>
                <a:sym typeface="Quattrocento Sans"/>
              </a:defRPr>
            </a:lvl2pPr>
            <a:lvl3pPr indent="-228600" lvl="2" marL="1371600" algn="ctr">
              <a:lnSpc>
                <a:spcPct val="90000"/>
              </a:lnSpc>
              <a:spcBef>
                <a:spcPts val="400"/>
              </a:spcBef>
              <a:spcAft>
                <a:spcPts val="0"/>
              </a:spcAft>
              <a:buClr>
                <a:schemeClr val="dk1"/>
              </a:buClr>
              <a:buSzPts val="1500"/>
              <a:buNone/>
              <a:defRPr>
                <a:latin typeface="Quattrocento Sans"/>
                <a:ea typeface="Quattrocento Sans"/>
                <a:cs typeface="Quattrocento Sans"/>
                <a:sym typeface="Quattrocento Sans"/>
              </a:defRPr>
            </a:lvl3pPr>
            <a:lvl4pPr indent="-228600" lvl="3" marL="1828800" algn="ctr">
              <a:lnSpc>
                <a:spcPct val="90000"/>
              </a:lnSpc>
              <a:spcBef>
                <a:spcPts val="400"/>
              </a:spcBef>
              <a:spcAft>
                <a:spcPts val="0"/>
              </a:spcAft>
              <a:buClr>
                <a:schemeClr val="dk1"/>
              </a:buClr>
              <a:buSzPts val="1400"/>
              <a:buNone/>
              <a:defRPr>
                <a:latin typeface="Quattrocento Sans"/>
                <a:ea typeface="Quattrocento Sans"/>
                <a:cs typeface="Quattrocento Sans"/>
                <a:sym typeface="Quattrocento Sans"/>
              </a:defRPr>
            </a:lvl4pPr>
            <a:lvl5pPr indent="-228600" lvl="4" marL="2286000" algn="ctr">
              <a:lnSpc>
                <a:spcPct val="90000"/>
              </a:lnSpc>
              <a:spcBef>
                <a:spcPts val="400"/>
              </a:spcBef>
              <a:spcAft>
                <a:spcPts val="0"/>
              </a:spcAft>
              <a:buClr>
                <a:schemeClr val="dk1"/>
              </a:buClr>
              <a:buSzPts val="1400"/>
              <a:buNone/>
              <a:defRPr>
                <a:latin typeface="Quattrocento Sans"/>
                <a:ea typeface="Quattrocento Sans"/>
                <a:cs typeface="Quattrocento Sans"/>
                <a:sym typeface="Quattrocento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6" name="Google Shape;136;p24"/>
          <p:cNvSpPr txBox="1"/>
          <p:nvPr>
            <p:ph type="title"/>
          </p:nvPr>
        </p:nvSpPr>
        <p:spPr>
          <a:xfrm>
            <a:off x="198852" y="281597"/>
            <a:ext cx="8481976" cy="386841"/>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800"/>
              <a:buFont typeface="Quattrocento Sans"/>
              <a:buNone/>
              <a:defRPr sz="1800">
                <a:latin typeface="Quattrocento Sans"/>
                <a:ea typeface="Quattrocento Sans"/>
                <a:cs typeface="Quattrocento Sans"/>
                <a:sym typeface="Quattrocento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37" name="Google Shape;137;p24">
            <a:hlinkClick/>
          </p:cNvPr>
          <p:cNvPicPr preferRelativeResize="0"/>
          <p:nvPr/>
        </p:nvPicPr>
        <p:blipFill rotWithShape="1">
          <a:blip r:embed="rId2">
            <a:alphaModFix/>
          </a:blip>
          <a:srcRect b="0" l="0" r="0" t="0"/>
          <a:stretch/>
        </p:blipFill>
        <p:spPr>
          <a:xfrm>
            <a:off x="8401050" y="102394"/>
            <a:ext cx="591805" cy="591805"/>
          </a:xfrm>
          <a:prstGeom prst="rect">
            <a:avLst/>
          </a:prstGeom>
          <a:noFill/>
          <a:ln>
            <a:noFill/>
          </a:ln>
        </p:spPr>
      </p:pic>
      <p:sp>
        <p:nvSpPr>
          <p:cNvPr id="138" name="Google Shape;138;p24"/>
          <p:cNvSpPr txBox="1"/>
          <p:nvPr/>
        </p:nvSpPr>
        <p:spPr>
          <a:xfrm>
            <a:off x="2730731" y="4811449"/>
            <a:ext cx="3594167" cy="2077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sz="900">
                <a:solidFill>
                  <a:schemeClr val="dk1"/>
                </a:solidFill>
                <a:latin typeface="Quattrocento Sans"/>
                <a:ea typeface="Quattrocento Sans"/>
                <a:cs typeface="Quattrocento Sans"/>
                <a:sym typeface="Quattrocento Sans"/>
              </a:rPr>
              <a:t>Executive Summary          Insights          </a:t>
            </a:r>
            <a:r>
              <a:rPr b="1" lang="es" sz="900">
                <a:solidFill>
                  <a:srgbClr val="1F5C99"/>
                </a:solidFill>
                <a:latin typeface="Quattrocento Sans"/>
                <a:ea typeface="Quattrocento Sans"/>
                <a:cs typeface="Quattrocento Sans"/>
                <a:sym typeface="Quattrocento Sans"/>
              </a:rPr>
              <a:t>Strategy</a:t>
            </a:r>
            <a:r>
              <a:rPr lang="es" sz="900">
                <a:solidFill>
                  <a:schemeClr val="dk1"/>
                </a:solidFill>
                <a:latin typeface="Quattrocento Sans"/>
                <a:ea typeface="Quattrocento Sans"/>
                <a:cs typeface="Quattrocento Sans"/>
                <a:sym typeface="Quattrocento Sans"/>
              </a:rPr>
              <a:t>           Impact</a:t>
            </a:r>
            <a:endParaRPr sz="110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Title and Content">
  <p:cSld name="9_Title and Content">
    <p:spTree>
      <p:nvGrpSpPr>
        <p:cNvPr id="139" name="Shape 139"/>
        <p:cNvGrpSpPr/>
        <p:nvPr/>
      </p:nvGrpSpPr>
      <p:grpSpPr>
        <a:xfrm>
          <a:off x="0" y="0"/>
          <a:ext cx="0" cy="0"/>
          <a:chOff x="0" y="0"/>
          <a:chExt cx="0" cy="0"/>
        </a:xfrm>
      </p:grpSpPr>
      <p:sp>
        <p:nvSpPr>
          <p:cNvPr id="140" name="Google Shape;140;p25"/>
          <p:cNvSpPr txBox="1"/>
          <p:nvPr>
            <p:ph type="title"/>
          </p:nvPr>
        </p:nvSpPr>
        <p:spPr>
          <a:xfrm>
            <a:off x="365787" y="165922"/>
            <a:ext cx="7886700" cy="414601"/>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2000"/>
              <a:buFont typeface="Quattrocento Sans"/>
              <a:buNone/>
              <a:defRPr b="1" i="0" sz="2000">
                <a:latin typeface="Quattrocento Sans"/>
                <a:ea typeface="Quattrocento Sans"/>
                <a:cs typeface="Quattrocento Sans"/>
                <a:sym typeface="Quattrocento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1" name="Google Shape;141;p25"/>
          <p:cNvSpPr txBox="1"/>
          <p:nvPr>
            <p:ph idx="12" type="sldNum"/>
          </p:nvPr>
        </p:nvSpPr>
        <p:spPr>
          <a:xfrm>
            <a:off x="8515350" y="4881649"/>
            <a:ext cx="420870" cy="159457"/>
          </a:xfrm>
          <a:prstGeom prst="rect">
            <a:avLst/>
          </a:prstGeom>
          <a:noFill/>
          <a:ln>
            <a:noFill/>
          </a:ln>
        </p:spPr>
        <p:txBody>
          <a:bodyPr anchorCtr="0" anchor="b" bIns="0" lIns="0" spcFirstLastPara="1" rIns="0" wrap="square" tIns="0">
            <a:noAutofit/>
          </a:bodyPr>
          <a:lstStyle>
            <a:lvl1pPr indent="0" lvl="0" marL="0" algn="r">
              <a:spcBef>
                <a:spcPts val="0"/>
              </a:spcBef>
              <a:buNone/>
              <a:defRPr sz="800">
                <a:solidFill>
                  <a:schemeClr val="dk1"/>
                </a:solidFill>
                <a:latin typeface="Quattrocento Sans"/>
                <a:ea typeface="Quattrocento Sans"/>
                <a:cs typeface="Quattrocento Sans"/>
                <a:sym typeface="Quattrocento Sans"/>
              </a:defRPr>
            </a:lvl1pPr>
            <a:lvl2pPr indent="0" lvl="1" marL="0" algn="r">
              <a:spcBef>
                <a:spcPts val="0"/>
              </a:spcBef>
              <a:buNone/>
              <a:defRPr sz="800">
                <a:solidFill>
                  <a:schemeClr val="dk1"/>
                </a:solidFill>
                <a:latin typeface="Quattrocento Sans"/>
                <a:ea typeface="Quattrocento Sans"/>
                <a:cs typeface="Quattrocento Sans"/>
                <a:sym typeface="Quattrocento Sans"/>
              </a:defRPr>
            </a:lvl2pPr>
            <a:lvl3pPr indent="0" lvl="2" marL="0" algn="r">
              <a:spcBef>
                <a:spcPts val="0"/>
              </a:spcBef>
              <a:buNone/>
              <a:defRPr sz="800">
                <a:solidFill>
                  <a:schemeClr val="dk1"/>
                </a:solidFill>
                <a:latin typeface="Quattrocento Sans"/>
                <a:ea typeface="Quattrocento Sans"/>
                <a:cs typeface="Quattrocento Sans"/>
                <a:sym typeface="Quattrocento Sans"/>
              </a:defRPr>
            </a:lvl3pPr>
            <a:lvl4pPr indent="0" lvl="3" marL="0" algn="r">
              <a:spcBef>
                <a:spcPts val="0"/>
              </a:spcBef>
              <a:buNone/>
              <a:defRPr sz="800">
                <a:solidFill>
                  <a:schemeClr val="dk1"/>
                </a:solidFill>
                <a:latin typeface="Quattrocento Sans"/>
                <a:ea typeface="Quattrocento Sans"/>
                <a:cs typeface="Quattrocento Sans"/>
                <a:sym typeface="Quattrocento Sans"/>
              </a:defRPr>
            </a:lvl4pPr>
            <a:lvl5pPr indent="0" lvl="4" marL="0" algn="r">
              <a:spcBef>
                <a:spcPts val="0"/>
              </a:spcBef>
              <a:buNone/>
              <a:defRPr sz="800">
                <a:solidFill>
                  <a:schemeClr val="dk1"/>
                </a:solidFill>
                <a:latin typeface="Quattrocento Sans"/>
                <a:ea typeface="Quattrocento Sans"/>
                <a:cs typeface="Quattrocento Sans"/>
                <a:sym typeface="Quattrocento Sans"/>
              </a:defRPr>
            </a:lvl5pPr>
            <a:lvl6pPr indent="0" lvl="5" marL="0" algn="r">
              <a:spcBef>
                <a:spcPts val="0"/>
              </a:spcBef>
              <a:buNone/>
              <a:defRPr sz="800">
                <a:solidFill>
                  <a:schemeClr val="dk1"/>
                </a:solidFill>
                <a:latin typeface="Quattrocento Sans"/>
                <a:ea typeface="Quattrocento Sans"/>
                <a:cs typeface="Quattrocento Sans"/>
                <a:sym typeface="Quattrocento Sans"/>
              </a:defRPr>
            </a:lvl6pPr>
            <a:lvl7pPr indent="0" lvl="6" marL="0" algn="r">
              <a:spcBef>
                <a:spcPts val="0"/>
              </a:spcBef>
              <a:buNone/>
              <a:defRPr sz="800">
                <a:solidFill>
                  <a:schemeClr val="dk1"/>
                </a:solidFill>
                <a:latin typeface="Quattrocento Sans"/>
                <a:ea typeface="Quattrocento Sans"/>
                <a:cs typeface="Quattrocento Sans"/>
                <a:sym typeface="Quattrocento Sans"/>
              </a:defRPr>
            </a:lvl7pPr>
            <a:lvl8pPr indent="0" lvl="7" marL="0" algn="r">
              <a:spcBef>
                <a:spcPts val="0"/>
              </a:spcBef>
              <a:buNone/>
              <a:defRPr sz="800">
                <a:solidFill>
                  <a:schemeClr val="dk1"/>
                </a:solidFill>
                <a:latin typeface="Quattrocento Sans"/>
                <a:ea typeface="Quattrocento Sans"/>
                <a:cs typeface="Quattrocento Sans"/>
                <a:sym typeface="Quattrocento Sans"/>
              </a:defRPr>
            </a:lvl8pPr>
            <a:lvl9pPr indent="0" lvl="8" marL="0" algn="r">
              <a:spcBef>
                <a:spcPts val="0"/>
              </a:spcBef>
              <a:buNone/>
              <a:defRPr sz="800">
                <a:solidFill>
                  <a:schemeClr val="dk1"/>
                </a:solidFill>
                <a:latin typeface="Quattrocento Sans"/>
                <a:ea typeface="Quattrocento Sans"/>
                <a:cs typeface="Quattrocento Sans"/>
                <a:sym typeface="Quattrocento Sans"/>
              </a:defRPr>
            </a:lvl9pPr>
          </a:lstStyle>
          <a:p>
            <a:pPr indent="0" lvl="0" marL="0" rtl="0" algn="r">
              <a:spcBef>
                <a:spcPts val="0"/>
              </a:spcBef>
              <a:spcAft>
                <a:spcPts val="0"/>
              </a:spcAft>
              <a:buNone/>
            </a:pPr>
            <a:r>
              <a:rPr lang="es"/>
              <a:t>|  </a:t>
            </a:r>
            <a:fld id="{00000000-1234-1234-1234-123412341234}" type="slidenum">
              <a:rPr lang="es"/>
              <a:t>‹#›</a:t>
            </a:fld>
            <a:endParaRPr/>
          </a:p>
        </p:txBody>
      </p:sp>
      <p:grpSp>
        <p:nvGrpSpPr>
          <p:cNvPr id="142" name="Google Shape;142;p25"/>
          <p:cNvGrpSpPr/>
          <p:nvPr/>
        </p:nvGrpSpPr>
        <p:grpSpPr>
          <a:xfrm>
            <a:off x="7761649" y="22616"/>
            <a:ext cx="1343144" cy="350384"/>
            <a:chOff x="10348865" y="30155"/>
            <a:chExt cx="1790859" cy="467178"/>
          </a:xfrm>
        </p:grpSpPr>
        <p:pic>
          <p:nvPicPr>
            <p:cNvPr descr="Aalto Finance - CBS Case Competition - GLOBAL 2022... | Facebook" id="143" name="Google Shape;143;p25"/>
            <p:cNvPicPr preferRelativeResize="0"/>
            <p:nvPr/>
          </p:nvPicPr>
          <p:blipFill rotWithShape="1">
            <a:blip r:embed="rId2">
              <a:alphaModFix/>
            </a:blip>
            <a:srcRect b="0" l="0" r="0" t="0"/>
            <a:stretch/>
          </p:blipFill>
          <p:spPr>
            <a:xfrm>
              <a:off x="10348865" y="30155"/>
              <a:ext cx="805950" cy="467178"/>
            </a:xfrm>
            <a:prstGeom prst="rect">
              <a:avLst/>
            </a:prstGeom>
            <a:noFill/>
            <a:ln>
              <a:noFill/>
            </a:ln>
          </p:spPr>
        </p:pic>
        <p:pic>
          <p:nvPicPr>
            <p:cNvPr id="144" name="Google Shape;144;p25"/>
            <p:cNvPicPr preferRelativeResize="0"/>
            <p:nvPr/>
          </p:nvPicPr>
          <p:blipFill rotWithShape="1">
            <a:blip r:embed="rId3">
              <a:alphaModFix/>
            </a:blip>
            <a:srcRect b="37027" l="0" r="0" t="37143"/>
            <a:stretch/>
          </p:blipFill>
          <p:spPr>
            <a:xfrm>
              <a:off x="11268844" y="151270"/>
              <a:ext cx="870880" cy="224948"/>
            </a:xfrm>
            <a:prstGeom prst="rect">
              <a:avLst/>
            </a:prstGeom>
            <a:noFill/>
            <a:ln>
              <a:noFill/>
            </a:ln>
          </p:spPr>
        </p:pic>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145" name="Shape 145"/>
        <p:cNvGrpSpPr/>
        <p:nvPr/>
      </p:nvGrpSpPr>
      <p:grpSpPr>
        <a:xfrm>
          <a:off x="0" y="0"/>
          <a:ext cx="0" cy="0"/>
          <a:chOff x="0" y="0"/>
          <a:chExt cx="0" cy="0"/>
        </a:xfrm>
      </p:grpSpPr>
      <p:sp>
        <p:nvSpPr>
          <p:cNvPr id="146" name="Google Shape;146;p26"/>
          <p:cNvSpPr/>
          <p:nvPr/>
        </p:nvSpPr>
        <p:spPr>
          <a:xfrm>
            <a:off x="0" y="225910"/>
            <a:ext cx="355002" cy="580913"/>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47" name="Google Shape;147;p26"/>
          <p:cNvSpPr txBox="1"/>
          <p:nvPr>
            <p:ph type="title"/>
          </p:nvPr>
        </p:nvSpPr>
        <p:spPr>
          <a:xfrm>
            <a:off x="462663" y="355478"/>
            <a:ext cx="7207748" cy="321777"/>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descr="About | StraitsX Indonesia" id="148" name="Google Shape;148;p26">
            <a:hlinkClick/>
          </p:cNvPr>
          <p:cNvPicPr preferRelativeResize="0"/>
          <p:nvPr/>
        </p:nvPicPr>
        <p:blipFill rotWithShape="1">
          <a:blip r:embed="rId2">
            <a:alphaModFix/>
          </a:blip>
          <a:srcRect b="0" l="0" r="0" t="0"/>
          <a:stretch/>
        </p:blipFill>
        <p:spPr>
          <a:xfrm>
            <a:off x="7973964" y="379444"/>
            <a:ext cx="911625" cy="273844"/>
          </a:xfrm>
          <a:prstGeom prst="rect">
            <a:avLst/>
          </a:prstGeom>
          <a:noFill/>
          <a:ln>
            <a:noFill/>
          </a:ln>
        </p:spPr>
      </p:pic>
      <p:sp>
        <p:nvSpPr>
          <p:cNvPr id="149" name="Google Shape;149;p26"/>
          <p:cNvSpPr txBox="1"/>
          <p:nvPr>
            <p:ph idx="12" type="sldNum"/>
          </p:nvPr>
        </p:nvSpPr>
        <p:spPr>
          <a:xfrm>
            <a:off x="6974285"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900">
                <a:solidFill>
                  <a:srgbClr val="888888"/>
                </a:solidFill>
                <a:latin typeface="Arial"/>
                <a:ea typeface="Arial"/>
                <a:cs typeface="Arial"/>
                <a:sym typeface="Arial"/>
              </a:defRPr>
            </a:lvl1pPr>
            <a:lvl2pPr indent="0" lvl="1" marL="0" algn="r">
              <a:spcBef>
                <a:spcPts val="0"/>
              </a:spcBef>
              <a:buNone/>
              <a:defRPr sz="900">
                <a:solidFill>
                  <a:srgbClr val="888888"/>
                </a:solidFill>
                <a:latin typeface="Arial"/>
                <a:ea typeface="Arial"/>
                <a:cs typeface="Arial"/>
                <a:sym typeface="Arial"/>
              </a:defRPr>
            </a:lvl2pPr>
            <a:lvl3pPr indent="0" lvl="2" marL="0" algn="r">
              <a:spcBef>
                <a:spcPts val="0"/>
              </a:spcBef>
              <a:buNone/>
              <a:defRPr sz="900">
                <a:solidFill>
                  <a:srgbClr val="888888"/>
                </a:solidFill>
                <a:latin typeface="Arial"/>
                <a:ea typeface="Arial"/>
                <a:cs typeface="Arial"/>
                <a:sym typeface="Arial"/>
              </a:defRPr>
            </a:lvl3pPr>
            <a:lvl4pPr indent="0" lvl="3" marL="0" algn="r">
              <a:spcBef>
                <a:spcPts val="0"/>
              </a:spcBef>
              <a:buNone/>
              <a:defRPr sz="900">
                <a:solidFill>
                  <a:srgbClr val="888888"/>
                </a:solidFill>
                <a:latin typeface="Arial"/>
                <a:ea typeface="Arial"/>
                <a:cs typeface="Arial"/>
                <a:sym typeface="Arial"/>
              </a:defRPr>
            </a:lvl4pPr>
            <a:lvl5pPr indent="0" lvl="4" marL="0" algn="r">
              <a:spcBef>
                <a:spcPts val="0"/>
              </a:spcBef>
              <a:buNone/>
              <a:defRPr sz="900">
                <a:solidFill>
                  <a:srgbClr val="888888"/>
                </a:solidFill>
                <a:latin typeface="Arial"/>
                <a:ea typeface="Arial"/>
                <a:cs typeface="Arial"/>
                <a:sym typeface="Arial"/>
              </a:defRPr>
            </a:lvl5pPr>
            <a:lvl6pPr indent="0" lvl="5" marL="0" algn="r">
              <a:spcBef>
                <a:spcPts val="0"/>
              </a:spcBef>
              <a:buNone/>
              <a:defRPr sz="900">
                <a:solidFill>
                  <a:srgbClr val="888888"/>
                </a:solidFill>
                <a:latin typeface="Arial"/>
                <a:ea typeface="Arial"/>
                <a:cs typeface="Arial"/>
                <a:sym typeface="Arial"/>
              </a:defRPr>
            </a:lvl6pPr>
            <a:lvl7pPr indent="0" lvl="6" marL="0" algn="r">
              <a:spcBef>
                <a:spcPts val="0"/>
              </a:spcBef>
              <a:buNone/>
              <a:defRPr sz="900">
                <a:solidFill>
                  <a:srgbClr val="888888"/>
                </a:solidFill>
                <a:latin typeface="Arial"/>
                <a:ea typeface="Arial"/>
                <a:cs typeface="Arial"/>
                <a:sym typeface="Arial"/>
              </a:defRPr>
            </a:lvl7pPr>
            <a:lvl8pPr indent="0" lvl="7" marL="0" algn="r">
              <a:spcBef>
                <a:spcPts val="0"/>
              </a:spcBef>
              <a:buNone/>
              <a:defRPr sz="900">
                <a:solidFill>
                  <a:srgbClr val="888888"/>
                </a:solidFill>
                <a:latin typeface="Arial"/>
                <a:ea typeface="Arial"/>
                <a:cs typeface="Arial"/>
                <a:sym typeface="Arial"/>
              </a:defRPr>
            </a:lvl8pPr>
            <a:lvl9pPr indent="0" lvl="8" marL="0" algn="r">
              <a:spcBef>
                <a:spcPts val="0"/>
              </a:spcBef>
              <a:buNone/>
              <a:defRPr sz="9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extLst>
    <p:ext uri="{DCECCB84-F9BA-43D5-87BE-67443E8EF086}">
      <p15:sldGuideLst>
        <p15:guide id="1" orient="horz" pos="140">
          <p15:clr>
            <a:srgbClr val="FBAE40"/>
          </p15:clr>
        </p15:guide>
        <p15:guide id="2" pos="125">
          <p15:clr>
            <a:srgbClr val="FBAE40"/>
          </p15:clr>
        </p15:guide>
        <p15:guide id="3" pos="5635">
          <p15:clr>
            <a:srgbClr val="FBAE40"/>
          </p15:clr>
        </p15:guide>
        <p15:guide id="4" orient="horz" pos="3100">
          <p15:clr>
            <a:srgbClr val="FBAE40"/>
          </p15:clr>
        </p15:guide>
        <p15:guide id="5" orient="horz" pos="599">
          <p15:clr>
            <a:srgbClr val="FBAE40"/>
          </p15:clr>
        </p15:guide>
        <p15:guide id="6" pos="277">
          <p15:clr>
            <a:srgbClr val="FBAE40"/>
          </p15:clr>
        </p15:guide>
        <p15:guide id="7" pos="483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Appendix">
    <p:spTree>
      <p:nvGrpSpPr>
        <p:cNvPr id="150" name="Shape 150"/>
        <p:cNvGrpSpPr/>
        <p:nvPr/>
      </p:nvGrpSpPr>
      <p:grpSpPr>
        <a:xfrm>
          <a:off x="0" y="0"/>
          <a:ext cx="0" cy="0"/>
          <a:chOff x="0" y="0"/>
          <a:chExt cx="0" cy="0"/>
        </a:xfrm>
      </p:grpSpPr>
      <p:sp>
        <p:nvSpPr>
          <p:cNvPr id="151" name="Google Shape;151;p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2" name="Google Shape;152;p2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
        <p:nvSpPr>
          <p:cNvPr id="153" name="Google Shape;153;p27"/>
          <p:cNvSpPr/>
          <p:nvPr/>
        </p:nvSpPr>
        <p:spPr>
          <a:xfrm rot="-5400000">
            <a:off x="-2511643" y="2515757"/>
            <a:ext cx="5139385" cy="116100"/>
          </a:xfrm>
          <a:prstGeom prst="rect">
            <a:avLst/>
          </a:prstGeom>
          <a:solidFill>
            <a:srgbClr val="4892DC"/>
          </a:solidFill>
          <a:ln>
            <a:noFill/>
          </a:ln>
        </p:spPr>
        <p:txBody>
          <a:bodyPr anchorCtr="0" anchor="ctr" bIns="29225" lIns="58450" spcFirstLastPara="1" rIns="58450" wrap="square" tIns="29225">
            <a:noAutofit/>
          </a:bodyPr>
          <a:lstStyle/>
          <a:p>
            <a:pPr indent="0" lvl="0" marL="0" marR="0" rtl="0" algn="ctr">
              <a:spcBef>
                <a:spcPts val="0"/>
              </a:spcBef>
              <a:spcAft>
                <a:spcPts val="0"/>
              </a:spcAft>
              <a:buClr>
                <a:schemeClr val="lt1"/>
              </a:buClr>
              <a:buSzPts val="500"/>
              <a:buFont typeface="Quattrocento Sans"/>
              <a:buNone/>
            </a:pPr>
            <a:r>
              <a:rPr b="0" lang="es" sz="500">
                <a:solidFill>
                  <a:schemeClr val="lt1"/>
                </a:solidFill>
                <a:latin typeface="Quattrocento Sans"/>
                <a:ea typeface="Quattrocento Sans"/>
                <a:cs typeface="Quattrocento Sans"/>
                <a:sym typeface="Quattrocento Sans"/>
              </a:rPr>
              <a:t>APPENDIX</a:t>
            </a:r>
            <a:endParaRPr b="0" sz="500">
              <a:solidFill>
                <a:schemeClr val="lt1"/>
              </a:solidFill>
              <a:latin typeface="Quattrocento Sans"/>
              <a:ea typeface="Quattrocento Sans"/>
              <a:cs typeface="Quattrocento Sans"/>
              <a:sym typeface="Quattrocento Sans"/>
            </a:endParaRPr>
          </a:p>
        </p:txBody>
      </p:sp>
      <p:sp>
        <p:nvSpPr>
          <p:cNvPr id="154" name="Google Shape;154;p27"/>
          <p:cNvSpPr txBox="1"/>
          <p:nvPr>
            <p:ph type="title"/>
          </p:nvPr>
        </p:nvSpPr>
        <p:spPr>
          <a:xfrm>
            <a:off x="198835" y="371473"/>
            <a:ext cx="8139852" cy="386841"/>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800"/>
              <a:buFont typeface="Play"/>
              <a:buNone/>
              <a:defRPr sz="18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5" name="Google Shape;155;p27"/>
          <p:cNvSpPr txBox="1"/>
          <p:nvPr>
            <p:ph idx="1" type="body"/>
          </p:nvPr>
        </p:nvSpPr>
        <p:spPr>
          <a:xfrm>
            <a:off x="198835" y="139303"/>
            <a:ext cx="4237434" cy="253603"/>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1F5C99"/>
              </a:buClr>
              <a:buSzPts val="1200"/>
              <a:buNone/>
              <a:defRPr sz="1200">
                <a:solidFill>
                  <a:srgbClr val="1F5C99"/>
                </a:solidFill>
                <a:latin typeface="Quattrocento Sans"/>
                <a:ea typeface="Quattrocento Sans"/>
                <a:cs typeface="Quattrocento Sans"/>
                <a:sym typeface="Quattrocento Sans"/>
              </a:defRPr>
            </a:lvl1pPr>
            <a:lvl2pPr indent="-228600" lvl="1" marL="914400" algn="l">
              <a:lnSpc>
                <a:spcPct val="90000"/>
              </a:lnSpc>
              <a:spcBef>
                <a:spcPts val="400"/>
              </a:spcBef>
              <a:spcAft>
                <a:spcPts val="0"/>
              </a:spcAft>
              <a:buClr>
                <a:schemeClr val="dk1"/>
              </a:buClr>
              <a:buSzPts val="1800"/>
              <a:buNone/>
              <a:defRPr>
                <a:latin typeface="Quattrocento Sans"/>
                <a:ea typeface="Quattrocento Sans"/>
                <a:cs typeface="Quattrocento Sans"/>
                <a:sym typeface="Quattrocento Sans"/>
              </a:defRPr>
            </a:lvl2pPr>
            <a:lvl3pPr indent="-228600" lvl="2" marL="1371600" algn="l">
              <a:lnSpc>
                <a:spcPct val="90000"/>
              </a:lnSpc>
              <a:spcBef>
                <a:spcPts val="400"/>
              </a:spcBef>
              <a:spcAft>
                <a:spcPts val="0"/>
              </a:spcAft>
              <a:buClr>
                <a:schemeClr val="dk1"/>
              </a:buClr>
              <a:buSzPts val="1500"/>
              <a:buNone/>
              <a:defRPr>
                <a:latin typeface="Quattrocento Sans"/>
                <a:ea typeface="Quattrocento Sans"/>
                <a:cs typeface="Quattrocento Sans"/>
                <a:sym typeface="Quattrocento Sans"/>
              </a:defRPr>
            </a:lvl3pPr>
            <a:lvl4pPr indent="-228600" lvl="3" marL="1828800" algn="l">
              <a:lnSpc>
                <a:spcPct val="90000"/>
              </a:lnSpc>
              <a:spcBef>
                <a:spcPts val="400"/>
              </a:spcBef>
              <a:spcAft>
                <a:spcPts val="0"/>
              </a:spcAft>
              <a:buClr>
                <a:schemeClr val="dk1"/>
              </a:buClr>
              <a:buSzPts val="1400"/>
              <a:buNone/>
              <a:defRPr>
                <a:latin typeface="Quattrocento Sans"/>
                <a:ea typeface="Quattrocento Sans"/>
                <a:cs typeface="Quattrocento Sans"/>
                <a:sym typeface="Quattrocento Sans"/>
              </a:defRPr>
            </a:lvl4pPr>
            <a:lvl5pPr indent="-228600" lvl="4" marL="2286000" algn="l">
              <a:lnSpc>
                <a:spcPct val="90000"/>
              </a:lnSpc>
              <a:spcBef>
                <a:spcPts val="400"/>
              </a:spcBef>
              <a:spcAft>
                <a:spcPts val="0"/>
              </a:spcAft>
              <a:buClr>
                <a:schemeClr val="dk1"/>
              </a:buClr>
              <a:buSzPts val="1400"/>
              <a:buNone/>
              <a:defRPr>
                <a:latin typeface="Quattrocento Sans"/>
                <a:ea typeface="Quattrocento Sans"/>
                <a:cs typeface="Quattrocento Sans"/>
                <a:sym typeface="Quattrocento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6" name="Google Shape;156;p27"/>
          <p:cNvSpPr/>
          <p:nvPr/>
        </p:nvSpPr>
        <p:spPr>
          <a:xfrm>
            <a:off x="8166940" y="166214"/>
            <a:ext cx="778207" cy="312129"/>
          </a:xfrm>
          <a:prstGeom prst="rect">
            <a:avLst/>
          </a:prstGeom>
          <a:solidFill>
            <a:schemeClr val="lt1"/>
          </a:solidFill>
          <a:ln cap="flat" cmpd="sng" w="1905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900">
                <a:solidFill>
                  <a:schemeClr val="lt1"/>
                </a:solidFill>
                <a:latin typeface="Arial"/>
                <a:ea typeface="Arial"/>
                <a:cs typeface="Arial"/>
                <a:sym typeface="Arial"/>
              </a:rPr>
              <a:t>LOGO HERE </a:t>
            </a:r>
            <a:endParaRPr sz="110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7" name="Shape 157"/>
        <p:cNvGrpSpPr/>
        <p:nvPr/>
      </p:nvGrpSpPr>
      <p:grpSpPr>
        <a:xfrm>
          <a:off x="0" y="0"/>
          <a:ext cx="0" cy="0"/>
          <a:chOff x="0" y="0"/>
          <a:chExt cx="0" cy="0"/>
        </a:xfrm>
      </p:grpSpPr>
      <p:sp>
        <p:nvSpPr>
          <p:cNvPr id="158" name="Google Shape;158;p28"/>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9" name="Google Shape;159;p28"/>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757575"/>
              </a:buClr>
              <a:buSzPts val="1800"/>
              <a:buNone/>
              <a:defRPr sz="1800">
                <a:solidFill>
                  <a:srgbClr val="757575"/>
                </a:solidFill>
              </a:defRPr>
            </a:lvl1pPr>
            <a:lvl2pPr indent="-228600" lvl="1" marL="914400" algn="l">
              <a:lnSpc>
                <a:spcPct val="90000"/>
              </a:lnSpc>
              <a:spcBef>
                <a:spcPts val="400"/>
              </a:spcBef>
              <a:spcAft>
                <a:spcPts val="0"/>
              </a:spcAft>
              <a:buClr>
                <a:srgbClr val="757575"/>
              </a:buClr>
              <a:buSzPts val="1500"/>
              <a:buNone/>
              <a:defRPr sz="1500">
                <a:solidFill>
                  <a:srgbClr val="757575"/>
                </a:solidFill>
              </a:defRPr>
            </a:lvl2pPr>
            <a:lvl3pPr indent="-228600" lvl="2" marL="1371600" algn="l">
              <a:lnSpc>
                <a:spcPct val="90000"/>
              </a:lnSpc>
              <a:spcBef>
                <a:spcPts val="400"/>
              </a:spcBef>
              <a:spcAft>
                <a:spcPts val="0"/>
              </a:spcAft>
              <a:buClr>
                <a:srgbClr val="757575"/>
              </a:buClr>
              <a:buSzPts val="1400"/>
              <a:buNone/>
              <a:defRPr sz="1400">
                <a:solidFill>
                  <a:srgbClr val="757575"/>
                </a:solidFill>
              </a:defRPr>
            </a:lvl3pPr>
            <a:lvl4pPr indent="-228600" lvl="3" marL="1828800" algn="l">
              <a:lnSpc>
                <a:spcPct val="90000"/>
              </a:lnSpc>
              <a:spcBef>
                <a:spcPts val="400"/>
              </a:spcBef>
              <a:spcAft>
                <a:spcPts val="0"/>
              </a:spcAft>
              <a:buClr>
                <a:srgbClr val="757575"/>
              </a:buClr>
              <a:buSzPts val="1200"/>
              <a:buNone/>
              <a:defRPr sz="1200">
                <a:solidFill>
                  <a:srgbClr val="757575"/>
                </a:solidFill>
              </a:defRPr>
            </a:lvl4pPr>
            <a:lvl5pPr indent="-228600" lvl="4" marL="2286000" algn="l">
              <a:lnSpc>
                <a:spcPct val="9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160" name="Google Shape;160;p2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1" name="Google Shape;161;p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2" name="Google Shape;162;p2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3" name="Shape 163"/>
        <p:cNvGrpSpPr/>
        <p:nvPr/>
      </p:nvGrpSpPr>
      <p:grpSpPr>
        <a:xfrm>
          <a:off x="0" y="0"/>
          <a:ext cx="0" cy="0"/>
          <a:chOff x="0" y="0"/>
          <a:chExt cx="0" cy="0"/>
        </a:xfrm>
      </p:grpSpPr>
      <p:sp>
        <p:nvSpPr>
          <p:cNvPr id="164" name="Google Shape;164;p2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5" name="Google Shape;165;p29"/>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6" name="Google Shape;166;p29"/>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7" name="Google Shape;167;p2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8" name="Google Shape;168;p2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9" name="Google Shape;169;p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70" name="Shape 170"/>
        <p:cNvGrpSpPr/>
        <p:nvPr/>
      </p:nvGrpSpPr>
      <p:grpSpPr>
        <a:xfrm>
          <a:off x="0" y="0"/>
          <a:ext cx="0" cy="0"/>
          <a:chOff x="0" y="0"/>
          <a:chExt cx="0" cy="0"/>
        </a:xfrm>
      </p:grpSpPr>
      <p:sp>
        <p:nvSpPr>
          <p:cNvPr id="171" name="Google Shape;171;p30"/>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2" name="Google Shape;172;p30"/>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73" name="Google Shape;173;p30"/>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4" name="Google Shape;174;p30"/>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75" name="Google Shape;175;p30"/>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6" name="Google Shape;176;p3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7" name="Google Shape;177;p3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8" name="Google Shape;178;p3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9" name="Shape 179"/>
        <p:cNvGrpSpPr/>
        <p:nvPr/>
      </p:nvGrpSpPr>
      <p:grpSpPr>
        <a:xfrm>
          <a:off x="0" y="0"/>
          <a:ext cx="0" cy="0"/>
          <a:chOff x="0" y="0"/>
          <a:chExt cx="0" cy="0"/>
        </a:xfrm>
      </p:grpSpPr>
      <p:sp>
        <p:nvSpPr>
          <p:cNvPr id="180" name="Google Shape;180;p3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1" name="Google Shape;181;p3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2" name="Google Shape;182;p3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3" name="Google Shape;183;p3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84" name="Shape 184"/>
        <p:cNvGrpSpPr/>
        <p:nvPr/>
      </p:nvGrpSpPr>
      <p:grpSpPr>
        <a:xfrm>
          <a:off x="0" y="0"/>
          <a:ext cx="0" cy="0"/>
          <a:chOff x="0" y="0"/>
          <a:chExt cx="0" cy="0"/>
        </a:xfrm>
      </p:grpSpPr>
      <p:sp>
        <p:nvSpPr>
          <p:cNvPr id="185" name="Google Shape;185;p32"/>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6" name="Google Shape;186;p32"/>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87" name="Google Shape;187;p32"/>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88" name="Google Shape;188;p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9" name="Google Shape;189;p3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0" name="Google Shape;190;p3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91" name="Shape 191"/>
        <p:cNvGrpSpPr/>
        <p:nvPr/>
      </p:nvGrpSpPr>
      <p:grpSpPr>
        <a:xfrm>
          <a:off x="0" y="0"/>
          <a:ext cx="0" cy="0"/>
          <a:chOff x="0" y="0"/>
          <a:chExt cx="0" cy="0"/>
        </a:xfrm>
      </p:grpSpPr>
      <p:sp>
        <p:nvSpPr>
          <p:cNvPr id="192" name="Google Shape;192;p3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3" name="Google Shape;193;p33"/>
          <p:cNvSpPr/>
          <p:nvPr>
            <p:ph idx="2" type="pic"/>
          </p:nvPr>
        </p:nvSpPr>
        <p:spPr>
          <a:xfrm>
            <a:off x="3887391" y="740569"/>
            <a:ext cx="4629150" cy="3655219"/>
          </a:xfrm>
          <a:prstGeom prst="rect">
            <a:avLst/>
          </a:prstGeom>
          <a:noFill/>
          <a:ln>
            <a:noFill/>
          </a:ln>
        </p:spPr>
      </p:sp>
      <p:sp>
        <p:nvSpPr>
          <p:cNvPr id="194" name="Google Shape;194;p33"/>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95" name="Google Shape;195;p3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6" name="Google Shape;196;p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7" name="Google Shape;197;p3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98" name="Shape 198"/>
        <p:cNvGrpSpPr/>
        <p:nvPr/>
      </p:nvGrpSpPr>
      <p:grpSpPr>
        <a:xfrm>
          <a:off x="0" y="0"/>
          <a:ext cx="0" cy="0"/>
          <a:chOff x="0" y="0"/>
          <a:chExt cx="0" cy="0"/>
        </a:xfrm>
      </p:grpSpPr>
      <p:sp>
        <p:nvSpPr>
          <p:cNvPr id="199" name="Google Shape;199;p3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0" name="Google Shape;200;p34"/>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1" name="Google Shape;201;p3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2" name="Google Shape;202;p3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3" name="Google Shape;203;p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04" name="Shape 204"/>
        <p:cNvGrpSpPr/>
        <p:nvPr/>
      </p:nvGrpSpPr>
      <p:grpSpPr>
        <a:xfrm>
          <a:off x="0" y="0"/>
          <a:ext cx="0" cy="0"/>
          <a:chOff x="0" y="0"/>
          <a:chExt cx="0" cy="0"/>
        </a:xfrm>
      </p:grpSpPr>
      <p:sp>
        <p:nvSpPr>
          <p:cNvPr id="205" name="Google Shape;205;p3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6" name="Google Shape;206;p35"/>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7" name="Google Shape;207;p3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8" name="Google Shape;208;p3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9" name="Google Shape;209;p3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3.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21" Type="http://schemas.openxmlformats.org/officeDocument/2006/relationships/theme" Target="../theme/theme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5" Type="http://schemas.openxmlformats.org/officeDocument/2006/relationships/slideLayout" Target="../slideLayouts/slideLayout28.xml"/><Relationship Id="rId14" Type="http://schemas.openxmlformats.org/officeDocument/2006/relationships/slideLayout" Target="../slideLayouts/slideLayout27.xml"/><Relationship Id="rId17" Type="http://schemas.openxmlformats.org/officeDocument/2006/relationships/slideLayout" Target="../slideLayouts/slideLayout30.xml"/><Relationship Id="rId16" Type="http://schemas.openxmlformats.org/officeDocument/2006/relationships/slideLayout" Target="../slideLayouts/slideLayout29.xml"/><Relationship Id="rId5" Type="http://schemas.openxmlformats.org/officeDocument/2006/relationships/slideLayout" Target="../slideLayouts/slideLayout18.xml"/><Relationship Id="rId19" Type="http://schemas.openxmlformats.org/officeDocument/2006/relationships/slideLayout" Target="../slideLayouts/slideLayout32.xml"/><Relationship Id="rId6" Type="http://schemas.openxmlformats.org/officeDocument/2006/relationships/slideLayout" Target="../slideLayouts/slideLayout19.xml"/><Relationship Id="rId18" Type="http://schemas.openxmlformats.org/officeDocument/2006/relationships/slideLayout" Target="../slideLayouts/slideLayout31.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 name="Shape 62"/>
        <p:cNvGrpSpPr/>
        <p:nvPr/>
      </p:nvGrpSpPr>
      <p:grpSpPr>
        <a:xfrm>
          <a:off x="0" y="0"/>
          <a:ext cx="0" cy="0"/>
          <a:chOff x="0" y="0"/>
          <a:chExt cx="0" cy="0"/>
        </a:xfrm>
      </p:grpSpPr>
      <p:sp>
        <p:nvSpPr>
          <p:cNvPr id="63" name="Google Shape;63;p15"/>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64" name="Google Shape;64;p1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65" name="Google Shape;65;p1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66" name="Google Shape;66;p1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67" name="Google Shape;67;p1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757575"/>
                </a:solidFill>
                <a:latin typeface="Arial"/>
                <a:ea typeface="Arial"/>
                <a:cs typeface="Arial"/>
                <a:sym typeface="Arial"/>
              </a:defRPr>
            </a:lvl1pPr>
            <a:lvl2pPr indent="0" lvl="1" marL="0" marR="0" rtl="0" algn="r">
              <a:spcBef>
                <a:spcPts val="0"/>
              </a:spcBef>
              <a:buNone/>
              <a:defRPr b="0" i="0" sz="900" u="none" cap="none" strike="noStrike">
                <a:solidFill>
                  <a:srgbClr val="757575"/>
                </a:solidFill>
                <a:latin typeface="Arial"/>
                <a:ea typeface="Arial"/>
                <a:cs typeface="Arial"/>
                <a:sym typeface="Arial"/>
              </a:defRPr>
            </a:lvl2pPr>
            <a:lvl3pPr indent="0" lvl="2" marL="0" marR="0" rtl="0" algn="r">
              <a:spcBef>
                <a:spcPts val="0"/>
              </a:spcBef>
              <a:buNone/>
              <a:defRPr b="0" i="0" sz="900" u="none" cap="none" strike="noStrike">
                <a:solidFill>
                  <a:srgbClr val="757575"/>
                </a:solidFill>
                <a:latin typeface="Arial"/>
                <a:ea typeface="Arial"/>
                <a:cs typeface="Arial"/>
                <a:sym typeface="Arial"/>
              </a:defRPr>
            </a:lvl3pPr>
            <a:lvl4pPr indent="0" lvl="3" marL="0" marR="0" rtl="0" algn="r">
              <a:spcBef>
                <a:spcPts val="0"/>
              </a:spcBef>
              <a:buNone/>
              <a:defRPr b="0" i="0" sz="900" u="none" cap="none" strike="noStrike">
                <a:solidFill>
                  <a:srgbClr val="757575"/>
                </a:solidFill>
                <a:latin typeface="Arial"/>
                <a:ea typeface="Arial"/>
                <a:cs typeface="Arial"/>
                <a:sym typeface="Arial"/>
              </a:defRPr>
            </a:lvl4pPr>
            <a:lvl5pPr indent="0" lvl="4" marL="0" marR="0" rtl="0" algn="r">
              <a:spcBef>
                <a:spcPts val="0"/>
              </a:spcBef>
              <a:buNone/>
              <a:defRPr b="0" i="0" sz="900" u="none" cap="none" strike="noStrike">
                <a:solidFill>
                  <a:srgbClr val="757575"/>
                </a:solidFill>
                <a:latin typeface="Arial"/>
                <a:ea typeface="Arial"/>
                <a:cs typeface="Arial"/>
                <a:sym typeface="Arial"/>
              </a:defRPr>
            </a:lvl5pPr>
            <a:lvl6pPr indent="0" lvl="5" marL="0" marR="0" rtl="0" algn="r">
              <a:spcBef>
                <a:spcPts val="0"/>
              </a:spcBef>
              <a:buNone/>
              <a:defRPr b="0" i="0" sz="900" u="none" cap="none" strike="noStrike">
                <a:solidFill>
                  <a:srgbClr val="757575"/>
                </a:solidFill>
                <a:latin typeface="Arial"/>
                <a:ea typeface="Arial"/>
                <a:cs typeface="Arial"/>
                <a:sym typeface="Arial"/>
              </a:defRPr>
            </a:lvl6pPr>
            <a:lvl7pPr indent="0" lvl="6" marL="0" marR="0" rtl="0" algn="r">
              <a:spcBef>
                <a:spcPts val="0"/>
              </a:spcBef>
              <a:buNone/>
              <a:defRPr b="0" i="0" sz="900" u="none" cap="none" strike="noStrike">
                <a:solidFill>
                  <a:srgbClr val="757575"/>
                </a:solidFill>
                <a:latin typeface="Arial"/>
                <a:ea typeface="Arial"/>
                <a:cs typeface="Arial"/>
                <a:sym typeface="Arial"/>
              </a:defRPr>
            </a:lvl7pPr>
            <a:lvl8pPr indent="0" lvl="7" marL="0" marR="0" rtl="0" algn="r">
              <a:spcBef>
                <a:spcPts val="0"/>
              </a:spcBef>
              <a:buNone/>
              <a:defRPr b="0" i="0" sz="900" u="none" cap="none" strike="noStrike">
                <a:solidFill>
                  <a:srgbClr val="757575"/>
                </a:solidFill>
                <a:latin typeface="Arial"/>
                <a:ea typeface="Arial"/>
                <a:cs typeface="Arial"/>
                <a:sym typeface="Arial"/>
              </a:defRPr>
            </a:lvl8pPr>
            <a:lvl9pPr indent="0" lvl="8" marL="0" marR="0" rtl="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2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7.png"/><Relationship Id="rId7"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7.png"/><Relationship Id="rId7"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7.png"/><Relationship Id="rId7"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9.png"/><Relationship Id="rId5" Type="http://schemas.openxmlformats.org/officeDocument/2006/relationships/image" Target="../media/image12.png"/><Relationship Id="rId6" Type="http://schemas.openxmlformats.org/officeDocument/2006/relationships/image" Target="../media/image17.png"/><Relationship Id="rId7"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35.png"/><Relationship Id="rId4" Type="http://schemas.openxmlformats.org/officeDocument/2006/relationships/image" Target="../media/image18.png"/><Relationship Id="rId5"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1.jp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8.png"/><Relationship Id="rId4" Type="http://schemas.openxmlformats.org/officeDocument/2006/relationships/image" Target="../media/image30.png"/><Relationship Id="rId5"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slide" Target="/ppt/slid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6.jpg"/><Relationship Id="rId4" Type="http://schemas.openxmlformats.org/officeDocument/2006/relationships/image" Target="../media/image31.jpg"/><Relationship Id="rId5" Type="http://schemas.openxmlformats.org/officeDocument/2006/relationships/image" Target="../media/image3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36"/>
          <p:cNvPicPr preferRelativeResize="0"/>
          <p:nvPr/>
        </p:nvPicPr>
        <p:blipFill rotWithShape="1">
          <a:blip r:embed="rId3">
            <a:alphaModFix/>
          </a:blip>
          <a:srcRect b="7453" l="0" r="0" t="7462"/>
          <a:stretch/>
        </p:blipFill>
        <p:spPr>
          <a:xfrm>
            <a:off x="10550" y="-34500"/>
            <a:ext cx="9144003" cy="5178000"/>
          </a:xfrm>
          <a:prstGeom prst="rect">
            <a:avLst/>
          </a:prstGeom>
          <a:noFill/>
          <a:ln>
            <a:noFill/>
          </a:ln>
        </p:spPr>
      </p:pic>
      <p:sp>
        <p:nvSpPr>
          <p:cNvPr id="216" name="Google Shape;216;p36"/>
          <p:cNvSpPr/>
          <p:nvPr/>
        </p:nvSpPr>
        <p:spPr>
          <a:xfrm>
            <a:off x="-15861" y="-34495"/>
            <a:ext cx="9196800" cy="5178000"/>
          </a:xfrm>
          <a:prstGeom prst="rect">
            <a:avLst/>
          </a:prstGeom>
          <a:solidFill>
            <a:schemeClr val="dk1">
              <a:alpha val="62745"/>
            </a:scheme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800"/>
              <a:buFont typeface="Arial"/>
              <a:buNone/>
            </a:pPr>
            <a:r>
              <a:t/>
            </a:r>
            <a:endParaRPr b="0" i="0" sz="800" u="none" cap="none" strike="noStrike">
              <a:solidFill>
                <a:srgbClr val="FFFFFF"/>
              </a:solidFill>
              <a:latin typeface="Calibri"/>
              <a:ea typeface="Calibri"/>
              <a:cs typeface="Calibri"/>
              <a:sym typeface="Calibri"/>
            </a:endParaRPr>
          </a:p>
        </p:txBody>
      </p:sp>
      <p:sp>
        <p:nvSpPr>
          <p:cNvPr id="217" name="Google Shape;217;p36"/>
          <p:cNvSpPr/>
          <p:nvPr/>
        </p:nvSpPr>
        <p:spPr>
          <a:xfrm>
            <a:off x="10550" y="330552"/>
            <a:ext cx="1485901" cy="435377"/>
          </a:xfrm>
          <a:prstGeom prst="rect">
            <a:avLst/>
          </a:prstGeom>
          <a:solidFill>
            <a:srgbClr val="C00000">
              <a:alpha val="5633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8" name="Google Shape;218;p36"/>
          <p:cNvSpPr/>
          <p:nvPr/>
        </p:nvSpPr>
        <p:spPr>
          <a:xfrm>
            <a:off x="1496451" y="330553"/>
            <a:ext cx="37688" cy="435377"/>
          </a:xfrm>
          <a:prstGeom prst="rect">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9" name="Google Shape;219;p36"/>
          <p:cNvSpPr txBox="1"/>
          <p:nvPr/>
        </p:nvSpPr>
        <p:spPr>
          <a:xfrm>
            <a:off x="129306" y="330550"/>
            <a:ext cx="695700" cy="435300"/>
          </a:xfrm>
          <a:prstGeom prst="rect">
            <a:avLst/>
          </a:prstGeom>
          <a:noFill/>
          <a:ln>
            <a:noFill/>
          </a:ln>
        </p:spPr>
        <p:txBody>
          <a:bodyPr anchorCtr="0" anchor="ctr" bIns="68575" lIns="68575" spcFirstLastPara="1" rIns="68575" wrap="square" tIns="68575">
            <a:noAutofit/>
          </a:bodyPr>
          <a:lstStyle/>
          <a:p>
            <a:pPr indent="0" lvl="0" marL="0" marR="0" rtl="0" algn="l">
              <a:spcBef>
                <a:spcPts val="0"/>
              </a:spcBef>
              <a:spcAft>
                <a:spcPts val="0"/>
              </a:spcAft>
              <a:buClr>
                <a:srgbClr val="FFFFFF"/>
              </a:buClr>
              <a:buSzPts val="1500"/>
              <a:buFont typeface="Quattrocento Sans"/>
              <a:buNone/>
            </a:pPr>
            <a:r>
              <a:rPr b="1" lang="es" sz="1500">
                <a:solidFill>
                  <a:srgbClr val="FFFFFF"/>
                </a:solidFill>
                <a:latin typeface="Quattrocento Sans"/>
                <a:ea typeface="Quattrocento Sans"/>
                <a:cs typeface="Quattrocento Sans"/>
                <a:sym typeface="Quattrocento Sans"/>
              </a:rPr>
              <a:t>BCA II</a:t>
            </a:r>
            <a:endParaRPr sz="1100"/>
          </a:p>
        </p:txBody>
      </p:sp>
      <p:sp>
        <p:nvSpPr>
          <p:cNvPr id="220" name="Google Shape;220;p36"/>
          <p:cNvSpPr txBox="1"/>
          <p:nvPr/>
        </p:nvSpPr>
        <p:spPr>
          <a:xfrm>
            <a:off x="314044" y="960670"/>
            <a:ext cx="8234700" cy="1221300"/>
          </a:xfrm>
          <a:prstGeom prst="rect">
            <a:avLst/>
          </a:prstGeom>
          <a:noFill/>
          <a:ln>
            <a:noFill/>
          </a:ln>
        </p:spPr>
        <p:txBody>
          <a:bodyPr anchorCtr="0" anchor="b" bIns="34275" lIns="68575" spcFirstLastPara="1" rIns="68575" wrap="square" tIns="34275">
            <a:normAutofit/>
          </a:bodyPr>
          <a:lstStyle/>
          <a:p>
            <a:pPr indent="0" lvl="0" marL="0" marR="0" rtl="0" algn="l">
              <a:lnSpc>
                <a:spcPct val="120000"/>
              </a:lnSpc>
              <a:spcBef>
                <a:spcPts val="0"/>
              </a:spcBef>
              <a:spcAft>
                <a:spcPts val="0"/>
              </a:spcAft>
              <a:buClr>
                <a:schemeClr val="lt1"/>
              </a:buClr>
              <a:buSzPts val="3000"/>
              <a:buFont typeface="Quattrocento Sans"/>
              <a:buNone/>
            </a:pPr>
            <a:r>
              <a:rPr b="1" lang="es" sz="3000">
                <a:solidFill>
                  <a:schemeClr val="lt1"/>
                </a:solidFill>
                <a:latin typeface="Quattrocento Sans"/>
                <a:ea typeface="Quattrocento Sans"/>
                <a:cs typeface="Quattrocento Sans"/>
                <a:sym typeface="Quattrocento Sans"/>
              </a:rPr>
              <a:t>Forbidden City: </a:t>
            </a:r>
            <a:endParaRPr b="1" sz="3000">
              <a:solidFill>
                <a:schemeClr val="lt1"/>
              </a:solidFill>
              <a:latin typeface="Quattrocento Sans"/>
              <a:ea typeface="Quattrocento Sans"/>
              <a:cs typeface="Quattrocento Sans"/>
              <a:sym typeface="Quattrocento Sans"/>
            </a:endParaRPr>
          </a:p>
          <a:p>
            <a:pPr indent="0" lvl="0" marL="0" marR="0" rtl="0" algn="l">
              <a:lnSpc>
                <a:spcPct val="120000"/>
              </a:lnSpc>
              <a:spcBef>
                <a:spcPts val="0"/>
              </a:spcBef>
              <a:spcAft>
                <a:spcPts val="0"/>
              </a:spcAft>
              <a:buClr>
                <a:schemeClr val="lt1"/>
              </a:buClr>
              <a:buSzPts val="3000"/>
              <a:buFont typeface="Quattrocento Sans"/>
              <a:buNone/>
            </a:pPr>
            <a:r>
              <a:rPr b="1" lang="es" sz="3000">
                <a:solidFill>
                  <a:schemeClr val="lt1"/>
                </a:solidFill>
                <a:latin typeface="Quattrocento Sans"/>
                <a:ea typeface="Quattrocento Sans"/>
                <a:cs typeface="Quattrocento Sans"/>
                <a:sym typeface="Quattrocento Sans"/>
              </a:rPr>
              <a:t>Cracking the Code of China’s Craft Beer Craze</a:t>
            </a:r>
            <a:endParaRPr sz="1100"/>
          </a:p>
        </p:txBody>
      </p:sp>
      <p:cxnSp>
        <p:nvCxnSpPr>
          <p:cNvPr id="221" name="Google Shape;221;p36"/>
          <p:cNvCxnSpPr/>
          <p:nvPr/>
        </p:nvCxnSpPr>
        <p:spPr>
          <a:xfrm>
            <a:off x="314045" y="2367172"/>
            <a:ext cx="478500" cy="0"/>
          </a:xfrm>
          <a:prstGeom prst="straightConnector1">
            <a:avLst/>
          </a:prstGeom>
          <a:noFill/>
          <a:ln cap="flat" cmpd="sng" w="38100">
            <a:solidFill>
              <a:schemeClr val="lt1"/>
            </a:solidFill>
            <a:prstDash val="solid"/>
            <a:miter lim="800000"/>
            <a:headEnd len="sm" w="sm" type="none"/>
            <a:tailEnd len="sm" w="sm" type="none"/>
          </a:ln>
        </p:spPr>
      </p:cxnSp>
      <p:sp>
        <p:nvSpPr>
          <p:cNvPr id="222" name="Google Shape;222;p36"/>
          <p:cNvSpPr txBox="1"/>
          <p:nvPr/>
        </p:nvSpPr>
        <p:spPr>
          <a:xfrm>
            <a:off x="262067" y="2524374"/>
            <a:ext cx="8338800" cy="437100"/>
          </a:xfrm>
          <a:prstGeom prst="rect">
            <a:avLst/>
          </a:prstGeom>
          <a:noFill/>
          <a:ln>
            <a:noFill/>
          </a:ln>
        </p:spPr>
        <p:txBody>
          <a:bodyPr anchorCtr="0" anchor="t" bIns="34275" lIns="68575" spcFirstLastPara="1" rIns="68575" wrap="square" tIns="34275">
            <a:noAutofit/>
          </a:bodyPr>
          <a:lstStyle/>
          <a:p>
            <a:pPr indent="0" lvl="0" marL="0" marR="0" rtl="0" algn="l">
              <a:lnSpc>
                <a:spcPct val="110000"/>
              </a:lnSpc>
              <a:spcBef>
                <a:spcPts val="0"/>
              </a:spcBef>
              <a:spcAft>
                <a:spcPts val="0"/>
              </a:spcAft>
              <a:buClr>
                <a:srgbClr val="FFFFFF"/>
              </a:buClr>
              <a:buSzPts val="1500"/>
              <a:buFont typeface="Arial"/>
              <a:buNone/>
            </a:pPr>
            <a:r>
              <a:rPr lang="es" sz="1500">
                <a:solidFill>
                  <a:srgbClr val="FFFFFF"/>
                </a:solidFill>
                <a:latin typeface="Quattrocento Sans"/>
                <a:ea typeface="Quattrocento Sans"/>
                <a:cs typeface="Quattrocento Sans"/>
                <a:sym typeface="Quattrocento Sans"/>
              </a:rPr>
              <a:t>EBC aims to expand its market share and profitability in China’s premium beer segment while balancing global brand consistency with local market adaptation.</a:t>
            </a:r>
            <a:endParaRPr b="0" i="0" sz="1500" u="none" cap="none" strike="noStrike">
              <a:solidFill>
                <a:schemeClr val="dk1"/>
              </a:solidFill>
              <a:latin typeface="Quattrocento Sans"/>
              <a:ea typeface="Quattrocento Sans"/>
              <a:cs typeface="Quattrocento Sans"/>
              <a:sym typeface="Quattrocento Sans"/>
            </a:endParaRPr>
          </a:p>
        </p:txBody>
      </p:sp>
      <p:sp>
        <p:nvSpPr>
          <p:cNvPr id="223" name="Google Shape;223;p36"/>
          <p:cNvSpPr txBox="1"/>
          <p:nvPr>
            <p:ph idx="4294967295" type="sldNum"/>
          </p:nvPr>
        </p:nvSpPr>
        <p:spPr>
          <a:xfrm>
            <a:off x="6822737" y="4905545"/>
            <a:ext cx="2057400" cy="121339"/>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cxnSp>
        <p:nvCxnSpPr>
          <p:cNvPr id="229" name="Google Shape;229;p37"/>
          <p:cNvCxnSpPr/>
          <p:nvPr/>
        </p:nvCxnSpPr>
        <p:spPr>
          <a:xfrm>
            <a:off x="245255" y="1022997"/>
            <a:ext cx="1692000" cy="0"/>
          </a:xfrm>
          <a:prstGeom prst="straightConnector1">
            <a:avLst/>
          </a:prstGeom>
          <a:noFill/>
          <a:ln cap="flat" cmpd="sng" w="12700">
            <a:solidFill>
              <a:srgbClr val="073763"/>
            </a:solidFill>
            <a:prstDash val="solid"/>
            <a:miter lim="800000"/>
            <a:headEnd len="sm" w="sm" type="none"/>
            <a:tailEnd len="sm" w="sm" type="none"/>
          </a:ln>
        </p:spPr>
      </p:cxnSp>
      <p:sp>
        <p:nvSpPr>
          <p:cNvPr id="230" name="Google Shape;230;p37"/>
          <p:cNvSpPr txBox="1"/>
          <p:nvPr/>
        </p:nvSpPr>
        <p:spPr>
          <a:xfrm>
            <a:off x="245255" y="826244"/>
            <a:ext cx="13317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1200">
                <a:solidFill>
                  <a:schemeClr val="dk1"/>
                </a:solidFill>
                <a:latin typeface="Quattrocento Sans"/>
                <a:ea typeface="Quattrocento Sans"/>
                <a:cs typeface="Quattrocento Sans"/>
                <a:sym typeface="Quattrocento Sans"/>
              </a:rPr>
              <a:t>Key Issues </a:t>
            </a:r>
            <a:endParaRPr sz="1200">
              <a:solidFill>
                <a:schemeClr val="dk1"/>
              </a:solidFill>
              <a:latin typeface="Quattrocento Sans"/>
              <a:ea typeface="Quattrocento Sans"/>
              <a:cs typeface="Quattrocento Sans"/>
              <a:sym typeface="Quattrocento Sans"/>
            </a:endParaRPr>
          </a:p>
        </p:txBody>
      </p:sp>
      <p:cxnSp>
        <p:nvCxnSpPr>
          <p:cNvPr id="231" name="Google Shape;231;p37"/>
          <p:cNvCxnSpPr/>
          <p:nvPr/>
        </p:nvCxnSpPr>
        <p:spPr>
          <a:xfrm>
            <a:off x="2427657" y="1022997"/>
            <a:ext cx="1785900" cy="0"/>
          </a:xfrm>
          <a:prstGeom prst="straightConnector1">
            <a:avLst/>
          </a:prstGeom>
          <a:noFill/>
          <a:ln cap="flat" cmpd="sng" w="9525">
            <a:solidFill>
              <a:srgbClr val="073763"/>
            </a:solidFill>
            <a:prstDash val="solid"/>
            <a:miter lim="800000"/>
            <a:headEnd len="sm" w="sm" type="none"/>
            <a:tailEnd len="sm" w="sm" type="none"/>
          </a:ln>
        </p:spPr>
      </p:cxnSp>
      <p:sp>
        <p:nvSpPr>
          <p:cNvPr id="232" name="Google Shape;232;p37"/>
          <p:cNvSpPr txBox="1"/>
          <p:nvPr/>
        </p:nvSpPr>
        <p:spPr>
          <a:xfrm>
            <a:off x="2521463" y="826244"/>
            <a:ext cx="13317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1200">
                <a:solidFill>
                  <a:schemeClr val="dk1"/>
                </a:solidFill>
                <a:latin typeface="Quattrocento Sans"/>
                <a:ea typeface="Quattrocento Sans"/>
                <a:cs typeface="Quattrocento Sans"/>
                <a:sym typeface="Quattrocento Sans"/>
              </a:rPr>
              <a:t>Mandate </a:t>
            </a:r>
            <a:endParaRPr sz="1200">
              <a:solidFill>
                <a:schemeClr val="dk1"/>
              </a:solidFill>
              <a:latin typeface="Quattrocento Sans"/>
              <a:ea typeface="Quattrocento Sans"/>
              <a:cs typeface="Quattrocento Sans"/>
              <a:sym typeface="Quattrocento Sans"/>
            </a:endParaRPr>
          </a:p>
        </p:txBody>
      </p:sp>
      <p:cxnSp>
        <p:nvCxnSpPr>
          <p:cNvPr id="233" name="Google Shape;233;p37"/>
          <p:cNvCxnSpPr/>
          <p:nvPr/>
        </p:nvCxnSpPr>
        <p:spPr>
          <a:xfrm>
            <a:off x="4664150" y="1035084"/>
            <a:ext cx="1867200" cy="0"/>
          </a:xfrm>
          <a:prstGeom prst="straightConnector1">
            <a:avLst/>
          </a:prstGeom>
          <a:noFill/>
          <a:ln cap="flat" cmpd="sng" w="12700">
            <a:solidFill>
              <a:srgbClr val="073763"/>
            </a:solidFill>
            <a:prstDash val="solid"/>
            <a:miter lim="800000"/>
            <a:headEnd len="sm" w="sm" type="none"/>
            <a:tailEnd len="sm" w="sm" type="none"/>
          </a:ln>
        </p:spPr>
      </p:cxnSp>
      <p:sp>
        <p:nvSpPr>
          <p:cNvPr id="234" name="Google Shape;234;p37"/>
          <p:cNvSpPr txBox="1"/>
          <p:nvPr/>
        </p:nvSpPr>
        <p:spPr>
          <a:xfrm>
            <a:off x="4755854" y="838331"/>
            <a:ext cx="13317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1200">
                <a:solidFill>
                  <a:schemeClr val="dk1"/>
                </a:solidFill>
                <a:latin typeface="Quattrocento Sans"/>
                <a:ea typeface="Quattrocento Sans"/>
                <a:cs typeface="Quattrocento Sans"/>
                <a:sym typeface="Quattrocento Sans"/>
              </a:rPr>
              <a:t>Alternatives </a:t>
            </a:r>
            <a:r>
              <a:rPr lang="es" sz="1200">
                <a:solidFill>
                  <a:schemeClr val="dk1"/>
                </a:solidFill>
                <a:latin typeface="Quattrocento Sans"/>
                <a:ea typeface="Quattrocento Sans"/>
                <a:cs typeface="Quattrocento Sans"/>
                <a:sym typeface="Quattrocento Sans"/>
              </a:rPr>
              <a:t> </a:t>
            </a:r>
            <a:endParaRPr sz="1200">
              <a:solidFill>
                <a:schemeClr val="dk1"/>
              </a:solidFill>
              <a:latin typeface="Quattrocento Sans"/>
              <a:ea typeface="Quattrocento Sans"/>
              <a:cs typeface="Quattrocento Sans"/>
              <a:sym typeface="Quattrocento Sans"/>
            </a:endParaRPr>
          </a:p>
        </p:txBody>
      </p:sp>
      <p:cxnSp>
        <p:nvCxnSpPr>
          <p:cNvPr id="235" name="Google Shape;235;p37"/>
          <p:cNvCxnSpPr/>
          <p:nvPr/>
        </p:nvCxnSpPr>
        <p:spPr>
          <a:xfrm>
            <a:off x="7073877" y="1035084"/>
            <a:ext cx="1692000" cy="0"/>
          </a:xfrm>
          <a:prstGeom prst="straightConnector1">
            <a:avLst/>
          </a:prstGeom>
          <a:noFill/>
          <a:ln cap="flat" cmpd="sng" w="12700">
            <a:solidFill>
              <a:srgbClr val="073763"/>
            </a:solidFill>
            <a:prstDash val="solid"/>
            <a:miter lim="800000"/>
            <a:headEnd len="sm" w="sm" type="none"/>
            <a:tailEnd len="sm" w="sm" type="none"/>
          </a:ln>
        </p:spPr>
      </p:cxnSp>
      <p:sp>
        <p:nvSpPr>
          <p:cNvPr id="236" name="Google Shape;236;p37"/>
          <p:cNvSpPr txBox="1"/>
          <p:nvPr/>
        </p:nvSpPr>
        <p:spPr>
          <a:xfrm>
            <a:off x="7149146" y="838331"/>
            <a:ext cx="13317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s" sz="1200">
                <a:solidFill>
                  <a:schemeClr val="dk1"/>
                </a:solidFill>
                <a:latin typeface="Quattrocento Sans"/>
                <a:ea typeface="Quattrocento Sans"/>
                <a:cs typeface="Quattrocento Sans"/>
                <a:sym typeface="Quattrocento Sans"/>
              </a:rPr>
              <a:t>Impact </a:t>
            </a:r>
            <a:endParaRPr sz="1200">
              <a:solidFill>
                <a:schemeClr val="dk1"/>
              </a:solidFill>
              <a:latin typeface="Quattrocento Sans"/>
              <a:ea typeface="Quattrocento Sans"/>
              <a:cs typeface="Quattrocento Sans"/>
              <a:sym typeface="Quattrocento Sans"/>
            </a:endParaRPr>
          </a:p>
        </p:txBody>
      </p:sp>
      <p:grpSp>
        <p:nvGrpSpPr>
          <p:cNvPr id="237" name="Google Shape;237;p37"/>
          <p:cNvGrpSpPr/>
          <p:nvPr/>
        </p:nvGrpSpPr>
        <p:grpSpPr>
          <a:xfrm>
            <a:off x="2035856" y="1156827"/>
            <a:ext cx="312075" cy="3492000"/>
            <a:chOff x="2913568" y="1797269"/>
            <a:chExt cx="416100" cy="4656000"/>
          </a:xfrm>
        </p:grpSpPr>
        <p:cxnSp>
          <p:nvCxnSpPr>
            <p:cNvPr id="238" name="Google Shape;238;p37"/>
            <p:cNvCxnSpPr/>
            <p:nvPr/>
          </p:nvCxnSpPr>
          <p:spPr>
            <a:xfrm>
              <a:off x="3121573" y="1797269"/>
              <a:ext cx="0" cy="4656000"/>
            </a:xfrm>
            <a:prstGeom prst="straightConnector1">
              <a:avLst/>
            </a:prstGeom>
            <a:noFill/>
            <a:ln cap="flat" cmpd="sng" w="19050">
              <a:solidFill>
                <a:schemeClr val="lt2"/>
              </a:solidFill>
              <a:prstDash val="solid"/>
              <a:miter lim="800000"/>
              <a:headEnd len="sm" w="sm" type="none"/>
              <a:tailEnd len="sm" w="sm" type="none"/>
            </a:ln>
          </p:spPr>
        </p:cxnSp>
        <p:sp>
          <p:nvSpPr>
            <p:cNvPr id="239" name="Google Shape;239;p37"/>
            <p:cNvSpPr/>
            <p:nvPr/>
          </p:nvSpPr>
          <p:spPr>
            <a:xfrm>
              <a:off x="2913568" y="3917306"/>
              <a:ext cx="416100" cy="4161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lt1"/>
                  </a:solidFill>
                  <a:latin typeface="Arial"/>
                  <a:ea typeface="Arial"/>
                  <a:cs typeface="Arial"/>
                  <a:sym typeface="Arial"/>
                </a:rPr>
                <a:t>&gt;</a:t>
              </a:r>
              <a:endParaRPr sz="1100"/>
            </a:p>
          </p:txBody>
        </p:sp>
      </p:grpSp>
      <p:grpSp>
        <p:nvGrpSpPr>
          <p:cNvPr id="240" name="Google Shape;240;p37"/>
          <p:cNvGrpSpPr/>
          <p:nvPr/>
        </p:nvGrpSpPr>
        <p:grpSpPr>
          <a:xfrm>
            <a:off x="4310327" y="1156827"/>
            <a:ext cx="312075" cy="3492000"/>
            <a:chOff x="5979960" y="1797269"/>
            <a:chExt cx="416100" cy="4656000"/>
          </a:xfrm>
        </p:grpSpPr>
        <p:cxnSp>
          <p:nvCxnSpPr>
            <p:cNvPr id="241" name="Google Shape;241;p37"/>
            <p:cNvCxnSpPr/>
            <p:nvPr/>
          </p:nvCxnSpPr>
          <p:spPr>
            <a:xfrm>
              <a:off x="6187966" y="1797269"/>
              <a:ext cx="0" cy="4656000"/>
            </a:xfrm>
            <a:prstGeom prst="straightConnector1">
              <a:avLst/>
            </a:prstGeom>
            <a:noFill/>
            <a:ln cap="flat" cmpd="sng" w="19050">
              <a:solidFill>
                <a:schemeClr val="lt2"/>
              </a:solidFill>
              <a:prstDash val="solid"/>
              <a:miter lim="800000"/>
              <a:headEnd len="sm" w="sm" type="none"/>
              <a:tailEnd len="sm" w="sm" type="none"/>
            </a:ln>
          </p:spPr>
        </p:cxnSp>
        <p:sp>
          <p:nvSpPr>
            <p:cNvPr id="242" name="Google Shape;242;p37"/>
            <p:cNvSpPr/>
            <p:nvPr/>
          </p:nvSpPr>
          <p:spPr>
            <a:xfrm>
              <a:off x="5979960" y="3917306"/>
              <a:ext cx="416100" cy="4161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lt1"/>
                  </a:solidFill>
                  <a:latin typeface="Arial"/>
                  <a:ea typeface="Arial"/>
                  <a:cs typeface="Arial"/>
                  <a:sym typeface="Arial"/>
                </a:rPr>
                <a:t>&gt;</a:t>
              </a:r>
              <a:endParaRPr sz="1100"/>
            </a:p>
          </p:txBody>
        </p:sp>
      </p:grpSp>
      <p:grpSp>
        <p:nvGrpSpPr>
          <p:cNvPr id="243" name="Google Shape;243;p37"/>
          <p:cNvGrpSpPr/>
          <p:nvPr/>
        </p:nvGrpSpPr>
        <p:grpSpPr>
          <a:xfrm>
            <a:off x="6584798" y="1156827"/>
            <a:ext cx="312075" cy="3492000"/>
            <a:chOff x="9046352" y="1797269"/>
            <a:chExt cx="416100" cy="4656000"/>
          </a:xfrm>
        </p:grpSpPr>
        <p:cxnSp>
          <p:nvCxnSpPr>
            <p:cNvPr id="244" name="Google Shape;244;p37"/>
            <p:cNvCxnSpPr/>
            <p:nvPr/>
          </p:nvCxnSpPr>
          <p:spPr>
            <a:xfrm>
              <a:off x="9254359" y="1797269"/>
              <a:ext cx="0" cy="4656000"/>
            </a:xfrm>
            <a:prstGeom prst="straightConnector1">
              <a:avLst/>
            </a:prstGeom>
            <a:noFill/>
            <a:ln cap="flat" cmpd="sng" w="19050">
              <a:solidFill>
                <a:schemeClr val="lt2"/>
              </a:solidFill>
              <a:prstDash val="solid"/>
              <a:miter lim="800000"/>
              <a:headEnd len="sm" w="sm" type="none"/>
              <a:tailEnd len="sm" w="sm" type="none"/>
            </a:ln>
          </p:spPr>
        </p:cxnSp>
        <p:sp>
          <p:nvSpPr>
            <p:cNvPr id="245" name="Google Shape;245;p37"/>
            <p:cNvSpPr/>
            <p:nvPr/>
          </p:nvSpPr>
          <p:spPr>
            <a:xfrm>
              <a:off x="9046352" y="3917306"/>
              <a:ext cx="416100" cy="4161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lt1"/>
                  </a:solidFill>
                  <a:latin typeface="Arial"/>
                  <a:ea typeface="Arial"/>
                  <a:cs typeface="Arial"/>
                  <a:sym typeface="Arial"/>
                </a:rPr>
                <a:t>&gt;</a:t>
              </a:r>
              <a:endParaRPr sz="1100"/>
            </a:p>
          </p:txBody>
        </p:sp>
      </p:grpSp>
      <p:sp>
        <p:nvSpPr>
          <p:cNvPr id="246" name="Google Shape;246;p37"/>
          <p:cNvSpPr txBox="1"/>
          <p:nvPr/>
        </p:nvSpPr>
        <p:spPr>
          <a:xfrm>
            <a:off x="198849" y="102400"/>
            <a:ext cx="2149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Executive Summary</a:t>
            </a:r>
            <a:endParaRPr sz="1100"/>
          </a:p>
        </p:txBody>
      </p:sp>
      <p:sp>
        <p:nvSpPr>
          <p:cNvPr id="247" name="Google Shape;247;p37"/>
          <p:cNvSpPr txBox="1"/>
          <p:nvPr>
            <p:ph idx="4294967295" type="title"/>
          </p:nvPr>
        </p:nvSpPr>
        <p:spPr>
          <a:xfrm>
            <a:off x="198852" y="345522"/>
            <a:ext cx="80892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500"/>
              <a:buFont typeface="Play"/>
              <a:buNone/>
            </a:pPr>
            <a:r>
              <a:rPr lang="es" sz="1500"/>
              <a:t>Capturing the Chinese Market with </a:t>
            </a:r>
            <a:endParaRPr sz="1500">
              <a:latin typeface="Quattrocento Sans"/>
              <a:ea typeface="Quattrocento Sans"/>
              <a:cs typeface="Quattrocento Sans"/>
              <a:sym typeface="Quattrocento Sans"/>
            </a:endParaRPr>
          </a:p>
        </p:txBody>
      </p:sp>
      <p:sp>
        <p:nvSpPr>
          <p:cNvPr id="248" name="Google Shape;248;p37"/>
          <p:cNvSpPr/>
          <p:nvPr/>
        </p:nvSpPr>
        <p:spPr>
          <a:xfrm flipH="1">
            <a:off x="2410943" y="1150370"/>
            <a:ext cx="1895400" cy="3529800"/>
          </a:xfrm>
          <a:prstGeom prst="rect">
            <a:avLst/>
          </a:prstGeom>
          <a:solidFill>
            <a:srgbClr val="F2F2F2">
              <a:alpha val="7137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rPr lang="es" sz="1200">
                <a:solidFill>
                  <a:schemeClr val="dk1"/>
                </a:solidFill>
                <a:latin typeface="Quattrocento Sans"/>
                <a:ea typeface="Quattrocento Sans"/>
                <a:cs typeface="Quattrocento Sans"/>
                <a:sym typeface="Quattrocento Sans"/>
              </a:rPr>
              <a:t>Can EBC Expand in </a:t>
            </a:r>
            <a:endParaRPr sz="1200">
              <a:solidFill>
                <a:schemeClr val="dk1"/>
              </a:solidFill>
              <a:latin typeface="Quattrocento Sans"/>
              <a:ea typeface="Quattrocento Sans"/>
              <a:cs typeface="Quattrocento Sans"/>
              <a:sym typeface="Quattrocento Sans"/>
            </a:endParaRPr>
          </a:p>
          <a:p>
            <a:pPr indent="0" lvl="0" marL="0" marR="0" rtl="0" algn="ctr">
              <a:spcBef>
                <a:spcPts val="0"/>
              </a:spcBef>
              <a:spcAft>
                <a:spcPts val="0"/>
              </a:spcAft>
              <a:buClr>
                <a:srgbClr val="000000"/>
              </a:buClr>
              <a:buFont typeface="Arial"/>
              <a:buNone/>
            </a:pPr>
            <a:r>
              <a:rPr lang="es" sz="1200">
                <a:solidFill>
                  <a:schemeClr val="dk1"/>
                </a:solidFill>
                <a:latin typeface="Quattrocento Sans"/>
                <a:ea typeface="Quattrocento Sans"/>
                <a:cs typeface="Quattrocento Sans"/>
                <a:sym typeface="Quattrocento Sans"/>
              </a:rPr>
              <a:t>China’s </a:t>
            </a:r>
            <a:r>
              <a:rPr b="1" lang="es" sz="1200">
                <a:solidFill>
                  <a:schemeClr val="dk1"/>
                </a:solidFill>
                <a:latin typeface="Quattrocento Sans"/>
                <a:ea typeface="Quattrocento Sans"/>
                <a:cs typeface="Quattrocento Sans"/>
                <a:sym typeface="Quattrocento Sans"/>
              </a:rPr>
              <a:t>Premium Beer Market </a:t>
            </a:r>
            <a:r>
              <a:rPr lang="es" sz="1200">
                <a:solidFill>
                  <a:schemeClr val="dk1"/>
                </a:solidFill>
                <a:latin typeface="Quattrocento Sans"/>
                <a:ea typeface="Quattrocento Sans"/>
                <a:cs typeface="Quattrocento Sans"/>
                <a:sym typeface="Quattrocento Sans"/>
              </a:rPr>
              <a:t>While </a:t>
            </a:r>
            <a:r>
              <a:rPr b="1" lang="es" sz="1200">
                <a:solidFill>
                  <a:schemeClr val="dk1"/>
                </a:solidFill>
                <a:latin typeface="Quattrocento Sans"/>
                <a:ea typeface="Quattrocento Sans"/>
                <a:cs typeface="Quattrocento Sans"/>
                <a:sym typeface="Quattrocento Sans"/>
              </a:rPr>
              <a:t>Balancing Global Branding </a:t>
            </a:r>
            <a:r>
              <a:rPr lang="es" sz="1200">
                <a:solidFill>
                  <a:schemeClr val="dk1"/>
                </a:solidFill>
                <a:latin typeface="Quattrocento Sans"/>
                <a:ea typeface="Quattrocento Sans"/>
                <a:cs typeface="Quattrocento Sans"/>
                <a:sym typeface="Quattrocento Sans"/>
              </a:rPr>
              <a:t>and Local Adaptation?</a:t>
            </a:r>
            <a:endParaRPr sz="1200">
              <a:solidFill>
                <a:schemeClr val="dk1"/>
              </a:solidFill>
              <a:latin typeface="Quattrocento Sans"/>
              <a:ea typeface="Quattrocento Sans"/>
              <a:cs typeface="Quattrocento Sans"/>
              <a:sym typeface="Quattrocento Sans"/>
            </a:endParaRPr>
          </a:p>
        </p:txBody>
      </p:sp>
      <p:sp>
        <p:nvSpPr>
          <p:cNvPr id="249" name="Google Shape;249;p37"/>
          <p:cNvSpPr txBox="1"/>
          <p:nvPr/>
        </p:nvSpPr>
        <p:spPr>
          <a:xfrm>
            <a:off x="2433385" y="1124176"/>
            <a:ext cx="807600" cy="1116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6800">
                <a:solidFill>
                  <a:srgbClr val="C00000"/>
                </a:solidFill>
                <a:latin typeface="Quattrocento Sans"/>
                <a:ea typeface="Quattrocento Sans"/>
                <a:cs typeface="Quattrocento Sans"/>
                <a:sym typeface="Quattrocento Sans"/>
              </a:rPr>
              <a:t>”</a:t>
            </a:r>
            <a:endParaRPr sz="6800">
              <a:solidFill>
                <a:srgbClr val="C00000"/>
              </a:solidFill>
              <a:latin typeface="Quattrocento Sans"/>
              <a:ea typeface="Quattrocento Sans"/>
              <a:cs typeface="Quattrocento Sans"/>
              <a:sym typeface="Quattrocento Sans"/>
            </a:endParaRPr>
          </a:p>
        </p:txBody>
      </p:sp>
      <p:sp>
        <p:nvSpPr>
          <p:cNvPr id="250" name="Google Shape;250;p37"/>
          <p:cNvSpPr txBox="1"/>
          <p:nvPr/>
        </p:nvSpPr>
        <p:spPr>
          <a:xfrm>
            <a:off x="3848920" y="4101349"/>
            <a:ext cx="617400" cy="1116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6800">
                <a:solidFill>
                  <a:srgbClr val="C00000"/>
                </a:solidFill>
                <a:latin typeface="Quattrocento Sans"/>
                <a:ea typeface="Quattrocento Sans"/>
                <a:cs typeface="Quattrocento Sans"/>
                <a:sym typeface="Quattrocento Sans"/>
              </a:rPr>
              <a:t>“</a:t>
            </a:r>
            <a:endParaRPr sz="6800">
              <a:solidFill>
                <a:srgbClr val="C00000"/>
              </a:solidFill>
              <a:latin typeface="Quattrocento Sans"/>
              <a:ea typeface="Quattrocento Sans"/>
              <a:cs typeface="Quattrocento Sans"/>
              <a:sym typeface="Quattrocento Sans"/>
            </a:endParaRPr>
          </a:p>
        </p:txBody>
      </p:sp>
      <p:sp>
        <p:nvSpPr>
          <p:cNvPr id="251" name="Google Shape;251;p37"/>
          <p:cNvSpPr/>
          <p:nvPr/>
        </p:nvSpPr>
        <p:spPr>
          <a:xfrm>
            <a:off x="330620" y="1446357"/>
            <a:ext cx="1606800" cy="8712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52" name="Google Shape;252;p37"/>
          <p:cNvSpPr txBox="1"/>
          <p:nvPr/>
        </p:nvSpPr>
        <p:spPr>
          <a:xfrm>
            <a:off x="136256" y="1267904"/>
            <a:ext cx="8076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s" sz="2700">
                <a:solidFill>
                  <a:srgbClr val="C00000"/>
                </a:solidFill>
                <a:latin typeface="Quattrocento Sans"/>
                <a:ea typeface="Quattrocento Sans"/>
                <a:cs typeface="Quattrocento Sans"/>
                <a:sym typeface="Quattrocento Sans"/>
              </a:rPr>
              <a:t>1.</a:t>
            </a:r>
            <a:endParaRPr b="1" sz="2700">
              <a:solidFill>
                <a:srgbClr val="C00000"/>
              </a:solidFill>
              <a:latin typeface="Quattrocento Sans"/>
              <a:ea typeface="Quattrocento Sans"/>
              <a:cs typeface="Quattrocento Sans"/>
              <a:sym typeface="Quattrocento Sans"/>
            </a:endParaRPr>
          </a:p>
        </p:txBody>
      </p:sp>
      <p:sp>
        <p:nvSpPr>
          <p:cNvPr id="253" name="Google Shape;253;p37"/>
          <p:cNvSpPr/>
          <p:nvPr/>
        </p:nvSpPr>
        <p:spPr>
          <a:xfrm>
            <a:off x="330620" y="2483057"/>
            <a:ext cx="1606800" cy="8712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54" name="Google Shape;254;p37"/>
          <p:cNvSpPr txBox="1"/>
          <p:nvPr/>
        </p:nvSpPr>
        <p:spPr>
          <a:xfrm>
            <a:off x="589677" y="2528825"/>
            <a:ext cx="1204500" cy="74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1100">
                <a:solidFill>
                  <a:schemeClr val="dk1"/>
                </a:solidFill>
                <a:latin typeface="Quattrocento Sans"/>
                <a:ea typeface="Quattrocento Sans"/>
                <a:cs typeface="Quattrocento Sans"/>
                <a:sym typeface="Quattrocento Sans"/>
              </a:rPr>
              <a:t>Premium-</a:t>
            </a:r>
            <a:endParaRPr sz="1100">
              <a:solidFill>
                <a:schemeClr val="dk1"/>
              </a:solidFill>
              <a:latin typeface="Quattrocento Sans"/>
              <a:ea typeface="Quattrocento Sans"/>
              <a:cs typeface="Quattrocento Sans"/>
              <a:sym typeface="Quattrocento Sans"/>
            </a:endParaRPr>
          </a:p>
          <a:p>
            <a:pPr indent="0" lvl="0" marL="0" marR="0" rtl="0" algn="l">
              <a:spcBef>
                <a:spcPts val="0"/>
              </a:spcBef>
              <a:spcAft>
                <a:spcPts val="0"/>
              </a:spcAft>
              <a:buNone/>
            </a:pPr>
            <a:r>
              <a:rPr lang="es" sz="1100">
                <a:solidFill>
                  <a:schemeClr val="dk1"/>
                </a:solidFill>
                <a:latin typeface="Quattrocento Sans"/>
                <a:ea typeface="Quattrocento Sans"/>
                <a:cs typeface="Quattrocento Sans"/>
                <a:sym typeface="Quattrocento Sans"/>
              </a:rPr>
              <a:t>Segment Competition &amp; Craft Trend</a:t>
            </a:r>
            <a:endParaRPr sz="1100">
              <a:solidFill>
                <a:schemeClr val="dk1"/>
              </a:solidFill>
              <a:latin typeface="Quattrocento Sans"/>
              <a:ea typeface="Quattrocento Sans"/>
              <a:cs typeface="Quattrocento Sans"/>
              <a:sym typeface="Quattrocento Sans"/>
            </a:endParaRPr>
          </a:p>
        </p:txBody>
      </p:sp>
      <p:sp>
        <p:nvSpPr>
          <p:cNvPr id="255" name="Google Shape;255;p37"/>
          <p:cNvSpPr txBox="1"/>
          <p:nvPr/>
        </p:nvSpPr>
        <p:spPr>
          <a:xfrm>
            <a:off x="136256" y="2313285"/>
            <a:ext cx="8076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s" sz="2700">
                <a:solidFill>
                  <a:srgbClr val="C00000"/>
                </a:solidFill>
                <a:latin typeface="Quattrocento Sans"/>
                <a:ea typeface="Quattrocento Sans"/>
                <a:cs typeface="Quattrocento Sans"/>
                <a:sym typeface="Quattrocento Sans"/>
              </a:rPr>
              <a:t>2.</a:t>
            </a:r>
            <a:endParaRPr b="1" sz="2700">
              <a:solidFill>
                <a:srgbClr val="C00000"/>
              </a:solidFill>
              <a:latin typeface="Quattrocento Sans"/>
              <a:ea typeface="Quattrocento Sans"/>
              <a:cs typeface="Quattrocento Sans"/>
              <a:sym typeface="Quattrocento Sans"/>
            </a:endParaRPr>
          </a:p>
        </p:txBody>
      </p:sp>
      <p:sp>
        <p:nvSpPr>
          <p:cNvPr id="256" name="Google Shape;256;p37"/>
          <p:cNvSpPr txBox="1"/>
          <p:nvPr/>
        </p:nvSpPr>
        <p:spPr>
          <a:xfrm>
            <a:off x="612201" y="1541625"/>
            <a:ext cx="1182000" cy="4386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None/>
            </a:pPr>
            <a:r>
              <a:rPr lang="es" sz="1200">
                <a:solidFill>
                  <a:schemeClr val="dk1"/>
                </a:solidFill>
                <a:latin typeface="Quattrocento Sans"/>
                <a:ea typeface="Quattrocento Sans"/>
                <a:cs typeface="Quattrocento Sans"/>
                <a:sym typeface="Quattrocento Sans"/>
              </a:rPr>
              <a:t>Local vs. Global Brand Conflict</a:t>
            </a:r>
            <a:endParaRPr sz="1200">
              <a:solidFill>
                <a:srgbClr val="C00000"/>
              </a:solidFill>
              <a:latin typeface="Quattrocento Sans"/>
              <a:ea typeface="Quattrocento Sans"/>
              <a:cs typeface="Quattrocento Sans"/>
              <a:sym typeface="Quattrocento Sans"/>
            </a:endParaRPr>
          </a:p>
        </p:txBody>
      </p:sp>
      <p:sp>
        <p:nvSpPr>
          <p:cNvPr id="257" name="Google Shape;257;p37"/>
          <p:cNvSpPr/>
          <p:nvPr/>
        </p:nvSpPr>
        <p:spPr>
          <a:xfrm>
            <a:off x="344144" y="3580412"/>
            <a:ext cx="1593300" cy="8712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58" name="Google Shape;258;p37"/>
          <p:cNvSpPr txBox="1"/>
          <p:nvPr/>
        </p:nvSpPr>
        <p:spPr>
          <a:xfrm>
            <a:off x="596725" y="3642650"/>
            <a:ext cx="1376100" cy="74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s" sz="1100">
                <a:solidFill>
                  <a:schemeClr val="dk1"/>
                </a:solidFill>
                <a:latin typeface="Quattrocento Sans"/>
                <a:ea typeface="Quattrocento Sans"/>
                <a:cs typeface="Quattrocento Sans"/>
                <a:sym typeface="Quattrocento Sans"/>
              </a:rPr>
              <a:t>Organizational Alignment and Resource Constraints</a:t>
            </a:r>
            <a:endParaRPr sz="1100">
              <a:solidFill>
                <a:schemeClr val="dk1"/>
              </a:solidFill>
              <a:latin typeface="Quattrocento Sans"/>
              <a:ea typeface="Quattrocento Sans"/>
              <a:cs typeface="Quattrocento Sans"/>
              <a:sym typeface="Quattrocento Sans"/>
            </a:endParaRPr>
          </a:p>
        </p:txBody>
      </p:sp>
      <p:sp>
        <p:nvSpPr>
          <p:cNvPr id="259" name="Google Shape;259;p37"/>
          <p:cNvSpPr txBox="1"/>
          <p:nvPr/>
        </p:nvSpPr>
        <p:spPr>
          <a:xfrm>
            <a:off x="149780" y="3410640"/>
            <a:ext cx="8076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s" sz="2700">
                <a:solidFill>
                  <a:srgbClr val="C00000"/>
                </a:solidFill>
                <a:latin typeface="Quattrocento Sans"/>
                <a:ea typeface="Quattrocento Sans"/>
                <a:cs typeface="Quattrocento Sans"/>
                <a:sym typeface="Quattrocento Sans"/>
              </a:rPr>
              <a:t>3.</a:t>
            </a:r>
            <a:endParaRPr b="1" sz="2700">
              <a:solidFill>
                <a:srgbClr val="C00000"/>
              </a:solidFill>
              <a:latin typeface="Quattrocento Sans"/>
              <a:ea typeface="Quattrocento Sans"/>
              <a:cs typeface="Quattrocento Sans"/>
              <a:sym typeface="Quattrocento Sans"/>
            </a:endParaRPr>
          </a:p>
        </p:txBody>
      </p:sp>
      <p:sp>
        <p:nvSpPr>
          <p:cNvPr id="260" name="Google Shape;260;p37"/>
          <p:cNvSpPr/>
          <p:nvPr/>
        </p:nvSpPr>
        <p:spPr>
          <a:xfrm>
            <a:off x="6985340" y="1325075"/>
            <a:ext cx="1869000" cy="934200"/>
          </a:xfrm>
          <a:prstGeom prst="rect">
            <a:avLst/>
          </a:prstGeom>
          <a:solidFill>
            <a:schemeClr val="lt2"/>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b="1" lang="es">
                <a:solidFill>
                  <a:schemeClr val="dk1"/>
                </a:solidFill>
                <a:latin typeface="Quattrocento Sans"/>
                <a:ea typeface="Quattrocento Sans"/>
                <a:cs typeface="Quattrocento Sans"/>
                <a:sym typeface="Quattrocento Sans"/>
              </a:rPr>
              <a:t>109M</a:t>
            </a:r>
            <a:r>
              <a:rPr b="1" lang="es">
                <a:solidFill>
                  <a:schemeClr val="dk1"/>
                </a:solidFill>
                <a:latin typeface="Quattrocento Sans"/>
                <a:ea typeface="Quattrocento Sans"/>
                <a:cs typeface="Quattrocento Sans"/>
                <a:sym typeface="Quattrocento Sans"/>
              </a:rPr>
              <a:t>+ </a:t>
            </a:r>
            <a:r>
              <a:rPr lang="es">
                <a:solidFill>
                  <a:schemeClr val="dk1"/>
                </a:solidFill>
                <a:latin typeface="Quattrocento Sans"/>
                <a:ea typeface="Quattrocento Sans"/>
                <a:cs typeface="Quattrocento Sans"/>
                <a:sym typeface="Quattrocento Sans"/>
              </a:rPr>
              <a:t>in Total Revenue by 2016</a:t>
            </a:r>
            <a:endParaRPr b="1">
              <a:solidFill>
                <a:schemeClr val="dk1"/>
              </a:solidFill>
              <a:latin typeface="Quattrocento Sans"/>
              <a:ea typeface="Quattrocento Sans"/>
              <a:cs typeface="Quattrocento Sans"/>
              <a:sym typeface="Quattrocento Sans"/>
            </a:endParaRPr>
          </a:p>
        </p:txBody>
      </p:sp>
      <p:sp>
        <p:nvSpPr>
          <p:cNvPr id="261" name="Google Shape;261;p37"/>
          <p:cNvSpPr/>
          <p:nvPr/>
        </p:nvSpPr>
        <p:spPr>
          <a:xfrm>
            <a:off x="6985340" y="2527259"/>
            <a:ext cx="1869000" cy="934200"/>
          </a:xfrm>
          <a:prstGeom prst="rect">
            <a:avLst/>
          </a:prstGeom>
          <a:solidFill>
            <a:srgbClr val="A7BDB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s" sz="1400">
                <a:solidFill>
                  <a:schemeClr val="lt1"/>
                </a:solidFill>
                <a:latin typeface="Quattrocento Sans"/>
                <a:ea typeface="Quattrocento Sans"/>
                <a:cs typeface="Quattrocento Sans"/>
                <a:sym typeface="Quattrocento Sans"/>
              </a:rPr>
              <a:t>1 Million DKK </a:t>
            </a:r>
            <a:r>
              <a:rPr lang="es" sz="1400">
                <a:solidFill>
                  <a:schemeClr val="lt1"/>
                </a:solidFill>
                <a:latin typeface="Quattrocento Sans"/>
                <a:ea typeface="Quattrocento Sans"/>
                <a:cs typeface="Quattrocento Sans"/>
                <a:sym typeface="Quattrocento Sans"/>
              </a:rPr>
              <a:t>in Profits by 2027</a:t>
            </a:r>
            <a:endParaRPr sz="1100"/>
          </a:p>
        </p:txBody>
      </p:sp>
      <p:sp>
        <p:nvSpPr>
          <p:cNvPr id="262" name="Google Shape;262;p37"/>
          <p:cNvSpPr/>
          <p:nvPr/>
        </p:nvSpPr>
        <p:spPr>
          <a:xfrm>
            <a:off x="6985340" y="3707299"/>
            <a:ext cx="1869000" cy="9342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s">
                <a:solidFill>
                  <a:schemeClr val="dk1"/>
                </a:solidFill>
                <a:latin typeface="Quattrocento Sans"/>
                <a:ea typeface="Quattrocento Sans"/>
                <a:cs typeface="Quattrocento Sans"/>
                <a:sym typeface="Quattrocento Sans"/>
              </a:rPr>
              <a:t>4.95% Gross Profit Margin </a:t>
            </a:r>
            <a:r>
              <a:rPr lang="es">
                <a:solidFill>
                  <a:schemeClr val="dk1"/>
                </a:solidFill>
                <a:latin typeface="Quattrocento Sans"/>
                <a:ea typeface="Quattrocento Sans"/>
                <a:cs typeface="Quattrocento Sans"/>
                <a:sym typeface="Quattrocento Sans"/>
              </a:rPr>
              <a:t>by 2016 </a:t>
            </a:r>
            <a:endParaRPr sz="1100"/>
          </a:p>
        </p:txBody>
      </p:sp>
      <p:sp>
        <p:nvSpPr>
          <p:cNvPr id="263" name="Google Shape;263;p37"/>
          <p:cNvSpPr/>
          <p:nvPr/>
        </p:nvSpPr>
        <p:spPr>
          <a:xfrm>
            <a:off x="6985340" y="2527259"/>
            <a:ext cx="1869000" cy="9342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s">
                <a:solidFill>
                  <a:schemeClr val="dk1"/>
                </a:solidFill>
                <a:latin typeface="Quattrocento Sans"/>
                <a:ea typeface="Quattrocento Sans"/>
                <a:cs typeface="Quattrocento Sans"/>
                <a:sym typeface="Quattrocento Sans"/>
              </a:rPr>
              <a:t>88.9K</a:t>
            </a:r>
            <a:r>
              <a:rPr b="1" lang="es">
                <a:solidFill>
                  <a:schemeClr val="dk1"/>
                </a:solidFill>
                <a:latin typeface="Quattrocento Sans"/>
                <a:ea typeface="Quattrocento Sans"/>
                <a:cs typeface="Quattrocento Sans"/>
                <a:sym typeface="Quattrocento Sans"/>
              </a:rPr>
              <a:t>+</a:t>
            </a:r>
            <a:r>
              <a:rPr b="1" lang="es" sz="1400">
                <a:solidFill>
                  <a:schemeClr val="dk1"/>
                </a:solidFill>
                <a:latin typeface="Quattrocento Sans"/>
                <a:ea typeface="Quattrocento Sans"/>
                <a:cs typeface="Quattrocento Sans"/>
                <a:sym typeface="Quattrocento Sans"/>
              </a:rPr>
              <a:t> </a:t>
            </a:r>
            <a:r>
              <a:rPr lang="es" sz="1400">
                <a:solidFill>
                  <a:schemeClr val="dk1"/>
                </a:solidFill>
                <a:latin typeface="Quattrocento Sans"/>
                <a:ea typeface="Quattrocento Sans"/>
                <a:cs typeface="Quattrocento Sans"/>
                <a:sym typeface="Quattrocento Sans"/>
              </a:rPr>
              <a:t>in Fran</a:t>
            </a:r>
            <a:r>
              <a:rPr lang="es">
                <a:solidFill>
                  <a:schemeClr val="dk1"/>
                </a:solidFill>
                <a:latin typeface="Quattrocento Sans"/>
                <a:ea typeface="Quattrocento Sans"/>
                <a:cs typeface="Quattrocento Sans"/>
                <a:sym typeface="Quattrocento Sans"/>
              </a:rPr>
              <a:t>chise Royalties by 2016</a:t>
            </a:r>
            <a:endParaRPr>
              <a:solidFill>
                <a:schemeClr val="dk1"/>
              </a:solidFill>
              <a:latin typeface="Quattrocento Sans"/>
              <a:ea typeface="Quattrocento Sans"/>
              <a:cs typeface="Quattrocento Sans"/>
              <a:sym typeface="Quattrocento Sans"/>
            </a:endParaRPr>
          </a:p>
        </p:txBody>
      </p:sp>
      <p:sp>
        <p:nvSpPr>
          <p:cNvPr id="264" name="Google Shape;264;p37"/>
          <p:cNvSpPr/>
          <p:nvPr/>
        </p:nvSpPr>
        <p:spPr>
          <a:xfrm>
            <a:off x="4669090" y="1260437"/>
            <a:ext cx="1869000" cy="934200"/>
          </a:xfrm>
          <a:prstGeom prst="rect">
            <a:avLst/>
          </a:prstGeom>
          <a:solidFill>
            <a:schemeClr val="lt2"/>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b="1" lang="es">
                <a:solidFill>
                  <a:schemeClr val="dk1"/>
                </a:solidFill>
                <a:latin typeface="Quattrocento Sans"/>
                <a:ea typeface="Quattrocento Sans"/>
                <a:cs typeface="Quattrocento Sans"/>
                <a:sym typeface="Quattrocento Sans"/>
              </a:rPr>
              <a:t>Forbidden City</a:t>
            </a:r>
            <a:endParaRPr sz="1100">
              <a:latin typeface="Quattrocento Sans"/>
              <a:ea typeface="Quattrocento Sans"/>
              <a:cs typeface="Quattrocento Sans"/>
              <a:sym typeface="Quattrocento Sans"/>
            </a:endParaRPr>
          </a:p>
        </p:txBody>
      </p:sp>
      <p:sp>
        <p:nvSpPr>
          <p:cNvPr id="265" name="Google Shape;265;p37"/>
          <p:cNvSpPr/>
          <p:nvPr/>
        </p:nvSpPr>
        <p:spPr>
          <a:xfrm>
            <a:off x="4669090" y="3642661"/>
            <a:ext cx="1869000" cy="934200"/>
          </a:xfrm>
          <a:prstGeom prst="rect">
            <a:avLst/>
          </a:prstGeom>
          <a:solidFill>
            <a:schemeClr val="lt2"/>
          </a:solid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b="1" lang="es">
                <a:solidFill>
                  <a:schemeClr val="dk1"/>
                </a:solidFill>
                <a:latin typeface="Quattrocento Sans"/>
                <a:ea typeface="Quattrocento Sans"/>
                <a:cs typeface="Quattrocento Sans"/>
                <a:sym typeface="Quattrocento Sans"/>
              </a:rPr>
              <a:t>Wild Dog</a:t>
            </a:r>
            <a:endParaRPr sz="1100"/>
          </a:p>
        </p:txBody>
      </p:sp>
      <p:sp>
        <p:nvSpPr>
          <p:cNvPr id="266" name="Google Shape;266;p37"/>
          <p:cNvSpPr/>
          <p:nvPr/>
        </p:nvSpPr>
        <p:spPr>
          <a:xfrm>
            <a:off x="4669090" y="2462622"/>
            <a:ext cx="1869000" cy="934200"/>
          </a:xfrm>
          <a:prstGeom prst="rect">
            <a:avLst/>
          </a:prstGeom>
          <a:solidFill>
            <a:srgbClr val="FFBFBF">
              <a:alpha val="47060"/>
            </a:srgbClr>
          </a:solidFill>
          <a:ln>
            <a:noFill/>
          </a:ln>
        </p:spPr>
        <p:txBody>
          <a:bodyPr anchorCtr="0" anchor="ctr" bIns="34275" lIns="68575" spcFirstLastPara="1" rIns="68575" wrap="square" tIns="34275">
            <a:noAutofit/>
          </a:bodyPr>
          <a:lstStyle/>
          <a:p>
            <a:pPr indent="0" lvl="0" marL="0" rtl="0" algn="ctr">
              <a:spcBef>
                <a:spcPts val="0"/>
              </a:spcBef>
              <a:spcAft>
                <a:spcPts val="0"/>
              </a:spcAft>
              <a:buClr>
                <a:schemeClr val="dk1"/>
              </a:buClr>
              <a:buFont typeface="Arial"/>
              <a:buNone/>
            </a:pPr>
            <a:r>
              <a:rPr b="1" lang="es">
                <a:solidFill>
                  <a:schemeClr val="dk1"/>
                </a:solidFill>
                <a:latin typeface="Quattrocento Sans"/>
                <a:ea typeface="Quattrocento Sans"/>
                <a:cs typeface="Quattrocento Sans"/>
                <a:sym typeface="Quattrocento Sans"/>
              </a:rPr>
              <a:t>Hybrid</a:t>
            </a:r>
            <a:endParaRPr sz="1100"/>
          </a:p>
        </p:txBody>
      </p:sp>
      <p:sp>
        <p:nvSpPr>
          <p:cNvPr id="267" name="Google Shape;267;p37"/>
          <p:cNvSpPr/>
          <p:nvPr/>
        </p:nvSpPr>
        <p:spPr>
          <a:xfrm>
            <a:off x="3091600" y="4714075"/>
            <a:ext cx="4181400" cy="371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8" name="Google Shape;268;p37"/>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pic>
        <p:nvPicPr>
          <p:cNvPr id="269" name="Google Shape;269;p37"/>
          <p:cNvPicPr preferRelativeResize="0"/>
          <p:nvPr/>
        </p:nvPicPr>
        <p:blipFill>
          <a:blip r:embed="rId3">
            <a:alphaModFix/>
          </a:blip>
          <a:stretch>
            <a:fillRect/>
          </a:stretch>
        </p:blipFill>
        <p:spPr>
          <a:xfrm>
            <a:off x="2973775" y="1541626"/>
            <a:ext cx="710700" cy="175086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38"/>
          <p:cNvPicPr preferRelativeResize="0"/>
          <p:nvPr/>
        </p:nvPicPr>
        <p:blipFill rotWithShape="1">
          <a:blip r:embed="rId3">
            <a:alphaModFix/>
          </a:blip>
          <a:srcRect b="7453" l="0" r="0" t="7462"/>
          <a:stretch/>
        </p:blipFill>
        <p:spPr>
          <a:xfrm>
            <a:off x="0" y="-42475"/>
            <a:ext cx="9144003" cy="5178000"/>
          </a:xfrm>
          <a:prstGeom prst="rect">
            <a:avLst/>
          </a:prstGeom>
          <a:noFill/>
          <a:ln>
            <a:noFill/>
          </a:ln>
        </p:spPr>
      </p:pic>
      <p:sp>
        <p:nvSpPr>
          <p:cNvPr id="276" name="Google Shape;276;p38"/>
          <p:cNvSpPr/>
          <p:nvPr/>
        </p:nvSpPr>
        <p:spPr>
          <a:xfrm>
            <a:off x="-26400" y="-42476"/>
            <a:ext cx="9196800" cy="5753100"/>
          </a:xfrm>
          <a:prstGeom prst="rect">
            <a:avLst/>
          </a:prstGeom>
          <a:solidFill>
            <a:schemeClr val="dk1">
              <a:alpha val="62750"/>
            </a:scheme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800"/>
              <a:buFont typeface="Arial"/>
              <a:buNone/>
            </a:pPr>
            <a:r>
              <a:t/>
            </a:r>
            <a:endParaRPr b="0" i="0" sz="800" u="none" cap="none" strike="noStrike">
              <a:solidFill>
                <a:srgbClr val="FFFFFF"/>
              </a:solidFill>
              <a:latin typeface="Calibri"/>
              <a:ea typeface="Calibri"/>
              <a:cs typeface="Calibri"/>
              <a:sym typeface="Calibri"/>
            </a:endParaRPr>
          </a:p>
        </p:txBody>
      </p:sp>
      <p:sp>
        <p:nvSpPr>
          <p:cNvPr id="277" name="Google Shape;277;p38"/>
          <p:cNvSpPr txBox="1"/>
          <p:nvPr>
            <p:ph idx="4294967295" type="sldNum"/>
          </p:nvPr>
        </p:nvSpPr>
        <p:spPr>
          <a:xfrm>
            <a:off x="6822737" y="4905545"/>
            <a:ext cx="2057400" cy="121200"/>
          </a:xfrm>
          <a:prstGeom prst="rect">
            <a:avLst/>
          </a:prstGeom>
          <a:noFill/>
          <a:ln>
            <a:noFill/>
          </a:ln>
        </p:spPr>
        <p:txBody>
          <a:bodyPr anchorCtr="0" anchor="ctr" bIns="34275" lIns="68575" spcFirstLastPara="1" rIns="68575" wrap="square" tIns="34275">
            <a:normAutofit fontScale="40000" lnSpcReduction="20000"/>
          </a:bodyPr>
          <a:lstStyle/>
          <a:p>
            <a:pPr indent="0" lvl="0" marL="0" rtl="0" algn="r">
              <a:spcBef>
                <a:spcPts val="0"/>
              </a:spcBef>
              <a:spcAft>
                <a:spcPts val="0"/>
              </a:spcAft>
              <a:buNone/>
            </a:pPr>
            <a:fld id="{00000000-1234-1234-1234-123412341234}" type="slidenum">
              <a:rPr lang="es"/>
              <a:t>‹#›</a:t>
            </a:fld>
            <a:endParaRPr/>
          </a:p>
        </p:txBody>
      </p:sp>
      <p:sp>
        <p:nvSpPr>
          <p:cNvPr id="278" name="Google Shape;278;p38"/>
          <p:cNvSpPr/>
          <p:nvPr/>
        </p:nvSpPr>
        <p:spPr>
          <a:xfrm>
            <a:off x="676850" y="1803568"/>
            <a:ext cx="37800" cy="1485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9" name="Google Shape;279;p38"/>
          <p:cNvSpPr txBox="1"/>
          <p:nvPr/>
        </p:nvSpPr>
        <p:spPr>
          <a:xfrm>
            <a:off x="812434" y="2070118"/>
            <a:ext cx="73005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4000">
                <a:solidFill>
                  <a:srgbClr val="FFFFFF"/>
                </a:solidFill>
                <a:latin typeface="Quattrocento Sans"/>
                <a:ea typeface="Quattrocento Sans"/>
                <a:cs typeface="Quattrocento Sans"/>
                <a:sym typeface="Quattrocento Sans"/>
              </a:rPr>
              <a:t>Analysis </a:t>
            </a:r>
            <a:endParaRPr b="1" sz="4000">
              <a:solidFill>
                <a:srgbClr val="FFFFFF"/>
              </a:solidFill>
              <a:latin typeface="Quattrocento Sans"/>
              <a:ea typeface="Quattrocento Sans"/>
              <a:cs typeface="Quattrocento Sans"/>
              <a:sym typeface="Quattrocen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9"/>
          <p:cNvSpPr txBox="1"/>
          <p:nvPr/>
        </p:nvSpPr>
        <p:spPr>
          <a:xfrm>
            <a:off x="198847" y="102400"/>
            <a:ext cx="2989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Analysis of the Situation</a:t>
            </a:r>
            <a:endParaRPr sz="1100"/>
          </a:p>
        </p:txBody>
      </p:sp>
      <p:sp>
        <p:nvSpPr>
          <p:cNvPr id="285" name="Google Shape;285;p39"/>
          <p:cNvSpPr txBox="1"/>
          <p:nvPr>
            <p:ph idx="4294967295" type="title"/>
          </p:nvPr>
        </p:nvSpPr>
        <p:spPr>
          <a:xfrm>
            <a:off x="198853" y="345522"/>
            <a:ext cx="78867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Play"/>
              <a:buNone/>
            </a:pPr>
            <a:r>
              <a:rPr lang="es" sz="1800"/>
              <a:t>Analysing market trends and their implications</a:t>
            </a:r>
            <a:endParaRPr/>
          </a:p>
        </p:txBody>
      </p:sp>
      <p:sp>
        <p:nvSpPr>
          <p:cNvPr id="286" name="Google Shape;286;p39"/>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s"/>
              <a:t>‹#›</a:t>
            </a:fld>
            <a:endParaRPr/>
          </a:p>
        </p:txBody>
      </p:sp>
      <p:cxnSp>
        <p:nvCxnSpPr>
          <p:cNvPr id="287" name="Google Shape;287;p39"/>
          <p:cNvCxnSpPr/>
          <p:nvPr/>
        </p:nvCxnSpPr>
        <p:spPr>
          <a:xfrm>
            <a:off x="3248971" y="4790797"/>
            <a:ext cx="405000" cy="0"/>
          </a:xfrm>
          <a:prstGeom prst="straightConnector1">
            <a:avLst/>
          </a:prstGeom>
          <a:noFill/>
          <a:ln cap="flat" cmpd="sng" w="12700">
            <a:solidFill>
              <a:srgbClr val="C00000"/>
            </a:solidFill>
            <a:prstDash val="solid"/>
            <a:miter lim="800000"/>
            <a:headEnd len="sm" w="sm" type="none"/>
            <a:tailEnd len="sm" w="sm" type="none"/>
          </a:ln>
        </p:spPr>
      </p:cxnSp>
      <p:sp>
        <p:nvSpPr>
          <p:cNvPr id="288" name="Google Shape;288;p39"/>
          <p:cNvSpPr txBox="1"/>
          <p:nvPr/>
        </p:nvSpPr>
        <p:spPr>
          <a:xfrm>
            <a:off x="3510650" y="917875"/>
            <a:ext cx="2816700" cy="284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a:solidFill>
                  <a:schemeClr val="dk1"/>
                </a:solidFill>
                <a:latin typeface="Quattrocento Sans"/>
                <a:ea typeface="Quattrocento Sans"/>
                <a:cs typeface="Quattrocento Sans"/>
                <a:sym typeface="Quattrocento Sans"/>
              </a:rPr>
              <a:t>Market Data</a:t>
            </a:r>
            <a:endParaRPr sz="1400">
              <a:solidFill>
                <a:schemeClr val="dk1"/>
              </a:solidFill>
              <a:latin typeface="Quattrocento Sans"/>
              <a:ea typeface="Quattrocento Sans"/>
              <a:cs typeface="Quattrocento Sans"/>
              <a:sym typeface="Quattrocento Sans"/>
            </a:endParaRPr>
          </a:p>
        </p:txBody>
      </p:sp>
      <p:grpSp>
        <p:nvGrpSpPr>
          <p:cNvPr id="289" name="Google Shape;289;p39"/>
          <p:cNvGrpSpPr/>
          <p:nvPr/>
        </p:nvGrpSpPr>
        <p:grpSpPr>
          <a:xfrm>
            <a:off x="6257075" y="1370417"/>
            <a:ext cx="317925" cy="3086100"/>
            <a:chOff x="6480810" y="1544289"/>
            <a:chExt cx="423900" cy="4114800"/>
          </a:xfrm>
        </p:grpSpPr>
        <p:cxnSp>
          <p:nvCxnSpPr>
            <p:cNvPr id="290" name="Google Shape;290;p39"/>
            <p:cNvCxnSpPr/>
            <p:nvPr/>
          </p:nvCxnSpPr>
          <p:spPr>
            <a:xfrm>
              <a:off x="6692694" y="1544289"/>
              <a:ext cx="0" cy="4114800"/>
            </a:xfrm>
            <a:prstGeom prst="straightConnector1">
              <a:avLst/>
            </a:prstGeom>
            <a:noFill/>
            <a:ln cap="flat" cmpd="sng" w="9525">
              <a:solidFill>
                <a:srgbClr val="A5A5A5"/>
              </a:solidFill>
              <a:prstDash val="dash"/>
              <a:miter lim="800000"/>
              <a:headEnd len="sm" w="sm" type="none"/>
              <a:tailEnd len="sm" w="sm" type="none"/>
            </a:ln>
          </p:spPr>
        </p:cxnSp>
        <p:grpSp>
          <p:nvGrpSpPr>
            <p:cNvPr id="291" name="Google Shape;291;p39"/>
            <p:cNvGrpSpPr/>
            <p:nvPr/>
          </p:nvGrpSpPr>
          <p:grpSpPr>
            <a:xfrm>
              <a:off x="6480810" y="3389805"/>
              <a:ext cx="423900" cy="423900"/>
              <a:chOff x="6480810" y="3368317"/>
              <a:chExt cx="423900" cy="423900"/>
            </a:xfrm>
          </p:grpSpPr>
          <p:sp>
            <p:nvSpPr>
              <p:cNvPr id="292" name="Google Shape;292;p39"/>
              <p:cNvSpPr/>
              <p:nvPr/>
            </p:nvSpPr>
            <p:spPr>
              <a:xfrm>
                <a:off x="6480810" y="3368317"/>
                <a:ext cx="423900" cy="423900"/>
              </a:xfrm>
              <a:prstGeom prst="ellipse">
                <a:avLst/>
              </a:prstGeom>
              <a:solidFill>
                <a:schemeClr val="lt1"/>
              </a:solidFill>
              <a:ln cap="flat" cmpd="sng" w="1905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100">
                  <a:solidFill>
                    <a:schemeClr val="lt1"/>
                  </a:solidFill>
                  <a:latin typeface="Lato"/>
                  <a:ea typeface="Lato"/>
                  <a:cs typeface="Lato"/>
                  <a:sym typeface="Lato"/>
                </a:endParaRPr>
              </a:p>
            </p:txBody>
          </p:sp>
          <p:cxnSp>
            <p:nvCxnSpPr>
              <p:cNvPr id="293" name="Google Shape;293;p39"/>
              <p:cNvCxnSpPr/>
              <p:nvPr/>
            </p:nvCxnSpPr>
            <p:spPr>
              <a:xfrm>
                <a:off x="6624788" y="3512558"/>
                <a:ext cx="135900" cy="74100"/>
              </a:xfrm>
              <a:prstGeom prst="straightConnector1">
                <a:avLst/>
              </a:prstGeom>
              <a:noFill/>
              <a:ln cap="rnd" cmpd="sng" w="19050">
                <a:solidFill>
                  <a:schemeClr val="dk1"/>
                </a:solidFill>
                <a:prstDash val="solid"/>
                <a:miter lim="800000"/>
                <a:headEnd len="sm" w="sm" type="none"/>
                <a:tailEnd len="sm" w="sm" type="none"/>
              </a:ln>
            </p:spPr>
          </p:cxnSp>
          <p:cxnSp>
            <p:nvCxnSpPr>
              <p:cNvPr id="294" name="Google Shape;294;p39"/>
              <p:cNvCxnSpPr/>
              <p:nvPr/>
            </p:nvCxnSpPr>
            <p:spPr>
              <a:xfrm flipH="1" rot="10800000">
                <a:off x="6624788" y="3586446"/>
                <a:ext cx="135900" cy="74100"/>
              </a:xfrm>
              <a:prstGeom prst="straightConnector1">
                <a:avLst/>
              </a:prstGeom>
              <a:noFill/>
              <a:ln cap="rnd" cmpd="sng" w="19050">
                <a:solidFill>
                  <a:schemeClr val="dk1"/>
                </a:solidFill>
                <a:prstDash val="solid"/>
                <a:miter lim="800000"/>
                <a:headEnd len="sm" w="sm" type="none"/>
                <a:tailEnd len="sm" w="sm" type="none"/>
              </a:ln>
            </p:spPr>
          </p:cxnSp>
        </p:grpSp>
      </p:grpSp>
      <p:sp>
        <p:nvSpPr>
          <p:cNvPr id="295" name="Google Shape;295;p39"/>
          <p:cNvSpPr txBox="1"/>
          <p:nvPr/>
        </p:nvSpPr>
        <p:spPr>
          <a:xfrm>
            <a:off x="9745862" y="4178354"/>
            <a:ext cx="4573500" cy="4848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s" sz="2700">
                <a:solidFill>
                  <a:srgbClr val="C00000"/>
                </a:solidFill>
                <a:latin typeface="Quattrocento Sans"/>
                <a:ea typeface="Quattrocento Sans"/>
                <a:cs typeface="Quattrocento Sans"/>
                <a:sym typeface="Quattrocento Sans"/>
              </a:rPr>
              <a:t>1.2 Million</a:t>
            </a:r>
            <a:endParaRPr b="1" sz="2700">
              <a:solidFill>
                <a:srgbClr val="C00000"/>
              </a:solidFill>
              <a:latin typeface="Quattrocento Sans"/>
              <a:ea typeface="Quattrocento Sans"/>
              <a:cs typeface="Quattrocento Sans"/>
              <a:sym typeface="Quattrocento Sans"/>
            </a:endParaRPr>
          </a:p>
        </p:txBody>
      </p:sp>
      <p:sp>
        <p:nvSpPr>
          <p:cNvPr id="296" name="Google Shape;296;p39"/>
          <p:cNvSpPr txBox="1"/>
          <p:nvPr/>
        </p:nvSpPr>
        <p:spPr>
          <a:xfrm>
            <a:off x="11277327" y="4680824"/>
            <a:ext cx="50739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s" sz="2100">
                <a:solidFill>
                  <a:schemeClr val="dk1"/>
                </a:solidFill>
                <a:latin typeface="Quattrocento Sans"/>
                <a:ea typeface="Quattrocento Sans"/>
                <a:cs typeface="Quattrocento Sans"/>
                <a:sym typeface="Quattrocento Sans"/>
              </a:rPr>
              <a:t>Active Users</a:t>
            </a:r>
            <a:endParaRPr sz="2100">
              <a:solidFill>
                <a:schemeClr val="dk1"/>
              </a:solidFill>
              <a:latin typeface="Arial"/>
              <a:ea typeface="Arial"/>
              <a:cs typeface="Arial"/>
              <a:sym typeface="Arial"/>
            </a:endParaRPr>
          </a:p>
        </p:txBody>
      </p:sp>
      <p:sp>
        <p:nvSpPr>
          <p:cNvPr id="297" name="Google Shape;297;p39"/>
          <p:cNvSpPr txBox="1"/>
          <p:nvPr/>
        </p:nvSpPr>
        <p:spPr>
          <a:xfrm>
            <a:off x="7008881" y="917863"/>
            <a:ext cx="1605300" cy="284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a:solidFill>
                  <a:schemeClr val="dk1"/>
                </a:solidFill>
                <a:latin typeface="Quattrocento Sans"/>
                <a:ea typeface="Quattrocento Sans"/>
                <a:cs typeface="Quattrocento Sans"/>
                <a:sym typeface="Quattrocento Sans"/>
              </a:rPr>
              <a:t>Implications</a:t>
            </a:r>
            <a:endParaRPr sz="1400">
              <a:solidFill>
                <a:schemeClr val="dk1"/>
              </a:solidFill>
              <a:latin typeface="Quattrocento Sans"/>
              <a:ea typeface="Quattrocento Sans"/>
              <a:cs typeface="Quattrocento Sans"/>
              <a:sym typeface="Quattrocento Sans"/>
            </a:endParaRPr>
          </a:p>
        </p:txBody>
      </p:sp>
      <p:sp>
        <p:nvSpPr>
          <p:cNvPr id="298" name="Google Shape;298;p39"/>
          <p:cNvSpPr/>
          <p:nvPr/>
        </p:nvSpPr>
        <p:spPr>
          <a:xfrm>
            <a:off x="1550675" y="1393148"/>
            <a:ext cx="1880100" cy="1440000"/>
          </a:xfrm>
          <a:prstGeom prst="rect">
            <a:avLst/>
          </a:prstGeom>
          <a:solidFill>
            <a:srgbClr val="F2F2F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chemeClr val="dk1"/>
              </a:buClr>
              <a:buSzPts val="900"/>
              <a:buFont typeface="Malgun Gothic"/>
              <a:buNone/>
            </a:pPr>
            <a:r>
              <a:t/>
            </a:r>
            <a:endParaRPr i="0" sz="700" u="none" cap="none" strike="noStrike">
              <a:solidFill>
                <a:schemeClr val="dk1"/>
              </a:solidFill>
              <a:latin typeface="Arial"/>
              <a:ea typeface="Arial"/>
              <a:cs typeface="Arial"/>
              <a:sym typeface="Arial"/>
            </a:endParaRPr>
          </a:p>
        </p:txBody>
      </p:sp>
      <p:sp>
        <p:nvSpPr>
          <p:cNvPr id="299" name="Google Shape;299;p39"/>
          <p:cNvSpPr/>
          <p:nvPr/>
        </p:nvSpPr>
        <p:spPr>
          <a:xfrm>
            <a:off x="1550676" y="1403093"/>
            <a:ext cx="1874100" cy="1437600"/>
          </a:xfrm>
          <a:prstGeom prst="rect">
            <a:avLst/>
          </a:prstGeom>
          <a:noFill/>
          <a:ln>
            <a:noFill/>
          </a:ln>
        </p:spPr>
        <p:txBody>
          <a:bodyPr anchorCtr="0" anchor="ctr" bIns="68575" lIns="27000" spcFirstLastPara="1" rIns="27000" wrap="square" tIns="68575">
            <a:noAutofit/>
          </a:bodyPr>
          <a:lstStyle/>
          <a:p>
            <a:pPr indent="0" lvl="0" marL="139700" marR="0" rtl="0" algn="l">
              <a:spcBef>
                <a:spcPts val="0"/>
              </a:spcBef>
              <a:spcAft>
                <a:spcPts val="0"/>
              </a:spcAft>
              <a:buNone/>
            </a:pPr>
            <a:r>
              <a:t/>
            </a:r>
            <a:endParaRPr i="0" sz="700" u="none" cap="none" strike="noStrike">
              <a:solidFill>
                <a:schemeClr val="dk1"/>
              </a:solidFill>
            </a:endParaRPr>
          </a:p>
        </p:txBody>
      </p:sp>
      <p:sp>
        <p:nvSpPr>
          <p:cNvPr id="300" name="Google Shape;300;p39"/>
          <p:cNvSpPr/>
          <p:nvPr/>
        </p:nvSpPr>
        <p:spPr>
          <a:xfrm>
            <a:off x="711200" y="1391484"/>
            <a:ext cx="1020900" cy="1441500"/>
          </a:xfrm>
          <a:prstGeom prst="homePlate">
            <a:avLst>
              <a:gd fmla="val 19021" name="adj"/>
            </a:avLst>
          </a:prstGeom>
          <a:solidFill>
            <a:srgbClr val="F4CCC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s" sz="900"/>
              <a:t>Political / Legal</a:t>
            </a:r>
            <a:endParaRPr sz="1100"/>
          </a:p>
        </p:txBody>
      </p:sp>
      <p:sp>
        <p:nvSpPr>
          <p:cNvPr id="301" name="Google Shape;301;p39"/>
          <p:cNvSpPr/>
          <p:nvPr/>
        </p:nvSpPr>
        <p:spPr>
          <a:xfrm>
            <a:off x="1550676" y="3041225"/>
            <a:ext cx="1880100" cy="1452600"/>
          </a:xfrm>
          <a:prstGeom prst="rect">
            <a:avLst/>
          </a:prstGeom>
          <a:solidFill>
            <a:srgbClr val="F2F2F2"/>
          </a:solidFill>
          <a:ln>
            <a:noFill/>
          </a:ln>
        </p:spPr>
        <p:txBody>
          <a:bodyPr anchorCtr="0" anchor="ctr" bIns="68575" lIns="68575" spcFirstLastPara="1" rIns="68575" wrap="square" tIns="68575">
            <a:noAutofit/>
          </a:bodyPr>
          <a:lstStyle/>
          <a:p>
            <a:pPr indent="0" lvl="0" marL="139700" marR="0" rtl="0" algn="l">
              <a:spcBef>
                <a:spcPts val="0"/>
              </a:spcBef>
              <a:spcAft>
                <a:spcPts val="0"/>
              </a:spcAft>
              <a:buNone/>
            </a:pPr>
            <a:r>
              <a:t/>
            </a:r>
            <a:endParaRPr sz="700">
              <a:solidFill>
                <a:schemeClr val="dk1"/>
              </a:solidFill>
            </a:endParaRPr>
          </a:p>
        </p:txBody>
      </p:sp>
      <p:sp>
        <p:nvSpPr>
          <p:cNvPr id="302" name="Google Shape;302;p39"/>
          <p:cNvSpPr txBox="1"/>
          <p:nvPr/>
        </p:nvSpPr>
        <p:spPr>
          <a:xfrm>
            <a:off x="848922" y="3682579"/>
            <a:ext cx="631200" cy="1692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1100">
                <a:solidFill>
                  <a:srgbClr val="000000"/>
                </a:solidFill>
                <a:latin typeface="Arial"/>
                <a:ea typeface="Arial"/>
                <a:cs typeface="Arial"/>
                <a:sym typeface="Arial"/>
              </a:rPr>
              <a:t>Telecom </a:t>
            </a:r>
            <a:endParaRPr sz="1100">
              <a:solidFill>
                <a:schemeClr val="dk1"/>
              </a:solidFill>
              <a:latin typeface="Quattrocento Sans"/>
              <a:ea typeface="Quattrocento Sans"/>
              <a:cs typeface="Quattrocento Sans"/>
              <a:sym typeface="Quattrocento Sans"/>
            </a:endParaRPr>
          </a:p>
        </p:txBody>
      </p:sp>
      <p:sp>
        <p:nvSpPr>
          <p:cNvPr id="303" name="Google Shape;303;p39"/>
          <p:cNvSpPr txBox="1"/>
          <p:nvPr/>
        </p:nvSpPr>
        <p:spPr>
          <a:xfrm>
            <a:off x="654075" y="940950"/>
            <a:ext cx="2901000" cy="231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s" sz="1500">
                <a:solidFill>
                  <a:schemeClr val="dk1"/>
                </a:solidFill>
                <a:latin typeface="Quattrocento Sans"/>
                <a:ea typeface="Quattrocento Sans"/>
                <a:cs typeface="Quattrocento Sans"/>
                <a:sym typeface="Quattrocento Sans"/>
              </a:rPr>
              <a:t>Market Situation</a:t>
            </a:r>
            <a:endParaRPr sz="1500">
              <a:solidFill>
                <a:schemeClr val="dk1"/>
              </a:solidFill>
              <a:latin typeface="Quattrocento Sans"/>
              <a:ea typeface="Quattrocento Sans"/>
              <a:cs typeface="Quattrocento Sans"/>
              <a:sym typeface="Quattrocento Sans"/>
            </a:endParaRPr>
          </a:p>
        </p:txBody>
      </p:sp>
      <p:sp>
        <p:nvSpPr>
          <p:cNvPr id="304" name="Google Shape;304;p39"/>
          <p:cNvSpPr txBox="1"/>
          <p:nvPr/>
        </p:nvSpPr>
        <p:spPr>
          <a:xfrm>
            <a:off x="1819475" y="1492700"/>
            <a:ext cx="1507500" cy="12537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SzPts val="1100"/>
              <a:buNone/>
            </a:pPr>
            <a:r>
              <a:rPr lang="es" sz="900">
                <a:solidFill>
                  <a:schemeClr val="dk1"/>
                </a:solidFill>
                <a:latin typeface="Quattrocento Sans"/>
                <a:ea typeface="Quattrocento Sans"/>
                <a:cs typeface="Quattrocento Sans"/>
                <a:sym typeface="Quattrocento Sans"/>
              </a:rPr>
              <a:t>-  Licensing laws favour local or large-scale producers</a:t>
            </a:r>
            <a:br>
              <a:rPr lang="es" sz="900">
                <a:solidFill>
                  <a:schemeClr val="dk1"/>
                </a:solidFill>
                <a:latin typeface="Quattrocento Sans"/>
                <a:ea typeface="Quattrocento Sans"/>
                <a:cs typeface="Quattrocento Sans"/>
                <a:sym typeface="Quattrocento Sans"/>
              </a:rPr>
            </a:br>
            <a:r>
              <a:rPr lang="es" sz="900">
                <a:solidFill>
                  <a:schemeClr val="dk1"/>
                </a:solidFill>
                <a:latin typeface="Quattrocento Sans"/>
                <a:ea typeface="Quattrocento Sans"/>
                <a:cs typeface="Quattrocento Sans"/>
                <a:sym typeface="Quattrocento Sans"/>
              </a:rPr>
              <a:t>-  Foreign beers face extra regulation</a:t>
            </a:r>
            <a:endParaRPr sz="900">
              <a:solidFill>
                <a:schemeClr val="dk1"/>
              </a:solidFill>
              <a:latin typeface="Quattrocento Sans"/>
              <a:ea typeface="Quattrocento Sans"/>
              <a:cs typeface="Quattrocento Sans"/>
              <a:sym typeface="Quattrocento Sans"/>
            </a:endParaRPr>
          </a:p>
          <a:p>
            <a:pPr indent="0" lvl="0" marL="0" rtl="0" algn="l">
              <a:lnSpc>
                <a:spcPct val="115000"/>
              </a:lnSpc>
              <a:spcBef>
                <a:spcPts val="0"/>
              </a:spcBef>
              <a:spcAft>
                <a:spcPts val="0"/>
              </a:spcAft>
              <a:buSzPts val="1100"/>
              <a:buNone/>
            </a:pPr>
            <a:r>
              <a:rPr lang="es" sz="900">
                <a:solidFill>
                  <a:schemeClr val="dk1"/>
                </a:solidFill>
                <a:latin typeface="Quattrocento Sans"/>
                <a:ea typeface="Quattrocento Sans"/>
                <a:cs typeface="Quattrocento Sans"/>
                <a:sym typeface="Quattrocento Sans"/>
              </a:rPr>
              <a:t>- No legal provision to regulate when or where alcoholic beverages are sold </a:t>
            </a:r>
            <a:endParaRPr sz="900">
              <a:solidFill>
                <a:schemeClr val="dk1"/>
              </a:solidFill>
              <a:latin typeface="Quattrocento Sans"/>
              <a:ea typeface="Quattrocento Sans"/>
              <a:cs typeface="Quattrocento Sans"/>
              <a:sym typeface="Quattrocento Sans"/>
            </a:endParaRPr>
          </a:p>
          <a:p>
            <a:pPr indent="0" lvl="0" marL="0" rtl="0" algn="l">
              <a:spcBef>
                <a:spcPts val="0"/>
              </a:spcBef>
              <a:spcAft>
                <a:spcPts val="0"/>
              </a:spcAft>
              <a:buSzPts val="1100"/>
              <a:buNone/>
            </a:pPr>
            <a:r>
              <a:rPr lang="es" sz="900">
                <a:solidFill>
                  <a:schemeClr val="dk1"/>
                </a:solidFill>
                <a:latin typeface="Quattrocento Sans"/>
                <a:ea typeface="Quattrocento Sans"/>
                <a:cs typeface="Quattrocento Sans"/>
                <a:sym typeface="Quattrocento Sans"/>
              </a:rPr>
              <a:t>-  Lobbying from big brewers</a:t>
            </a:r>
            <a:endParaRPr sz="900">
              <a:solidFill>
                <a:schemeClr val="dk1"/>
              </a:solidFill>
              <a:latin typeface="Quattrocento Sans"/>
              <a:ea typeface="Quattrocento Sans"/>
              <a:cs typeface="Quattrocento Sans"/>
              <a:sym typeface="Quattrocento Sans"/>
            </a:endParaRPr>
          </a:p>
        </p:txBody>
      </p:sp>
      <p:sp>
        <p:nvSpPr>
          <p:cNvPr id="305" name="Google Shape;305;p39"/>
          <p:cNvSpPr/>
          <p:nvPr/>
        </p:nvSpPr>
        <p:spPr>
          <a:xfrm>
            <a:off x="711200" y="3071302"/>
            <a:ext cx="1020900" cy="1433100"/>
          </a:xfrm>
          <a:prstGeom prst="homePlate">
            <a:avLst>
              <a:gd fmla="val 19021" name="adj"/>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s" sz="900">
                <a:solidFill>
                  <a:schemeClr val="lt1"/>
                </a:solidFill>
              </a:rPr>
              <a:t>Economic / Socio- cultural</a:t>
            </a:r>
            <a:endParaRPr sz="1100">
              <a:solidFill>
                <a:schemeClr val="lt1"/>
              </a:solidFill>
            </a:endParaRPr>
          </a:p>
        </p:txBody>
      </p:sp>
      <p:sp>
        <p:nvSpPr>
          <p:cNvPr id="306" name="Google Shape;306;p39"/>
          <p:cNvSpPr txBox="1"/>
          <p:nvPr/>
        </p:nvSpPr>
        <p:spPr>
          <a:xfrm>
            <a:off x="1819475" y="3221411"/>
            <a:ext cx="1507500" cy="10944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None/>
            </a:pPr>
            <a:r>
              <a:rPr lang="es" sz="900">
                <a:solidFill>
                  <a:schemeClr val="dk1"/>
                </a:solidFill>
                <a:latin typeface="Quattrocento Sans"/>
                <a:ea typeface="Quattrocento Sans"/>
                <a:cs typeface="Quattrocento Sans"/>
                <a:sym typeface="Quattrocento Sans"/>
              </a:rPr>
              <a:t>-  </a:t>
            </a:r>
            <a:r>
              <a:rPr lang="es" sz="900">
                <a:solidFill>
                  <a:schemeClr val="dk1"/>
                </a:solidFill>
                <a:latin typeface="Quattrocento Sans"/>
                <a:ea typeface="Quattrocento Sans"/>
                <a:cs typeface="Quattrocento Sans"/>
                <a:sym typeface="Quattrocento Sans"/>
              </a:rPr>
              <a:t>Large beer market</a:t>
            </a:r>
            <a:endParaRPr sz="900">
              <a:solidFill>
                <a:schemeClr val="dk1"/>
              </a:solidFill>
              <a:latin typeface="Quattrocento Sans"/>
              <a:ea typeface="Quattrocento Sans"/>
              <a:cs typeface="Quattrocento Sans"/>
              <a:sym typeface="Quattrocento Sans"/>
            </a:endParaRPr>
          </a:p>
          <a:p>
            <a:pPr indent="0" lvl="0" marL="0" rtl="0" algn="l">
              <a:lnSpc>
                <a:spcPct val="115000"/>
              </a:lnSpc>
              <a:spcBef>
                <a:spcPts val="0"/>
              </a:spcBef>
              <a:spcAft>
                <a:spcPts val="0"/>
              </a:spcAft>
              <a:buSzPts val="1100"/>
              <a:buNone/>
            </a:pPr>
            <a:r>
              <a:rPr lang="es" sz="900">
                <a:solidFill>
                  <a:schemeClr val="dk1"/>
                </a:solidFill>
                <a:latin typeface="Quattrocento Sans"/>
                <a:ea typeface="Quattrocento Sans"/>
                <a:cs typeface="Quattrocento Sans"/>
                <a:sym typeface="Quattrocento Sans"/>
              </a:rPr>
              <a:t>-  Growing urban incomes</a:t>
            </a:r>
            <a:endParaRPr sz="900">
              <a:solidFill>
                <a:schemeClr val="dk1"/>
              </a:solidFill>
              <a:latin typeface="Quattrocento Sans"/>
              <a:ea typeface="Quattrocento Sans"/>
              <a:cs typeface="Quattrocento Sans"/>
              <a:sym typeface="Quattrocento Sans"/>
            </a:endParaRPr>
          </a:p>
          <a:p>
            <a:pPr indent="0" lvl="0" marL="0" rtl="0" algn="l">
              <a:lnSpc>
                <a:spcPct val="115000"/>
              </a:lnSpc>
              <a:spcBef>
                <a:spcPts val="0"/>
              </a:spcBef>
              <a:spcAft>
                <a:spcPts val="0"/>
              </a:spcAft>
              <a:buSzPts val="1100"/>
              <a:buNone/>
            </a:pPr>
            <a:r>
              <a:rPr lang="es" sz="900">
                <a:solidFill>
                  <a:schemeClr val="dk1"/>
                </a:solidFill>
                <a:latin typeface="Quattrocento Sans"/>
                <a:ea typeface="Quattrocento Sans"/>
                <a:cs typeface="Quattrocento Sans"/>
                <a:sym typeface="Quattrocento Sans"/>
              </a:rPr>
              <a:t>-  Local value orientation</a:t>
            </a:r>
            <a:br>
              <a:rPr lang="es" sz="900">
                <a:solidFill>
                  <a:schemeClr val="dk1"/>
                </a:solidFill>
                <a:latin typeface="Quattrocento Sans"/>
                <a:ea typeface="Quattrocento Sans"/>
                <a:cs typeface="Quattrocento Sans"/>
                <a:sym typeface="Quattrocento Sans"/>
              </a:rPr>
            </a:br>
            <a:r>
              <a:rPr lang="es" sz="900">
                <a:solidFill>
                  <a:schemeClr val="dk1"/>
                </a:solidFill>
                <a:latin typeface="Quattrocento Sans"/>
                <a:ea typeface="Quattrocento Sans"/>
                <a:cs typeface="Quattrocento Sans"/>
                <a:sym typeface="Quattrocento Sans"/>
              </a:rPr>
              <a:t>-  Youth seeking flavour diversity and authenticity</a:t>
            </a:r>
            <a:br>
              <a:rPr lang="es" sz="900">
                <a:solidFill>
                  <a:schemeClr val="dk1"/>
                </a:solidFill>
                <a:latin typeface="Quattrocento Sans"/>
                <a:ea typeface="Quattrocento Sans"/>
                <a:cs typeface="Quattrocento Sans"/>
                <a:sym typeface="Quattrocento Sans"/>
              </a:rPr>
            </a:br>
            <a:r>
              <a:rPr lang="es" sz="900">
                <a:solidFill>
                  <a:schemeClr val="dk1"/>
                </a:solidFill>
                <a:latin typeface="Quattrocento Sans"/>
                <a:ea typeface="Quattrocento Sans"/>
                <a:cs typeface="Quattrocento Sans"/>
                <a:sym typeface="Quattrocento Sans"/>
              </a:rPr>
              <a:t>-  Strong national pride favors local brands</a:t>
            </a:r>
            <a:endParaRPr sz="900">
              <a:solidFill>
                <a:schemeClr val="dk1"/>
              </a:solidFill>
              <a:latin typeface="Quattrocento Sans"/>
              <a:ea typeface="Quattrocento Sans"/>
              <a:cs typeface="Quattrocento Sans"/>
              <a:sym typeface="Quattrocento Sans"/>
            </a:endParaRPr>
          </a:p>
        </p:txBody>
      </p:sp>
      <p:sp>
        <p:nvSpPr>
          <p:cNvPr id="307" name="Google Shape;307;p39"/>
          <p:cNvSpPr txBox="1"/>
          <p:nvPr/>
        </p:nvSpPr>
        <p:spPr>
          <a:xfrm>
            <a:off x="9352675" y="2294750"/>
            <a:ext cx="6395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https://edition.cnn.com/2024/02/26/business/china-luckin-coffee-surpasses-starbucks-sales-intl-hnk/index.html</a:t>
            </a:r>
            <a:endParaRPr/>
          </a:p>
        </p:txBody>
      </p:sp>
      <p:sp>
        <p:nvSpPr>
          <p:cNvPr id="308" name="Google Shape;308;p39"/>
          <p:cNvSpPr txBox="1"/>
          <p:nvPr/>
        </p:nvSpPr>
        <p:spPr>
          <a:xfrm>
            <a:off x="9352675" y="3236550"/>
            <a:ext cx="844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https://www.campaignasia.com/article/marks-spencers-ill-omened-ending-in-china-began-a-decade-ago/443827</a:t>
            </a:r>
            <a:endParaRPr/>
          </a:p>
        </p:txBody>
      </p:sp>
      <p:sp>
        <p:nvSpPr>
          <p:cNvPr id="309" name="Google Shape;309;p39"/>
          <p:cNvSpPr txBox="1"/>
          <p:nvPr/>
        </p:nvSpPr>
        <p:spPr>
          <a:xfrm>
            <a:off x="9352675" y="1555100"/>
            <a:ext cx="820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https://www.digitalcrew.com.au/blogs-and-insights/successful-international-brands-often-fail-china/</a:t>
            </a:r>
            <a:endParaRPr/>
          </a:p>
        </p:txBody>
      </p:sp>
      <p:sp>
        <p:nvSpPr>
          <p:cNvPr id="310" name="Google Shape;310;p39"/>
          <p:cNvSpPr/>
          <p:nvPr/>
        </p:nvSpPr>
        <p:spPr>
          <a:xfrm>
            <a:off x="3745400" y="1380475"/>
            <a:ext cx="2347200" cy="698100"/>
          </a:xfrm>
          <a:prstGeom prst="rect">
            <a:avLst/>
          </a:prstGeom>
          <a:solidFill>
            <a:srgbClr val="FFBFBF">
              <a:alpha val="47060"/>
            </a:srgbClr>
          </a:solid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Font typeface="Arial"/>
              <a:buNone/>
            </a:pPr>
            <a:r>
              <a:rPr b="1" lang="es" sz="900">
                <a:solidFill>
                  <a:schemeClr val="dk1"/>
                </a:solidFill>
                <a:latin typeface="Quattrocento Sans"/>
                <a:ea typeface="Quattrocento Sans"/>
                <a:cs typeface="Quattrocento Sans"/>
                <a:sym typeface="Quattrocento Sans"/>
              </a:rPr>
              <a:t>Relaxed Licensing for Small Breweries </a:t>
            </a:r>
            <a:r>
              <a:rPr lang="es" sz="900">
                <a:solidFill>
                  <a:schemeClr val="dk1"/>
                </a:solidFill>
                <a:latin typeface="Quattrocento Sans"/>
                <a:ea typeface="Quattrocento Sans"/>
                <a:cs typeface="Quattrocento Sans"/>
                <a:sym typeface="Quattrocento Sans"/>
              </a:rPr>
              <a:t>Downgraded licensing requirements for small breweries from  "production license" to "food production license"</a:t>
            </a:r>
            <a:endParaRPr sz="900"/>
          </a:p>
        </p:txBody>
      </p:sp>
      <p:sp>
        <p:nvSpPr>
          <p:cNvPr id="311" name="Google Shape;311;p39"/>
          <p:cNvSpPr/>
          <p:nvPr/>
        </p:nvSpPr>
        <p:spPr>
          <a:xfrm>
            <a:off x="3745400" y="2142593"/>
            <a:ext cx="2347200" cy="698100"/>
          </a:xfrm>
          <a:prstGeom prst="rect">
            <a:avLst/>
          </a:prstGeom>
          <a:solidFill>
            <a:srgbClr val="FFBFBF">
              <a:alpha val="47060"/>
            </a:srgbClr>
          </a:solid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Font typeface="Arial"/>
              <a:buNone/>
            </a:pPr>
            <a:r>
              <a:rPr b="1" lang="es" sz="900">
                <a:solidFill>
                  <a:schemeClr val="dk1"/>
                </a:solidFill>
                <a:latin typeface="Quattrocento Sans"/>
                <a:ea typeface="Quattrocento Sans"/>
                <a:cs typeface="Quattrocento Sans"/>
                <a:sym typeface="Quattrocento Sans"/>
              </a:rPr>
              <a:t>Tax Incentives for Low-Alcohol Beverages </a:t>
            </a:r>
            <a:r>
              <a:rPr lang="es" sz="900">
                <a:solidFill>
                  <a:schemeClr val="dk1"/>
                </a:solidFill>
                <a:latin typeface="Quattrocento Sans"/>
                <a:ea typeface="Quattrocento Sans"/>
                <a:cs typeface="Quattrocento Sans"/>
                <a:sym typeface="Quattrocento Sans"/>
              </a:rPr>
              <a:t> Beer with ≤ 2.5% ABV enjoys a 50% reduced consumption tax (from the standard 250 RMB/ton to 125 RMB/ton).</a:t>
            </a:r>
            <a:endParaRPr sz="600"/>
          </a:p>
        </p:txBody>
      </p:sp>
      <p:sp>
        <p:nvSpPr>
          <p:cNvPr id="312" name="Google Shape;312;p39"/>
          <p:cNvSpPr/>
          <p:nvPr/>
        </p:nvSpPr>
        <p:spPr>
          <a:xfrm>
            <a:off x="3735550" y="2986962"/>
            <a:ext cx="2347200" cy="698100"/>
          </a:xfrm>
          <a:prstGeom prst="rect">
            <a:avLst/>
          </a:prstGeom>
          <a:solidFill>
            <a:srgbClr val="A30303">
              <a:alpha val="42410"/>
            </a:srgbClr>
          </a:solid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Font typeface="Arial"/>
              <a:buNone/>
            </a:pPr>
            <a:r>
              <a:rPr b="1" lang="es" sz="900">
                <a:solidFill>
                  <a:schemeClr val="dk1"/>
                </a:solidFill>
                <a:latin typeface="Quattrocento Sans"/>
                <a:ea typeface="Quattrocento Sans"/>
                <a:cs typeface="Quattrocento Sans"/>
                <a:sym typeface="Quattrocento Sans"/>
              </a:rPr>
              <a:t>Rising Middle-Class &amp; Premiumization </a:t>
            </a:r>
            <a:r>
              <a:rPr lang="es" sz="900">
                <a:solidFill>
                  <a:schemeClr val="dk1"/>
                </a:solidFill>
                <a:latin typeface="Quattrocento Sans"/>
                <a:ea typeface="Quattrocento Sans"/>
                <a:cs typeface="Quattrocento Sans"/>
                <a:sym typeface="Quattrocento Sans"/>
              </a:rPr>
              <a:t>China’s middle-class population is expected to reach 1.2 billion by 2030 (McKinsey), with premium beer sales growing at 8-10% annually (Euromonitor).</a:t>
            </a:r>
            <a:endParaRPr sz="600"/>
          </a:p>
        </p:txBody>
      </p:sp>
      <p:sp>
        <p:nvSpPr>
          <p:cNvPr id="313" name="Google Shape;313;p39"/>
          <p:cNvSpPr/>
          <p:nvPr/>
        </p:nvSpPr>
        <p:spPr>
          <a:xfrm>
            <a:off x="3735550" y="3790184"/>
            <a:ext cx="2347200" cy="698100"/>
          </a:xfrm>
          <a:prstGeom prst="rect">
            <a:avLst/>
          </a:prstGeom>
          <a:solidFill>
            <a:srgbClr val="A30303">
              <a:alpha val="42410"/>
            </a:srgbClr>
          </a:solid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Font typeface="Arial"/>
              <a:buNone/>
            </a:pPr>
            <a:r>
              <a:rPr b="1" lang="es" sz="900">
                <a:solidFill>
                  <a:schemeClr val="dk1"/>
                </a:solidFill>
                <a:latin typeface="Quattrocento Sans"/>
                <a:ea typeface="Quattrocento Sans"/>
                <a:cs typeface="Quattrocento Sans"/>
                <a:sym typeface="Quattrocento Sans"/>
              </a:rPr>
              <a:t>Gen Z  Driving Craft Beer Demand </a:t>
            </a:r>
            <a:endParaRPr b="1" sz="900">
              <a:solidFill>
                <a:schemeClr val="dk1"/>
              </a:solidFill>
              <a:latin typeface="Quattrocento Sans"/>
              <a:ea typeface="Quattrocento Sans"/>
              <a:cs typeface="Quattrocento Sans"/>
              <a:sym typeface="Quattrocento Sans"/>
            </a:endParaRPr>
          </a:p>
          <a:p>
            <a:pPr indent="0" lvl="0" marL="0" rtl="0" algn="l">
              <a:spcBef>
                <a:spcPts val="0"/>
              </a:spcBef>
              <a:spcAft>
                <a:spcPts val="0"/>
              </a:spcAft>
              <a:buClr>
                <a:schemeClr val="dk1"/>
              </a:buClr>
              <a:buFont typeface="Arial"/>
              <a:buNone/>
            </a:pPr>
            <a:r>
              <a:rPr lang="es" sz="900">
                <a:solidFill>
                  <a:schemeClr val="dk1"/>
                </a:solidFill>
                <a:latin typeface="Quattrocento Sans"/>
                <a:ea typeface="Quattrocento Sans"/>
                <a:cs typeface="Quattrocento Sans"/>
                <a:sym typeface="Quattrocento Sans"/>
              </a:rPr>
              <a:t>60% of Chinese consumers aged 18-35 are willing to pay more for craft beer (CBNData), and the craft beer market is expanding at over 15% CAGR (IWSR).</a:t>
            </a:r>
            <a:endParaRPr sz="600"/>
          </a:p>
        </p:txBody>
      </p:sp>
      <p:sp>
        <p:nvSpPr>
          <p:cNvPr id="314" name="Google Shape;314;p39"/>
          <p:cNvSpPr txBox="1"/>
          <p:nvPr/>
        </p:nvSpPr>
        <p:spPr>
          <a:xfrm>
            <a:off x="6575000" y="1276600"/>
            <a:ext cx="2477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s" sz="900">
                <a:solidFill>
                  <a:srgbClr val="404040"/>
                </a:solidFill>
                <a:latin typeface="Roboto"/>
                <a:ea typeface="Roboto"/>
                <a:cs typeface="Roboto"/>
                <a:sym typeface="Roboto"/>
              </a:rPr>
              <a:t>China's </a:t>
            </a:r>
            <a:r>
              <a:rPr b="1" i="1" lang="es" sz="900">
                <a:solidFill>
                  <a:srgbClr val="404040"/>
                </a:solidFill>
                <a:latin typeface="Roboto"/>
                <a:ea typeface="Roboto"/>
                <a:cs typeface="Roboto"/>
                <a:sym typeface="Roboto"/>
              </a:rPr>
              <a:t>premium craft beer market</a:t>
            </a:r>
            <a:r>
              <a:rPr i="1" lang="es" sz="900">
                <a:solidFill>
                  <a:srgbClr val="404040"/>
                </a:solidFill>
                <a:latin typeface="Roboto"/>
                <a:ea typeface="Roboto"/>
                <a:cs typeface="Roboto"/>
                <a:sym typeface="Roboto"/>
              </a:rPr>
              <a:t> is still relatively niche but growing rapidly</a:t>
            </a:r>
            <a:endParaRPr i="1" sz="1100"/>
          </a:p>
        </p:txBody>
      </p:sp>
      <p:sp>
        <p:nvSpPr>
          <p:cNvPr id="315" name="Google Shape;315;p39"/>
          <p:cNvSpPr txBox="1"/>
          <p:nvPr/>
        </p:nvSpPr>
        <p:spPr>
          <a:xfrm>
            <a:off x="7060099" y="1812325"/>
            <a:ext cx="1507500" cy="338700"/>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b="1" lang="es" sz="2200">
                <a:solidFill>
                  <a:srgbClr val="C00000"/>
                </a:solidFill>
                <a:latin typeface="Calibri"/>
                <a:ea typeface="Calibri"/>
                <a:cs typeface="Calibri"/>
                <a:sym typeface="Calibri"/>
              </a:rPr>
              <a:t>10-15M</a:t>
            </a:r>
            <a:endParaRPr sz="2200">
              <a:solidFill>
                <a:srgbClr val="C00000"/>
              </a:solidFill>
            </a:endParaRPr>
          </a:p>
        </p:txBody>
      </p:sp>
      <p:sp>
        <p:nvSpPr>
          <p:cNvPr id="316" name="Google Shape;316;p39"/>
          <p:cNvSpPr txBox="1"/>
          <p:nvPr/>
        </p:nvSpPr>
        <p:spPr>
          <a:xfrm>
            <a:off x="7008875" y="2071000"/>
            <a:ext cx="1605300" cy="346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sz="900">
                <a:solidFill>
                  <a:schemeClr val="dk1"/>
                </a:solidFill>
              </a:rPr>
              <a:t>Regular Customer Base for Craft Beer in China (2024)</a:t>
            </a:r>
            <a:endParaRPr sz="900">
              <a:solidFill>
                <a:schemeClr val="dk1"/>
              </a:solidFill>
              <a:latin typeface="Quattrocento Sans"/>
              <a:ea typeface="Quattrocento Sans"/>
              <a:cs typeface="Quattrocento Sans"/>
              <a:sym typeface="Quattrocento Sans"/>
            </a:endParaRPr>
          </a:p>
        </p:txBody>
      </p:sp>
      <p:sp>
        <p:nvSpPr>
          <p:cNvPr id="317" name="Google Shape;317;p39"/>
          <p:cNvSpPr txBox="1"/>
          <p:nvPr/>
        </p:nvSpPr>
        <p:spPr>
          <a:xfrm>
            <a:off x="7060099" y="2687226"/>
            <a:ext cx="1507500" cy="338700"/>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b="1" lang="es" sz="2200">
                <a:solidFill>
                  <a:srgbClr val="C00000"/>
                </a:solidFill>
                <a:latin typeface="Calibri"/>
                <a:ea typeface="Calibri"/>
                <a:cs typeface="Calibri"/>
                <a:sym typeface="Calibri"/>
              </a:rPr>
              <a:t>15%</a:t>
            </a:r>
            <a:endParaRPr sz="2200">
              <a:solidFill>
                <a:srgbClr val="C00000"/>
              </a:solidFill>
            </a:endParaRPr>
          </a:p>
        </p:txBody>
      </p:sp>
      <p:sp>
        <p:nvSpPr>
          <p:cNvPr id="318" name="Google Shape;318;p39"/>
          <p:cNvSpPr txBox="1"/>
          <p:nvPr/>
        </p:nvSpPr>
        <p:spPr>
          <a:xfrm>
            <a:off x="7008875" y="2945911"/>
            <a:ext cx="1605300" cy="346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sz="900">
                <a:solidFill>
                  <a:schemeClr val="dk1"/>
                </a:solidFill>
              </a:rPr>
              <a:t>CAGR </a:t>
            </a:r>
            <a:endParaRPr sz="900">
              <a:solidFill>
                <a:schemeClr val="dk1"/>
              </a:solidFill>
            </a:endParaRPr>
          </a:p>
          <a:p>
            <a:pPr indent="0" lvl="0" marL="0" marR="0" rtl="0" algn="ctr">
              <a:spcBef>
                <a:spcPts val="0"/>
              </a:spcBef>
              <a:spcAft>
                <a:spcPts val="0"/>
              </a:spcAft>
              <a:buNone/>
            </a:pPr>
            <a:r>
              <a:rPr lang="es" sz="900">
                <a:solidFill>
                  <a:schemeClr val="dk1"/>
                </a:solidFill>
              </a:rPr>
              <a:t>Growth Rate (2024)</a:t>
            </a:r>
            <a:endParaRPr sz="900">
              <a:solidFill>
                <a:schemeClr val="dk1"/>
              </a:solidFill>
              <a:latin typeface="Quattrocento Sans"/>
              <a:ea typeface="Quattrocento Sans"/>
              <a:cs typeface="Quattrocento Sans"/>
              <a:sym typeface="Quattrocento Sans"/>
            </a:endParaRPr>
          </a:p>
        </p:txBody>
      </p:sp>
      <p:sp>
        <p:nvSpPr>
          <p:cNvPr id="319" name="Google Shape;319;p39"/>
          <p:cNvSpPr txBox="1"/>
          <p:nvPr/>
        </p:nvSpPr>
        <p:spPr>
          <a:xfrm>
            <a:off x="7060099" y="3628427"/>
            <a:ext cx="1507500" cy="338700"/>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b="1" lang="es" sz="2200">
                <a:solidFill>
                  <a:srgbClr val="C00000"/>
                </a:solidFill>
                <a:latin typeface="Calibri"/>
                <a:ea typeface="Calibri"/>
                <a:cs typeface="Calibri"/>
                <a:sym typeface="Calibri"/>
              </a:rPr>
              <a:t>100M+</a:t>
            </a:r>
            <a:endParaRPr sz="2200">
              <a:solidFill>
                <a:srgbClr val="C00000"/>
              </a:solidFill>
            </a:endParaRPr>
          </a:p>
        </p:txBody>
      </p:sp>
      <p:sp>
        <p:nvSpPr>
          <p:cNvPr id="320" name="Google Shape;320;p39"/>
          <p:cNvSpPr txBox="1"/>
          <p:nvPr/>
        </p:nvSpPr>
        <p:spPr>
          <a:xfrm>
            <a:off x="7008875" y="3887123"/>
            <a:ext cx="1605300" cy="346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sz="900">
                <a:solidFill>
                  <a:schemeClr val="dk1"/>
                </a:solidFill>
              </a:rPr>
              <a:t>Total Addressable High Income Market in China </a:t>
            </a:r>
            <a:endParaRPr sz="90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pic>
        <p:nvPicPr>
          <p:cNvPr id="326" name="Google Shape;326;p40"/>
          <p:cNvPicPr preferRelativeResize="0"/>
          <p:nvPr/>
        </p:nvPicPr>
        <p:blipFill rotWithShape="1">
          <a:blip r:embed="rId3">
            <a:alphaModFix/>
          </a:blip>
          <a:srcRect b="7453" l="0" r="0" t="7462"/>
          <a:stretch/>
        </p:blipFill>
        <p:spPr>
          <a:xfrm>
            <a:off x="0" y="-42475"/>
            <a:ext cx="9144003" cy="5178000"/>
          </a:xfrm>
          <a:prstGeom prst="rect">
            <a:avLst/>
          </a:prstGeom>
          <a:noFill/>
          <a:ln>
            <a:noFill/>
          </a:ln>
        </p:spPr>
      </p:pic>
      <p:sp>
        <p:nvSpPr>
          <p:cNvPr id="327" name="Google Shape;327;p40"/>
          <p:cNvSpPr/>
          <p:nvPr/>
        </p:nvSpPr>
        <p:spPr>
          <a:xfrm>
            <a:off x="-149675" y="-541575"/>
            <a:ext cx="9460800" cy="5753100"/>
          </a:xfrm>
          <a:prstGeom prst="rect">
            <a:avLst/>
          </a:prstGeom>
          <a:solidFill>
            <a:schemeClr val="dk1">
              <a:alpha val="62750"/>
            </a:scheme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800"/>
              <a:buFont typeface="Arial"/>
              <a:buNone/>
            </a:pPr>
            <a:r>
              <a:t/>
            </a:r>
            <a:endParaRPr b="0" i="0" sz="800" u="none" cap="none" strike="noStrike">
              <a:solidFill>
                <a:srgbClr val="FFFFFF"/>
              </a:solidFill>
              <a:latin typeface="Calibri"/>
              <a:ea typeface="Calibri"/>
              <a:cs typeface="Calibri"/>
              <a:sym typeface="Calibri"/>
            </a:endParaRPr>
          </a:p>
        </p:txBody>
      </p:sp>
      <p:sp>
        <p:nvSpPr>
          <p:cNvPr id="328" name="Google Shape;328;p40"/>
          <p:cNvSpPr/>
          <p:nvPr/>
        </p:nvSpPr>
        <p:spPr>
          <a:xfrm>
            <a:off x="676850" y="1803568"/>
            <a:ext cx="37800" cy="1485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29" name="Google Shape;329;p40"/>
          <p:cNvSpPr txBox="1"/>
          <p:nvPr/>
        </p:nvSpPr>
        <p:spPr>
          <a:xfrm>
            <a:off x="812420" y="1605170"/>
            <a:ext cx="8234700" cy="1221300"/>
          </a:xfrm>
          <a:prstGeom prst="rect">
            <a:avLst/>
          </a:prstGeom>
          <a:noFill/>
          <a:ln>
            <a:noFill/>
          </a:ln>
        </p:spPr>
        <p:txBody>
          <a:bodyPr anchorCtr="0" anchor="b" bIns="34275" lIns="68575" spcFirstLastPara="1" rIns="68575" wrap="square" tIns="34275">
            <a:normAutofit/>
          </a:bodyPr>
          <a:lstStyle/>
          <a:p>
            <a:pPr indent="0" lvl="0" marL="0" marR="0" rtl="0" algn="l">
              <a:lnSpc>
                <a:spcPct val="120000"/>
              </a:lnSpc>
              <a:spcBef>
                <a:spcPts val="0"/>
              </a:spcBef>
              <a:spcAft>
                <a:spcPts val="0"/>
              </a:spcAft>
              <a:buClr>
                <a:schemeClr val="lt1"/>
              </a:buClr>
              <a:buSzPts val="3000"/>
              <a:buFont typeface="Quattrocento Sans"/>
              <a:buNone/>
            </a:pPr>
            <a:r>
              <a:rPr b="1" lang="es" sz="4000">
                <a:solidFill>
                  <a:schemeClr val="lt1"/>
                </a:solidFill>
                <a:latin typeface="Quattrocento Sans"/>
                <a:ea typeface="Quattrocento Sans"/>
                <a:cs typeface="Quattrocento Sans"/>
                <a:sym typeface="Quattrocento Sans"/>
              </a:rPr>
              <a:t>Recommendations</a:t>
            </a:r>
            <a:r>
              <a:rPr b="1" lang="es" sz="4000">
                <a:solidFill>
                  <a:schemeClr val="lt1"/>
                </a:solidFill>
                <a:latin typeface="Quattrocento Sans"/>
                <a:ea typeface="Quattrocento Sans"/>
                <a:cs typeface="Quattrocento Sans"/>
                <a:sym typeface="Quattrocento Sans"/>
              </a:rPr>
              <a:t> </a:t>
            </a:r>
            <a:endParaRPr sz="2100"/>
          </a:p>
        </p:txBody>
      </p:sp>
      <p:sp>
        <p:nvSpPr>
          <p:cNvPr id="330" name="Google Shape;330;p40"/>
          <p:cNvSpPr txBox="1"/>
          <p:nvPr>
            <p:ph idx="4294967295" type="sldNum"/>
          </p:nvPr>
        </p:nvSpPr>
        <p:spPr>
          <a:xfrm>
            <a:off x="6822737" y="4905545"/>
            <a:ext cx="2057400" cy="121200"/>
          </a:xfrm>
          <a:prstGeom prst="rect">
            <a:avLst/>
          </a:prstGeom>
          <a:noFill/>
          <a:ln>
            <a:noFill/>
          </a:ln>
        </p:spPr>
        <p:txBody>
          <a:bodyPr anchorCtr="0" anchor="ctr" bIns="34275" lIns="68575" spcFirstLastPara="1" rIns="68575" wrap="square" tIns="34275">
            <a:normAutofit fontScale="40000" lnSpcReduction="20000"/>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1"/>
          <p:cNvSpPr txBox="1"/>
          <p:nvPr/>
        </p:nvSpPr>
        <p:spPr>
          <a:xfrm>
            <a:off x="198853" y="102394"/>
            <a:ext cx="14808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Alternative Analysis </a:t>
            </a:r>
            <a:endParaRPr sz="1100"/>
          </a:p>
        </p:txBody>
      </p:sp>
      <p:sp>
        <p:nvSpPr>
          <p:cNvPr id="336" name="Google Shape;336;p41"/>
          <p:cNvSpPr txBox="1"/>
          <p:nvPr>
            <p:ph idx="4294967295" type="title"/>
          </p:nvPr>
        </p:nvSpPr>
        <p:spPr>
          <a:xfrm>
            <a:off x="198853" y="345522"/>
            <a:ext cx="78867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Play"/>
              <a:buNone/>
            </a:pPr>
            <a:r>
              <a:rPr lang="es" sz="1800"/>
              <a:t>Our alternatives for expansion are… </a:t>
            </a:r>
            <a:endParaRPr/>
          </a:p>
        </p:txBody>
      </p:sp>
      <p:sp>
        <p:nvSpPr>
          <p:cNvPr id="337" name="Google Shape;337;p41"/>
          <p:cNvSpPr/>
          <p:nvPr/>
        </p:nvSpPr>
        <p:spPr>
          <a:xfrm>
            <a:off x="234625" y="1161500"/>
            <a:ext cx="2688600" cy="32823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38" name="Google Shape;338;p41"/>
          <p:cNvSpPr txBox="1"/>
          <p:nvPr/>
        </p:nvSpPr>
        <p:spPr>
          <a:xfrm>
            <a:off x="430050" y="1388500"/>
            <a:ext cx="2200800" cy="3693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1200">
                <a:solidFill>
                  <a:schemeClr val="dk1"/>
                </a:solidFill>
                <a:latin typeface="Quattrocento Sans"/>
                <a:ea typeface="Quattrocento Sans"/>
                <a:cs typeface="Quattrocento Sans"/>
                <a:sym typeface="Quattrocento Sans"/>
              </a:rPr>
              <a:t>Launch forbidden city exclusively in China</a:t>
            </a:r>
            <a:endParaRPr sz="1100">
              <a:solidFill>
                <a:schemeClr val="dk1"/>
              </a:solidFill>
              <a:latin typeface="Quattrocento Sans"/>
              <a:ea typeface="Quattrocento Sans"/>
              <a:cs typeface="Quattrocento Sans"/>
              <a:sym typeface="Quattrocento Sans"/>
            </a:endParaRPr>
          </a:p>
        </p:txBody>
      </p:sp>
      <p:sp>
        <p:nvSpPr>
          <p:cNvPr id="339" name="Google Shape;339;p41"/>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340" name="Google Shape;340;p41"/>
          <p:cNvSpPr/>
          <p:nvPr/>
        </p:nvSpPr>
        <p:spPr>
          <a:xfrm>
            <a:off x="3227700" y="1161488"/>
            <a:ext cx="2688600" cy="32823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41" name="Google Shape;341;p41"/>
          <p:cNvSpPr txBox="1"/>
          <p:nvPr/>
        </p:nvSpPr>
        <p:spPr>
          <a:xfrm>
            <a:off x="3794401" y="1388500"/>
            <a:ext cx="1555200" cy="3693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1200">
                <a:solidFill>
                  <a:schemeClr val="dk1"/>
                </a:solidFill>
                <a:latin typeface="Quattrocento Sans"/>
                <a:ea typeface="Quattrocento Sans"/>
                <a:cs typeface="Quattrocento Sans"/>
                <a:sym typeface="Quattrocento Sans"/>
              </a:rPr>
              <a:t>Expand Wild Dog across Asia</a:t>
            </a:r>
            <a:endParaRPr sz="1100">
              <a:solidFill>
                <a:schemeClr val="dk1"/>
              </a:solidFill>
              <a:latin typeface="Quattrocento Sans"/>
              <a:ea typeface="Quattrocento Sans"/>
              <a:cs typeface="Quattrocento Sans"/>
              <a:sym typeface="Quattrocento Sans"/>
            </a:endParaRPr>
          </a:p>
        </p:txBody>
      </p:sp>
      <p:sp>
        <p:nvSpPr>
          <p:cNvPr id="342" name="Google Shape;342;p41"/>
          <p:cNvSpPr/>
          <p:nvPr/>
        </p:nvSpPr>
        <p:spPr>
          <a:xfrm>
            <a:off x="6220775" y="1161500"/>
            <a:ext cx="2688600" cy="32823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43" name="Google Shape;343;p41"/>
          <p:cNvSpPr txBox="1"/>
          <p:nvPr/>
        </p:nvSpPr>
        <p:spPr>
          <a:xfrm>
            <a:off x="6787476" y="1480738"/>
            <a:ext cx="1555200" cy="1848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1200">
                <a:solidFill>
                  <a:schemeClr val="dk1"/>
                </a:solidFill>
                <a:latin typeface="Quattrocento Sans"/>
                <a:ea typeface="Quattrocento Sans"/>
                <a:cs typeface="Quattrocento Sans"/>
                <a:sym typeface="Quattrocento Sans"/>
              </a:rPr>
              <a:t>Dual strategy</a:t>
            </a:r>
            <a:endParaRPr sz="1100">
              <a:solidFill>
                <a:schemeClr val="dk1"/>
              </a:solidFill>
              <a:latin typeface="Quattrocento Sans"/>
              <a:ea typeface="Quattrocento Sans"/>
              <a:cs typeface="Quattrocento Sans"/>
              <a:sym typeface="Quattrocento Sans"/>
            </a:endParaRPr>
          </a:p>
        </p:txBody>
      </p:sp>
      <p:sp>
        <p:nvSpPr>
          <p:cNvPr id="344" name="Google Shape;344;p41"/>
          <p:cNvSpPr txBox="1"/>
          <p:nvPr/>
        </p:nvSpPr>
        <p:spPr>
          <a:xfrm>
            <a:off x="198850" y="1909000"/>
            <a:ext cx="2627700" cy="2586000"/>
          </a:xfrm>
          <a:prstGeom prst="rect">
            <a:avLst/>
          </a:prstGeom>
          <a:noFill/>
          <a:ln>
            <a:noFill/>
          </a:ln>
        </p:spPr>
        <p:txBody>
          <a:bodyPr anchorCtr="0" anchor="ctr" bIns="0" lIns="0" spcFirstLastPara="1" rIns="0" wrap="square" tIns="0">
            <a:spAutoFit/>
          </a:bodyPr>
          <a:lstStyle/>
          <a:p>
            <a:pPr indent="-304800" lvl="0" marL="457200" rtl="0" algn="l">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Focuses on a craft beer brand focusing on national identity.</a:t>
            </a:r>
            <a:endParaRPr sz="1200">
              <a:solidFill>
                <a:schemeClr val="dk1"/>
              </a:solidFill>
              <a:latin typeface="Quattrocento Sans"/>
              <a:ea typeface="Quattrocento Sans"/>
              <a:cs typeface="Quattrocento Sans"/>
              <a:sym typeface="Quattrocento Sans"/>
            </a:endParaRPr>
          </a:p>
          <a:p>
            <a:pPr indent="0" lvl="0" marL="0" rtl="0" algn="l">
              <a:spcBef>
                <a:spcPts val="0"/>
              </a:spcBef>
              <a:spcAft>
                <a:spcPts val="0"/>
              </a:spcAft>
              <a:buNone/>
            </a:pPr>
            <a:r>
              <a:t/>
            </a:r>
            <a:endParaRPr sz="1200">
              <a:solidFill>
                <a:schemeClr val="dk1"/>
              </a:solidFill>
              <a:latin typeface="Quattrocento Sans"/>
              <a:ea typeface="Quattrocento Sans"/>
              <a:cs typeface="Quattrocento Sans"/>
              <a:sym typeface="Quattrocento Sans"/>
            </a:endParaRPr>
          </a:p>
          <a:p>
            <a:pPr indent="-304800" lvl="0" marL="457200" rtl="0" algn="l">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Targets Chinese consumers who appreciate locally inspired products.</a:t>
            </a:r>
            <a:endParaRPr sz="1200">
              <a:solidFill>
                <a:schemeClr val="dk1"/>
              </a:solidFill>
              <a:latin typeface="Quattrocento Sans"/>
              <a:ea typeface="Quattrocento Sans"/>
              <a:cs typeface="Quattrocento Sans"/>
              <a:sym typeface="Quattrocento Sans"/>
            </a:endParaRPr>
          </a:p>
          <a:p>
            <a:pPr indent="0" lvl="0" marL="0" rtl="0" algn="l">
              <a:spcBef>
                <a:spcPts val="0"/>
              </a:spcBef>
              <a:spcAft>
                <a:spcPts val="0"/>
              </a:spcAft>
              <a:buNone/>
            </a:pPr>
            <a:r>
              <a:t/>
            </a:r>
            <a:endParaRPr sz="1200">
              <a:solidFill>
                <a:schemeClr val="dk1"/>
              </a:solidFill>
              <a:latin typeface="Quattrocento Sans"/>
              <a:ea typeface="Quattrocento Sans"/>
              <a:cs typeface="Quattrocento Sans"/>
              <a:sym typeface="Quattrocento Sans"/>
            </a:endParaRPr>
          </a:p>
          <a:p>
            <a:pPr indent="-304800" lvl="0" marL="457200" rtl="0" algn="l">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Emphasizes national pride, authenticity, and the rising interest in local craft brews.</a:t>
            </a:r>
            <a:endParaRPr sz="1200">
              <a:solidFill>
                <a:schemeClr val="dk1"/>
              </a:solidFill>
              <a:latin typeface="Quattrocento Sans"/>
              <a:ea typeface="Quattrocento Sans"/>
              <a:cs typeface="Quattrocento Sans"/>
              <a:sym typeface="Quattrocento Sans"/>
            </a:endParaRPr>
          </a:p>
          <a:p>
            <a:pPr indent="0" lvl="0" marL="457200" rtl="0" algn="l">
              <a:spcBef>
                <a:spcPts val="0"/>
              </a:spcBef>
              <a:spcAft>
                <a:spcPts val="0"/>
              </a:spcAft>
              <a:buNone/>
            </a:pPr>
            <a:r>
              <a:t/>
            </a:r>
            <a:endParaRPr sz="1200">
              <a:solidFill>
                <a:schemeClr val="dk1"/>
              </a:solidFill>
              <a:latin typeface="Quattrocento Sans"/>
              <a:ea typeface="Quattrocento Sans"/>
              <a:cs typeface="Quattrocento Sans"/>
              <a:sym typeface="Quattrocento Sans"/>
            </a:endParaRPr>
          </a:p>
          <a:p>
            <a:pPr indent="-304800" lvl="0" marL="457200" rtl="0" algn="l">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However,  limits international expansion.</a:t>
            </a:r>
            <a:endParaRPr sz="1200">
              <a:solidFill>
                <a:schemeClr val="dk1"/>
              </a:solidFill>
              <a:latin typeface="Quattrocento Sans"/>
              <a:ea typeface="Quattrocento Sans"/>
              <a:cs typeface="Quattrocento Sans"/>
              <a:sym typeface="Quattrocento Sans"/>
            </a:endParaRPr>
          </a:p>
          <a:p>
            <a:pPr indent="0" lvl="0" marL="0" marR="0" rtl="0" algn="l">
              <a:spcBef>
                <a:spcPts val="0"/>
              </a:spcBef>
              <a:spcAft>
                <a:spcPts val="0"/>
              </a:spcAft>
              <a:buNone/>
            </a:pPr>
            <a:r>
              <a:t/>
            </a:r>
            <a:endParaRPr sz="1200">
              <a:solidFill>
                <a:schemeClr val="dk1"/>
              </a:solidFill>
              <a:latin typeface="Quattrocento Sans"/>
              <a:ea typeface="Quattrocento Sans"/>
              <a:cs typeface="Quattrocento Sans"/>
              <a:sym typeface="Quattrocento Sans"/>
            </a:endParaRPr>
          </a:p>
        </p:txBody>
      </p:sp>
      <p:sp>
        <p:nvSpPr>
          <p:cNvPr id="345" name="Google Shape;345;p41"/>
          <p:cNvSpPr txBox="1"/>
          <p:nvPr/>
        </p:nvSpPr>
        <p:spPr>
          <a:xfrm>
            <a:off x="3258150" y="1879100"/>
            <a:ext cx="2500500" cy="2031900"/>
          </a:xfrm>
          <a:prstGeom prst="rect">
            <a:avLst/>
          </a:prstGeom>
          <a:noFill/>
          <a:ln>
            <a:noFill/>
          </a:ln>
        </p:spPr>
        <p:txBody>
          <a:bodyPr anchorCtr="0" anchor="ctr" bIns="0" lIns="0" spcFirstLastPara="1" rIns="0" wrap="square" tIns="0">
            <a:spAutoFit/>
          </a:bodyPr>
          <a:lstStyle/>
          <a:p>
            <a:pPr indent="-304800" lvl="0" marL="457200" rtl="0" algn="l">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Consists on </a:t>
            </a:r>
            <a:r>
              <a:rPr lang="es" sz="1200">
                <a:solidFill>
                  <a:schemeClr val="dk1"/>
                </a:solidFill>
                <a:latin typeface="Quattrocento Sans"/>
                <a:ea typeface="Quattrocento Sans"/>
                <a:cs typeface="Quattrocento Sans"/>
                <a:sym typeface="Quattrocento Sans"/>
              </a:rPr>
              <a:t>establishing</a:t>
            </a:r>
            <a:r>
              <a:rPr lang="es" sz="1200">
                <a:solidFill>
                  <a:schemeClr val="dk1"/>
                </a:solidFill>
                <a:latin typeface="Quattrocento Sans"/>
                <a:ea typeface="Quattrocento Sans"/>
                <a:cs typeface="Quattrocento Sans"/>
                <a:sym typeface="Quattrocento Sans"/>
              </a:rPr>
              <a:t> a unified brand presence across Asia or even worldwide.</a:t>
            </a:r>
            <a:endParaRPr sz="1200">
              <a:solidFill>
                <a:schemeClr val="dk1"/>
              </a:solidFill>
              <a:latin typeface="Quattrocento Sans"/>
              <a:ea typeface="Quattrocento Sans"/>
              <a:cs typeface="Quattrocento Sans"/>
              <a:sym typeface="Quattrocento Sans"/>
            </a:endParaRPr>
          </a:p>
          <a:p>
            <a:pPr indent="0" lvl="0" marL="0" rtl="0" algn="l">
              <a:spcBef>
                <a:spcPts val="0"/>
              </a:spcBef>
              <a:spcAft>
                <a:spcPts val="0"/>
              </a:spcAft>
              <a:buNone/>
            </a:pPr>
            <a:r>
              <a:t/>
            </a:r>
            <a:endParaRPr sz="1200">
              <a:solidFill>
                <a:schemeClr val="dk1"/>
              </a:solidFill>
              <a:latin typeface="Quattrocento Sans"/>
              <a:ea typeface="Quattrocento Sans"/>
              <a:cs typeface="Quattrocento Sans"/>
              <a:sym typeface="Quattrocento Sans"/>
            </a:endParaRPr>
          </a:p>
          <a:p>
            <a:pPr indent="-304800" lvl="0" marL="457200" rtl="0" algn="l">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Emphasizes scalability, cost efficiency, and consistent branding.</a:t>
            </a:r>
            <a:endParaRPr sz="1200">
              <a:solidFill>
                <a:schemeClr val="dk1"/>
              </a:solidFill>
              <a:latin typeface="Quattrocento Sans"/>
              <a:ea typeface="Quattrocento Sans"/>
              <a:cs typeface="Quattrocento Sans"/>
              <a:sym typeface="Quattrocento Sans"/>
            </a:endParaRPr>
          </a:p>
          <a:p>
            <a:pPr indent="0" lvl="0" marL="0" rtl="0" algn="l">
              <a:spcBef>
                <a:spcPts val="0"/>
              </a:spcBef>
              <a:spcAft>
                <a:spcPts val="0"/>
              </a:spcAft>
              <a:buNone/>
            </a:pPr>
            <a:r>
              <a:t/>
            </a:r>
            <a:endParaRPr sz="1200">
              <a:solidFill>
                <a:schemeClr val="dk1"/>
              </a:solidFill>
              <a:latin typeface="Quattrocento Sans"/>
              <a:ea typeface="Quattrocento Sans"/>
              <a:cs typeface="Quattrocento Sans"/>
              <a:sym typeface="Quattrocento Sans"/>
            </a:endParaRPr>
          </a:p>
          <a:p>
            <a:pPr indent="-304800" lvl="0" marL="457200" rtl="0" algn="l">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It is cost-effective and easier to manage globally but Lacks local authenticity.</a:t>
            </a:r>
            <a:endParaRPr sz="1200">
              <a:solidFill>
                <a:schemeClr val="dk1"/>
              </a:solidFill>
              <a:latin typeface="Quattrocento Sans"/>
              <a:ea typeface="Quattrocento Sans"/>
              <a:cs typeface="Quattrocento Sans"/>
              <a:sym typeface="Quattrocento Sans"/>
            </a:endParaRPr>
          </a:p>
        </p:txBody>
      </p:sp>
      <p:sp>
        <p:nvSpPr>
          <p:cNvPr id="346" name="Google Shape;346;p41"/>
          <p:cNvSpPr txBox="1"/>
          <p:nvPr/>
        </p:nvSpPr>
        <p:spPr>
          <a:xfrm>
            <a:off x="6317450" y="1857700"/>
            <a:ext cx="2500500" cy="2586000"/>
          </a:xfrm>
          <a:prstGeom prst="rect">
            <a:avLst/>
          </a:prstGeom>
          <a:noFill/>
          <a:ln>
            <a:noFill/>
          </a:ln>
        </p:spPr>
        <p:txBody>
          <a:bodyPr anchorCtr="0" anchor="ctr" bIns="0" lIns="0" spcFirstLastPara="1" rIns="0" wrap="square" tIns="0">
            <a:spAutoFit/>
          </a:bodyPr>
          <a:lstStyle/>
          <a:p>
            <a:pPr indent="-304800" lvl="0" marL="457200" rtl="0" algn="l">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Consists of balancing regional and global strategies:</a:t>
            </a:r>
            <a:endParaRPr sz="1200">
              <a:solidFill>
                <a:schemeClr val="dk1"/>
              </a:solidFill>
              <a:latin typeface="Quattrocento Sans"/>
              <a:ea typeface="Quattrocento Sans"/>
              <a:cs typeface="Quattrocento Sans"/>
              <a:sym typeface="Quattrocento Sans"/>
            </a:endParaRPr>
          </a:p>
          <a:p>
            <a:pPr indent="0" lvl="0" marL="457200" rtl="0" algn="l">
              <a:spcBef>
                <a:spcPts val="0"/>
              </a:spcBef>
              <a:spcAft>
                <a:spcPts val="0"/>
              </a:spcAft>
              <a:buNone/>
            </a:pPr>
            <a:r>
              <a:t/>
            </a:r>
            <a:endParaRPr sz="1200">
              <a:solidFill>
                <a:schemeClr val="dk1"/>
              </a:solidFill>
              <a:latin typeface="Quattrocento Sans"/>
              <a:ea typeface="Quattrocento Sans"/>
              <a:cs typeface="Quattrocento Sans"/>
              <a:sym typeface="Quattrocento Sans"/>
            </a:endParaRPr>
          </a:p>
          <a:p>
            <a:pPr indent="0" lvl="0" marL="457200" rtl="0" algn="l">
              <a:spcBef>
                <a:spcPts val="0"/>
              </a:spcBef>
              <a:spcAft>
                <a:spcPts val="0"/>
              </a:spcAft>
              <a:buNone/>
            </a:pPr>
            <a:r>
              <a:rPr lang="es" sz="1200">
                <a:solidFill>
                  <a:schemeClr val="dk1"/>
                </a:solidFill>
                <a:latin typeface="Quattrocento Sans"/>
                <a:ea typeface="Quattrocento Sans"/>
                <a:cs typeface="Quattrocento Sans"/>
                <a:sym typeface="Quattrocento Sans"/>
              </a:rPr>
              <a:t>-Forbidden City in China and Wild Dog Asia and/or internationally.</a:t>
            </a:r>
            <a:endParaRPr sz="1200">
              <a:solidFill>
                <a:schemeClr val="dk1"/>
              </a:solidFill>
              <a:latin typeface="Quattrocento Sans"/>
              <a:ea typeface="Quattrocento Sans"/>
              <a:cs typeface="Quattrocento Sans"/>
              <a:sym typeface="Quattrocento Sans"/>
            </a:endParaRPr>
          </a:p>
          <a:p>
            <a:pPr indent="0" lvl="0" marL="457200" rtl="0" algn="l">
              <a:spcBef>
                <a:spcPts val="0"/>
              </a:spcBef>
              <a:spcAft>
                <a:spcPts val="0"/>
              </a:spcAft>
              <a:buNone/>
            </a:pPr>
            <a:r>
              <a:t/>
            </a:r>
            <a:endParaRPr sz="1200">
              <a:solidFill>
                <a:schemeClr val="dk1"/>
              </a:solidFill>
              <a:latin typeface="Quattrocento Sans"/>
              <a:ea typeface="Quattrocento Sans"/>
              <a:cs typeface="Quattrocento Sans"/>
              <a:sym typeface="Quattrocento Sans"/>
            </a:endParaRPr>
          </a:p>
          <a:p>
            <a:pPr indent="-304800" lvl="0" marL="457200" rtl="0" algn="l">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This will target a broader consumer segment. </a:t>
            </a:r>
            <a:endParaRPr sz="1200">
              <a:solidFill>
                <a:schemeClr val="dk1"/>
              </a:solidFill>
              <a:latin typeface="Quattrocento Sans"/>
              <a:ea typeface="Quattrocento Sans"/>
              <a:cs typeface="Quattrocento Sans"/>
              <a:sym typeface="Quattrocento Sans"/>
            </a:endParaRPr>
          </a:p>
          <a:p>
            <a:pPr indent="0" lvl="0" marL="0" rtl="0" algn="l">
              <a:spcBef>
                <a:spcPts val="0"/>
              </a:spcBef>
              <a:spcAft>
                <a:spcPts val="0"/>
              </a:spcAft>
              <a:buNone/>
            </a:pPr>
            <a:r>
              <a:t/>
            </a:r>
            <a:endParaRPr sz="1200">
              <a:solidFill>
                <a:schemeClr val="dk1"/>
              </a:solidFill>
              <a:latin typeface="Quattrocento Sans"/>
              <a:ea typeface="Quattrocento Sans"/>
              <a:cs typeface="Quattrocento Sans"/>
              <a:sym typeface="Quattrocento Sans"/>
            </a:endParaRPr>
          </a:p>
          <a:p>
            <a:pPr indent="-304800" lvl="0" marL="457200" rtl="0" algn="l">
              <a:spcBef>
                <a:spcPts val="0"/>
              </a:spcBef>
              <a:spcAft>
                <a:spcPts val="0"/>
              </a:spcAft>
              <a:buClr>
                <a:schemeClr val="dk1"/>
              </a:buClr>
              <a:buSzPts val="1200"/>
              <a:buFont typeface="Quattrocento Sans"/>
              <a:buChar char="●"/>
            </a:pPr>
            <a:r>
              <a:rPr lang="es" sz="1200">
                <a:solidFill>
                  <a:schemeClr val="dk1"/>
                </a:solidFill>
                <a:latin typeface="Quattrocento Sans"/>
                <a:ea typeface="Quattrocento Sans"/>
                <a:cs typeface="Quattrocento Sans"/>
                <a:sym typeface="Quattrocento Sans"/>
              </a:rPr>
              <a:t>However, it has </a:t>
            </a:r>
            <a:r>
              <a:rPr lang="es" sz="1200">
                <a:solidFill>
                  <a:schemeClr val="dk1"/>
                </a:solidFill>
                <a:latin typeface="Quattrocento Sans"/>
                <a:ea typeface="Quattrocento Sans"/>
                <a:cs typeface="Quattrocento Sans"/>
                <a:sym typeface="Quattrocento Sans"/>
              </a:rPr>
              <a:t>higher</a:t>
            </a:r>
            <a:r>
              <a:rPr lang="es" sz="1200">
                <a:solidFill>
                  <a:schemeClr val="dk1"/>
                </a:solidFill>
                <a:latin typeface="Quattrocento Sans"/>
                <a:ea typeface="Quattrocento Sans"/>
                <a:cs typeface="Quattrocento Sans"/>
                <a:sym typeface="Quattrocento Sans"/>
              </a:rPr>
              <a:t> operational complexity, risk of brand dilution.</a:t>
            </a:r>
            <a:endParaRPr sz="1200">
              <a:solidFill>
                <a:schemeClr val="dk1"/>
              </a:solidFill>
              <a:latin typeface="Quattrocento Sans"/>
              <a:ea typeface="Quattrocento Sans"/>
              <a:cs typeface="Quattrocento Sans"/>
              <a:sym typeface="Quattrocento Sans"/>
            </a:endParaRPr>
          </a:p>
          <a:p>
            <a:pPr indent="0" lvl="0" marL="0" marR="0" rtl="0" algn="l">
              <a:spcBef>
                <a:spcPts val="0"/>
              </a:spcBef>
              <a:spcAft>
                <a:spcPts val="0"/>
              </a:spcAft>
              <a:buNone/>
            </a:pPr>
            <a:r>
              <a:t/>
            </a:r>
            <a:endParaRPr sz="1200">
              <a:solidFill>
                <a:schemeClr val="dk1"/>
              </a:solidFill>
              <a:latin typeface="Quattrocento Sans"/>
              <a:ea typeface="Quattrocento Sans"/>
              <a:cs typeface="Quattrocento Sans"/>
              <a:sym typeface="Quattrocento Sans"/>
            </a:endParaRPr>
          </a:p>
        </p:txBody>
      </p:sp>
      <p:cxnSp>
        <p:nvCxnSpPr>
          <p:cNvPr id="347" name="Google Shape;347;p41"/>
          <p:cNvCxnSpPr/>
          <p:nvPr/>
        </p:nvCxnSpPr>
        <p:spPr>
          <a:xfrm>
            <a:off x="4166996" y="4790797"/>
            <a:ext cx="405000" cy="0"/>
          </a:xfrm>
          <a:prstGeom prst="straightConnector1">
            <a:avLst/>
          </a:prstGeom>
          <a:noFill/>
          <a:ln cap="flat" cmpd="sng" w="12700">
            <a:solidFill>
              <a:srgbClr val="C00000"/>
            </a:solidFill>
            <a:prstDash val="solid"/>
            <a:miter lim="800000"/>
            <a:headEnd len="sm" w="sm" type="none"/>
            <a:tailEnd len="sm" w="sm" type="none"/>
          </a:ln>
        </p:spPr>
      </p:cxnSp>
      <p:sp>
        <p:nvSpPr>
          <p:cNvPr id="348" name="Google Shape;348;p41"/>
          <p:cNvSpPr/>
          <p:nvPr/>
        </p:nvSpPr>
        <p:spPr>
          <a:xfrm>
            <a:off x="1422925" y="976610"/>
            <a:ext cx="312000" cy="312000"/>
          </a:xfrm>
          <a:prstGeom prst="ellipse">
            <a:avLst/>
          </a:prstGeom>
          <a:solidFill>
            <a:srgbClr val="C00000"/>
          </a:solidFill>
          <a:ln cap="flat" cmpd="sng" w="412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lt1"/>
                </a:solidFill>
                <a:latin typeface="Arial"/>
                <a:ea typeface="Arial"/>
                <a:cs typeface="Arial"/>
                <a:sym typeface="Arial"/>
              </a:rPr>
              <a:t>1</a:t>
            </a:r>
            <a:endParaRPr sz="1100"/>
          </a:p>
        </p:txBody>
      </p:sp>
      <p:sp>
        <p:nvSpPr>
          <p:cNvPr id="349" name="Google Shape;349;p41"/>
          <p:cNvSpPr/>
          <p:nvPr/>
        </p:nvSpPr>
        <p:spPr>
          <a:xfrm>
            <a:off x="4416000" y="976622"/>
            <a:ext cx="312000" cy="312000"/>
          </a:xfrm>
          <a:prstGeom prst="ellipse">
            <a:avLst/>
          </a:prstGeom>
          <a:solidFill>
            <a:srgbClr val="C00000"/>
          </a:solidFill>
          <a:ln cap="flat" cmpd="sng" w="412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
                <a:solidFill>
                  <a:schemeClr val="lt1"/>
                </a:solidFill>
              </a:rPr>
              <a:t>2</a:t>
            </a:r>
            <a:endParaRPr sz="1100"/>
          </a:p>
        </p:txBody>
      </p:sp>
      <p:sp>
        <p:nvSpPr>
          <p:cNvPr id="350" name="Google Shape;350;p41"/>
          <p:cNvSpPr/>
          <p:nvPr/>
        </p:nvSpPr>
        <p:spPr>
          <a:xfrm>
            <a:off x="7409074" y="976610"/>
            <a:ext cx="312000" cy="312000"/>
          </a:xfrm>
          <a:prstGeom prst="ellipse">
            <a:avLst/>
          </a:prstGeom>
          <a:solidFill>
            <a:srgbClr val="C00000"/>
          </a:solidFill>
          <a:ln cap="flat" cmpd="sng" w="412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
                <a:solidFill>
                  <a:schemeClr val="lt1"/>
                </a:solidFill>
              </a:rPr>
              <a:t>3</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2"/>
          <p:cNvSpPr txBox="1"/>
          <p:nvPr/>
        </p:nvSpPr>
        <p:spPr>
          <a:xfrm>
            <a:off x="198853" y="102394"/>
            <a:ext cx="14808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Alternative Analysis </a:t>
            </a:r>
            <a:endParaRPr sz="1100"/>
          </a:p>
        </p:txBody>
      </p:sp>
      <p:cxnSp>
        <p:nvCxnSpPr>
          <p:cNvPr id="356" name="Google Shape;356;p42"/>
          <p:cNvCxnSpPr/>
          <p:nvPr/>
        </p:nvCxnSpPr>
        <p:spPr>
          <a:xfrm>
            <a:off x="309454" y="1168217"/>
            <a:ext cx="8609400" cy="0"/>
          </a:xfrm>
          <a:prstGeom prst="straightConnector1">
            <a:avLst/>
          </a:prstGeom>
          <a:noFill/>
          <a:ln cap="flat" cmpd="sng" w="9525">
            <a:solidFill>
              <a:srgbClr val="595959"/>
            </a:solidFill>
            <a:prstDash val="solid"/>
            <a:miter lim="800000"/>
            <a:headEnd len="sm" w="sm" type="none"/>
            <a:tailEnd len="sm" w="sm" type="none"/>
          </a:ln>
        </p:spPr>
      </p:cxnSp>
      <p:sp>
        <p:nvSpPr>
          <p:cNvPr id="357" name="Google Shape;357;p42"/>
          <p:cNvSpPr txBox="1"/>
          <p:nvPr/>
        </p:nvSpPr>
        <p:spPr>
          <a:xfrm>
            <a:off x="314536" y="864168"/>
            <a:ext cx="17667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rgbClr val="262626"/>
              </a:buClr>
              <a:buSzPts val="1400"/>
              <a:buFont typeface="Calibri"/>
              <a:buNone/>
            </a:pPr>
            <a:r>
              <a:rPr lang="es" sz="1400">
                <a:solidFill>
                  <a:srgbClr val="262626"/>
                </a:solidFill>
                <a:latin typeface="Calibri"/>
                <a:ea typeface="Calibri"/>
                <a:cs typeface="Calibri"/>
                <a:sym typeface="Calibri"/>
              </a:rPr>
              <a:t>Alternative Analysis</a:t>
            </a:r>
            <a:endParaRPr sz="1400">
              <a:solidFill>
                <a:schemeClr val="dk1"/>
              </a:solidFill>
              <a:latin typeface="Arial"/>
              <a:ea typeface="Arial"/>
              <a:cs typeface="Arial"/>
              <a:sym typeface="Arial"/>
            </a:endParaRPr>
          </a:p>
        </p:txBody>
      </p:sp>
      <p:sp>
        <p:nvSpPr>
          <p:cNvPr id="358" name="Google Shape;358;p42"/>
          <p:cNvSpPr txBox="1"/>
          <p:nvPr>
            <p:ph idx="4294967295" type="title"/>
          </p:nvPr>
        </p:nvSpPr>
        <p:spPr>
          <a:xfrm>
            <a:off x="198850" y="345525"/>
            <a:ext cx="86094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Play"/>
              <a:buNone/>
            </a:pPr>
            <a:r>
              <a:rPr lang="es" sz="1700"/>
              <a:t>Selecting the right strategy in achieving our targets to bring long-term success</a:t>
            </a:r>
            <a:endParaRPr sz="2700"/>
          </a:p>
        </p:txBody>
      </p:sp>
      <p:sp>
        <p:nvSpPr>
          <p:cNvPr id="359" name="Google Shape;359;p42"/>
          <p:cNvSpPr/>
          <p:nvPr/>
        </p:nvSpPr>
        <p:spPr>
          <a:xfrm>
            <a:off x="7392129" y="885510"/>
            <a:ext cx="143700" cy="1437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60" name="Google Shape;360;p42"/>
          <p:cNvSpPr/>
          <p:nvPr/>
        </p:nvSpPr>
        <p:spPr>
          <a:xfrm>
            <a:off x="7782338" y="883201"/>
            <a:ext cx="143700" cy="1437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cxnSp>
        <p:nvCxnSpPr>
          <p:cNvPr id="361" name="Google Shape;361;p42"/>
          <p:cNvCxnSpPr>
            <a:stCxn id="359" idx="6"/>
            <a:endCxn id="360" idx="2"/>
          </p:cNvCxnSpPr>
          <p:nvPr/>
        </p:nvCxnSpPr>
        <p:spPr>
          <a:xfrm flipH="1" rot="10800000">
            <a:off x="7535829" y="954960"/>
            <a:ext cx="246600" cy="2400"/>
          </a:xfrm>
          <a:prstGeom prst="straightConnector1">
            <a:avLst/>
          </a:prstGeom>
          <a:noFill/>
          <a:ln cap="flat" cmpd="sng" w="9525">
            <a:solidFill>
              <a:schemeClr val="accent1"/>
            </a:solidFill>
            <a:prstDash val="solid"/>
            <a:miter lim="800000"/>
            <a:headEnd len="sm" w="sm" type="none"/>
            <a:tailEnd len="med" w="med" type="triangle"/>
          </a:ln>
        </p:spPr>
      </p:cxnSp>
      <p:sp>
        <p:nvSpPr>
          <p:cNvPr id="362" name="Google Shape;362;p42"/>
          <p:cNvSpPr txBox="1"/>
          <p:nvPr/>
        </p:nvSpPr>
        <p:spPr>
          <a:xfrm>
            <a:off x="7926026" y="878050"/>
            <a:ext cx="696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700"/>
              <a:buFont typeface="Calibri"/>
              <a:buNone/>
            </a:pPr>
            <a:r>
              <a:rPr lang="es" sz="700">
                <a:solidFill>
                  <a:schemeClr val="dk1"/>
                </a:solidFill>
                <a:latin typeface="Calibri"/>
                <a:ea typeface="Calibri"/>
                <a:cs typeface="Calibri"/>
                <a:sym typeface="Calibri"/>
              </a:rPr>
              <a:t>Best Alternative</a:t>
            </a:r>
            <a:endParaRPr sz="1400">
              <a:solidFill>
                <a:schemeClr val="dk1"/>
              </a:solidFill>
              <a:latin typeface="Arial"/>
              <a:ea typeface="Arial"/>
              <a:cs typeface="Arial"/>
              <a:sym typeface="Arial"/>
            </a:endParaRPr>
          </a:p>
        </p:txBody>
      </p:sp>
      <p:sp>
        <p:nvSpPr>
          <p:cNvPr id="363" name="Google Shape;363;p42"/>
          <p:cNvSpPr txBox="1"/>
          <p:nvPr/>
        </p:nvSpPr>
        <p:spPr>
          <a:xfrm>
            <a:off x="6707711" y="871921"/>
            <a:ext cx="696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700"/>
              <a:buFont typeface="Calibri"/>
              <a:buNone/>
            </a:pPr>
            <a:r>
              <a:rPr lang="es" sz="700">
                <a:solidFill>
                  <a:schemeClr val="dk1"/>
                </a:solidFill>
                <a:latin typeface="Calibri"/>
                <a:ea typeface="Calibri"/>
                <a:cs typeface="Calibri"/>
                <a:sym typeface="Calibri"/>
              </a:rPr>
              <a:t>Worst  Alternative</a:t>
            </a:r>
            <a:endParaRPr sz="1400">
              <a:solidFill>
                <a:schemeClr val="dk1"/>
              </a:solidFill>
              <a:latin typeface="Arial"/>
              <a:ea typeface="Arial"/>
              <a:cs typeface="Arial"/>
              <a:sym typeface="Arial"/>
            </a:endParaRPr>
          </a:p>
        </p:txBody>
      </p:sp>
      <p:sp>
        <p:nvSpPr>
          <p:cNvPr id="364" name="Google Shape;364;p42"/>
          <p:cNvSpPr/>
          <p:nvPr/>
        </p:nvSpPr>
        <p:spPr>
          <a:xfrm>
            <a:off x="3265760" y="1385842"/>
            <a:ext cx="1577100" cy="360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1100"/>
              <a:buFont typeface="Calibri"/>
              <a:buNone/>
            </a:pPr>
            <a:r>
              <a:rPr lang="es" sz="1100">
                <a:solidFill>
                  <a:schemeClr val="dk1"/>
                </a:solidFill>
                <a:latin typeface="Calibri"/>
                <a:ea typeface="Calibri"/>
                <a:cs typeface="Calibri"/>
                <a:sym typeface="Calibri"/>
              </a:rPr>
              <a:t>Forbidden City </a:t>
            </a:r>
            <a:endParaRPr sz="1400">
              <a:solidFill>
                <a:schemeClr val="dk1"/>
              </a:solidFill>
              <a:latin typeface="Arial"/>
              <a:ea typeface="Arial"/>
              <a:cs typeface="Arial"/>
              <a:sym typeface="Arial"/>
            </a:endParaRPr>
          </a:p>
        </p:txBody>
      </p:sp>
      <p:sp>
        <p:nvSpPr>
          <p:cNvPr id="365" name="Google Shape;365;p42"/>
          <p:cNvSpPr/>
          <p:nvPr/>
        </p:nvSpPr>
        <p:spPr>
          <a:xfrm>
            <a:off x="5030629" y="1385842"/>
            <a:ext cx="1577100" cy="360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1100"/>
              <a:buFont typeface="Calibri"/>
              <a:buNone/>
            </a:pPr>
            <a:r>
              <a:rPr lang="es" sz="1100">
                <a:solidFill>
                  <a:schemeClr val="dk1"/>
                </a:solidFill>
                <a:latin typeface="Calibri"/>
                <a:ea typeface="Calibri"/>
                <a:cs typeface="Calibri"/>
                <a:sym typeface="Calibri"/>
              </a:rPr>
              <a:t>Hybrid</a:t>
            </a:r>
            <a:endParaRPr sz="1400">
              <a:solidFill>
                <a:schemeClr val="dk1"/>
              </a:solidFill>
              <a:latin typeface="Arial"/>
              <a:ea typeface="Arial"/>
              <a:cs typeface="Arial"/>
              <a:sym typeface="Arial"/>
            </a:endParaRPr>
          </a:p>
        </p:txBody>
      </p:sp>
      <p:sp>
        <p:nvSpPr>
          <p:cNvPr id="366" name="Google Shape;366;p42"/>
          <p:cNvSpPr/>
          <p:nvPr/>
        </p:nvSpPr>
        <p:spPr>
          <a:xfrm>
            <a:off x="6795498" y="1385842"/>
            <a:ext cx="1577100" cy="360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1100"/>
              <a:buFont typeface="Calibri"/>
              <a:buNone/>
            </a:pPr>
            <a:r>
              <a:rPr lang="es" sz="1100">
                <a:solidFill>
                  <a:schemeClr val="dk1"/>
                </a:solidFill>
                <a:latin typeface="Calibri"/>
                <a:ea typeface="Calibri"/>
                <a:cs typeface="Calibri"/>
                <a:sym typeface="Calibri"/>
              </a:rPr>
              <a:t>Wild Dog</a:t>
            </a:r>
            <a:endParaRPr sz="1400">
              <a:solidFill>
                <a:schemeClr val="dk1"/>
              </a:solidFill>
              <a:latin typeface="Arial"/>
              <a:ea typeface="Arial"/>
              <a:cs typeface="Arial"/>
              <a:sym typeface="Arial"/>
            </a:endParaRPr>
          </a:p>
        </p:txBody>
      </p:sp>
      <p:cxnSp>
        <p:nvCxnSpPr>
          <p:cNvPr id="367" name="Google Shape;367;p42"/>
          <p:cNvCxnSpPr/>
          <p:nvPr/>
        </p:nvCxnSpPr>
        <p:spPr>
          <a:xfrm>
            <a:off x="3090652" y="1541054"/>
            <a:ext cx="0" cy="3045600"/>
          </a:xfrm>
          <a:prstGeom prst="straightConnector1">
            <a:avLst/>
          </a:prstGeom>
          <a:noFill/>
          <a:ln cap="flat" cmpd="sng" w="9525">
            <a:solidFill>
              <a:schemeClr val="lt2"/>
            </a:solidFill>
            <a:prstDash val="solid"/>
            <a:miter lim="800000"/>
            <a:headEnd len="sm" w="sm" type="none"/>
            <a:tailEnd len="sm" w="sm" type="none"/>
          </a:ln>
        </p:spPr>
      </p:cxnSp>
      <p:sp>
        <p:nvSpPr>
          <p:cNvPr id="368" name="Google Shape;368;p42"/>
          <p:cNvSpPr/>
          <p:nvPr/>
        </p:nvSpPr>
        <p:spPr>
          <a:xfrm>
            <a:off x="3905510" y="2502647"/>
            <a:ext cx="297600" cy="2976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69" name="Google Shape;369;p42"/>
          <p:cNvSpPr/>
          <p:nvPr/>
        </p:nvSpPr>
        <p:spPr>
          <a:xfrm>
            <a:off x="681927" y="1383411"/>
            <a:ext cx="2220000" cy="360600"/>
          </a:xfrm>
          <a:prstGeom prst="rect">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1100"/>
              <a:buFont typeface="Calibri"/>
              <a:buNone/>
            </a:pPr>
            <a:r>
              <a:rPr lang="es" sz="1100">
                <a:solidFill>
                  <a:schemeClr val="lt1"/>
                </a:solidFill>
                <a:latin typeface="Calibri"/>
                <a:ea typeface="Calibri"/>
                <a:cs typeface="Calibri"/>
                <a:sym typeface="Calibri"/>
              </a:rPr>
              <a:t>Criteria</a:t>
            </a:r>
            <a:endParaRPr sz="1400">
              <a:solidFill>
                <a:schemeClr val="dk1"/>
              </a:solidFill>
              <a:latin typeface="Arial"/>
              <a:ea typeface="Arial"/>
              <a:cs typeface="Arial"/>
              <a:sym typeface="Arial"/>
            </a:endParaRPr>
          </a:p>
        </p:txBody>
      </p:sp>
      <p:sp>
        <p:nvSpPr>
          <p:cNvPr id="370" name="Google Shape;370;p42"/>
          <p:cNvSpPr/>
          <p:nvPr/>
        </p:nvSpPr>
        <p:spPr>
          <a:xfrm>
            <a:off x="7435248" y="1964081"/>
            <a:ext cx="297600" cy="2976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pic>
        <p:nvPicPr>
          <p:cNvPr id="371" name="Google Shape;371;p42"/>
          <p:cNvPicPr preferRelativeResize="0"/>
          <p:nvPr/>
        </p:nvPicPr>
        <p:blipFill>
          <a:blip r:embed="rId3">
            <a:alphaModFix/>
          </a:blip>
          <a:stretch>
            <a:fillRect/>
          </a:stretch>
        </p:blipFill>
        <p:spPr>
          <a:xfrm>
            <a:off x="681936" y="2466808"/>
            <a:ext cx="441755" cy="441772"/>
          </a:xfrm>
          <a:prstGeom prst="rect">
            <a:avLst/>
          </a:prstGeom>
          <a:noFill/>
          <a:ln>
            <a:noFill/>
          </a:ln>
        </p:spPr>
      </p:pic>
      <p:pic>
        <p:nvPicPr>
          <p:cNvPr id="372" name="Google Shape;372;p42"/>
          <p:cNvPicPr preferRelativeResize="0"/>
          <p:nvPr/>
        </p:nvPicPr>
        <p:blipFill>
          <a:blip r:embed="rId4">
            <a:alphaModFix/>
          </a:blip>
          <a:stretch>
            <a:fillRect/>
          </a:stretch>
        </p:blipFill>
        <p:spPr>
          <a:xfrm>
            <a:off x="681935" y="2999582"/>
            <a:ext cx="441755" cy="441772"/>
          </a:xfrm>
          <a:prstGeom prst="rect">
            <a:avLst/>
          </a:prstGeom>
          <a:noFill/>
          <a:ln>
            <a:noFill/>
          </a:ln>
        </p:spPr>
      </p:pic>
      <p:pic>
        <p:nvPicPr>
          <p:cNvPr id="373" name="Google Shape;373;p42"/>
          <p:cNvPicPr preferRelativeResize="0"/>
          <p:nvPr/>
        </p:nvPicPr>
        <p:blipFill>
          <a:blip r:embed="rId5">
            <a:alphaModFix/>
          </a:blip>
          <a:stretch>
            <a:fillRect/>
          </a:stretch>
        </p:blipFill>
        <p:spPr>
          <a:xfrm>
            <a:off x="690435" y="1998279"/>
            <a:ext cx="424746" cy="424759"/>
          </a:xfrm>
          <a:prstGeom prst="rect">
            <a:avLst/>
          </a:prstGeom>
          <a:noFill/>
          <a:ln>
            <a:noFill/>
          </a:ln>
        </p:spPr>
      </p:pic>
      <p:pic>
        <p:nvPicPr>
          <p:cNvPr id="374" name="Google Shape;374;p42"/>
          <p:cNvPicPr preferRelativeResize="0"/>
          <p:nvPr/>
        </p:nvPicPr>
        <p:blipFill>
          <a:blip r:embed="rId6">
            <a:alphaModFix/>
          </a:blip>
          <a:stretch>
            <a:fillRect/>
          </a:stretch>
        </p:blipFill>
        <p:spPr>
          <a:xfrm>
            <a:off x="718374" y="4017879"/>
            <a:ext cx="441755" cy="441772"/>
          </a:xfrm>
          <a:prstGeom prst="rect">
            <a:avLst/>
          </a:prstGeom>
          <a:noFill/>
          <a:ln>
            <a:noFill/>
          </a:ln>
        </p:spPr>
      </p:pic>
      <p:pic>
        <p:nvPicPr>
          <p:cNvPr id="375" name="Google Shape;375;p42"/>
          <p:cNvPicPr preferRelativeResize="0"/>
          <p:nvPr/>
        </p:nvPicPr>
        <p:blipFill>
          <a:blip r:embed="rId7">
            <a:alphaModFix/>
          </a:blip>
          <a:stretch>
            <a:fillRect/>
          </a:stretch>
        </p:blipFill>
        <p:spPr>
          <a:xfrm>
            <a:off x="718382" y="3532349"/>
            <a:ext cx="441755" cy="441772"/>
          </a:xfrm>
          <a:prstGeom prst="rect">
            <a:avLst/>
          </a:prstGeom>
          <a:noFill/>
          <a:ln>
            <a:noFill/>
          </a:ln>
        </p:spPr>
      </p:pic>
      <p:sp>
        <p:nvSpPr>
          <p:cNvPr id="376" name="Google Shape;376;p42"/>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s"/>
              <a:t>‹#›</a:t>
            </a:fld>
            <a:endParaRPr/>
          </a:p>
        </p:txBody>
      </p:sp>
      <p:sp>
        <p:nvSpPr>
          <p:cNvPr id="377" name="Google Shape;377;p42"/>
          <p:cNvSpPr/>
          <p:nvPr/>
        </p:nvSpPr>
        <p:spPr>
          <a:xfrm>
            <a:off x="3905498" y="1975760"/>
            <a:ext cx="297600" cy="2976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78" name="Google Shape;378;p42"/>
          <p:cNvSpPr/>
          <p:nvPr/>
        </p:nvSpPr>
        <p:spPr>
          <a:xfrm>
            <a:off x="3905510" y="3029560"/>
            <a:ext cx="297600" cy="2976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79" name="Google Shape;379;p42"/>
          <p:cNvSpPr/>
          <p:nvPr/>
        </p:nvSpPr>
        <p:spPr>
          <a:xfrm>
            <a:off x="3905498" y="4083360"/>
            <a:ext cx="297600" cy="2976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80" name="Google Shape;380;p42"/>
          <p:cNvSpPr/>
          <p:nvPr/>
        </p:nvSpPr>
        <p:spPr>
          <a:xfrm>
            <a:off x="5670373" y="1964068"/>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81" name="Google Shape;381;p42"/>
          <p:cNvSpPr/>
          <p:nvPr/>
        </p:nvSpPr>
        <p:spPr>
          <a:xfrm>
            <a:off x="5670373" y="2479293"/>
            <a:ext cx="297600" cy="2976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82" name="Google Shape;382;p42"/>
          <p:cNvSpPr/>
          <p:nvPr/>
        </p:nvSpPr>
        <p:spPr>
          <a:xfrm>
            <a:off x="5670373" y="2994518"/>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83" name="Google Shape;383;p42"/>
          <p:cNvSpPr/>
          <p:nvPr/>
        </p:nvSpPr>
        <p:spPr>
          <a:xfrm>
            <a:off x="7435248" y="2479310"/>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84" name="Google Shape;384;p42"/>
          <p:cNvSpPr/>
          <p:nvPr/>
        </p:nvSpPr>
        <p:spPr>
          <a:xfrm>
            <a:off x="7435248" y="2994535"/>
            <a:ext cx="297600" cy="2976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85" name="Google Shape;385;p42"/>
          <p:cNvSpPr/>
          <p:nvPr/>
        </p:nvSpPr>
        <p:spPr>
          <a:xfrm>
            <a:off x="7435248" y="4068043"/>
            <a:ext cx="297600" cy="2976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86" name="Google Shape;386;p42"/>
          <p:cNvSpPr txBox="1"/>
          <p:nvPr/>
        </p:nvSpPr>
        <p:spPr>
          <a:xfrm>
            <a:off x="1323951" y="2071475"/>
            <a:ext cx="16809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Operational Control</a:t>
            </a:r>
            <a:r>
              <a:rPr b="1" lang="es" sz="1200">
                <a:solidFill>
                  <a:schemeClr val="dk1"/>
                </a:solidFill>
                <a:latin typeface="Calibri"/>
                <a:ea typeface="Calibri"/>
                <a:cs typeface="Calibri"/>
                <a:sym typeface="Calibri"/>
              </a:rPr>
              <a:t> </a:t>
            </a:r>
            <a:endParaRPr sz="1400">
              <a:solidFill>
                <a:schemeClr val="dk1"/>
              </a:solidFill>
              <a:latin typeface="Arial"/>
              <a:ea typeface="Arial"/>
              <a:cs typeface="Arial"/>
              <a:sym typeface="Arial"/>
            </a:endParaRPr>
          </a:p>
        </p:txBody>
      </p:sp>
      <p:sp>
        <p:nvSpPr>
          <p:cNvPr id="387" name="Google Shape;387;p42"/>
          <p:cNvSpPr txBox="1"/>
          <p:nvPr/>
        </p:nvSpPr>
        <p:spPr>
          <a:xfrm>
            <a:off x="1348000" y="2560788"/>
            <a:ext cx="15771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Speed of Expansion</a:t>
            </a:r>
            <a:endParaRPr sz="1400">
              <a:solidFill>
                <a:schemeClr val="dk1"/>
              </a:solidFill>
              <a:latin typeface="Arial"/>
              <a:ea typeface="Arial"/>
              <a:cs typeface="Arial"/>
              <a:sym typeface="Arial"/>
            </a:endParaRPr>
          </a:p>
        </p:txBody>
      </p:sp>
      <p:sp>
        <p:nvSpPr>
          <p:cNvPr id="388" name="Google Shape;388;p42"/>
          <p:cNvSpPr txBox="1"/>
          <p:nvPr/>
        </p:nvSpPr>
        <p:spPr>
          <a:xfrm>
            <a:off x="1347997" y="3082705"/>
            <a:ext cx="1366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Capital Intensity</a:t>
            </a:r>
            <a:endParaRPr sz="1400">
              <a:solidFill>
                <a:schemeClr val="dk1"/>
              </a:solidFill>
              <a:latin typeface="Arial"/>
              <a:ea typeface="Arial"/>
              <a:cs typeface="Arial"/>
              <a:sym typeface="Arial"/>
            </a:endParaRPr>
          </a:p>
        </p:txBody>
      </p:sp>
      <p:sp>
        <p:nvSpPr>
          <p:cNvPr id="389" name="Google Shape;389;p42"/>
          <p:cNvSpPr txBox="1"/>
          <p:nvPr/>
        </p:nvSpPr>
        <p:spPr>
          <a:xfrm>
            <a:off x="1323950" y="4111850"/>
            <a:ext cx="14808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Brand Consistency</a:t>
            </a:r>
            <a:endParaRPr sz="1400">
              <a:solidFill>
                <a:schemeClr val="dk1"/>
              </a:solidFill>
              <a:latin typeface="Arial"/>
              <a:ea typeface="Arial"/>
              <a:cs typeface="Arial"/>
              <a:sym typeface="Arial"/>
            </a:endParaRPr>
          </a:p>
        </p:txBody>
      </p:sp>
      <p:sp>
        <p:nvSpPr>
          <p:cNvPr id="390" name="Google Shape;390;p42"/>
          <p:cNvSpPr/>
          <p:nvPr/>
        </p:nvSpPr>
        <p:spPr>
          <a:xfrm>
            <a:off x="5670385" y="4087985"/>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391" name="Google Shape;391;p42"/>
          <p:cNvSpPr txBox="1"/>
          <p:nvPr/>
        </p:nvSpPr>
        <p:spPr>
          <a:xfrm>
            <a:off x="3285776" y="3660825"/>
            <a:ext cx="1555200" cy="1848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1200">
                <a:solidFill>
                  <a:schemeClr val="dk1"/>
                </a:solidFill>
                <a:latin typeface="Quattrocento Sans"/>
                <a:ea typeface="Quattrocento Sans"/>
                <a:cs typeface="Quattrocento Sans"/>
                <a:sym typeface="Quattrocento Sans"/>
              </a:rPr>
              <a:t>~32%</a:t>
            </a:r>
            <a:endParaRPr sz="1100">
              <a:solidFill>
                <a:schemeClr val="dk1"/>
              </a:solidFill>
              <a:latin typeface="Quattrocento Sans"/>
              <a:ea typeface="Quattrocento Sans"/>
              <a:cs typeface="Quattrocento Sans"/>
              <a:sym typeface="Quattrocento Sans"/>
            </a:endParaRPr>
          </a:p>
        </p:txBody>
      </p:sp>
      <p:sp>
        <p:nvSpPr>
          <p:cNvPr id="392" name="Google Shape;392;p42"/>
          <p:cNvSpPr txBox="1"/>
          <p:nvPr/>
        </p:nvSpPr>
        <p:spPr>
          <a:xfrm>
            <a:off x="5036101" y="3639088"/>
            <a:ext cx="1555200" cy="1848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1200">
                <a:solidFill>
                  <a:schemeClr val="dk1"/>
                </a:solidFill>
                <a:latin typeface="Quattrocento Sans"/>
                <a:ea typeface="Quattrocento Sans"/>
                <a:cs typeface="Quattrocento Sans"/>
                <a:sym typeface="Quattrocento Sans"/>
              </a:rPr>
              <a:t>~30%</a:t>
            </a:r>
            <a:endParaRPr sz="1100">
              <a:solidFill>
                <a:schemeClr val="dk1"/>
              </a:solidFill>
              <a:latin typeface="Quattrocento Sans"/>
              <a:ea typeface="Quattrocento Sans"/>
              <a:cs typeface="Quattrocento Sans"/>
              <a:sym typeface="Quattrocento Sans"/>
            </a:endParaRPr>
          </a:p>
        </p:txBody>
      </p:sp>
      <p:sp>
        <p:nvSpPr>
          <p:cNvPr id="393" name="Google Shape;393;p42"/>
          <p:cNvSpPr txBox="1"/>
          <p:nvPr/>
        </p:nvSpPr>
        <p:spPr>
          <a:xfrm>
            <a:off x="6806451" y="3639088"/>
            <a:ext cx="1555200" cy="1848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1200">
                <a:solidFill>
                  <a:schemeClr val="dk1"/>
                </a:solidFill>
                <a:latin typeface="Quattrocento Sans"/>
                <a:ea typeface="Quattrocento Sans"/>
                <a:cs typeface="Quattrocento Sans"/>
                <a:sym typeface="Quattrocento Sans"/>
              </a:rPr>
              <a:t>~25% </a:t>
            </a:r>
            <a:endParaRPr sz="1100">
              <a:solidFill>
                <a:schemeClr val="dk1"/>
              </a:solidFill>
              <a:latin typeface="Quattrocento Sans"/>
              <a:ea typeface="Quattrocento Sans"/>
              <a:cs typeface="Quattrocento Sans"/>
              <a:sym typeface="Quattrocento Sans"/>
            </a:endParaRPr>
          </a:p>
        </p:txBody>
      </p:sp>
      <p:sp>
        <p:nvSpPr>
          <p:cNvPr id="394" name="Google Shape;394;p42"/>
          <p:cNvSpPr txBox="1"/>
          <p:nvPr/>
        </p:nvSpPr>
        <p:spPr>
          <a:xfrm>
            <a:off x="1382488" y="3597275"/>
            <a:ext cx="16809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Gross Profit Margin</a:t>
            </a:r>
            <a:endParaRPr sz="1400">
              <a:solidFill>
                <a:schemeClr val="dk1"/>
              </a:solidFill>
              <a:latin typeface="Arial"/>
              <a:ea typeface="Arial"/>
              <a:cs typeface="Arial"/>
              <a:sym typeface="Arial"/>
            </a:endParaRPr>
          </a:p>
        </p:txBody>
      </p:sp>
      <p:cxnSp>
        <p:nvCxnSpPr>
          <p:cNvPr id="395" name="Google Shape;395;p42"/>
          <p:cNvCxnSpPr/>
          <p:nvPr/>
        </p:nvCxnSpPr>
        <p:spPr>
          <a:xfrm>
            <a:off x="4166996" y="4790797"/>
            <a:ext cx="405000" cy="0"/>
          </a:xfrm>
          <a:prstGeom prst="straightConnector1">
            <a:avLst/>
          </a:prstGeom>
          <a:noFill/>
          <a:ln cap="flat" cmpd="sng" w="12700">
            <a:solidFill>
              <a:srgbClr val="C00000"/>
            </a:solidFill>
            <a:prstDash val="solid"/>
            <a:miter lim="800000"/>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3"/>
          <p:cNvSpPr txBox="1"/>
          <p:nvPr/>
        </p:nvSpPr>
        <p:spPr>
          <a:xfrm>
            <a:off x="198853" y="102394"/>
            <a:ext cx="14808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Alternative Analysis </a:t>
            </a:r>
            <a:endParaRPr sz="1100"/>
          </a:p>
        </p:txBody>
      </p:sp>
      <p:cxnSp>
        <p:nvCxnSpPr>
          <p:cNvPr id="401" name="Google Shape;401;p43"/>
          <p:cNvCxnSpPr/>
          <p:nvPr/>
        </p:nvCxnSpPr>
        <p:spPr>
          <a:xfrm>
            <a:off x="309454" y="1168217"/>
            <a:ext cx="8609400" cy="0"/>
          </a:xfrm>
          <a:prstGeom prst="straightConnector1">
            <a:avLst/>
          </a:prstGeom>
          <a:noFill/>
          <a:ln cap="flat" cmpd="sng" w="9525">
            <a:solidFill>
              <a:srgbClr val="595959"/>
            </a:solidFill>
            <a:prstDash val="solid"/>
            <a:miter lim="800000"/>
            <a:headEnd len="sm" w="sm" type="none"/>
            <a:tailEnd len="sm" w="sm" type="none"/>
          </a:ln>
        </p:spPr>
      </p:cxnSp>
      <p:sp>
        <p:nvSpPr>
          <p:cNvPr id="402" name="Google Shape;402;p43"/>
          <p:cNvSpPr txBox="1"/>
          <p:nvPr/>
        </p:nvSpPr>
        <p:spPr>
          <a:xfrm>
            <a:off x="314536" y="864168"/>
            <a:ext cx="17667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rgbClr val="262626"/>
              </a:buClr>
              <a:buSzPts val="1400"/>
              <a:buFont typeface="Calibri"/>
              <a:buNone/>
            </a:pPr>
            <a:r>
              <a:rPr lang="es" sz="1400">
                <a:solidFill>
                  <a:srgbClr val="262626"/>
                </a:solidFill>
                <a:latin typeface="Calibri"/>
                <a:ea typeface="Calibri"/>
                <a:cs typeface="Calibri"/>
                <a:sym typeface="Calibri"/>
              </a:rPr>
              <a:t>Alternative Analysis</a:t>
            </a:r>
            <a:endParaRPr sz="1400">
              <a:solidFill>
                <a:schemeClr val="dk1"/>
              </a:solidFill>
              <a:latin typeface="Arial"/>
              <a:ea typeface="Arial"/>
              <a:cs typeface="Arial"/>
              <a:sym typeface="Arial"/>
            </a:endParaRPr>
          </a:p>
        </p:txBody>
      </p:sp>
      <p:sp>
        <p:nvSpPr>
          <p:cNvPr id="403" name="Google Shape;403;p43"/>
          <p:cNvSpPr/>
          <p:nvPr/>
        </p:nvSpPr>
        <p:spPr>
          <a:xfrm>
            <a:off x="7392129" y="885510"/>
            <a:ext cx="143700" cy="1437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04" name="Google Shape;404;p43"/>
          <p:cNvSpPr/>
          <p:nvPr/>
        </p:nvSpPr>
        <p:spPr>
          <a:xfrm>
            <a:off x="7782338" y="883201"/>
            <a:ext cx="143700" cy="1437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cxnSp>
        <p:nvCxnSpPr>
          <p:cNvPr id="405" name="Google Shape;405;p43"/>
          <p:cNvCxnSpPr>
            <a:stCxn id="403" idx="6"/>
            <a:endCxn id="404" idx="2"/>
          </p:cNvCxnSpPr>
          <p:nvPr/>
        </p:nvCxnSpPr>
        <p:spPr>
          <a:xfrm flipH="1" rot="10800000">
            <a:off x="7535829" y="954960"/>
            <a:ext cx="246600" cy="2400"/>
          </a:xfrm>
          <a:prstGeom prst="straightConnector1">
            <a:avLst/>
          </a:prstGeom>
          <a:noFill/>
          <a:ln cap="flat" cmpd="sng" w="9525">
            <a:solidFill>
              <a:schemeClr val="accent1"/>
            </a:solidFill>
            <a:prstDash val="solid"/>
            <a:miter lim="800000"/>
            <a:headEnd len="sm" w="sm" type="none"/>
            <a:tailEnd len="med" w="med" type="triangle"/>
          </a:ln>
        </p:spPr>
      </p:cxnSp>
      <p:sp>
        <p:nvSpPr>
          <p:cNvPr id="406" name="Google Shape;406;p43"/>
          <p:cNvSpPr txBox="1"/>
          <p:nvPr/>
        </p:nvSpPr>
        <p:spPr>
          <a:xfrm>
            <a:off x="7926026" y="878050"/>
            <a:ext cx="696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700"/>
              <a:buFont typeface="Calibri"/>
              <a:buNone/>
            </a:pPr>
            <a:r>
              <a:rPr lang="es" sz="700">
                <a:solidFill>
                  <a:schemeClr val="dk1"/>
                </a:solidFill>
                <a:latin typeface="Calibri"/>
                <a:ea typeface="Calibri"/>
                <a:cs typeface="Calibri"/>
                <a:sym typeface="Calibri"/>
              </a:rPr>
              <a:t>Best Alternative</a:t>
            </a:r>
            <a:endParaRPr sz="1400">
              <a:solidFill>
                <a:schemeClr val="dk1"/>
              </a:solidFill>
              <a:latin typeface="Arial"/>
              <a:ea typeface="Arial"/>
              <a:cs typeface="Arial"/>
              <a:sym typeface="Arial"/>
            </a:endParaRPr>
          </a:p>
        </p:txBody>
      </p:sp>
      <p:sp>
        <p:nvSpPr>
          <p:cNvPr id="407" name="Google Shape;407;p43"/>
          <p:cNvSpPr txBox="1"/>
          <p:nvPr/>
        </p:nvSpPr>
        <p:spPr>
          <a:xfrm>
            <a:off x="6707711" y="871921"/>
            <a:ext cx="696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700"/>
              <a:buFont typeface="Calibri"/>
              <a:buNone/>
            </a:pPr>
            <a:r>
              <a:rPr lang="es" sz="700">
                <a:solidFill>
                  <a:schemeClr val="dk1"/>
                </a:solidFill>
                <a:latin typeface="Calibri"/>
                <a:ea typeface="Calibri"/>
                <a:cs typeface="Calibri"/>
                <a:sym typeface="Calibri"/>
              </a:rPr>
              <a:t>Worst  Alternative</a:t>
            </a:r>
            <a:endParaRPr sz="1400">
              <a:solidFill>
                <a:schemeClr val="dk1"/>
              </a:solidFill>
              <a:latin typeface="Arial"/>
              <a:ea typeface="Arial"/>
              <a:cs typeface="Arial"/>
              <a:sym typeface="Arial"/>
            </a:endParaRPr>
          </a:p>
        </p:txBody>
      </p:sp>
      <p:cxnSp>
        <p:nvCxnSpPr>
          <p:cNvPr id="408" name="Google Shape;408;p43"/>
          <p:cNvCxnSpPr/>
          <p:nvPr/>
        </p:nvCxnSpPr>
        <p:spPr>
          <a:xfrm>
            <a:off x="3090652" y="1541054"/>
            <a:ext cx="0" cy="3045600"/>
          </a:xfrm>
          <a:prstGeom prst="straightConnector1">
            <a:avLst/>
          </a:prstGeom>
          <a:noFill/>
          <a:ln cap="flat" cmpd="sng" w="9525">
            <a:solidFill>
              <a:schemeClr val="lt2"/>
            </a:solidFill>
            <a:prstDash val="solid"/>
            <a:miter lim="800000"/>
            <a:headEnd len="sm" w="sm" type="none"/>
            <a:tailEnd len="sm" w="sm" type="none"/>
          </a:ln>
        </p:spPr>
      </p:cxnSp>
      <p:pic>
        <p:nvPicPr>
          <p:cNvPr id="409" name="Google Shape;409;p43"/>
          <p:cNvPicPr preferRelativeResize="0"/>
          <p:nvPr/>
        </p:nvPicPr>
        <p:blipFill>
          <a:blip r:embed="rId3">
            <a:alphaModFix/>
          </a:blip>
          <a:stretch>
            <a:fillRect/>
          </a:stretch>
        </p:blipFill>
        <p:spPr>
          <a:xfrm>
            <a:off x="681936" y="2466808"/>
            <a:ext cx="441755" cy="441772"/>
          </a:xfrm>
          <a:prstGeom prst="rect">
            <a:avLst/>
          </a:prstGeom>
          <a:noFill/>
          <a:ln>
            <a:noFill/>
          </a:ln>
        </p:spPr>
      </p:pic>
      <p:pic>
        <p:nvPicPr>
          <p:cNvPr id="410" name="Google Shape;410;p43"/>
          <p:cNvPicPr preferRelativeResize="0"/>
          <p:nvPr/>
        </p:nvPicPr>
        <p:blipFill>
          <a:blip r:embed="rId4">
            <a:alphaModFix/>
          </a:blip>
          <a:stretch>
            <a:fillRect/>
          </a:stretch>
        </p:blipFill>
        <p:spPr>
          <a:xfrm>
            <a:off x="681935" y="2999582"/>
            <a:ext cx="441755" cy="441772"/>
          </a:xfrm>
          <a:prstGeom prst="rect">
            <a:avLst/>
          </a:prstGeom>
          <a:noFill/>
          <a:ln>
            <a:noFill/>
          </a:ln>
        </p:spPr>
      </p:pic>
      <p:pic>
        <p:nvPicPr>
          <p:cNvPr id="411" name="Google Shape;411;p43"/>
          <p:cNvPicPr preferRelativeResize="0"/>
          <p:nvPr/>
        </p:nvPicPr>
        <p:blipFill>
          <a:blip r:embed="rId5">
            <a:alphaModFix/>
          </a:blip>
          <a:stretch>
            <a:fillRect/>
          </a:stretch>
        </p:blipFill>
        <p:spPr>
          <a:xfrm>
            <a:off x="690435" y="1998279"/>
            <a:ext cx="424746" cy="424759"/>
          </a:xfrm>
          <a:prstGeom prst="rect">
            <a:avLst/>
          </a:prstGeom>
          <a:noFill/>
          <a:ln>
            <a:noFill/>
          </a:ln>
        </p:spPr>
      </p:pic>
      <p:pic>
        <p:nvPicPr>
          <p:cNvPr id="412" name="Google Shape;412;p43"/>
          <p:cNvPicPr preferRelativeResize="0"/>
          <p:nvPr/>
        </p:nvPicPr>
        <p:blipFill>
          <a:blip r:embed="rId6">
            <a:alphaModFix/>
          </a:blip>
          <a:stretch>
            <a:fillRect/>
          </a:stretch>
        </p:blipFill>
        <p:spPr>
          <a:xfrm>
            <a:off x="718374" y="4017879"/>
            <a:ext cx="441755" cy="441772"/>
          </a:xfrm>
          <a:prstGeom prst="rect">
            <a:avLst/>
          </a:prstGeom>
          <a:noFill/>
          <a:ln>
            <a:noFill/>
          </a:ln>
        </p:spPr>
      </p:pic>
      <p:pic>
        <p:nvPicPr>
          <p:cNvPr id="413" name="Google Shape;413;p43"/>
          <p:cNvPicPr preferRelativeResize="0"/>
          <p:nvPr/>
        </p:nvPicPr>
        <p:blipFill>
          <a:blip r:embed="rId7">
            <a:alphaModFix/>
          </a:blip>
          <a:stretch>
            <a:fillRect/>
          </a:stretch>
        </p:blipFill>
        <p:spPr>
          <a:xfrm>
            <a:off x="718382" y="3532349"/>
            <a:ext cx="441755" cy="441772"/>
          </a:xfrm>
          <a:prstGeom prst="rect">
            <a:avLst/>
          </a:prstGeom>
          <a:noFill/>
          <a:ln>
            <a:noFill/>
          </a:ln>
        </p:spPr>
      </p:pic>
      <p:sp>
        <p:nvSpPr>
          <p:cNvPr id="414" name="Google Shape;414;p43"/>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415" name="Google Shape;415;p43"/>
          <p:cNvSpPr txBox="1"/>
          <p:nvPr>
            <p:ph idx="4294967295" type="title"/>
          </p:nvPr>
        </p:nvSpPr>
        <p:spPr>
          <a:xfrm>
            <a:off x="198850" y="345525"/>
            <a:ext cx="86094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Play"/>
              <a:buNone/>
            </a:pPr>
            <a:r>
              <a:rPr lang="es" sz="1700"/>
              <a:t>Selecting the right strategy in achieving our targets to bring long-term success</a:t>
            </a:r>
            <a:endParaRPr sz="2700"/>
          </a:p>
        </p:txBody>
      </p:sp>
      <p:sp>
        <p:nvSpPr>
          <p:cNvPr id="416" name="Google Shape;416;p43"/>
          <p:cNvSpPr/>
          <p:nvPr/>
        </p:nvSpPr>
        <p:spPr>
          <a:xfrm>
            <a:off x="3265760" y="1385842"/>
            <a:ext cx="1577100" cy="360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1100"/>
              <a:buFont typeface="Calibri"/>
              <a:buNone/>
            </a:pPr>
            <a:r>
              <a:rPr lang="es" sz="1100">
                <a:solidFill>
                  <a:schemeClr val="dk1"/>
                </a:solidFill>
                <a:latin typeface="Calibri"/>
                <a:ea typeface="Calibri"/>
                <a:cs typeface="Calibri"/>
                <a:sym typeface="Calibri"/>
              </a:rPr>
              <a:t>Forbidden City </a:t>
            </a:r>
            <a:endParaRPr sz="1400">
              <a:solidFill>
                <a:schemeClr val="dk1"/>
              </a:solidFill>
              <a:latin typeface="Arial"/>
              <a:ea typeface="Arial"/>
              <a:cs typeface="Arial"/>
              <a:sym typeface="Arial"/>
            </a:endParaRPr>
          </a:p>
        </p:txBody>
      </p:sp>
      <p:sp>
        <p:nvSpPr>
          <p:cNvPr id="417" name="Google Shape;417;p43"/>
          <p:cNvSpPr/>
          <p:nvPr/>
        </p:nvSpPr>
        <p:spPr>
          <a:xfrm>
            <a:off x="5030629" y="1385842"/>
            <a:ext cx="1577100" cy="360600"/>
          </a:xfrm>
          <a:prstGeom prst="rect">
            <a:avLst/>
          </a:prstGeom>
          <a:solidFill>
            <a:srgbClr val="FAE2D5"/>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1100"/>
              <a:buFont typeface="Calibri"/>
              <a:buNone/>
            </a:pPr>
            <a:r>
              <a:rPr lang="es" sz="1100">
                <a:solidFill>
                  <a:schemeClr val="dk1"/>
                </a:solidFill>
                <a:latin typeface="Calibri"/>
                <a:ea typeface="Calibri"/>
                <a:cs typeface="Calibri"/>
                <a:sym typeface="Calibri"/>
              </a:rPr>
              <a:t>Hybrid </a:t>
            </a:r>
            <a:endParaRPr sz="1400">
              <a:solidFill>
                <a:schemeClr val="dk1"/>
              </a:solidFill>
              <a:latin typeface="Arial"/>
              <a:ea typeface="Arial"/>
              <a:cs typeface="Arial"/>
              <a:sym typeface="Arial"/>
            </a:endParaRPr>
          </a:p>
        </p:txBody>
      </p:sp>
      <p:sp>
        <p:nvSpPr>
          <p:cNvPr id="418" name="Google Shape;418;p43"/>
          <p:cNvSpPr/>
          <p:nvPr/>
        </p:nvSpPr>
        <p:spPr>
          <a:xfrm>
            <a:off x="6795498" y="1385842"/>
            <a:ext cx="1577100" cy="360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1100"/>
              <a:buFont typeface="Calibri"/>
              <a:buNone/>
            </a:pPr>
            <a:r>
              <a:rPr lang="es" sz="1100">
                <a:solidFill>
                  <a:schemeClr val="dk1"/>
                </a:solidFill>
                <a:latin typeface="Calibri"/>
                <a:ea typeface="Calibri"/>
                <a:cs typeface="Calibri"/>
                <a:sym typeface="Calibri"/>
              </a:rPr>
              <a:t>Wild Dog</a:t>
            </a:r>
            <a:endParaRPr sz="1400">
              <a:solidFill>
                <a:schemeClr val="dk1"/>
              </a:solidFill>
              <a:latin typeface="Arial"/>
              <a:ea typeface="Arial"/>
              <a:cs typeface="Arial"/>
              <a:sym typeface="Arial"/>
            </a:endParaRPr>
          </a:p>
        </p:txBody>
      </p:sp>
      <p:sp>
        <p:nvSpPr>
          <p:cNvPr id="419" name="Google Shape;419;p43"/>
          <p:cNvSpPr/>
          <p:nvPr/>
        </p:nvSpPr>
        <p:spPr>
          <a:xfrm>
            <a:off x="681927" y="1383411"/>
            <a:ext cx="2220000" cy="360600"/>
          </a:xfrm>
          <a:prstGeom prst="rect">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1100"/>
              <a:buFont typeface="Calibri"/>
              <a:buNone/>
            </a:pPr>
            <a:r>
              <a:rPr lang="es" sz="1100">
                <a:solidFill>
                  <a:schemeClr val="lt1"/>
                </a:solidFill>
                <a:latin typeface="Calibri"/>
                <a:ea typeface="Calibri"/>
                <a:cs typeface="Calibri"/>
                <a:sym typeface="Calibri"/>
              </a:rPr>
              <a:t>Criteria</a:t>
            </a:r>
            <a:endParaRPr sz="1400">
              <a:solidFill>
                <a:schemeClr val="dk1"/>
              </a:solidFill>
              <a:latin typeface="Arial"/>
              <a:ea typeface="Arial"/>
              <a:cs typeface="Arial"/>
              <a:sym typeface="Arial"/>
            </a:endParaRPr>
          </a:p>
        </p:txBody>
      </p:sp>
      <p:sp>
        <p:nvSpPr>
          <p:cNvPr id="420" name="Google Shape;420;p43"/>
          <p:cNvSpPr txBox="1"/>
          <p:nvPr/>
        </p:nvSpPr>
        <p:spPr>
          <a:xfrm>
            <a:off x="1323951" y="2071475"/>
            <a:ext cx="16809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Operational Control </a:t>
            </a:r>
            <a:endParaRPr sz="1400">
              <a:solidFill>
                <a:schemeClr val="dk1"/>
              </a:solidFill>
              <a:latin typeface="Arial"/>
              <a:ea typeface="Arial"/>
              <a:cs typeface="Arial"/>
              <a:sym typeface="Arial"/>
            </a:endParaRPr>
          </a:p>
        </p:txBody>
      </p:sp>
      <p:sp>
        <p:nvSpPr>
          <p:cNvPr id="421" name="Google Shape;421;p43"/>
          <p:cNvSpPr txBox="1"/>
          <p:nvPr/>
        </p:nvSpPr>
        <p:spPr>
          <a:xfrm>
            <a:off x="1348000" y="2560788"/>
            <a:ext cx="15771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Speed of Expansion</a:t>
            </a:r>
            <a:endParaRPr sz="1400">
              <a:solidFill>
                <a:schemeClr val="dk1"/>
              </a:solidFill>
              <a:latin typeface="Arial"/>
              <a:ea typeface="Arial"/>
              <a:cs typeface="Arial"/>
              <a:sym typeface="Arial"/>
            </a:endParaRPr>
          </a:p>
        </p:txBody>
      </p:sp>
      <p:sp>
        <p:nvSpPr>
          <p:cNvPr id="422" name="Google Shape;422;p43"/>
          <p:cNvSpPr txBox="1"/>
          <p:nvPr/>
        </p:nvSpPr>
        <p:spPr>
          <a:xfrm>
            <a:off x="1347997" y="3082705"/>
            <a:ext cx="1366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Capital Intensity</a:t>
            </a:r>
            <a:endParaRPr sz="1400">
              <a:solidFill>
                <a:schemeClr val="dk1"/>
              </a:solidFill>
              <a:latin typeface="Arial"/>
              <a:ea typeface="Arial"/>
              <a:cs typeface="Arial"/>
              <a:sym typeface="Arial"/>
            </a:endParaRPr>
          </a:p>
        </p:txBody>
      </p:sp>
      <p:sp>
        <p:nvSpPr>
          <p:cNvPr id="423" name="Google Shape;423;p43"/>
          <p:cNvSpPr txBox="1"/>
          <p:nvPr/>
        </p:nvSpPr>
        <p:spPr>
          <a:xfrm>
            <a:off x="1382488" y="3597275"/>
            <a:ext cx="16809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Gross </a:t>
            </a:r>
            <a:r>
              <a:rPr b="1" lang="es" sz="1200">
                <a:solidFill>
                  <a:schemeClr val="dk1"/>
                </a:solidFill>
                <a:latin typeface="Calibri"/>
                <a:ea typeface="Calibri"/>
                <a:cs typeface="Calibri"/>
                <a:sym typeface="Calibri"/>
              </a:rPr>
              <a:t>Profit Margin</a:t>
            </a:r>
            <a:endParaRPr sz="1400">
              <a:solidFill>
                <a:schemeClr val="dk1"/>
              </a:solidFill>
              <a:latin typeface="Arial"/>
              <a:ea typeface="Arial"/>
              <a:cs typeface="Arial"/>
              <a:sym typeface="Arial"/>
            </a:endParaRPr>
          </a:p>
        </p:txBody>
      </p:sp>
      <p:sp>
        <p:nvSpPr>
          <p:cNvPr id="424" name="Google Shape;424;p43"/>
          <p:cNvSpPr txBox="1"/>
          <p:nvPr/>
        </p:nvSpPr>
        <p:spPr>
          <a:xfrm>
            <a:off x="1323950" y="4111850"/>
            <a:ext cx="14808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Brand Consistency</a:t>
            </a:r>
            <a:endParaRPr sz="1400">
              <a:solidFill>
                <a:schemeClr val="dk1"/>
              </a:solidFill>
              <a:latin typeface="Arial"/>
              <a:ea typeface="Arial"/>
              <a:cs typeface="Arial"/>
              <a:sym typeface="Arial"/>
            </a:endParaRPr>
          </a:p>
        </p:txBody>
      </p:sp>
      <p:sp>
        <p:nvSpPr>
          <p:cNvPr id="425" name="Google Shape;425;p43"/>
          <p:cNvSpPr/>
          <p:nvPr/>
        </p:nvSpPr>
        <p:spPr>
          <a:xfrm>
            <a:off x="3905510" y="2502647"/>
            <a:ext cx="297600" cy="2976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26" name="Google Shape;426;p43"/>
          <p:cNvSpPr/>
          <p:nvPr/>
        </p:nvSpPr>
        <p:spPr>
          <a:xfrm>
            <a:off x="7435248" y="1964081"/>
            <a:ext cx="297600" cy="2976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27" name="Google Shape;427;p43"/>
          <p:cNvSpPr/>
          <p:nvPr/>
        </p:nvSpPr>
        <p:spPr>
          <a:xfrm>
            <a:off x="3905498" y="1975760"/>
            <a:ext cx="297600" cy="2976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28" name="Google Shape;428;p43"/>
          <p:cNvSpPr/>
          <p:nvPr/>
        </p:nvSpPr>
        <p:spPr>
          <a:xfrm>
            <a:off x="3905510" y="3029560"/>
            <a:ext cx="297600" cy="2976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29" name="Google Shape;429;p43"/>
          <p:cNvSpPr/>
          <p:nvPr/>
        </p:nvSpPr>
        <p:spPr>
          <a:xfrm>
            <a:off x="3905498" y="4083360"/>
            <a:ext cx="297600" cy="2976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30" name="Google Shape;430;p43"/>
          <p:cNvSpPr/>
          <p:nvPr/>
        </p:nvSpPr>
        <p:spPr>
          <a:xfrm>
            <a:off x="5670373" y="1964068"/>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31" name="Google Shape;431;p43"/>
          <p:cNvSpPr/>
          <p:nvPr/>
        </p:nvSpPr>
        <p:spPr>
          <a:xfrm>
            <a:off x="5670373" y="2479293"/>
            <a:ext cx="297600" cy="2976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32" name="Google Shape;432;p43"/>
          <p:cNvSpPr/>
          <p:nvPr/>
        </p:nvSpPr>
        <p:spPr>
          <a:xfrm>
            <a:off x="5670373" y="2994518"/>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33" name="Google Shape;433;p43"/>
          <p:cNvSpPr/>
          <p:nvPr/>
        </p:nvSpPr>
        <p:spPr>
          <a:xfrm>
            <a:off x="7435248" y="2479310"/>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34" name="Google Shape;434;p43"/>
          <p:cNvSpPr/>
          <p:nvPr/>
        </p:nvSpPr>
        <p:spPr>
          <a:xfrm>
            <a:off x="7435248" y="2994535"/>
            <a:ext cx="297600" cy="2976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35" name="Google Shape;435;p43"/>
          <p:cNvSpPr/>
          <p:nvPr/>
        </p:nvSpPr>
        <p:spPr>
          <a:xfrm>
            <a:off x="7435248" y="4068043"/>
            <a:ext cx="297600" cy="2976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36" name="Google Shape;436;p43"/>
          <p:cNvSpPr txBox="1"/>
          <p:nvPr/>
        </p:nvSpPr>
        <p:spPr>
          <a:xfrm>
            <a:off x="3285776" y="3660825"/>
            <a:ext cx="1555200" cy="1848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1200">
                <a:solidFill>
                  <a:schemeClr val="dk1"/>
                </a:solidFill>
                <a:latin typeface="Quattrocento Sans"/>
                <a:ea typeface="Quattrocento Sans"/>
                <a:cs typeface="Quattrocento Sans"/>
                <a:sym typeface="Quattrocento Sans"/>
              </a:rPr>
              <a:t>~32%</a:t>
            </a:r>
            <a:endParaRPr sz="1100">
              <a:solidFill>
                <a:schemeClr val="dk1"/>
              </a:solidFill>
              <a:latin typeface="Quattrocento Sans"/>
              <a:ea typeface="Quattrocento Sans"/>
              <a:cs typeface="Quattrocento Sans"/>
              <a:sym typeface="Quattrocento Sans"/>
            </a:endParaRPr>
          </a:p>
        </p:txBody>
      </p:sp>
      <p:sp>
        <p:nvSpPr>
          <p:cNvPr id="437" name="Google Shape;437;p43"/>
          <p:cNvSpPr txBox="1"/>
          <p:nvPr/>
        </p:nvSpPr>
        <p:spPr>
          <a:xfrm>
            <a:off x="5036101" y="3639088"/>
            <a:ext cx="1555200" cy="1848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1200">
                <a:solidFill>
                  <a:schemeClr val="dk1"/>
                </a:solidFill>
                <a:latin typeface="Quattrocento Sans"/>
                <a:ea typeface="Quattrocento Sans"/>
                <a:cs typeface="Quattrocento Sans"/>
                <a:sym typeface="Quattrocento Sans"/>
              </a:rPr>
              <a:t>~30%</a:t>
            </a:r>
            <a:endParaRPr sz="1100">
              <a:solidFill>
                <a:schemeClr val="dk1"/>
              </a:solidFill>
              <a:latin typeface="Quattrocento Sans"/>
              <a:ea typeface="Quattrocento Sans"/>
              <a:cs typeface="Quattrocento Sans"/>
              <a:sym typeface="Quattrocento Sans"/>
            </a:endParaRPr>
          </a:p>
        </p:txBody>
      </p:sp>
      <p:sp>
        <p:nvSpPr>
          <p:cNvPr id="438" name="Google Shape;438;p43"/>
          <p:cNvSpPr txBox="1"/>
          <p:nvPr/>
        </p:nvSpPr>
        <p:spPr>
          <a:xfrm>
            <a:off x="6806451" y="3639088"/>
            <a:ext cx="1555200" cy="1848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1200">
                <a:solidFill>
                  <a:schemeClr val="dk1"/>
                </a:solidFill>
                <a:latin typeface="Quattrocento Sans"/>
                <a:ea typeface="Quattrocento Sans"/>
                <a:cs typeface="Quattrocento Sans"/>
                <a:sym typeface="Quattrocento Sans"/>
              </a:rPr>
              <a:t>~25% </a:t>
            </a:r>
            <a:endParaRPr sz="1100">
              <a:solidFill>
                <a:schemeClr val="dk1"/>
              </a:solidFill>
              <a:latin typeface="Quattrocento Sans"/>
              <a:ea typeface="Quattrocento Sans"/>
              <a:cs typeface="Quattrocento Sans"/>
              <a:sym typeface="Quattrocento Sans"/>
            </a:endParaRPr>
          </a:p>
        </p:txBody>
      </p:sp>
      <p:sp>
        <p:nvSpPr>
          <p:cNvPr id="439" name="Google Shape;439;p43"/>
          <p:cNvSpPr/>
          <p:nvPr/>
        </p:nvSpPr>
        <p:spPr>
          <a:xfrm>
            <a:off x="5670385" y="4087985"/>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40" name="Google Shape;440;p43"/>
          <p:cNvSpPr/>
          <p:nvPr/>
        </p:nvSpPr>
        <p:spPr>
          <a:xfrm>
            <a:off x="5029688" y="1400050"/>
            <a:ext cx="1577100" cy="3186600"/>
          </a:xfrm>
          <a:prstGeom prst="rect">
            <a:avLst/>
          </a:prstGeom>
          <a:noFill/>
          <a:ln cap="flat" cmpd="sng" w="38100">
            <a:solidFill>
              <a:srgbClr val="C00000"/>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41" name="Google Shape;441;p43"/>
          <p:cNvCxnSpPr/>
          <p:nvPr/>
        </p:nvCxnSpPr>
        <p:spPr>
          <a:xfrm>
            <a:off x="4166996" y="4790797"/>
            <a:ext cx="405000" cy="0"/>
          </a:xfrm>
          <a:prstGeom prst="straightConnector1">
            <a:avLst/>
          </a:prstGeom>
          <a:noFill/>
          <a:ln cap="flat" cmpd="sng" w="12700">
            <a:solidFill>
              <a:srgbClr val="C00000"/>
            </a:solidFill>
            <a:prstDash val="solid"/>
            <a:miter lim="800000"/>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4"/>
          <p:cNvSpPr txBox="1"/>
          <p:nvPr/>
        </p:nvSpPr>
        <p:spPr>
          <a:xfrm>
            <a:off x="198853" y="102394"/>
            <a:ext cx="14808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Alternative Analysis </a:t>
            </a:r>
            <a:endParaRPr sz="1100"/>
          </a:p>
        </p:txBody>
      </p:sp>
      <p:cxnSp>
        <p:nvCxnSpPr>
          <p:cNvPr id="447" name="Google Shape;447;p44"/>
          <p:cNvCxnSpPr/>
          <p:nvPr/>
        </p:nvCxnSpPr>
        <p:spPr>
          <a:xfrm>
            <a:off x="309454" y="1168217"/>
            <a:ext cx="8609400" cy="0"/>
          </a:xfrm>
          <a:prstGeom prst="straightConnector1">
            <a:avLst/>
          </a:prstGeom>
          <a:noFill/>
          <a:ln cap="flat" cmpd="sng" w="9525">
            <a:solidFill>
              <a:srgbClr val="595959"/>
            </a:solidFill>
            <a:prstDash val="solid"/>
            <a:miter lim="800000"/>
            <a:headEnd len="sm" w="sm" type="none"/>
            <a:tailEnd len="sm" w="sm" type="none"/>
          </a:ln>
        </p:spPr>
      </p:cxnSp>
      <p:sp>
        <p:nvSpPr>
          <p:cNvPr id="448" name="Google Shape;448;p44"/>
          <p:cNvSpPr txBox="1"/>
          <p:nvPr/>
        </p:nvSpPr>
        <p:spPr>
          <a:xfrm>
            <a:off x="314536" y="864168"/>
            <a:ext cx="17667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rgbClr val="262626"/>
              </a:buClr>
              <a:buSzPts val="1400"/>
              <a:buFont typeface="Calibri"/>
              <a:buNone/>
            </a:pPr>
            <a:r>
              <a:rPr lang="es" sz="1400">
                <a:solidFill>
                  <a:srgbClr val="262626"/>
                </a:solidFill>
                <a:latin typeface="Calibri"/>
                <a:ea typeface="Calibri"/>
                <a:cs typeface="Calibri"/>
                <a:sym typeface="Calibri"/>
              </a:rPr>
              <a:t>Alternative Analysis</a:t>
            </a:r>
            <a:endParaRPr sz="1400">
              <a:solidFill>
                <a:schemeClr val="dk1"/>
              </a:solidFill>
              <a:latin typeface="Arial"/>
              <a:ea typeface="Arial"/>
              <a:cs typeface="Arial"/>
              <a:sym typeface="Arial"/>
            </a:endParaRPr>
          </a:p>
        </p:txBody>
      </p:sp>
      <p:sp>
        <p:nvSpPr>
          <p:cNvPr id="449" name="Google Shape;449;p44"/>
          <p:cNvSpPr/>
          <p:nvPr/>
        </p:nvSpPr>
        <p:spPr>
          <a:xfrm>
            <a:off x="7392129" y="885510"/>
            <a:ext cx="143700" cy="1437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50" name="Google Shape;450;p44"/>
          <p:cNvSpPr/>
          <p:nvPr/>
        </p:nvSpPr>
        <p:spPr>
          <a:xfrm>
            <a:off x="7782338" y="883201"/>
            <a:ext cx="143700" cy="1437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cxnSp>
        <p:nvCxnSpPr>
          <p:cNvPr id="451" name="Google Shape;451;p44"/>
          <p:cNvCxnSpPr>
            <a:stCxn id="449" idx="6"/>
            <a:endCxn id="450" idx="2"/>
          </p:cNvCxnSpPr>
          <p:nvPr/>
        </p:nvCxnSpPr>
        <p:spPr>
          <a:xfrm flipH="1" rot="10800000">
            <a:off x="7535829" y="954960"/>
            <a:ext cx="246600" cy="2400"/>
          </a:xfrm>
          <a:prstGeom prst="straightConnector1">
            <a:avLst/>
          </a:prstGeom>
          <a:noFill/>
          <a:ln cap="flat" cmpd="sng" w="9525">
            <a:solidFill>
              <a:schemeClr val="accent1"/>
            </a:solidFill>
            <a:prstDash val="solid"/>
            <a:miter lim="800000"/>
            <a:headEnd len="sm" w="sm" type="none"/>
            <a:tailEnd len="med" w="med" type="triangle"/>
          </a:ln>
        </p:spPr>
      </p:cxnSp>
      <p:sp>
        <p:nvSpPr>
          <p:cNvPr id="452" name="Google Shape;452;p44"/>
          <p:cNvSpPr txBox="1"/>
          <p:nvPr/>
        </p:nvSpPr>
        <p:spPr>
          <a:xfrm>
            <a:off x="7926026" y="878050"/>
            <a:ext cx="696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700"/>
              <a:buFont typeface="Calibri"/>
              <a:buNone/>
            </a:pPr>
            <a:r>
              <a:rPr lang="es" sz="700">
                <a:solidFill>
                  <a:schemeClr val="dk1"/>
                </a:solidFill>
                <a:latin typeface="Calibri"/>
                <a:ea typeface="Calibri"/>
                <a:cs typeface="Calibri"/>
                <a:sym typeface="Calibri"/>
              </a:rPr>
              <a:t>Best Alternative</a:t>
            </a:r>
            <a:endParaRPr sz="1400">
              <a:solidFill>
                <a:schemeClr val="dk1"/>
              </a:solidFill>
              <a:latin typeface="Arial"/>
              <a:ea typeface="Arial"/>
              <a:cs typeface="Arial"/>
              <a:sym typeface="Arial"/>
            </a:endParaRPr>
          </a:p>
        </p:txBody>
      </p:sp>
      <p:sp>
        <p:nvSpPr>
          <p:cNvPr id="453" name="Google Shape;453;p44"/>
          <p:cNvSpPr txBox="1"/>
          <p:nvPr/>
        </p:nvSpPr>
        <p:spPr>
          <a:xfrm>
            <a:off x="6707711" y="871921"/>
            <a:ext cx="696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700"/>
              <a:buFont typeface="Calibri"/>
              <a:buNone/>
            </a:pPr>
            <a:r>
              <a:rPr lang="es" sz="700">
                <a:solidFill>
                  <a:schemeClr val="dk1"/>
                </a:solidFill>
                <a:latin typeface="Calibri"/>
                <a:ea typeface="Calibri"/>
                <a:cs typeface="Calibri"/>
                <a:sym typeface="Calibri"/>
              </a:rPr>
              <a:t>Worst  Alternative</a:t>
            </a:r>
            <a:endParaRPr sz="1400">
              <a:solidFill>
                <a:schemeClr val="dk1"/>
              </a:solidFill>
              <a:latin typeface="Arial"/>
              <a:ea typeface="Arial"/>
              <a:cs typeface="Arial"/>
              <a:sym typeface="Arial"/>
            </a:endParaRPr>
          </a:p>
        </p:txBody>
      </p:sp>
      <p:cxnSp>
        <p:nvCxnSpPr>
          <p:cNvPr id="454" name="Google Shape;454;p44"/>
          <p:cNvCxnSpPr/>
          <p:nvPr/>
        </p:nvCxnSpPr>
        <p:spPr>
          <a:xfrm>
            <a:off x="3090652" y="1541054"/>
            <a:ext cx="0" cy="3045600"/>
          </a:xfrm>
          <a:prstGeom prst="straightConnector1">
            <a:avLst/>
          </a:prstGeom>
          <a:noFill/>
          <a:ln cap="flat" cmpd="sng" w="9525">
            <a:solidFill>
              <a:schemeClr val="lt2"/>
            </a:solidFill>
            <a:prstDash val="solid"/>
            <a:miter lim="800000"/>
            <a:headEnd len="sm" w="sm" type="none"/>
            <a:tailEnd len="sm" w="sm" type="none"/>
          </a:ln>
        </p:spPr>
      </p:cxnSp>
      <p:pic>
        <p:nvPicPr>
          <p:cNvPr id="455" name="Google Shape;455;p44"/>
          <p:cNvPicPr preferRelativeResize="0"/>
          <p:nvPr/>
        </p:nvPicPr>
        <p:blipFill>
          <a:blip r:embed="rId3">
            <a:alphaModFix/>
          </a:blip>
          <a:stretch>
            <a:fillRect/>
          </a:stretch>
        </p:blipFill>
        <p:spPr>
          <a:xfrm>
            <a:off x="681936" y="2466808"/>
            <a:ext cx="441755" cy="441772"/>
          </a:xfrm>
          <a:prstGeom prst="rect">
            <a:avLst/>
          </a:prstGeom>
          <a:noFill/>
          <a:ln>
            <a:noFill/>
          </a:ln>
        </p:spPr>
      </p:pic>
      <p:pic>
        <p:nvPicPr>
          <p:cNvPr id="456" name="Google Shape;456;p44"/>
          <p:cNvPicPr preferRelativeResize="0"/>
          <p:nvPr/>
        </p:nvPicPr>
        <p:blipFill>
          <a:blip r:embed="rId4">
            <a:alphaModFix/>
          </a:blip>
          <a:stretch>
            <a:fillRect/>
          </a:stretch>
        </p:blipFill>
        <p:spPr>
          <a:xfrm>
            <a:off x="681935" y="2999582"/>
            <a:ext cx="441755" cy="441772"/>
          </a:xfrm>
          <a:prstGeom prst="rect">
            <a:avLst/>
          </a:prstGeom>
          <a:noFill/>
          <a:ln>
            <a:noFill/>
          </a:ln>
        </p:spPr>
      </p:pic>
      <p:pic>
        <p:nvPicPr>
          <p:cNvPr id="457" name="Google Shape;457;p44"/>
          <p:cNvPicPr preferRelativeResize="0"/>
          <p:nvPr/>
        </p:nvPicPr>
        <p:blipFill>
          <a:blip r:embed="rId5">
            <a:alphaModFix/>
          </a:blip>
          <a:stretch>
            <a:fillRect/>
          </a:stretch>
        </p:blipFill>
        <p:spPr>
          <a:xfrm>
            <a:off x="690435" y="1998279"/>
            <a:ext cx="424746" cy="424759"/>
          </a:xfrm>
          <a:prstGeom prst="rect">
            <a:avLst/>
          </a:prstGeom>
          <a:noFill/>
          <a:ln>
            <a:noFill/>
          </a:ln>
        </p:spPr>
      </p:pic>
      <p:pic>
        <p:nvPicPr>
          <p:cNvPr id="458" name="Google Shape;458;p44"/>
          <p:cNvPicPr preferRelativeResize="0"/>
          <p:nvPr/>
        </p:nvPicPr>
        <p:blipFill>
          <a:blip r:embed="rId6">
            <a:alphaModFix/>
          </a:blip>
          <a:stretch>
            <a:fillRect/>
          </a:stretch>
        </p:blipFill>
        <p:spPr>
          <a:xfrm>
            <a:off x="718374" y="4017879"/>
            <a:ext cx="441755" cy="441772"/>
          </a:xfrm>
          <a:prstGeom prst="rect">
            <a:avLst/>
          </a:prstGeom>
          <a:noFill/>
          <a:ln>
            <a:noFill/>
          </a:ln>
        </p:spPr>
      </p:pic>
      <p:pic>
        <p:nvPicPr>
          <p:cNvPr id="459" name="Google Shape;459;p44"/>
          <p:cNvPicPr preferRelativeResize="0"/>
          <p:nvPr/>
        </p:nvPicPr>
        <p:blipFill>
          <a:blip r:embed="rId7">
            <a:alphaModFix/>
          </a:blip>
          <a:stretch>
            <a:fillRect/>
          </a:stretch>
        </p:blipFill>
        <p:spPr>
          <a:xfrm>
            <a:off x="718382" y="3532349"/>
            <a:ext cx="441755" cy="441772"/>
          </a:xfrm>
          <a:prstGeom prst="rect">
            <a:avLst/>
          </a:prstGeom>
          <a:noFill/>
          <a:ln>
            <a:noFill/>
          </a:ln>
        </p:spPr>
      </p:pic>
      <p:sp>
        <p:nvSpPr>
          <p:cNvPr id="460" name="Google Shape;460;p44"/>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461" name="Google Shape;461;p44"/>
          <p:cNvSpPr txBox="1"/>
          <p:nvPr>
            <p:ph idx="4294967295" type="title"/>
          </p:nvPr>
        </p:nvSpPr>
        <p:spPr>
          <a:xfrm>
            <a:off x="198850" y="345525"/>
            <a:ext cx="86094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Play"/>
              <a:buNone/>
            </a:pPr>
            <a:r>
              <a:rPr lang="es" sz="1700"/>
              <a:t>Selecting the right strategy in achieving our targets to bring long-term success</a:t>
            </a:r>
            <a:endParaRPr sz="2700"/>
          </a:p>
        </p:txBody>
      </p:sp>
      <p:sp>
        <p:nvSpPr>
          <p:cNvPr id="462" name="Google Shape;462;p44"/>
          <p:cNvSpPr/>
          <p:nvPr/>
        </p:nvSpPr>
        <p:spPr>
          <a:xfrm>
            <a:off x="3265760" y="1385842"/>
            <a:ext cx="1577100" cy="360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1100"/>
              <a:buFont typeface="Calibri"/>
              <a:buNone/>
            </a:pPr>
            <a:r>
              <a:rPr lang="es" sz="1100">
                <a:solidFill>
                  <a:schemeClr val="dk1"/>
                </a:solidFill>
                <a:latin typeface="Calibri"/>
                <a:ea typeface="Calibri"/>
                <a:cs typeface="Calibri"/>
                <a:sym typeface="Calibri"/>
              </a:rPr>
              <a:t>Forbidden City </a:t>
            </a:r>
            <a:endParaRPr sz="1400">
              <a:solidFill>
                <a:schemeClr val="dk1"/>
              </a:solidFill>
              <a:latin typeface="Arial"/>
              <a:ea typeface="Arial"/>
              <a:cs typeface="Arial"/>
              <a:sym typeface="Arial"/>
            </a:endParaRPr>
          </a:p>
        </p:txBody>
      </p:sp>
      <p:sp>
        <p:nvSpPr>
          <p:cNvPr id="463" name="Google Shape;463;p44"/>
          <p:cNvSpPr/>
          <p:nvPr/>
        </p:nvSpPr>
        <p:spPr>
          <a:xfrm>
            <a:off x="5030629" y="1385842"/>
            <a:ext cx="1577100" cy="360600"/>
          </a:xfrm>
          <a:prstGeom prst="rect">
            <a:avLst/>
          </a:prstGeom>
          <a:solidFill>
            <a:srgbClr val="FAE2D5"/>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1100"/>
              <a:buFont typeface="Calibri"/>
              <a:buNone/>
            </a:pPr>
            <a:r>
              <a:rPr lang="es" sz="1100">
                <a:solidFill>
                  <a:schemeClr val="dk1"/>
                </a:solidFill>
                <a:latin typeface="Calibri"/>
                <a:ea typeface="Calibri"/>
                <a:cs typeface="Calibri"/>
                <a:sym typeface="Calibri"/>
              </a:rPr>
              <a:t>Hybrid </a:t>
            </a:r>
            <a:endParaRPr sz="1400">
              <a:solidFill>
                <a:schemeClr val="dk1"/>
              </a:solidFill>
              <a:latin typeface="Arial"/>
              <a:ea typeface="Arial"/>
              <a:cs typeface="Arial"/>
              <a:sym typeface="Arial"/>
            </a:endParaRPr>
          </a:p>
        </p:txBody>
      </p:sp>
      <p:sp>
        <p:nvSpPr>
          <p:cNvPr id="464" name="Google Shape;464;p44"/>
          <p:cNvSpPr/>
          <p:nvPr/>
        </p:nvSpPr>
        <p:spPr>
          <a:xfrm>
            <a:off x="6795498" y="1385842"/>
            <a:ext cx="1577100" cy="360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1100"/>
              <a:buFont typeface="Calibri"/>
              <a:buNone/>
            </a:pPr>
            <a:r>
              <a:rPr lang="es" sz="1100">
                <a:solidFill>
                  <a:schemeClr val="dk1"/>
                </a:solidFill>
                <a:latin typeface="Calibri"/>
                <a:ea typeface="Calibri"/>
                <a:cs typeface="Calibri"/>
                <a:sym typeface="Calibri"/>
              </a:rPr>
              <a:t>Wild Dog</a:t>
            </a:r>
            <a:endParaRPr sz="1400">
              <a:solidFill>
                <a:schemeClr val="dk1"/>
              </a:solidFill>
              <a:latin typeface="Arial"/>
              <a:ea typeface="Arial"/>
              <a:cs typeface="Arial"/>
              <a:sym typeface="Arial"/>
            </a:endParaRPr>
          </a:p>
        </p:txBody>
      </p:sp>
      <p:sp>
        <p:nvSpPr>
          <p:cNvPr id="465" name="Google Shape;465;p44"/>
          <p:cNvSpPr/>
          <p:nvPr/>
        </p:nvSpPr>
        <p:spPr>
          <a:xfrm>
            <a:off x="681927" y="1383411"/>
            <a:ext cx="2220000" cy="360600"/>
          </a:xfrm>
          <a:prstGeom prst="rect">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1100"/>
              <a:buFont typeface="Calibri"/>
              <a:buNone/>
            </a:pPr>
            <a:r>
              <a:rPr lang="es" sz="1100">
                <a:solidFill>
                  <a:schemeClr val="lt1"/>
                </a:solidFill>
                <a:latin typeface="Calibri"/>
                <a:ea typeface="Calibri"/>
                <a:cs typeface="Calibri"/>
                <a:sym typeface="Calibri"/>
              </a:rPr>
              <a:t>Criteria</a:t>
            </a:r>
            <a:endParaRPr sz="1400">
              <a:solidFill>
                <a:schemeClr val="dk1"/>
              </a:solidFill>
              <a:latin typeface="Arial"/>
              <a:ea typeface="Arial"/>
              <a:cs typeface="Arial"/>
              <a:sym typeface="Arial"/>
            </a:endParaRPr>
          </a:p>
        </p:txBody>
      </p:sp>
      <p:sp>
        <p:nvSpPr>
          <p:cNvPr id="466" name="Google Shape;466;p44"/>
          <p:cNvSpPr txBox="1"/>
          <p:nvPr/>
        </p:nvSpPr>
        <p:spPr>
          <a:xfrm>
            <a:off x="1323951" y="2071475"/>
            <a:ext cx="16809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Operational Control </a:t>
            </a:r>
            <a:endParaRPr sz="1400">
              <a:solidFill>
                <a:schemeClr val="dk1"/>
              </a:solidFill>
              <a:latin typeface="Arial"/>
              <a:ea typeface="Arial"/>
              <a:cs typeface="Arial"/>
              <a:sym typeface="Arial"/>
            </a:endParaRPr>
          </a:p>
        </p:txBody>
      </p:sp>
      <p:sp>
        <p:nvSpPr>
          <p:cNvPr id="467" name="Google Shape;467;p44"/>
          <p:cNvSpPr txBox="1"/>
          <p:nvPr/>
        </p:nvSpPr>
        <p:spPr>
          <a:xfrm>
            <a:off x="1348000" y="2560788"/>
            <a:ext cx="15771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Speed of Expansion</a:t>
            </a:r>
            <a:endParaRPr sz="1400">
              <a:solidFill>
                <a:schemeClr val="dk1"/>
              </a:solidFill>
              <a:latin typeface="Arial"/>
              <a:ea typeface="Arial"/>
              <a:cs typeface="Arial"/>
              <a:sym typeface="Arial"/>
            </a:endParaRPr>
          </a:p>
        </p:txBody>
      </p:sp>
      <p:sp>
        <p:nvSpPr>
          <p:cNvPr id="468" name="Google Shape;468;p44"/>
          <p:cNvSpPr txBox="1"/>
          <p:nvPr/>
        </p:nvSpPr>
        <p:spPr>
          <a:xfrm>
            <a:off x="1347997" y="3082705"/>
            <a:ext cx="1366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Capital Intensity</a:t>
            </a:r>
            <a:endParaRPr sz="1400">
              <a:solidFill>
                <a:schemeClr val="dk1"/>
              </a:solidFill>
              <a:latin typeface="Arial"/>
              <a:ea typeface="Arial"/>
              <a:cs typeface="Arial"/>
              <a:sym typeface="Arial"/>
            </a:endParaRPr>
          </a:p>
        </p:txBody>
      </p:sp>
      <p:sp>
        <p:nvSpPr>
          <p:cNvPr id="469" name="Google Shape;469;p44"/>
          <p:cNvSpPr txBox="1"/>
          <p:nvPr/>
        </p:nvSpPr>
        <p:spPr>
          <a:xfrm>
            <a:off x="1382488" y="3597275"/>
            <a:ext cx="16809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Gross Profit Margin</a:t>
            </a:r>
            <a:endParaRPr sz="1400">
              <a:solidFill>
                <a:schemeClr val="dk1"/>
              </a:solidFill>
              <a:latin typeface="Arial"/>
              <a:ea typeface="Arial"/>
              <a:cs typeface="Arial"/>
              <a:sym typeface="Arial"/>
            </a:endParaRPr>
          </a:p>
        </p:txBody>
      </p:sp>
      <p:sp>
        <p:nvSpPr>
          <p:cNvPr id="470" name="Google Shape;470;p44"/>
          <p:cNvSpPr txBox="1"/>
          <p:nvPr/>
        </p:nvSpPr>
        <p:spPr>
          <a:xfrm>
            <a:off x="1323950" y="4111850"/>
            <a:ext cx="14808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200"/>
              <a:buFont typeface="Calibri"/>
              <a:buNone/>
            </a:pPr>
            <a:r>
              <a:rPr b="1" lang="es" sz="1200">
                <a:solidFill>
                  <a:schemeClr val="dk1"/>
                </a:solidFill>
                <a:latin typeface="Calibri"/>
                <a:ea typeface="Calibri"/>
                <a:cs typeface="Calibri"/>
                <a:sym typeface="Calibri"/>
              </a:rPr>
              <a:t>Brand Consistency</a:t>
            </a:r>
            <a:endParaRPr sz="1400">
              <a:solidFill>
                <a:schemeClr val="dk1"/>
              </a:solidFill>
              <a:latin typeface="Arial"/>
              <a:ea typeface="Arial"/>
              <a:cs typeface="Arial"/>
              <a:sym typeface="Arial"/>
            </a:endParaRPr>
          </a:p>
        </p:txBody>
      </p:sp>
      <p:sp>
        <p:nvSpPr>
          <p:cNvPr id="471" name="Google Shape;471;p44"/>
          <p:cNvSpPr/>
          <p:nvPr/>
        </p:nvSpPr>
        <p:spPr>
          <a:xfrm>
            <a:off x="3905510" y="2502647"/>
            <a:ext cx="297600" cy="2976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72" name="Google Shape;472;p44"/>
          <p:cNvSpPr/>
          <p:nvPr/>
        </p:nvSpPr>
        <p:spPr>
          <a:xfrm>
            <a:off x="7435248" y="1964081"/>
            <a:ext cx="297600" cy="2976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73" name="Google Shape;473;p44"/>
          <p:cNvSpPr/>
          <p:nvPr/>
        </p:nvSpPr>
        <p:spPr>
          <a:xfrm>
            <a:off x="3905498" y="1975760"/>
            <a:ext cx="297600" cy="2976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74" name="Google Shape;474;p44"/>
          <p:cNvSpPr/>
          <p:nvPr/>
        </p:nvSpPr>
        <p:spPr>
          <a:xfrm>
            <a:off x="3905510" y="3029560"/>
            <a:ext cx="297600" cy="2976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75" name="Google Shape;475;p44"/>
          <p:cNvSpPr/>
          <p:nvPr/>
        </p:nvSpPr>
        <p:spPr>
          <a:xfrm>
            <a:off x="3905498" y="4083360"/>
            <a:ext cx="297600" cy="2976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76" name="Google Shape;476;p44"/>
          <p:cNvSpPr/>
          <p:nvPr/>
        </p:nvSpPr>
        <p:spPr>
          <a:xfrm>
            <a:off x="5670373" y="1964068"/>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77" name="Google Shape;477;p44"/>
          <p:cNvSpPr/>
          <p:nvPr/>
        </p:nvSpPr>
        <p:spPr>
          <a:xfrm>
            <a:off x="5670373" y="2479293"/>
            <a:ext cx="297600" cy="2976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78" name="Google Shape;478;p44"/>
          <p:cNvSpPr/>
          <p:nvPr/>
        </p:nvSpPr>
        <p:spPr>
          <a:xfrm>
            <a:off x="5670373" y="2994518"/>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79" name="Google Shape;479;p44"/>
          <p:cNvSpPr/>
          <p:nvPr/>
        </p:nvSpPr>
        <p:spPr>
          <a:xfrm>
            <a:off x="7435248" y="2479310"/>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80" name="Google Shape;480;p44"/>
          <p:cNvSpPr/>
          <p:nvPr/>
        </p:nvSpPr>
        <p:spPr>
          <a:xfrm>
            <a:off x="7435248" y="2994535"/>
            <a:ext cx="297600" cy="297600"/>
          </a:xfrm>
          <a:prstGeom prst="ellipse">
            <a:avLst/>
          </a:prstGeom>
          <a:solidFill>
            <a:srgbClr val="00B05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81" name="Google Shape;481;p44"/>
          <p:cNvSpPr/>
          <p:nvPr/>
        </p:nvSpPr>
        <p:spPr>
          <a:xfrm>
            <a:off x="7435248" y="4068043"/>
            <a:ext cx="297600" cy="2976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82" name="Google Shape;482;p44"/>
          <p:cNvSpPr txBox="1"/>
          <p:nvPr/>
        </p:nvSpPr>
        <p:spPr>
          <a:xfrm>
            <a:off x="3285776" y="3660825"/>
            <a:ext cx="1555200" cy="1848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1200">
                <a:solidFill>
                  <a:schemeClr val="dk1"/>
                </a:solidFill>
                <a:latin typeface="Quattrocento Sans"/>
                <a:ea typeface="Quattrocento Sans"/>
                <a:cs typeface="Quattrocento Sans"/>
                <a:sym typeface="Quattrocento Sans"/>
              </a:rPr>
              <a:t>~32%</a:t>
            </a:r>
            <a:endParaRPr sz="1100">
              <a:solidFill>
                <a:schemeClr val="dk1"/>
              </a:solidFill>
              <a:latin typeface="Quattrocento Sans"/>
              <a:ea typeface="Quattrocento Sans"/>
              <a:cs typeface="Quattrocento Sans"/>
              <a:sym typeface="Quattrocento Sans"/>
            </a:endParaRPr>
          </a:p>
        </p:txBody>
      </p:sp>
      <p:sp>
        <p:nvSpPr>
          <p:cNvPr id="483" name="Google Shape;483;p44"/>
          <p:cNvSpPr txBox="1"/>
          <p:nvPr/>
        </p:nvSpPr>
        <p:spPr>
          <a:xfrm>
            <a:off x="5036101" y="3639088"/>
            <a:ext cx="1555200" cy="1848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1200">
                <a:solidFill>
                  <a:schemeClr val="dk1"/>
                </a:solidFill>
                <a:latin typeface="Quattrocento Sans"/>
                <a:ea typeface="Quattrocento Sans"/>
                <a:cs typeface="Quattrocento Sans"/>
                <a:sym typeface="Quattrocento Sans"/>
              </a:rPr>
              <a:t>~30%</a:t>
            </a:r>
            <a:endParaRPr sz="1100">
              <a:solidFill>
                <a:schemeClr val="dk1"/>
              </a:solidFill>
              <a:latin typeface="Quattrocento Sans"/>
              <a:ea typeface="Quattrocento Sans"/>
              <a:cs typeface="Quattrocento Sans"/>
              <a:sym typeface="Quattrocento Sans"/>
            </a:endParaRPr>
          </a:p>
        </p:txBody>
      </p:sp>
      <p:sp>
        <p:nvSpPr>
          <p:cNvPr id="484" name="Google Shape;484;p44"/>
          <p:cNvSpPr txBox="1"/>
          <p:nvPr/>
        </p:nvSpPr>
        <p:spPr>
          <a:xfrm>
            <a:off x="6806451" y="3639088"/>
            <a:ext cx="1555200" cy="1848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s" sz="1200">
                <a:solidFill>
                  <a:schemeClr val="dk1"/>
                </a:solidFill>
                <a:latin typeface="Quattrocento Sans"/>
                <a:ea typeface="Quattrocento Sans"/>
                <a:cs typeface="Quattrocento Sans"/>
                <a:sym typeface="Quattrocento Sans"/>
              </a:rPr>
              <a:t>~25% </a:t>
            </a:r>
            <a:endParaRPr sz="1100">
              <a:solidFill>
                <a:schemeClr val="dk1"/>
              </a:solidFill>
              <a:latin typeface="Quattrocento Sans"/>
              <a:ea typeface="Quattrocento Sans"/>
              <a:cs typeface="Quattrocento Sans"/>
              <a:sym typeface="Quattrocento Sans"/>
            </a:endParaRPr>
          </a:p>
        </p:txBody>
      </p:sp>
      <p:sp>
        <p:nvSpPr>
          <p:cNvPr id="485" name="Google Shape;485;p44"/>
          <p:cNvSpPr/>
          <p:nvPr/>
        </p:nvSpPr>
        <p:spPr>
          <a:xfrm>
            <a:off x="5670385" y="4087985"/>
            <a:ext cx="297600" cy="297600"/>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Calibri"/>
              <a:ea typeface="Calibri"/>
              <a:cs typeface="Calibri"/>
              <a:sym typeface="Calibri"/>
            </a:endParaRPr>
          </a:p>
        </p:txBody>
      </p:sp>
      <p:sp>
        <p:nvSpPr>
          <p:cNvPr id="486" name="Google Shape;486;p44"/>
          <p:cNvSpPr/>
          <p:nvPr/>
        </p:nvSpPr>
        <p:spPr>
          <a:xfrm>
            <a:off x="5029688" y="1400050"/>
            <a:ext cx="1577100" cy="3186600"/>
          </a:xfrm>
          <a:prstGeom prst="rect">
            <a:avLst/>
          </a:prstGeom>
          <a:noFill/>
          <a:ln cap="flat" cmpd="sng" w="38100">
            <a:solidFill>
              <a:srgbClr val="C00000"/>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87" name="Google Shape;487;p44"/>
          <p:cNvCxnSpPr/>
          <p:nvPr/>
        </p:nvCxnSpPr>
        <p:spPr>
          <a:xfrm>
            <a:off x="4166996" y="4790797"/>
            <a:ext cx="405000" cy="0"/>
          </a:xfrm>
          <a:prstGeom prst="straightConnector1">
            <a:avLst/>
          </a:prstGeom>
          <a:noFill/>
          <a:ln cap="flat" cmpd="sng" w="12700">
            <a:solidFill>
              <a:srgbClr val="C00000"/>
            </a:solidFill>
            <a:prstDash val="solid"/>
            <a:miter lim="800000"/>
            <a:headEnd len="sm" w="sm" type="none"/>
            <a:tailEnd len="sm" w="sm" type="none"/>
          </a:ln>
        </p:spPr>
      </p:cxnSp>
      <p:sp>
        <p:nvSpPr>
          <p:cNvPr id="488" name="Google Shape;488;p44"/>
          <p:cNvSpPr/>
          <p:nvPr/>
        </p:nvSpPr>
        <p:spPr>
          <a:xfrm>
            <a:off x="-149675" y="-541575"/>
            <a:ext cx="9460800" cy="5753100"/>
          </a:xfrm>
          <a:prstGeom prst="rect">
            <a:avLst/>
          </a:prstGeom>
          <a:solidFill>
            <a:schemeClr val="dk1">
              <a:alpha val="62750"/>
            </a:scheme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800"/>
              <a:buFont typeface="Arial"/>
              <a:buNone/>
            </a:pPr>
            <a:r>
              <a:t/>
            </a:r>
            <a:endParaRPr b="0" i="0" sz="800" u="none" cap="none" strike="noStrike">
              <a:solidFill>
                <a:srgbClr val="FFFFFF"/>
              </a:solidFill>
              <a:latin typeface="Calibri"/>
              <a:ea typeface="Calibri"/>
              <a:cs typeface="Calibri"/>
              <a:sym typeface="Calibri"/>
            </a:endParaRPr>
          </a:p>
        </p:txBody>
      </p:sp>
      <p:sp>
        <p:nvSpPr>
          <p:cNvPr id="489" name="Google Shape;489;p44"/>
          <p:cNvSpPr/>
          <p:nvPr/>
        </p:nvSpPr>
        <p:spPr>
          <a:xfrm>
            <a:off x="-94200" y="2161425"/>
            <a:ext cx="9238200" cy="843900"/>
          </a:xfrm>
          <a:prstGeom prst="rect">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1100"/>
              <a:buFont typeface="Calibri"/>
              <a:buNone/>
            </a:pPr>
            <a:r>
              <a:rPr lang="es">
                <a:solidFill>
                  <a:schemeClr val="lt1"/>
                </a:solidFill>
                <a:latin typeface="Calibri"/>
                <a:ea typeface="Calibri"/>
                <a:cs typeface="Calibri"/>
                <a:sym typeface="Calibri"/>
              </a:rPr>
              <a:t>The Hybrid Strategy is the best option out of our alternatives, </a:t>
            </a:r>
            <a:endParaRPr>
              <a:solidFill>
                <a:schemeClr val="lt1"/>
              </a:solidFill>
              <a:latin typeface="Calibri"/>
              <a:ea typeface="Calibri"/>
              <a:cs typeface="Calibri"/>
              <a:sym typeface="Calibri"/>
            </a:endParaRPr>
          </a:p>
          <a:p>
            <a:pPr indent="0" lvl="0" marL="0" marR="0" rtl="0" algn="ctr">
              <a:spcBef>
                <a:spcPts val="0"/>
              </a:spcBef>
              <a:spcAft>
                <a:spcPts val="0"/>
              </a:spcAft>
              <a:buClr>
                <a:schemeClr val="lt1"/>
              </a:buClr>
              <a:buSzPts val="1100"/>
              <a:buFont typeface="Calibri"/>
              <a:buNone/>
            </a:pPr>
            <a:r>
              <a:rPr lang="es">
                <a:solidFill>
                  <a:schemeClr val="lt1"/>
                </a:solidFill>
                <a:latin typeface="Calibri"/>
                <a:ea typeface="Calibri"/>
                <a:cs typeface="Calibri"/>
                <a:sym typeface="Calibri"/>
              </a:rPr>
              <a:t>launching Forbidden City first &amp; then Wild Dog. </a:t>
            </a:r>
            <a:br>
              <a:rPr lang="es">
                <a:solidFill>
                  <a:schemeClr val="lt1"/>
                </a:solidFill>
                <a:latin typeface="Calibri"/>
                <a:ea typeface="Calibri"/>
                <a:cs typeface="Calibri"/>
                <a:sym typeface="Calibri"/>
              </a:rPr>
            </a:br>
            <a:r>
              <a:rPr lang="es">
                <a:solidFill>
                  <a:schemeClr val="lt1"/>
                </a:solidFill>
                <a:latin typeface="Calibri"/>
                <a:ea typeface="Calibri"/>
                <a:cs typeface="Calibri"/>
                <a:sym typeface="Calibri"/>
              </a:rPr>
              <a:t>But How can we implement it? </a:t>
            </a:r>
            <a:endParaRPr sz="17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pic>
        <p:nvPicPr>
          <p:cNvPr id="495" name="Google Shape;495;p45"/>
          <p:cNvPicPr preferRelativeResize="0"/>
          <p:nvPr/>
        </p:nvPicPr>
        <p:blipFill rotWithShape="1">
          <a:blip r:embed="rId3">
            <a:alphaModFix/>
          </a:blip>
          <a:srcRect b="7453" l="0" r="0" t="7462"/>
          <a:stretch/>
        </p:blipFill>
        <p:spPr>
          <a:xfrm>
            <a:off x="0" y="-42475"/>
            <a:ext cx="9144003" cy="5178000"/>
          </a:xfrm>
          <a:prstGeom prst="rect">
            <a:avLst/>
          </a:prstGeom>
          <a:noFill/>
          <a:ln>
            <a:noFill/>
          </a:ln>
        </p:spPr>
      </p:pic>
      <p:sp>
        <p:nvSpPr>
          <p:cNvPr id="496" name="Google Shape;496;p45"/>
          <p:cNvSpPr/>
          <p:nvPr/>
        </p:nvSpPr>
        <p:spPr>
          <a:xfrm>
            <a:off x="-149675" y="-541575"/>
            <a:ext cx="9460800" cy="5753100"/>
          </a:xfrm>
          <a:prstGeom prst="rect">
            <a:avLst/>
          </a:prstGeom>
          <a:solidFill>
            <a:schemeClr val="dk1">
              <a:alpha val="62750"/>
            </a:scheme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800"/>
              <a:buFont typeface="Arial"/>
              <a:buNone/>
            </a:pPr>
            <a:r>
              <a:t/>
            </a:r>
            <a:endParaRPr b="0" i="0" sz="800" u="none" cap="none" strike="noStrike">
              <a:solidFill>
                <a:srgbClr val="FFFFFF"/>
              </a:solidFill>
              <a:latin typeface="Calibri"/>
              <a:ea typeface="Calibri"/>
              <a:cs typeface="Calibri"/>
              <a:sym typeface="Calibri"/>
            </a:endParaRPr>
          </a:p>
        </p:txBody>
      </p:sp>
      <p:sp>
        <p:nvSpPr>
          <p:cNvPr id="497" name="Google Shape;497;p45"/>
          <p:cNvSpPr/>
          <p:nvPr/>
        </p:nvSpPr>
        <p:spPr>
          <a:xfrm>
            <a:off x="676850" y="1803568"/>
            <a:ext cx="37800" cy="1485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98" name="Google Shape;498;p45"/>
          <p:cNvSpPr txBox="1"/>
          <p:nvPr/>
        </p:nvSpPr>
        <p:spPr>
          <a:xfrm>
            <a:off x="812420" y="1605170"/>
            <a:ext cx="8234700" cy="1221300"/>
          </a:xfrm>
          <a:prstGeom prst="rect">
            <a:avLst/>
          </a:prstGeom>
          <a:noFill/>
          <a:ln>
            <a:noFill/>
          </a:ln>
        </p:spPr>
        <p:txBody>
          <a:bodyPr anchorCtr="0" anchor="b" bIns="34275" lIns="68575" spcFirstLastPara="1" rIns="68575" wrap="square" tIns="34275">
            <a:normAutofit/>
          </a:bodyPr>
          <a:lstStyle/>
          <a:p>
            <a:pPr indent="0" lvl="0" marL="0" marR="0" rtl="0" algn="l">
              <a:lnSpc>
                <a:spcPct val="120000"/>
              </a:lnSpc>
              <a:spcBef>
                <a:spcPts val="0"/>
              </a:spcBef>
              <a:spcAft>
                <a:spcPts val="0"/>
              </a:spcAft>
              <a:buClr>
                <a:schemeClr val="lt1"/>
              </a:buClr>
              <a:buSzPts val="3000"/>
              <a:buFont typeface="Quattrocento Sans"/>
              <a:buNone/>
            </a:pPr>
            <a:r>
              <a:rPr b="1" lang="es" sz="4000">
                <a:solidFill>
                  <a:schemeClr val="lt1"/>
                </a:solidFill>
                <a:latin typeface="Quattrocento Sans"/>
                <a:ea typeface="Quattrocento Sans"/>
                <a:cs typeface="Quattrocento Sans"/>
                <a:sym typeface="Quattrocento Sans"/>
              </a:rPr>
              <a:t>Implementation</a:t>
            </a:r>
            <a:endParaRPr sz="2100"/>
          </a:p>
        </p:txBody>
      </p:sp>
      <p:sp>
        <p:nvSpPr>
          <p:cNvPr id="499" name="Google Shape;499;p45"/>
          <p:cNvSpPr txBox="1"/>
          <p:nvPr>
            <p:ph idx="4294967295" type="sldNum"/>
          </p:nvPr>
        </p:nvSpPr>
        <p:spPr>
          <a:xfrm>
            <a:off x="6822737" y="4905545"/>
            <a:ext cx="2057400" cy="121200"/>
          </a:xfrm>
          <a:prstGeom prst="rect">
            <a:avLst/>
          </a:prstGeom>
          <a:noFill/>
          <a:ln>
            <a:noFill/>
          </a:ln>
        </p:spPr>
        <p:txBody>
          <a:bodyPr anchorCtr="0" anchor="ctr" bIns="34275" lIns="68575" spcFirstLastPara="1" rIns="68575" wrap="square" tIns="34275">
            <a:normAutofit fontScale="40000" lnSpcReduction="20000"/>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46"/>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s"/>
              <a:t>‹#›</a:t>
            </a:fld>
            <a:endParaRPr/>
          </a:p>
        </p:txBody>
      </p:sp>
      <p:sp>
        <p:nvSpPr>
          <p:cNvPr id="505" name="Google Shape;505;p46"/>
          <p:cNvSpPr txBox="1"/>
          <p:nvPr/>
        </p:nvSpPr>
        <p:spPr>
          <a:xfrm>
            <a:off x="198848" y="102400"/>
            <a:ext cx="26814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Strategy Implementation</a:t>
            </a:r>
            <a:endParaRPr sz="1100"/>
          </a:p>
        </p:txBody>
      </p:sp>
      <p:sp>
        <p:nvSpPr>
          <p:cNvPr id="506" name="Google Shape;506;p46"/>
          <p:cNvSpPr txBox="1"/>
          <p:nvPr>
            <p:ph idx="4294967295" type="title"/>
          </p:nvPr>
        </p:nvSpPr>
        <p:spPr>
          <a:xfrm>
            <a:off x="198850" y="345525"/>
            <a:ext cx="86094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Play"/>
              <a:buNone/>
            </a:pPr>
            <a:r>
              <a:rPr lang="es" sz="1800"/>
              <a:t>The Hows &amp; Whys on the </a:t>
            </a:r>
            <a:r>
              <a:rPr lang="es" sz="1800"/>
              <a:t>Hybrid Model</a:t>
            </a:r>
            <a:r>
              <a:rPr lang="es" sz="1800"/>
              <a:t> as the best fit for our goals</a:t>
            </a:r>
            <a:endParaRPr/>
          </a:p>
        </p:txBody>
      </p:sp>
      <p:grpSp>
        <p:nvGrpSpPr>
          <p:cNvPr id="507" name="Google Shape;507;p46"/>
          <p:cNvGrpSpPr/>
          <p:nvPr/>
        </p:nvGrpSpPr>
        <p:grpSpPr>
          <a:xfrm>
            <a:off x="2538712" y="981767"/>
            <a:ext cx="281250" cy="3659175"/>
            <a:chOff x="4457140" y="1171805"/>
            <a:chExt cx="375000" cy="4878900"/>
          </a:xfrm>
        </p:grpSpPr>
        <p:cxnSp>
          <p:nvCxnSpPr>
            <p:cNvPr id="508" name="Google Shape;508;p46"/>
            <p:cNvCxnSpPr/>
            <p:nvPr/>
          </p:nvCxnSpPr>
          <p:spPr>
            <a:xfrm>
              <a:off x="4644666" y="1171805"/>
              <a:ext cx="0" cy="4878900"/>
            </a:xfrm>
            <a:prstGeom prst="straightConnector1">
              <a:avLst/>
            </a:prstGeom>
            <a:noFill/>
            <a:ln cap="flat" cmpd="sng" w="12700">
              <a:solidFill>
                <a:schemeClr val="lt2">
                  <a:alpha val="97650"/>
                </a:schemeClr>
              </a:solidFill>
              <a:prstDash val="lgDash"/>
              <a:miter lim="800000"/>
              <a:headEnd len="sm" w="sm" type="none"/>
              <a:tailEnd len="sm" w="sm" type="none"/>
            </a:ln>
          </p:spPr>
        </p:cxnSp>
        <p:sp>
          <p:nvSpPr>
            <p:cNvPr id="509" name="Google Shape;509;p46"/>
            <p:cNvSpPr/>
            <p:nvPr/>
          </p:nvSpPr>
          <p:spPr>
            <a:xfrm>
              <a:off x="4457140" y="3241474"/>
              <a:ext cx="375000" cy="3750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500" u="none" cap="none" strike="noStrike">
                <a:solidFill>
                  <a:schemeClr val="lt1"/>
                </a:solidFill>
                <a:latin typeface="Calibri"/>
                <a:ea typeface="Calibri"/>
                <a:cs typeface="Calibri"/>
                <a:sym typeface="Calibri"/>
              </a:endParaRPr>
            </a:p>
          </p:txBody>
        </p:sp>
      </p:grpSp>
      <p:sp>
        <p:nvSpPr>
          <p:cNvPr id="510" name="Google Shape;510;p46"/>
          <p:cNvSpPr txBox="1"/>
          <p:nvPr/>
        </p:nvSpPr>
        <p:spPr>
          <a:xfrm>
            <a:off x="6738550" y="1217650"/>
            <a:ext cx="990900" cy="400200"/>
          </a:xfrm>
          <a:prstGeom prst="rect">
            <a:avLst/>
          </a:prstGeom>
          <a:noFill/>
          <a:ln>
            <a:noFill/>
          </a:ln>
        </p:spPr>
        <p:txBody>
          <a:bodyPr anchorCtr="0" anchor="b" bIns="0" lIns="0" spcFirstLastPara="1" rIns="0" wrap="square" tIns="0">
            <a:spAutoFit/>
          </a:bodyPr>
          <a:lstStyle/>
          <a:p>
            <a:pPr indent="0" lvl="0" marL="0" marR="0" rtl="0" algn="l">
              <a:spcBef>
                <a:spcPts val="0"/>
              </a:spcBef>
              <a:spcAft>
                <a:spcPts val="0"/>
              </a:spcAft>
              <a:buNone/>
            </a:pPr>
            <a:r>
              <a:rPr b="1" lang="es" sz="1300">
                <a:solidFill>
                  <a:srgbClr val="C00000"/>
                </a:solidFill>
                <a:latin typeface="Calibri"/>
                <a:ea typeface="Calibri"/>
                <a:cs typeface="Calibri"/>
                <a:sym typeface="Calibri"/>
              </a:rPr>
              <a:t>Revenue Diversification</a:t>
            </a:r>
            <a:endParaRPr sz="1300">
              <a:solidFill>
                <a:srgbClr val="C00000"/>
              </a:solidFill>
            </a:endParaRPr>
          </a:p>
        </p:txBody>
      </p:sp>
      <p:sp>
        <p:nvSpPr>
          <p:cNvPr id="511" name="Google Shape;511;p46"/>
          <p:cNvSpPr txBox="1"/>
          <p:nvPr/>
        </p:nvSpPr>
        <p:spPr>
          <a:xfrm>
            <a:off x="6725700" y="2098192"/>
            <a:ext cx="990900" cy="369300"/>
          </a:xfrm>
          <a:prstGeom prst="rect">
            <a:avLst/>
          </a:prstGeom>
          <a:noFill/>
          <a:ln>
            <a:noFill/>
          </a:ln>
        </p:spPr>
        <p:txBody>
          <a:bodyPr anchorCtr="0" anchor="b" bIns="0" lIns="0" spcFirstLastPara="1" rIns="0" wrap="square" tIns="0">
            <a:spAutoFit/>
          </a:bodyPr>
          <a:lstStyle/>
          <a:p>
            <a:pPr indent="0" lvl="0" marL="0" marR="0" rtl="0" algn="l">
              <a:spcBef>
                <a:spcPts val="0"/>
              </a:spcBef>
              <a:spcAft>
                <a:spcPts val="0"/>
              </a:spcAft>
              <a:buNone/>
            </a:pPr>
            <a:r>
              <a:rPr b="1" lang="es" sz="1200">
                <a:solidFill>
                  <a:srgbClr val="C00000"/>
                </a:solidFill>
                <a:latin typeface="Calibri"/>
                <a:ea typeface="Calibri"/>
                <a:cs typeface="Calibri"/>
                <a:sym typeface="Calibri"/>
              </a:rPr>
              <a:t>Competitive Edge</a:t>
            </a:r>
            <a:endParaRPr sz="1200">
              <a:solidFill>
                <a:srgbClr val="C00000"/>
              </a:solidFill>
            </a:endParaRPr>
          </a:p>
        </p:txBody>
      </p:sp>
      <p:sp>
        <p:nvSpPr>
          <p:cNvPr id="512" name="Google Shape;512;p46"/>
          <p:cNvSpPr txBox="1"/>
          <p:nvPr/>
        </p:nvSpPr>
        <p:spPr>
          <a:xfrm>
            <a:off x="6725700" y="3024600"/>
            <a:ext cx="834300" cy="400200"/>
          </a:xfrm>
          <a:prstGeom prst="rect">
            <a:avLst/>
          </a:prstGeom>
          <a:noFill/>
          <a:ln>
            <a:noFill/>
          </a:ln>
        </p:spPr>
        <p:txBody>
          <a:bodyPr anchorCtr="0" anchor="b" bIns="0" lIns="0" spcFirstLastPara="1" rIns="0" wrap="square" tIns="0">
            <a:spAutoFit/>
          </a:bodyPr>
          <a:lstStyle/>
          <a:p>
            <a:pPr indent="0" lvl="0" marL="0" marR="0" rtl="0" algn="l">
              <a:spcBef>
                <a:spcPts val="0"/>
              </a:spcBef>
              <a:spcAft>
                <a:spcPts val="0"/>
              </a:spcAft>
              <a:buNone/>
            </a:pPr>
            <a:r>
              <a:rPr b="1" lang="es" sz="1300">
                <a:solidFill>
                  <a:srgbClr val="C00000"/>
                </a:solidFill>
                <a:latin typeface="Calibri"/>
                <a:ea typeface="Calibri"/>
                <a:cs typeface="Calibri"/>
                <a:sym typeface="Calibri"/>
              </a:rPr>
              <a:t>Future-</a:t>
            </a:r>
            <a:endParaRPr b="1" sz="1300">
              <a:solidFill>
                <a:srgbClr val="C00000"/>
              </a:solidFill>
              <a:latin typeface="Calibri"/>
              <a:ea typeface="Calibri"/>
              <a:cs typeface="Calibri"/>
              <a:sym typeface="Calibri"/>
            </a:endParaRPr>
          </a:p>
          <a:p>
            <a:pPr indent="0" lvl="0" marL="0" marR="0" rtl="0" algn="l">
              <a:spcBef>
                <a:spcPts val="0"/>
              </a:spcBef>
              <a:spcAft>
                <a:spcPts val="0"/>
              </a:spcAft>
              <a:buNone/>
            </a:pPr>
            <a:r>
              <a:rPr b="1" lang="es" sz="1300">
                <a:solidFill>
                  <a:srgbClr val="C00000"/>
                </a:solidFill>
                <a:latin typeface="Calibri"/>
                <a:ea typeface="Calibri"/>
                <a:cs typeface="Calibri"/>
                <a:sym typeface="Calibri"/>
              </a:rPr>
              <a:t>Proofing</a:t>
            </a:r>
            <a:endParaRPr sz="1300">
              <a:solidFill>
                <a:srgbClr val="C00000"/>
              </a:solidFill>
            </a:endParaRPr>
          </a:p>
        </p:txBody>
      </p:sp>
      <p:pic>
        <p:nvPicPr>
          <p:cNvPr id="513" name="Google Shape;513;p46"/>
          <p:cNvPicPr preferRelativeResize="0"/>
          <p:nvPr/>
        </p:nvPicPr>
        <p:blipFill rotWithShape="1">
          <a:blip r:embed="rId3">
            <a:alphaModFix/>
          </a:blip>
          <a:srcRect b="0" l="0" r="0" t="0"/>
          <a:stretch/>
        </p:blipFill>
        <p:spPr>
          <a:xfrm>
            <a:off x="5890662" y="2012867"/>
            <a:ext cx="580026" cy="507900"/>
          </a:xfrm>
          <a:prstGeom prst="rect">
            <a:avLst/>
          </a:prstGeom>
          <a:noFill/>
          <a:ln>
            <a:noFill/>
          </a:ln>
        </p:spPr>
      </p:pic>
      <p:sp>
        <p:nvSpPr>
          <p:cNvPr id="514" name="Google Shape;514;p46"/>
          <p:cNvSpPr/>
          <p:nvPr/>
        </p:nvSpPr>
        <p:spPr>
          <a:xfrm>
            <a:off x="7798150" y="1240015"/>
            <a:ext cx="1059600" cy="507900"/>
          </a:xfrm>
          <a:prstGeom prst="roundRect">
            <a:avLst>
              <a:gd fmla="val 7388" name="adj"/>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s" sz="900">
                <a:solidFill>
                  <a:schemeClr val="dk1"/>
                </a:solidFill>
                <a:latin typeface="Calibri"/>
                <a:ea typeface="Calibri"/>
                <a:cs typeface="Calibri"/>
                <a:sym typeface="Calibri"/>
              </a:rPr>
              <a:t>Multiple income streams reduce financial risk.</a:t>
            </a:r>
            <a:endParaRPr sz="900">
              <a:solidFill>
                <a:schemeClr val="dk1"/>
              </a:solidFill>
              <a:latin typeface="Calibri"/>
              <a:ea typeface="Calibri"/>
              <a:cs typeface="Calibri"/>
              <a:sym typeface="Calibri"/>
            </a:endParaRPr>
          </a:p>
          <a:p>
            <a:pPr indent="0" lvl="0" marL="0" marR="0" rtl="0" algn="l">
              <a:spcBef>
                <a:spcPts val="500"/>
              </a:spcBef>
              <a:spcAft>
                <a:spcPts val="0"/>
              </a:spcAft>
              <a:buNone/>
            </a:pPr>
            <a:r>
              <a:t/>
            </a:r>
            <a:endParaRPr sz="900">
              <a:solidFill>
                <a:schemeClr val="dk1"/>
              </a:solidFill>
              <a:latin typeface="Calibri"/>
              <a:ea typeface="Calibri"/>
              <a:cs typeface="Calibri"/>
              <a:sym typeface="Calibri"/>
            </a:endParaRPr>
          </a:p>
        </p:txBody>
      </p:sp>
      <p:grpSp>
        <p:nvGrpSpPr>
          <p:cNvPr id="515" name="Google Shape;515;p46"/>
          <p:cNvGrpSpPr/>
          <p:nvPr/>
        </p:nvGrpSpPr>
        <p:grpSpPr>
          <a:xfrm>
            <a:off x="2821357" y="776155"/>
            <a:ext cx="2627958" cy="211705"/>
            <a:chOff x="42609" y="1253474"/>
            <a:chExt cx="6070589" cy="282273"/>
          </a:xfrm>
        </p:grpSpPr>
        <p:cxnSp>
          <p:nvCxnSpPr>
            <p:cNvPr id="516" name="Google Shape;516;p46"/>
            <p:cNvCxnSpPr/>
            <p:nvPr/>
          </p:nvCxnSpPr>
          <p:spPr>
            <a:xfrm rot="10800000">
              <a:off x="42609" y="1535747"/>
              <a:ext cx="5791800" cy="0"/>
            </a:xfrm>
            <a:prstGeom prst="straightConnector1">
              <a:avLst/>
            </a:prstGeom>
            <a:noFill/>
            <a:ln cap="flat" cmpd="sng" w="19050">
              <a:solidFill>
                <a:schemeClr val="dk1">
                  <a:alpha val="97650"/>
                </a:schemeClr>
              </a:solidFill>
              <a:prstDash val="solid"/>
              <a:miter lim="800000"/>
              <a:headEnd len="sm" w="sm" type="none"/>
              <a:tailEnd len="sm" w="sm" type="none"/>
            </a:ln>
          </p:spPr>
        </p:cxnSp>
        <p:sp>
          <p:nvSpPr>
            <p:cNvPr id="517" name="Google Shape;517;p46"/>
            <p:cNvSpPr txBox="1"/>
            <p:nvPr/>
          </p:nvSpPr>
          <p:spPr>
            <a:xfrm>
              <a:off x="101198" y="1253474"/>
              <a:ext cx="6012000" cy="20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s" sz="1200">
                  <a:solidFill>
                    <a:schemeClr val="dk1"/>
                  </a:solidFill>
                  <a:latin typeface="Calibri"/>
                  <a:ea typeface="Calibri"/>
                  <a:cs typeface="Calibri"/>
                  <a:sym typeface="Calibri"/>
                </a:rPr>
                <a:t>How to Implement?</a:t>
              </a:r>
              <a:endParaRPr b="0" i="0" sz="1200" u="none" cap="none" strike="noStrike">
                <a:solidFill>
                  <a:schemeClr val="dk1"/>
                </a:solidFill>
                <a:latin typeface="Calibri"/>
                <a:ea typeface="Calibri"/>
                <a:cs typeface="Calibri"/>
                <a:sym typeface="Calibri"/>
              </a:endParaRPr>
            </a:p>
          </p:txBody>
        </p:sp>
      </p:grpSp>
      <p:sp>
        <p:nvSpPr>
          <p:cNvPr id="518" name="Google Shape;518;p46"/>
          <p:cNvSpPr/>
          <p:nvPr/>
        </p:nvSpPr>
        <p:spPr>
          <a:xfrm>
            <a:off x="7810925" y="1952267"/>
            <a:ext cx="1150200" cy="476700"/>
          </a:xfrm>
          <a:prstGeom prst="roundRect">
            <a:avLst>
              <a:gd fmla="val 7388" name="adj"/>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s" sz="900">
                <a:solidFill>
                  <a:schemeClr val="dk1"/>
                </a:solidFill>
                <a:latin typeface="Calibri"/>
                <a:ea typeface="Calibri"/>
                <a:cs typeface="Calibri"/>
                <a:sym typeface="Calibri"/>
              </a:rPr>
              <a:t>Combines the best of both worlds, making the business more resilient.</a:t>
            </a:r>
            <a:endParaRPr sz="1100"/>
          </a:p>
        </p:txBody>
      </p:sp>
      <p:cxnSp>
        <p:nvCxnSpPr>
          <p:cNvPr id="519" name="Google Shape;519;p46"/>
          <p:cNvCxnSpPr/>
          <p:nvPr/>
        </p:nvCxnSpPr>
        <p:spPr>
          <a:xfrm flipH="1">
            <a:off x="177206" y="988117"/>
            <a:ext cx="2348829" cy="225"/>
          </a:xfrm>
          <a:prstGeom prst="straightConnector1">
            <a:avLst/>
          </a:prstGeom>
          <a:noFill/>
          <a:ln cap="flat" cmpd="sng" w="19050">
            <a:solidFill>
              <a:schemeClr val="dk1">
                <a:alpha val="97650"/>
              </a:schemeClr>
            </a:solidFill>
            <a:prstDash val="solid"/>
            <a:miter lim="800000"/>
            <a:headEnd len="sm" w="sm" type="none"/>
            <a:tailEnd len="sm" w="sm" type="none"/>
          </a:ln>
        </p:spPr>
      </p:cxnSp>
      <p:grpSp>
        <p:nvGrpSpPr>
          <p:cNvPr id="520" name="Google Shape;520;p46"/>
          <p:cNvGrpSpPr/>
          <p:nvPr/>
        </p:nvGrpSpPr>
        <p:grpSpPr>
          <a:xfrm>
            <a:off x="5521253" y="776233"/>
            <a:ext cx="3442275" cy="211863"/>
            <a:chOff x="3687261" y="1053735"/>
            <a:chExt cx="4589700" cy="282484"/>
          </a:xfrm>
        </p:grpSpPr>
        <p:cxnSp>
          <p:nvCxnSpPr>
            <p:cNvPr id="521" name="Google Shape;521;p46"/>
            <p:cNvCxnSpPr/>
            <p:nvPr/>
          </p:nvCxnSpPr>
          <p:spPr>
            <a:xfrm rot="10800000">
              <a:off x="3924814" y="1336219"/>
              <a:ext cx="4287300" cy="0"/>
            </a:xfrm>
            <a:prstGeom prst="straightConnector1">
              <a:avLst/>
            </a:prstGeom>
            <a:noFill/>
            <a:ln cap="flat" cmpd="sng" w="19050">
              <a:solidFill>
                <a:schemeClr val="dk1">
                  <a:alpha val="97650"/>
                </a:schemeClr>
              </a:solidFill>
              <a:prstDash val="solid"/>
              <a:miter lim="800000"/>
              <a:headEnd len="sm" w="sm" type="none"/>
              <a:tailEnd len="sm" w="sm" type="none"/>
            </a:ln>
          </p:spPr>
        </p:cxnSp>
        <p:sp>
          <p:nvSpPr>
            <p:cNvPr id="522" name="Google Shape;522;p46"/>
            <p:cNvSpPr txBox="1"/>
            <p:nvPr/>
          </p:nvSpPr>
          <p:spPr>
            <a:xfrm>
              <a:off x="3687261" y="1053735"/>
              <a:ext cx="4589700" cy="20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s" sz="1200">
                  <a:solidFill>
                    <a:schemeClr val="dk1"/>
                  </a:solidFill>
                  <a:latin typeface="Calibri"/>
                  <a:ea typeface="Calibri"/>
                  <a:cs typeface="Calibri"/>
                  <a:sym typeface="Calibri"/>
                </a:rPr>
                <a:t>Why this model beats expectations</a:t>
              </a:r>
              <a:endParaRPr sz="1100"/>
            </a:p>
          </p:txBody>
        </p:sp>
      </p:grpSp>
      <p:sp>
        <p:nvSpPr>
          <p:cNvPr id="523" name="Google Shape;523;p46"/>
          <p:cNvSpPr/>
          <p:nvPr/>
        </p:nvSpPr>
        <p:spPr>
          <a:xfrm>
            <a:off x="7810925" y="2810847"/>
            <a:ext cx="1188000" cy="476700"/>
          </a:xfrm>
          <a:prstGeom prst="roundRect">
            <a:avLst>
              <a:gd fmla="val 7388" name="adj"/>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lang="es" sz="900">
                <a:solidFill>
                  <a:schemeClr val="dk1"/>
                </a:solidFill>
                <a:latin typeface="Calibri"/>
                <a:ea typeface="Calibri"/>
                <a:cs typeface="Calibri"/>
                <a:sym typeface="Calibri"/>
              </a:rPr>
              <a:t>Prepares the company for digital transformation while maintaining a strong physical presence.</a:t>
            </a:r>
            <a:endParaRPr sz="1100">
              <a:solidFill>
                <a:schemeClr val="dk1"/>
              </a:solidFill>
            </a:endParaRPr>
          </a:p>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524" name="Google Shape;524;p46"/>
          <p:cNvSpPr txBox="1"/>
          <p:nvPr/>
        </p:nvSpPr>
        <p:spPr>
          <a:xfrm>
            <a:off x="176888" y="1078802"/>
            <a:ext cx="2345700" cy="323100"/>
          </a:xfrm>
          <a:prstGeom prst="rect">
            <a:avLst/>
          </a:prstGeom>
          <a:solidFill>
            <a:srgbClr val="C0000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s" sz="1100">
                <a:solidFill>
                  <a:schemeClr val="lt1"/>
                </a:solidFill>
                <a:latin typeface="Calibri"/>
                <a:ea typeface="Calibri"/>
                <a:cs typeface="Calibri"/>
                <a:sym typeface="Calibri"/>
              </a:rPr>
              <a:t>Market Penetration &amp; Efficiency</a:t>
            </a:r>
            <a:endParaRPr b="1" sz="1100">
              <a:solidFill>
                <a:schemeClr val="lt1"/>
              </a:solidFill>
              <a:latin typeface="Calibri"/>
              <a:ea typeface="Calibri"/>
              <a:cs typeface="Calibri"/>
              <a:sym typeface="Calibri"/>
            </a:endParaRPr>
          </a:p>
        </p:txBody>
      </p:sp>
      <p:sp>
        <p:nvSpPr>
          <p:cNvPr id="525" name="Google Shape;525;p46"/>
          <p:cNvSpPr txBox="1"/>
          <p:nvPr/>
        </p:nvSpPr>
        <p:spPr>
          <a:xfrm>
            <a:off x="788720" y="1458227"/>
            <a:ext cx="1623600" cy="677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s" sz="1100">
                <a:solidFill>
                  <a:schemeClr val="dk1"/>
                </a:solidFill>
                <a:latin typeface="Calibri"/>
                <a:ea typeface="Calibri"/>
                <a:cs typeface="Calibri"/>
                <a:sym typeface="Calibri"/>
              </a:rPr>
              <a:t>Combines digital and physical channels to reach a wider audience while optimizing costs</a:t>
            </a:r>
            <a:endParaRPr sz="1100"/>
          </a:p>
        </p:txBody>
      </p:sp>
      <p:sp>
        <p:nvSpPr>
          <p:cNvPr id="526" name="Google Shape;526;p46"/>
          <p:cNvSpPr txBox="1"/>
          <p:nvPr/>
        </p:nvSpPr>
        <p:spPr>
          <a:xfrm>
            <a:off x="163713" y="2191978"/>
            <a:ext cx="2373600" cy="332100"/>
          </a:xfrm>
          <a:prstGeom prst="rect">
            <a:avLst/>
          </a:prstGeom>
          <a:solidFill>
            <a:srgbClr val="C000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100"/>
              <a:buFont typeface="Calibri"/>
              <a:buNone/>
            </a:pPr>
            <a:r>
              <a:rPr b="1" i="1" lang="es" sz="1100">
                <a:solidFill>
                  <a:schemeClr val="lt1"/>
                </a:solidFill>
                <a:latin typeface="Calibri"/>
                <a:ea typeface="Calibri"/>
                <a:cs typeface="Calibri"/>
                <a:sym typeface="Calibri"/>
              </a:rPr>
              <a:t>Flexibility &amp; Scalability</a:t>
            </a:r>
            <a:endParaRPr b="1" i="0" sz="1100" u="none" cap="none" strike="noStrike">
              <a:solidFill>
                <a:schemeClr val="lt1"/>
              </a:solidFill>
              <a:latin typeface="Calibri"/>
              <a:ea typeface="Calibri"/>
              <a:cs typeface="Calibri"/>
              <a:sym typeface="Calibri"/>
            </a:endParaRPr>
          </a:p>
        </p:txBody>
      </p:sp>
      <p:sp>
        <p:nvSpPr>
          <p:cNvPr id="527" name="Google Shape;527;p46"/>
          <p:cNvSpPr txBox="1"/>
          <p:nvPr/>
        </p:nvSpPr>
        <p:spPr>
          <a:xfrm>
            <a:off x="781770" y="2581233"/>
            <a:ext cx="1623600" cy="677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s" sz="1100">
                <a:solidFill>
                  <a:schemeClr val="dk1"/>
                </a:solidFill>
                <a:latin typeface="Calibri"/>
                <a:ea typeface="Calibri"/>
                <a:cs typeface="Calibri"/>
                <a:sym typeface="Calibri"/>
              </a:rPr>
              <a:t>Adapts quickly to market trends and allows for gradual expansion with minimal risk</a:t>
            </a:r>
            <a:endParaRPr sz="1100">
              <a:solidFill>
                <a:schemeClr val="dk1"/>
              </a:solidFill>
              <a:latin typeface="Calibri"/>
              <a:ea typeface="Calibri"/>
              <a:cs typeface="Calibri"/>
              <a:sym typeface="Calibri"/>
            </a:endParaRPr>
          </a:p>
        </p:txBody>
      </p:sp>
      <p:pic>
        <p:nvPicPr>
          <p:cNvPr id="528" name="Google Shape;528;p46"/>
          <p:cNvPicPr preferRelativeResize="0"/>
          <p:nvPr/>
        </p:nvPicPr>
        <p:blipFill rotWithShape="1">
          <a:blip r:embed="rId4">
            <a:alphaModFix/>
          </a:blip>
          <a:srcRect b="0" l="0" r="0" t="0"/>
          <a:stretch/>
        </p:blipFill>
        <p:spPr>
          <a:xfrm>
            <a:off x="272588" y="1578045"/>
            <a:ext cx="389748" cy="389748"/>
          </a:xfrm>
          <a:prstGeom prst="rect">
            <a:avLst/>
          </a:prstGeom>
          <a:noFill/>
          <a:ln>
            <a:noFill/>
          </a:ln>
        </p:spPr>
      </p:pic>
      <p:pic>
        <p:nvPicPr>
          <p:cNvPr id="529" name="Google Shape;529;p46"/>
          <p:cNvPicPr preferRelativeResize="0"/>
          <p:nvPr/>
        </p:nvPicPr>
        <p:blipFill rotWithShape="1">
          <a:blip r:embed="rId5">
            <a:alphaModFix/>
          </a:blip>
          <a:srcRect b="0" l="0" r="0" t="0"/>
          <a:stretch/>
        </p:blipFill>
        <p:spPr>
          <a:xfrm>
            <a:off x="259413" y="2689574"/>
            <a:ext cx="389042" cy="389042"/>
          </a:xfrm>
          <a:prstGeom prst="rect">
            <a:avLst/>
          </a:prstGeom>
          <a:noFill/>
          <a:ln>
            <a:noFill/>
          </a:ln>
        </p:spPr>
      </p:pic>
      <p:sp>
        <p:nvSpPr>
          <p:cNvPr id="530" name="Google Shape;530;p46"/>
          <p:cNvSpPr txBox="1"/>
          <p:nvPr/>
        </p:nvSpPr>
        <p:spPr>
          <a:xfrm>
            <a:off x="2822289" y="1078803"/>
            <a:ext cx="2506500" cy="317100"/>
          </a:xfrm>
          <a:prstGeom prst="rect">
            <a:avLst/>
          </a:prstGeom>
          <a:solidFill>
            <a:srgbClr val="C0000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s" sz="1100">
                <a:solidFill>
                  <a:schemeClr val="lt1"/>
                </a:solidFill>
                <a:latin typeface="Calibri"/>
                <a:ea typeface="Calibri"/>
                <a:cs typeface="Calibri"/>
                <a:sym typeface="Calibri"/>
              </a:rPr>
              <a:t>Key Steps to follow</a:t>
            </a:r>
            <a:endParaRPr sz="1100"/>
          </a:p>
        </p:txBody>
      </p:sp>
      <p:sp>
        <p:nvSpPr>
          <p:cNvPr id="531" name="Google Shape;531;p46"/>
          <p:cNvSpPr txBox="1"/>
          <p:nvPr/>
        </p:nvSpPr>
        <p:spPr>
          <a:xfrm>
            <a:off x="2839499" y="1539310"/>
            <a:ext cx="2467200" cy="3170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SzPts val="1100"/>
              <a:buNone/>
            </a:pPr>
            <a:r>
              <a:rPr lang="es" sz="1100">
                <a:solidFill>
                  <a:schemeClr val="dk1"/>
                </a:solidFill>
                <a:latin typeface="Calibri"/>
                <a:ea typeface="Calibri"/>
                <a:cs typeface="Calibri"/>
                <a:sym typeface="Calibri"/>
              </a:rPr>
              <a:t>1. </a:t>
            </a:r>
            <a:r>
              <a:rPr lang="es" sz="1100">
                <a:solidFill>
                  <a:schemeClr val="dk1"/>
                </a:solidFill>
                <a:latin typeface="Calibri"/>
                <a:ea typeface="Calibri"/>
                <a:cs typeface="Calibri"/>
                <a:sym typeface="Calibri"/>
              </a:rPr>
              <a:t>Integrate e-commerce with physical stores for seamless shopping.</a:t>
            </a:r>
            <a:endParaRPr sz="1100">
              <a:solidFill>
                <a:schemeClr val="dk1"/>
              </a:solidFill>
              <a:latin typeface="Calibri"/>
              <a:ea typeface="Calibri"/>
              <a:cs typeface="Calibri"/>
              <a:sym typeface="Calibri"/>
            </a:endParaRPr>
          </a:p>
          <a:p>
            <a:pPr indent="0" lvl="0" marL="0" rtl="0" algn="l">
              <a:spcBef>
                <a:spcPts val="0"/>
              </a:spcBef>
              <a:spcAft>
                <a:spcPts val="0"/>
              </a:spcAft>
              <a:buSzPts val="1100"/>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SzPts val="1100"/>
              <a:buNone/>
            </a:pPr>
            <a:r>
              <a:rPr lang="es" sz="1100">
                <a:solidFill>
                  <a:schemeClr val="dk1"/>
                </a:solidFill>
                <a:latin typeface="Calibri"/>
                <a:ea typeface="Calibri"/>
                <a:cs typeface="Calibri"/>
                <a:sym typeface="Calibri"/>
              </a:rPr>
              <a:t>2. Use data analytics to optimize inventory, pricing, and marketing.</a:t>
            </a:r>
            <a:endParaRPr sz="1100">
              <a:solidFill>
                <a:schemeClr val="dk1"/>
              </a:solidFill>
              <a:latin typeface="Calibri"/>
              <a:ea typeface="Calibri"/>
              <a:cs typeface="Calibri"/>
              <a:sym typeface="Calibri"/>
            </a:endParaRPr>
          </a:p>
          <a:p>
            <a:pPr indent="0" lvl="0" marL="0" rtl="0" algn="l">
              <a:spcBef>
                <a:spcPts val="0"/>
              </a:spcBef>
              <a:spcAft>
                <a:spcPts val="0"/>
              </a:spcAft>
              <a:buSzPts val="1100"/>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SzPts val="1100"/>
              <a:buNone/>
            </a:pPr>
            <a:r>
              <a:rPr lang="es" sz="1100">
                <a:solidFill>
                  <a:schemeClr val="dk1"/>
                </a:solidFill>
                <a:latin typeface="Calibri"/>
                <a:ea typeface="Calibri"/>
                <a:cs typeface="Calibri"/>
                <a:sym typeface="Calibri"/>
              </a:rPr>
              <a:t>3. Collaborate with local distributors and digital platforms.</a:t>
            </a:r>
            <a:endParaRPr sz="1100">
              <a:solidFill>
                <a:schemeClr val="dk1"/>
              </a:solidFill>
              <a:latin typeface="Calibri"/>
              <a:ea typeface="Calibri"/>
              <a:cs typeface="Calibri"/>
              <a:sym typeface="Calibri"/>
            </a:endParaRPr>
          </a:p>
          <a:p>
            <a:pPr indent="0" lvl="0" marL="0" rtl="0" algn="l">
              <a:spcBef>
                <a:spcPts val="0"/>
              </a:spcBef>
              <a:spcAft>
                <a:spcPts val="0"/>
              </a:spcAft>
              <a:buSzPts val="1100"/>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SzPts val="1100"/>
              <a:buNone/>
            </a:pPr>
            <a:r>
              <a:rPr lang="es" sz="1100">
                <a:solidFill>
                  <a:schemeClr val="dk1"/>
                </a:solidFill>
                <a:latin typeface="Calibri"/>
                <a:ea typeface="Calibri"/>
                <a:cs typeface="Calibri"/>
                <a:sym typeface="Calibri"/>
              </a:rPr>
              <a:t>4. Augmented reality (AR) and smart displays for interactive shopping.</a:t>
            </a:r>
            <a:endParaRPr sz="1100">
              <a:solidFill>
                <a:schemeClr val="dk1"/>
              </a:solidFill>
              <a:latin typeface="Calibri"/>
              <a:ea typeface="Calibri"/>
              <a:cs typeface="Calibri"/>
              <a:sym typeface="Calibri"/>
            </a:endParaRPr>
          </a:p>
          <a:p>
            <a:pPr indent="0" lvl="0" marL="0" rtl="0" algn="l">
              <a:spcBef>
                <a:spcPts val="0"/>
              </a:spcBef>
              <a:spcAft>
                <a:spcPts val="0"/>
              </a:spcAft>
              <a:buSzPts val="1100"/>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SzPts val="1100"/>
              <a:buNone/>
            </a:pPr>
            <a:r>
              <a:rPr lang="es" sz="1100">
                <a:solidFill>
                  <a:schemeClr val="dk1"/>
                </a:solidFill>
                <a:latin typeface="Calibri"/>
                <a:ea typeface="Calibri"/>
                <a:cs typeface="Calibri"/>
                <a:sym typeface="Calibri"/>
              </a:rPr>
              <a:t>5. Leverage both centralized warehouses and local hubs to ensure fast delivery.</a:t>
            </a:r>
            <a:endParaRPr sz="1100">
              <a:solidFill>
                <a:schemeClr val="dk1"/>
              </a:solidFill>
              <a:latin typeface="Calibri"/>
              <a:ea typeface="Calibri"/>
              <a:cs typeface="Calibri"/>
              <a:sym typeface="Calibri"/>
            </a:endParaRPr>
          </a:p>
          <a:p>
            <a:pPr indent="0" lvl="0" marL="0" rtl="0" algn="l">
              <a:spcBef>
                <a:spcPts val="0"/>
              </a:spcBef>
              <a:spcAft>
                <a:spcPts val="0"/>
              </a:spcAft>
              <a:buSzPts val="1100"/>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SzPts val="1100"/>
              <a:buNone/>
            </a:pPr>
            <a:r>
              <a:rPr lang="es" sz="1100">
                <a:solidFill>
                  <a:schemeClr val="dk1"/>
                </a:solidFill>
                <a:latin typeface="Calibri"/>
                <a:ea typeface="Calibri"/>
                <a:cs typeface="Calibri"/>
                <a:sym typeface="Calibri"/>
              </a:rPr>
              <a:t>6. Blend online and offline incentives to boost customer retention.</a:t>
            </a:r>
            <a:endParaRPr sz="1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100">
              <a:solidFill>
                <a:schemeClr val="dk1"/>
              </a:solidFill>
              <a:latin typeface="Calibri"/>
              <a:ea typeface="Calibri"/>
              <a:cs typeface="Calibri"/>
              <a:sym typeface="Calibri"/>
            </a:endParaRPr>
          </a:p>
          <a:p>
            <a:pPr indent="0" lvl="0" marL="0" marR="0" rtl="0" algn="r">
              <a:spcBef>
                <a:spcPts val="0"/>
              </a:spcBef>
              <a:spcAft>
                <a:spcPts val="0"/>
              </a:spcAft>
              <a:buNone/>
            </a:pPr>
            <a:r>
              <a:rPr lang="es" sz="800">
                <a:solidFill>
                  <a:schemeClr val="dk1"/>
                </a:solidFill>
                <a:latin typeface="Calibri"/>
                <a:ea typeface="Calibri"/>
                <a:cs typeface="Calibri"/>
                <a:sym typeface="Calibri"/>
              </a:rPr>
              <a:t>s</a:t>
            </a:r>
            <a:endParaRPr sz="800">
              <a:solidFill>
                <a:schemeClr val="dk1"/>
              </a:solidFill>
              <a:latin typeface="Calibri"/>
              <a:ea typeface="Calibri"/>
              <a:cs typeface="Calibri"/>
              <a:sym typeface="Calibri"/>
            </a:endParaRPr>
          </a:p>
        </p:txBody>
      </p:sp>
      <p:sp>
        <p:nvSpPr>
          <p:cNvPr id="532" name="Google Shape;532;p46"/>
          <p:cNvSpPr txBox="1"/>
          <p:nvPr/>
        </p:nvSpPr>
        <p:spPr>
          <a:xfrm>
            <a:off x="162938" y="3315778"/>
            <a:ext cx="2373600" cy="332100"/>
          </a:xfrm>
          <a:prstGeom prst="rect">
            <a:avLst/>
          </a:prstGeom>
          <a:solidFill>
            <a:srgbClr val="C000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100"/>
              <a:buFont typeface="Calibri"/>
              <a:buNone/>
            </a:pPr>
            <a:r>
              <a:rPr b="1" i="1" lang="es" sz="1100">
                <a:solidFill>
                  <a:schemeClr val="lt1"/>
                </a:solidFill>
                <a:latin typeface="Calibri"/>
                <a:ea typeface="Calibri"/>
                <a:cs typeface="Calibri"/>
                <a:sym typeface="Calibri"/>
              </a:rPr>
              <a:t>Enhanced Customer Experience</a:t>
            </a:r>
            <a:endParaRPr b="1" i="0" sz="1100" u="none" cap="none" strike="noStrike">
              <a:solidFill>
                <a:schemeClr val="lt1"/>
              </a:solidFill>
              <a:latin typeface="Calibri"/>
              <a:ea typeface="Calibri"/>
              <a:cs typeface="Calibri"/>
              <a:sym typeface="Calibri"/>
            </a:endParaRPr>
          </a:p>
        </p:txBody>
      </p:sp>
      <p:sp>
        <p:nvSpPr>
          <p:cNvPr id="533" name="Google Shape;533;p46"/>
          <p:cNvSpPr txBox="1"/>
          <p:nvPr/>
        </p:nvSpPr>
        <p:spPr>
          <a:xfrm>
            <a:off x="787395" y="3727708"/>
            <a:ext cx="1623600" cy="677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s" sz="1100">
                <a:solidFill>
                  <a:schemeClr val="dk1"/>
                </a:solidFill>
                <a:latin typeface="Calibri"/>
                <a:ea typeface="Calibri"/>
                <a:cs typeface="Calibri"/>
                <a:sym typeface="Calibri"/>
              </a:rPr>
              <a:t>Offers personalized online engagement while maintaining a strong physical brand presence.</a:t>
            </a:r>
            <a:endParaRPr sz="1100">
              <a:solidFill>
                <a:schemeClr val="dk1"/>
              </a:solidFill>
              <a:latin typeface="Calibri"/>
              <a:ea typeface="Calibri"/>
              <a:cs typeface="Calibri"/>
              <a:sym typeface="Calibri"/>
            </a:endParaRPr>
          </a:p>
        </p:txBody>
      </p:sp>
      <p:pic>
        <p:nvPicPr>
          <p:cNvPr id="534" name="Google Shape;534;p46"/>
          <p:cNvPicPr preferRelativeResize="0"/>
          <p:nvPr/>
        </p:nvPicPr>
        <p:blipFill rotWithShape="1">
          <a:blip r:embed="rId6">
            <a:alphaModFix/>
          </a:blip>
          <a:srcRect b="65904" l="60795" r="8357" t="0"/>
          <a:stretch/>
        </p:blipFill>
        <p:spPr>
          <a:xfrm>
            <a:off x="270675" y="3727700"/>
            <a:ext cx="389025" cy="429975"/>
          </a:xfrm>
          <a:prstGeom prst="rect">
            <a:avLst/>
          </a:prstGeom>
          <a:noFill/>
          <a:ln>
            <a:noFill/>
          </a:ln>
        </p:spPr>
      </p:pic>
      <p:pic>
        <p:nvPicPr>
          <p:cNvPr id="535" name="Google Shape;535;p46"/>
          <p:cNvPicPr preferRelativeResize="0"/>
          <p:nvPr/>
        </p:nvPicPr>
        <p:blipFill rotWithShape="1">
          <a:blip r:embed="rId6">
            <a:alphaModFix/>
          </a:blip>
          <a:srcRect b="16233" l="4164" r="53132" t="52290"/>
          <a:stretch/>
        </p:blipFill>
        <p:spPr>
          <a:xfrm>
            <a:off x="5810112" y="1220819"/>
            <a:ext cx="741125" cy="546276"/>
          </a:xfrm>
          <a:prstGeom prst="rect">
            <a:avLst/>
          </a:prstGeom>
          <a:noFill/>
          <a:ln>
            <a:noFill/>
          </a:ln>
        </p:spPr>
      </p:pic>
      <p:pic>
        <p:nvPicPr>
          <p:cNvPr id="536" name="Google Shape;536;p46"/>
          <p:cNvPicPr preferRelativeResize="0"/>
          <p:nvPr/>
        </p:nvPicPr>
        <p:blipFill rotWithShape="1">
          <a:blip r:embed="rId6">
            <a:alphaModFix/>
          </a:blip>
          <a:srcRect b="16448" l="60144" r="10488" t="52012"/>
          <a:stretch/>
        </p:blipFill>
        <p:spPr>
          <a:xfrm>
            <a:off x="5926345" y="2776059"/>
            <a:ext cx="508659" cy="546276"/>
          </a:xfrm>
          <a:prstGeom prst="rect">
            <a:avLst/>
          </a:prstGeom>
          <a:noFill/>
          <a:ln>
            <a:noFill/>
          </a:ln>
        </p:spPr>
      </p:pic>
      <p:grpSp>
        <p:nvGrpSpPr>
          <p:cNvPr id="537" name="Google Shape;537;p46"/>
          <p:cNvGrpSpPr/>
          <p:nvPr/>
        </p:nvGrpSpPr>
        <p:grpSpPr>
          <a:xfrm>
            <a:off x="5365211" y="981767"/>
            <a:ext cx="270450" cy="3659175"/>
            <a:chOff x="4464432" y="1171805"/>
            <a:chExt cx="360600" cy="4878900"/>
          </a:xfrm>
        </p:grpSpPr>
        <p:cxnSp>
          <p:nvCxnSpPr>
            <p:cNvPr id="538" name="Google Shape;538;p46"/>
            <p:cNvCxnSpPr/>
            <p:nvPr/>
          </p:nvCxnSpPr>
          <p:spPr>
            <a:xfrm>
              <a:off x="4644666" y="1171805"/>
              <a:ext cx="0" cy="4878900"/>
            </a:xfrm>
            <a:prstGeom prst="straightConnector1">
              <a:avLst/>
            </a:prstGeom>
            <a:noFill/>
            <a:ln cap="flat" cmpd="sng" w="12700">
              <a:solidFill>
                <a:schemeClr val="lt2">
                  <a:alpha val="97650"/>
                </a:schemeClr>
              </a:solidFill>
              <a:prstDash val="lgDash"/>
              <a:miter lim="800000"/>
              <a:headEnd len="sm" w="sm" type="none"/>
              <a:tailEnd len="sm" w="sm" type="none"/>
            </a:ln>
          </p:spPr>
        </p:cxnSp>
        <p:sp>
          <p:nvSpPr>
            <p:cNvPr id="539" name="Google Shape;539;p46"/>
            <p:cNvSpPr/>
            <p:nvPr/>
          </p:nvSpPr>
          <p:spPr>
            <a:xfrm>
              <a:off x="4464432" y="3248766"/>
              <a:ext cx="360600" cy="360600"/>
            </a:xfrm>
            <a:prstGeom prst="ellipse">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500" u="none" cap="none" strike="noStrike">
                <a:solidFill>
                  <a:schemeClr val="lt1"/>
                </a:solidFill>
                <a:latin typeface="Calibri"/>
                <a:ea typeface="Calibri"/>
                <a:cs typeface="Calibri"/>
                <a:sym typeface="Calibri"/>
              </a:endParaRPr>
            </a:p>
          </p:txBody>
        </p:sp>
      </p:grpSp>
      <p:sp>
        <p:nvSpPr>
          <p:cNvPr id="540" name="Google Shape;540;p46"/>
          <p:cNvSpPr txBox="1"/>
          <p:nvPr/>
        </p:nvSpPr>
        <p:spPr>
          <a:xfrm>
            <a:off x="5694150" y="3781800"/>
            <a:ext cx="3176400" cy="668100"/>
          </a:xfrm>
          <a:prstGeom prst="rect">
            <a:avLst/>
          </a:prstGeom>
          <a:solidFill>
            <a:srgbClr val="FFBFBF">
              <a:alpha val="4706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100"/>
              <a:buFont typeface="Calibri"/>
              <a:buNone/>
            </a:pPr>
            <a:r>
              <a:rPr i="1" lang="es" sz="1100">
                <a:solidFill>
                  <a:schemeClr val="dk1"/>
                </a:solidFill>
                <a:latin typeface="Calibri"/>
                <a:ea typeface="Calibri"/>
                <a:cs typeface="Calibri"/>
                <a:sym typeface="Calibri"/>
              </a:rPr>
              <a:t>"We collaborate strategically to ensure sustainable growth, minimizing risk while maximizing profitability in a dynamic market."</a:t>
            </a:r>
            <a:endParaRPr i="1" sz="1100" u="none" cap="none" strike="noStrike">
              <a:solidFill>
                <a:schemeClr val="dk1"/>
              </a:solidFill>
              <a:latin typeface="Calibri"/>
              <a:ea typeface="Calibri"/>
              <a:cs typeface="Calibri"/>
              <a:sym typeface="Calibri"/>
            </a:endParaRPr>
          </a:p>
        </p:txBody>
      </p:sp>
      <p:pic>
        <p:nvPicPr>
          <p:cNvPr descr="Caret Right with solid fill" id="541" name="Google Shape;541;p46"/>
          <p:cNvPicPr preferRelativeResize="0"/>
          <p:nvPr/>
        </p:nvPicPr>
        <p:blipFill rotWithShape="1">
          <a:blip r:embed="rId7">
            <a:alphaModFix/>
          </a:blip>
          <a:srcRect b="0" l="0" r="0" t="0"/>
          <a:stretch/>
        </p:blipFill>
        <p:spPr>
          <a:xfrm>
            <a:off x="5386046" y="2557411"/>
            <a:ext cx="228756" cy="228756"/>
          </a:xfrm>
          <a:prstGeom prst="rect">
            <a:avLst/>
          </a:prstGeom>
          <a:noFill/>
          <a:ln>
            <a:noFill/>
          </a:ln>
        </p:spPr>
      </p:pic>
      <p:pic>
        <p:nvPicPr>
          <p:cNvPr descr="Caret Right with solid fill" id="542" name="Google Shape;542;p46"/>
          <p:cNvPicPr preferRelativeResize="0"/>
          <p:nvPr/>
        </p:nvPicPr>
        <p:blipFill rotWithShape="1">
          <a:blip r:embed="rId7">
            <a:alphaModFix/>
          </a:blip>
          <a:srcRect b="0" l="0" r="0" t="0"/>
          <a:stretch/>
        </p:blipFill>
        <p:spPr>
          <a:xfrm>
            <a:off x="2564900" y="2560208"/>
            <a:ext cx="228912" cy="228912"/>
          </a:xfrm>
          <a:prstGeom prst="rect">
            <a:avLst/>
          </a:prstGeom>
          <a:noFill/>
          <a:ln>
            <a:noFill/>
          </a:ln>
        </p:spPr>
      </p:pic>
      <p:sp>
        <p:nvSpPr>
          <p:cNvPr id="543" name="Google Shape;543;p46"/>
          <p:cNvSpPr txBox="1"/>
          <p:nvPr/>
        </p:nvSpPr>
        <p:spPr>
          <a:xfrm>
            <a:off x="-69025" y="758363"/>
            <a:ext cx="2865600" cy="191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s" sz="1100">
                <a:solidFill>
                  <a:schemeClr val="dk1"/>
                </a:solidFill>
                <a:latin typeface="Calibri"/>
                <a:ea typeface="Calibri"/>
                <a:cs typeface="Calibri"/>
                <a:sym typeface="Calibri"/>
              </a:rPr>
              <a:t>Why a Hybrid Model?</a:t>
            </a:r>
            <a:endParaRPr b="0" i="0" sz="1100" u="none" cap="none" strike="noStrike">
              <a:solidFill>
                <a:schemeClr val="dk1"/>
              </a:solidFill>
              <a:latin typeface="Calibri"/>
              <a:ea typeface="Calibri"/>
              <a:cs typeface="Calibri"/>
              <a:sym typeface="Calibri"/>
            </a:endParaRPr>
          </a:p>
        </p:txBody>
      </p:sp>
      <p:cxnSp>
        <p:nvCxnSpPr>
          <p:cNvPr id="544" name="Google Shape;544;p46"/>
          <p:cNvCxnSpPr/>
          <p:nvPr/>
        </p:nvCxnSpPr>
        <p:spPr>
          <a:xfrm>
            <a:off x="5521246" y="4790797"/>
            <a:ext cx="405000" cy="0"/>
          </a:xfrm>
          <a:prstGeom prst="straightConnector1">
            <a:avLst/>
          </a:prstGeom>
          <a:noFill/>
          <a:ln cap="flat" cmpd="sng" w="12700">
            <a:solidFill>
              <a:srgbClr val="C00000"/>
            </a:solidFill>
            <a:prstDash val="solid"/>
            <a:miter lim="800000"/>
            <a:headEnd len="sm" w="sm" type="none"/>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47"/>
          <p:cNvSpPr txBox="1"/>
          <p:nvPr/>
        </p:nvSpPr>
        <p:spPr>
          <a:xfrm>
            <a:off x="198848" y="102400"/>
            <a:ext cx="26814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Strategy Implementation</a:t>
            </a:r>
            <a:endParaRPr sz="1100"/>
          </a:p>
        </p:txBody>
      </p:sp>
      <p:sp>
        <p:nvSpPr>
          <p:cNvPr id="550" name="Google Shape;550;p47"/>
          <p:cNvSpPr txBox="1"/>
          <p:nvPr>
            <p:ph idx="4294967295" type="title"/>
          </p:nvPr>
        </p:nvSpPr>
        <p:spPr>
          <a:xfrm>
            <a:off x="198850" y="497925"/>
            <a:ext cx="76116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Play"/>
              <a:buNone/>
            </a:pPr>
            <a:r>
              <a:rPr lang="es" sz="1800"/>
              <a:t>EBC </a:t>
            </a:r>
            <a:r>
              <a:rPr lang="es" sz="1800">
                <a:latin typeface="Arial"/>
                <a:ea typeface="Arial"/>
                <a:cs typeface="Arial"/>
                <a:sym typeface="Arial"/>
              </a:rPr>
              <a:t>must balance brand familiarity, highway traffic, and strategic expansion potential for an ideal location </a:t>
            </a:r>
            <a:endParaRPr>
              <a:latin typeface="Arial"/>
              <a:ea typeface="Arial"/>
              <a:cs typeface="Arial"/>
              <a:sym typeface="Arial"/>
            </a:endParaRPr>
          </a:p>
        </p:txBody>
      </p:sp>
      <p:sp>
        <p:nvSpPr>
          <p:cNvPr id="551" name="Google Shape;551;p47"/>
          <p:cNvSpPr/>
          <p:nvPr/>
        </p:nvSpPr>
        <p:spPr>
          <a:xfrm>
            <a:off x="-2299725" y="1052950"/>
            <a:ext cx="1766400" cy="1671300"/>
          </a:xfrm>
          <a:prstGeom prst="rect">
            <a:avLst/>
          </a:prstGeom>
          <a:solidFill>
            <a:srgbClr val="FFFFFF">
              <a:alpha val="78480"/>
            </a:srgbClr>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2" name="Google Shape;552;p47"/>
          <p:cNvSpPr/>
          <p:nvPr/>
        </p:nvSpPr>
        <p:spPr>
          <a:xfrm>
            <a:off x="-2249125" y="3392250"/>
            <a:ext cx="2036100" cy="1141800"/>
          </a:xfrm>
          <a:prstGeom prst="rect">
            <a:avLst/>
          </a:prstGeom>
          <a:solidFill>
            <a:srgbClr val="FFFFFF">
              <a:alpha val="78480"/>
            </a:srgbClr>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3" name="Google Shape;553;p47"/>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s"/>
              <a:t>‹#›</a:t>
            </a:fld>
            <a:endParaRPr/>
          </a:p>
        </p:txBody>
      </p:sp>
      <p:pic>
        <p:nvPicPr>
          <p:cNvPr id="554" name="Google Shape;554;p47"/>
          <p:cNvPicPr preferRelativeResize="0"/>
          <p:nvPr/>
        </p:nvPicPr>
        <p:blipFill>
          <a:blip r:embed="rId3">
            <a:alphaModFix/>
          </a:blip>
          <a:stretch>
            <a:fillRect/>
          </a:stretch>
        </p:blipFill>
        <p:spPr>
          <a:xfrm>
            <a:off x="1934179" y="1052938"/>
            <a:ext cx="4754321" cy="3752023"/>
          </a:xfrm>
          <a:prstGeom prst="rect">
            <a:avLst/>
          </a:prstGeom>
          <a:noFill/>
          <a:ln>
            <a:noFill/>
          </a:ln>
        </p:spPr>
      </p:pic>
      <p:sp>
        <p:nvSpPr>
          <p:cNvPr id="555" name="Google Shape;555;p47"/>
          <p:cNvSpPr/>
          <p:nvPr/>
        </p:nvSpPr>
        <p:spPr>
          <a:xfrm>
            <a:off x="6131475" y="2540650"/>
            <a:ext cx="2605500" cy="1085100"/>
          </a:xfrm>
          <a:prstGeom prst="rect">
            <a:avLst/>
          </a:prstGeom>
          <a:solidFill>
            <a:srgbClr val="FFFFFF">
              <a:alpha val="29750"/>
            </a:srgbClr>
          </a:solidFill>
          <a:ln cap="flat" cmpd="sng" w="19050">
            <a:solidFill>
              <a:srgbClr val="C00000"/>
            </a:solidFill>
            <a:prstDash val="dash"/>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56" name="Google Shape;556;p47"/>
          <p:cNvSpPr/>
          <p:nvPr/>
        </p:nvSpPr>
        <p:spPr>
          <a:xfrm>
            <a:off x="6520950" y="857700"/>
            <a:ext cx="2467200" cy="1085100"/>
          </a:xfrm>
          <a:prstGeom prst="rect">
            <a:avLst/>
          </a:prstGeom>
          <a:solidFill>
            <a:srgbClr val="FFFFFF">
              <a:alpha val="29750"/>
            </a:srgbClr>
          </a:solidFill>
          <a:ln cap="flat" cmpd="sng" w="19050">
            <a:solidFill>
              <a:srgbClr val="C00000"/>
            </a:solidFill>
            <a:prstDash val="dash"/>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57" name="Google Shape;557;p47"/>
          <p:cNvSpPr txBox="1"/>
          <p:nvPr/>
        </p:nvSpPr>
        <p:spPr>
          <a:xfrm>
            <a:off x="6208950" y="2571750"/>
            <a:ext cx="2467200" cy="981900"/>
          </a:xfrm>
          <a:prstGeom prst="rect">
            <a:avLst/>
          </a:prstGeom>
          <a:noFill/>
          <a:ln>
            <a:noFill/>
          </a:ln>
        </p:spPr>
        <p:txBody>
          <a:bodyPr anchorCtr="0" anchor="t" bIns="34275" lIns="68575" spcFirstLastPara="1" rIns="68575" wrap="square" tIns="34275">
            <a:spAutoFit/>
          </a:bodyPr>
          <a:lstStyle/>
          <a:p>
            <a:pPr indent="0" lvl="0" marL="0" rtl="0" algn="l">
              <a:lnSpc>
                <a:spcPct val="115000"/>
              </a:lnSpc>
              <a:spcBef>
                <a:spcPts val="1200"/>
              </a:spcBef>
              <a:spcAft>
                <a:spcPts val="1200"/>
              </a:spcAft>
              <a:buClr>
                <a:schemeClr val="dk1"/>
              </a:buClr>
              <a:buSzPts val="1100"/>
              <a:buFont typeface="Arial"/>
              <a:buNone/>
            </a:pPr>
            <a:r>
              <a:rPr b="1" lang="es" sz="1100">
                <a:solidFill>
                  <a:schemeClr val="dk1"/>
                </a:solidFill>
              </a:rPr>
              <a:t>Shanghai</a:t>
            </a:r>
            <a:br>
              <a:rPr b="1" lang="es" sz="1100">
                <a:solidFill>
                  <a:schemeClr val="dk1"/>
                </a:solidFill>
              </a:rPr>
            </a:br>
            <a:r>
              <a:rPr i="1" lang="es" sz="1100">
                <a:solidFill>
                  <a:schemeClr val="dk1"/>
                </a:solidFill>
              </a:rPr>
              <a:t>Tier 1 City</a:t>
            </a:r>
            <a:br>
              <a:rPr i="1" lang="es" sz="1100">
                <a:solidFill>
                  <a:schemeClr val="dk1"/>
                </a:solidFill>
              </a:rPr>
            </a:br>
            <a:r>
              <a:rPr lang="es" sz="1000">
                <a:solidFill>
                  <a:schemeClr val="dk1"/>
                </a:solidFill>
              </a:rPr>
              <a:t>China’s most international city, with a vibrant bar scene (e.g., The Bund, Xintiandi) and craft beer culture.</a:t>
            </a:r>
            <a:r>
              <a:rPr i="1" lang="es" sz="1100">
                <a:solidFill>
                  <a:schemeClr val="dk1"/>
                </a:solidFill>
              </a:rPr>
              <a:t> </a:t>
            </a:r>
            <a:endParaRPr b="1" sz="1100">
              <a:solidFill>
                <a:srgbClr val="C00000"/>
              </a:solidFill>
              <a:latin typeface="Quattrocento Sans"/>
              <a:ea typeface="Quattrocento Sans"/>
              <a:cs typeface="Quattrocento Sans"/>
              <a:sym typeface="Quattrocento Sans"/>
            </a:endParaRPr>
          </a:p>
        </p:txBody>
      </p:sp>
      <p:sp>
        <p:nvSpPr>
          <p:cNvPr id="558" name="Google Shape;558;p47"/>
          <p:cNvSpPr txBox="1"/>
          <p:nvPr/>
        </p:nvSpPr>
        <p:spPr>
          <a:xfrm>
            <a:off x="6603976" y="857700"/>
            <a:ext cx="2224500" cy="11928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Clr>
                <a:schemeClr val="dk1"/>
              </a:buClr>
              <a:buSzPts val="1100"/>
              <a:buFont typeface="Arial"/>
              <a:buNone/>
            </a:pPr>
            <a:r>
              <a:rPr b="1" lang="es" sz="1100">
                <a:solidFill>
                  <a:schemeClr val="dk1"/>
                </a:solidFill>
              </a:rPr>
              <a:t>Beijing </a:t>
            </a:r>
            <a:endParaRPr b="1" sz="1100">
              <a:solidFill>
                <a:schemeClr val="dk1"/>
              </a:solidFill>
            </a:endParaRPr>
          </a:p>
          <a:p>
            <a:pPr indent="0" lvl="0" marL="0" rtl="0" algn="l">
              <a:spcBef>
                <a:spcPts val="0"/>
              </a:spcBef>
              <a:spcAft>
                <a:spcPts val="0"/>
              </a:spcAft>
              <a:buClr>
                <a:schemeClr val="dk1"/>
              </a:buClr>
              <a:buSzPts val="1100"/>
              <a:buFont typeface="Arial"/>
              <a:buNone/>
            </a:pPr>
            <a:r>
              <a:rPr i="1" lang="es" sz="1100">
                <a:solidFill>
                  <a:schemeClr val="dk1"/>
                </a:solidFill>
              </a:rPr>
              <a:t>Tier 1 City</a:t>
            </a:r>
            <a:br>
              <a:rPr i="1" lang="es" sz="1100">
                <a:solidFill>
                  <a:schemeClr val="dk1"/>
                </a:solidFill>
              </a:rPr>
            </a:br>
            <a:r>
              <a:rPr lang="es" sz="1000">
                <a:solidFill>
                  <a:schemeClr val="dk1"/>
                </a:solidFill>
              </a:rPr>
              <a:t>booming craft beer market (e.g., Sanlitun, Gulou) and high-end restaurants that pair beer with gourmet food.</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i="1" sz="1100">
              <a:solidFill>
                <a:schemeClr val="dk1"/>
              </a:solidFill>
            </a:endParaRPr>
          </a:p>
        </p:txBody>
      </p:sp>
      <p:pic>
        <p:nvPicPr>
          <p:cNvPr id="559" name="Google Shape;559;p47"/>
          <p:cNvPicPr preferRelativeResize="0"/>
          <p:nvPr/>
        </p:nvPicPr>
        <p:blipFill>
          <a:blip r:embed="rId4">
            <a:alphaModFix/>
          </a:blip>
          <a:stretch>
            <a:fillRect/>
          </a:stretch>
        </p:blipFill>
        <p:spPr>
          <a:xfrm>
            <a:off x="5136175" y="2059675"/>
            <a:ext cx="303300" cy="433275"/>
          </a:xfrm>
          <a:prstGeom prst="rect">
            <a:avLst/>
          </a:prstGeom>
          <a:noFill/>
          <a:ln>
            <a:noFill/>
          </a:ln>
        </p:spPr>
      </p:pic>
      <p:pic>
        <p:nvPicPr>
          <p:cNvPr id="560" name="Google Shape;560;p47"/>
          <p:cNvPicPr preferRelativeResize="0"/>
          <p:nvPr/>
        </p:nvPicPr>
        <p:blipFill>
          <a:blip r:embed="rId4">
            <a:alphaModFix/>
          </a:blip>
          <a:stretch>
            <a:fillRect/>
          </a:stretch>
        </p:blipFill>
        <p:spPr>
          <a:xfrm>
            <a:off x="5540950" y="2920350"/>
            <a:ext cx="303300" cy="433275"/>
          </a:xfrm>
          <a:prstGeom prst="rect">
            <a:avLst/>
          </a:prstGeom>
          <a:noFill/>
          <a:ln>
            <a:noFill/>
          </a:ln>
        </p:spPr>
      </p:pic>
      <p:sp>
        <p:nvSpPr>
          <p:cNvPr id="561" name="Google Shape;561;p47"/>
          <p:cNvSpPr/>
          <p:nvPr/>
        </p:nvSpPr>
        <p:spPr>
          <a:xfrm>
            <a:off x="155450" y="2192875"/>
            <a:ext cx="2467200" cy="1805700"/>
          </a:xfrm>
          <a:prstGeom prst="rect">
            <a:avLst/>
          </a:prstGeom>
          <a:solidFill>
            <a:srgbClr val="FFFFFF">
              <a:alpha val="29750"/>
            </a:srgbClr>
          </a:solidFill>
          <a:ln cap="flat" cmpd="sng" w="19050">
            <a:solidFill>
              <a:srgbClr val="C00000"/>
            </a:solidFill>
            <a:prstDash val="dash"/>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62" name="Google Shape;562;p47"/>
          <p:cNvSpPr txBox="1"/>
          <p:nvPr/>
        </p:nvSpPr>
        <p:spPr>
          <a:xfrm>
            <a:off x="276790" y="3480284"/>
            <a:ext cx="2224500" cy="433200"/>
          </a:xfrm>
          <a:prstGeom prst="rect">
            <a:avLst/>
          </a:prstGeom>
          <a:noFill/>
          <a:ln>
            <a:noFill/>
          </a:ln>
        </p:spPr>
        <p:txBody>
          <a:bodyPr anchorCtr="0" anchor="t" bIns="34275" lIns="68575" spcFirstLastPara="1" rIns="68575" wrap="square" tIns="34275">
            <a:spAutoFit/>
          </a:bodyPr>
          <a:lstStyle/>
          <a:p>
            <a:pPr indent="0" lvl="0" marL="0" rtl="0" algn="l">
              <a:lnSpc>
                <a:spcPct val="115000"/>
              </a:lnSpc>
              <a:spcBef>
                <a:spcPts val="1200"/>
              </a:spcBef>
              <a:spcAft>
                <a:spcPts val="1200"/>
              </a:spcAft>
              <a:buClr>
                <a:schemeClr val="dk1"/>
              </a:buClr>
              <a:buSzPts val="1100"/>
              <a:buFont typeface="Arial"/>
              <a:buNone/>
            </a:pPr>
            <a:r>
              <a:rPr b="1" lang="es" sz="1100">
                <a:solidFill>
                  <a:schemeClr val="dk1"/>
                </a:solidFill>
              </a:rPr>
              <a:t>Wild Dog: Online &amp; Ecommerce on TaoBao</a:t>
            </a:r>
            <a:endParaRPr sz="1100">
              <a:solidFill>
                <a:schemeClr val="dk1"/>
              </a:solidFill>
              <a:latin typeface="Quattrocento Sans"/>
              <a:ea typeface="Quattrocento Sans"/>
              <a:cs typeface="Quattrocento Sans"/>
              <a:sym typeface="Quattrocento Sans"/>
            </a:endParaRPr>
          </a:p>
        </p:txBody>
      </p:sp>
      <p:pic>
        <p:nvPicPr>
          <p:cNvPr descr="Taobao – Apps on Google Play" id="563" name="Google Shape;563;p47"/>
          <p:cNvPicPr preferRelativeResize="0"/>
          <p:nvPr/>
        </p:nvPicPr>
        <p:blipFill>
          <a:blip r:embed="rId5">
            <a:alphaModFix/>
          </a:blip>
          <a:stretch>
            <a:fillRect/>
          </a:stretch>
        </p:blipFill>
        <p:spPr>
          <a:xfrm>
            <a:off x="447100" y="2307150"/>
            <a:ext cx="1085100" cy="1085100"/>
          </a:xfrm>
          <a:prstGeom prst="rect">
            <a:avLst/>
          </a:prstGeom>
          <a:noFill/>
          <a:ln>
            <a:noFill/>
          </a:ln>
        </p:spPr>
      </p:pic>
      <p:cxnSp>
        <p:nvCxnSpPr>
          <p:cNvPr id="564" name="Google Shape;564;p47"/>
          <p:cNvCxnSpPr/>
          <p:nvPr/>
        </p:nvCxnSpPr>
        <p:spPr>
          <a:xfrm>
            <a:off x="5521246" y="4790797"/>
            <a:ext cx="405000" cy="0"/>
          </a:xfrm>
          <a:prstGeom prst="straightConnector1">
            <a:avLst/>
          </a:prstGeom>
          <a:noFill/>
          <a:ln cap="flat" cmpd="sng" w="12700">
            <a:solidFill>
              <a:srgbClr val="C00000"/>
            </a:solidFill>
            <a:prstDash val="solid"/>
            <a:miter lim="800000"/>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8"/>
          <p:cNvSpPr/>
          <p:nvPr/>
        </p:nvSpPr>
        <p:spPr>
          <a:xfrm>
            <a:off x="3261875" y="905025"/>
            <a:ext cx="5546400" cy="1177200"/>
          </a:xfrm>
          <a:prstGeom prst="rect">
            <a:avLst/>
          </a:prstGeom>
          <a:noFill/>
          <a:ln cap="flat" cmpd="sng" w="12700">
            <a:solidFill>
              <a:srgbClr val="C5C4C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70" name="Google Shape;570;p48"/>
          <p:cNvSpPr txBox="1"/>
          <p:nvPr/>
        </p:nvSpPr>
        <p:spPr>
          <a:xfrm>
            <a:off x="198848" y="102400"/>
            <a:ext cx="26814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Strategy Implementation</a:t>
            </a:r>
            <a:endParaRPr sz="1100"/>
          </a:p>
        </p:txBody>
      </p:sp>
      <p:sp>
        <p:nvSpPr>
          <p:cNvPr id="571" name="Google Shape;571;p48"/>
          <p:cNvSpPr/>
          <p:nvPr/>
        </p:nvSpPr>
        <p:spPr>
          <a:xfrm>
            <a:off x="234625" y="1797175"/>
            <a:ext cx="2688600" cy="26778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72" name="Google Shape;572;p48"/>
          <p:cNvSpPr txBox="1"/>
          <p:nvPr>
            <p:ph idx="4294967295" type="title"/>
          </p:nvPr>
        </p:nvSpPr>
        <p:spPr>
          <a:xfrm>
            <a:off x="435925" y="3573575"/>
            <a:ext cx="2286000" cy="6684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1800"/>
              <a:buFont typeface="Play"/>
              <a:buNone/>
            </a:pPr>
            <a:r>
              <a:rPr lang="es" sz="1400"/>
              <a:t>We will capture </a:t>
            </a:r>
            <a:r>
              <a:rPr b="1" lang="es" sz="1400"/>
              <a:t>5.12%</a:t>
            </a:r>
            <a:r>
              <a:rPr lang="es" sz="1400"/>
              <a:t> of the Chinese Premium </a:t>
            </a:r>
            <a:r>
              <a:rPr b="1" lang="es" sz="1400"/>
              <a:t>Market</a:t>
            </a:r>
            <a:r>
              <a:rPr lang="es" sz="1400"/>
              <a:t> in 4 Years, </a:t>
            </a:r>
            <a:r>
              <a:rPr b="1" lang="es" sz="1400"/>
              <a:t>512K+ </a:t>
            </a:r>
            <a:r>
              <a:rPr lang="es" sz="1400"/>
              <a:t>Customers Per Annum</a:t>
            </a:r>
            <a:endParaRPr sz="2900">
              <a:latin typeface="Arial"/>
              <a:ea typeface="Arial"/>
              <a:cs typeface="Arial"/>
              <a:sym typeface="Arial"/>
            </a:endParaRPr>
          </a:p>
        </p:txBody>
      </p:sp>
      <p:graphicFrame>
        <p:nvGraphicFramePr>
          <p:cNvPr id="573" name="Google Shape;573;p48"/>
          <p:cNvGraphicFramePr/>
          <p:nvPr/>
        </p:nvGraphicFramePr>
        <p:xfrm>
          <a:off x="9531638" y="1668375"/>
          <a:ext cx="3000000" cy="3000000"/>
        </p:xfrm>
        <a:graphic>
          <a:graphicData uri="http://schemas.openxmlformats.org/drawingml/2006/table">
            <a:tbl>
              <a:tblPr>
                <a:noFill/>
                <a:tableStyleId>{1D721C88-F452-4778-8C19-BF253FB8F64B}</a:tableStyleId>
              </a:tblPr>
              <a:tblGrid>
                <a:gridCol w="1054450"/>
                <a:gridCol w="1634150"/>
              </a:tblGrid>
              <a:tr h="110500">
                <a:tc>
                  <a:txBody>
                    <a:bodyPr/>
                    <a:lstStyle/>
                    <a:p>
                      <a:pPr indent="0" lvl="0" marL="0" rtl="0" algn="l">
                        <a:lnSpc>
                          <a:spcPct val="115000"/>
                        </a:lnSpc>
                        <a:spcBef>
                          <a:spcPts val="0"/>
                        </a:spcBef>
                        <a:spcAft>
                          <a:spcPts val="0"/>
                        </a:spcAft>
                        <a:buNone/>
                      </a:pPr>
                      <a:r>
                        <a:rPr b="1" lang="es" sz="1200"/>
                        <a:t>35K</a:t>
                      </a:r>
                      <a:endParaRPr b="1" sz="1200"/>
                    </a:p>
                  </a:txBody>
                  <a:tcPr marT="9525" marB="91425" marR="9525" marL="9525" anchor="ctr"/>
                </a:tc>
                <a:tc>
                  <a:txBody>
                    <a:bodyPr/>
                    <a:lstStyle/>
                    <a:p>
                      <a:pPr indent="0" lvl="0" marL="0" rtl="0" algn="l">
                        <a:spcBef>
                          <a:spcPts val="0"/>
                        </a:spcBef>
                        <a:spcAft>
                          <a:spcPts val="0"/>
                        </a:spcAft>
                        <a:buNone/>
                      </a:pPr>
                      <a:r>
                        <a:rPr lang="es" sz="1200"/>
                        <a:t>Customers Per Annum</a:t>
                      </a:r>
                      <a:endParaRPr sz="1200"/>
                    </a:p>
                  </a:txBody>
                  <a:tcPr marT="9525" marB="91425" marR="9525" marL="9525" anchor="ctr"/>
                </a:tc>
              </a:tr>
              <a:tr h="110500">
                <a:tc>
                  <a:txBody>
                    <a:bodyPr/>
                    <a:lstStyle/>
                    <a:p>
                      <a:pPr indent="0" lvl="0" marL="0" rtl="0" algn="l">
                        <a:lnSpc>
                          <a:spcPct val="115000"/>
                        </a:lnSpc>
                        <a:spcBef>
                          <a:spcPts val="0"/>
                        </a:spcBef>
                        <a:spcAft>
                          <a:spcPts val="0"/>
                        </a:spcAft>
                        <a:buNone/>
                      </a:pPr>
                      <a:r>
                        <a:rPr b="1" lang="es" sz="1200"/>
                        <a:t>25</a:t>
                      </a:r>
                      <a:endParaRPr b="1" sz="1200"/>
                    </a:p>
                  </a:txBody>
                  <a:tcPr marT="9525" marB="91425" marR="9525" marL="9525" anchor="ctr">
                    <a:lnB cap="flat" cmpd="sng" w="9525">
                      <a:solidFill>
                        <a:srgbClr val="073763"/>
                      </a:solidFill>
                      <a:prstDash val="solid"/>
                      <a:round/>
                      <a:headEnd len="sm" w="sm" type="none"/>
                      <a:tailEnd len="sm" w="sm" type="none"/>
                    </a:lnB>
                  </a:tcPr>
                </a:tc>
                <a:tc>
                  <a:txBody>
                    <a:bodyPr/>
                    <a:lstStyle/>
                    <a:p>
                      <a:pPr indent="0" lvl="0" marL="0" rtl="0" algn="l">
                        <a:spcBef>
                          <a:spcPts val="0"/>
                        </a:spcBef>
                        <a:spcAft>
                          <a:spcPts val="0"/>
                        </a:spcAft>
                        <a:buNone/>
                      </a:pPr>
                      <a:r>
                        <a:rPr lang="es" sz="1200"/>
                        <a:t>Expected Ticket Size</a:t>
                      </a:r>
                      <a:endParaRPr sz="1200"/>
                    </a:p>
                  </a:txBody>
                  <a:tcPr marT="9525" marB="91425" marR="9525" marL="9525" anchor="ctr">
                    <a:lnB cap="flat" cmpd="sng" w="9525">
                      <a:solidFill>
                        <a:srgbClr val="073763"/>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s" sz="1200"/>
                        <a:t>884.7K </a:t>
                      </a:r>
                      <a:endParaRPr b="1" sz="1200"/>
                    </a:p>
                  </a:txBody>
                  <a:tcPr marT="9525" marB="91425" marR="9525" marL="9525" anchor="ctr">
                    <a:lnT cap="flat" cmpd="sng" w="9525">
                      <a:solidFill>
                        <a:srgbClr val="073763"/>
                      </a:solidFill>
                      <a:prstDash val="solid"/>
                      <a:round/>
                      <a:headEnd len="sm" w="sm" type="none"/>
                      <a:tailEnd len="sm" w="sm" type="none"/>
                    </a:lnT>
                  </a:tcPr>
                </a:tc>
                <a:tc>
                  <a:txBody>
                    <a:bodyPr/>
                    <a:lstStyle/>
                    <a:p>
                      <a:pPr indent="0" lvl="0" marL="0" rtl="0" algn="l">
                        <a:spcBef>
                          <a:spcPts val="0"/>
                        </a:spcBef>
                        <a:spcAft>
                          <a:spcPts val="0"/>
                        </a:spcAft>
                        <a:buNone/>
                      </a:pPr>
                      <a:r>
                        <a:rPr lang="es" sz="1200"/>
                        <a:t>Expected AUV </a:t>
                      </a:r>
                      <a:endParaRPr sz="1200"/>
                    </a:p>
                  </a:txBody>
                  <a:tcPr marT="9525" marB="91425" marR="9525" marL="9525" anchor="ctr">
                    <a:lnT cap="flat" cmpd="sng" w="9525">
                      <a:solidFill>
                        <a:srgbClr val="073763"/>
                      </a:solidFill>
                      <a:prstDash val="solid"/>
                      <a:round/>
                      <a:headEnd len="sm" w="sm" type="none"/>
                      <a:tailEnd len="sm" w="sm" type="none"/>
                    </a:lnT>
                  </a:tcPr>
                </a:tc>
              </a:tr>
            </a:tbl>
          </a:graphicData>
        </a:graphic>
      </p:graphicFrame>
      <p:graphicFrame>
        <p:nvGraphicFramePr>
          <p:cNvPr id="574" name="Google Shape;574;p48"/>
          <p:cNvGraphicFramePr/>
          <p:nvPr/>
        </p:nvGraphicFramePr>
        <p:xfrm>
          <a:off x="9531650" y="534075"/>
          <a:ext cx="3000000" cy="3000000"/>
        </p:xfrm>
        <a:graphic>
          <a:graphicData uri="http://schemas.openxmlformats.org/drawingml/2006/table">
            <a:tbl>
              <a:tblPr>
                <a:noFill/>
                <a:tableStyleId>{1D721C88-F452-4778-8C19-BF253FB8F64B}</a:tableStyleId>
              </a:tblPr>
              <a:tblGrid>
                <a:gridCol w="507025"/>
                <a:gridCol w="1965825"/>
              </a:tblGrid>
              <a:tr h="200025">
                <a:tc>
                  <a:txBody>
                    <a:bodyPr/>
                    <a:lstStyle/>
                    <a:p>
                      <a:pPr indent="0" lvl="0" marL="0" rtl="0" algn="l">
                        <a:lnSpc>
                          <a:spcPct val="115000"/>
                        </a:lnSpc>
                        <a:spcBef>
                          <a:spcPts val="0"/>
                        </a:spcBef>
                        <a:spcAft>
                          <a:spcPts val="0"/>
                        </a:spcAft>
                        <a:buNone/>
                      </a:pPr>
                      <a:r>
                        <a:rPr b="1" lang="es" sz="1200"/>
                        <a:t>22.5K </a:t>
                      </a:r>
                      <a:endParaRPr b="1" sz="1200"/>
                    </a:p>
                  </a:txBody>
                  <a:tcPr marT="9525" marB="91425" marR="9525" marL="9525" anchor="ctr"/>
                </a:tc>
                <a:tc>
                  <a:txBody>
                    <a:bodyPr/>
                    <a:lstStyle/>
                    <a:p>
                      <a:pPr indent="0" lvl="0" marL="0" rtl="0" algn="l">
                        <a:spcBef>
                          <a:spcPts val="0"/>
                        </a:spcBef>
                        <a:spcAft>
                          <a:spcPts val="0"/>
                        </a:spcAft>
                        <a:buNone/>
                      </a:pPr>
                      <a:r>
                        <a:rPr lang="es" sz="1200"/>
                        <a:t>Initial Franchise Fee</a:t>
                      </a:r>
                      <a:endParaRPr sz="1200"/>
                    </a:p>
                  </a:txBody>
                  <a:tcPr marT="9525" marB="91425" marR="9525" marL="9525" anchor="ctr"/>
                </a:tc>
              </a:tr>
              <a:tr h="200025">
                <a:tc>
                  <a:txBody>
                    <a:bodyPr/>
                    <a:lstStyle/>
                    <a:p>
                      <a:pPr indent="0" lvl="0" marL="0" rtl="0" algn="l">
                        <a:lnSpc>
                          <a:spcPct val="115000"/>
                        </a:lnSpc>
                        <a:spcBef>
                          <a:spcPts val="0"/>
                        </a:spcBef>
                        <a:spcAft>
                          <a:spcPts val="0"/>
                        </a:spcAft>
                        <a:buNone/>
                      </a:pPr>
                      <a:r>
                        <a:rPr b="1" lang="es" sz="1200"/>
                        <a:t>17.6K </a:t>
                      </a:r>
                      <a:endParaRPr b="1" sz="1200"/>
                    </a:p>
                  </a:txBody>
                  <a:tcPr marT="9525" marB="91425" marR="9525" marL="9525" anchor="ctr">
                    <a:lnB cap="flat" cmpd="sng" w="9525">
                      <a:solidFill>
                        <a:srgbClr val="073763">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1200"/>
                        <a:t>Franchise Operating Fee</a:t>
                      </a:r>
                      <a:endParaRPr sz="1200"/>
                    </a:p>
                  </a:txBody>
                  <a:tcPr marT="9525" marB="91425" marR="9525" marL="9525" anchor="ctr">
                    <a:lnB cap="flat" cmpd="sng" w="9525">
                      <a:solidFill>
                        <a:srgbClr val="073763">
                          <a:alpha val="0"/>
                        </a:srgbClr>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s" sz="1200"/>
                        <a:t>40K </a:t>
                      </a:r>
                      <a:endParaRPr b="1" sz="1200"/>
                    </a:p>
                  </a:txBody>
                  <a:tcPr marT="9525" marB="91425" marR="9525" marL="9525" anchor="ctr">
                    <a:lnT cap="flat" cmpd="sng" w="9525">
                      <a:solidFill>
                        <a:srgbClr val="073763">
                          <a:alpha val="0"/>
                        </a:srgbClr>
                      </a:solidFill>
                      <a:prstDash val="solid"/>
                      <a:round/>
                      <a:headEnd len="sm" w="sm" type="none"/>
                      <a:tailEnd len="sm" w="sm" type="none"/>
                    </a:lnT>
                  </a:tcPr>
                </a:tc>
                <a:tc>
                  <a:txBody>
                    <a:bodyPr/>
                    <a:lstStyle/>
                    <a:p>
                      <a:pPr indent="0" lvl="0" marL="0" rtl="0" algn="l">
                        <a:spcBef>
                          <a:spcPts val="0"/>
                        </a:spcBef>
                        <a:spcAft>
                          <a:spcPts val="0"/>
                        </a:spcAft>
                        <a:buNone/>
                      </a:pPr>
                      <a:r>
                        <a:rPr lang="es" sz="1200"/>
                        <a:t>Applicant Fee</a:t>
                      </a:r>
                      <a:endParaRPr sz="1200"/>
                    </a:p>
                  </a:txBody>
                  <a:tcPr marT="9525" marB="91425" marR="9525" marL="9525" anchor="ctr">
                    <a:lnT cap="flat" cmpd="sng" w="9525">
                      <a:solidFill>
                        <a:srgbClr val="073763">
                          <a:alpha val="0"/>
                        </a:srgbClr>
                      </a:solidFill>
                      <a:prstDash val="solid"/>
                      <a:round/>
                      <a:headEnd len="sm" w="sm" type="none"/>
                      <a:tailEnd len="sm" w="sm" type="none"/>
                    </a:lnT>
                  </a:tcPr>
                </a:tc>
              </a:tr>
            </a:tbl>
          </a:graphicData>
        </a:graphic>
      </p:graphicFrame>
      <p:sp>
        <p:nvSpPr>
          <p:cNvPr id="575" name="Google Shape;575;p48"/>
          <p:cNvSpPr txBox="1"/>
          <p:nvPr/>
        </p:nvSpPr>
        <p:spPr>
          <a:xfrm>
            <a:off x="3673426" y="2217884"/>
            <a:ext cx="878100" cy="338700"/>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b="1" lang="es" sz="2200">
                <a:solidFill>
                  <a:srgbClr val="C00000"/>
                </a:solidFill>
                <a:latin typeface="Calibri"/>
                <a:ea typeface="Calibri"/>
                <a:cs typeface="Calibri"/>
                <a:sym typeface="Calibri"/>
              </a:rPr>
              <a:t>5.12%</a:t>
            </a:r>
            <a:endParaRPr sz="2200">
              <a:solidFill>
                <a:srgbClr val="C00000"/>
              </a:solidFill>
            </a:endParaRPr>
          </a:p>
        </p:txBody>
      </p:sp>
      <p:sp>
        <p:nvSpPr>
          <p:cNvPr id="576" name="Google Shape;576;p48"/>
          <p:cNvSpPr txBox="1"/>
          <p:nvPr/>
        </p:nvSpPr>
        <p:spPr>
          <a:xfrm>
            <a:off x="3673425" y="3092475"/>
            <a:ext cx="1047300" cy="338700"/>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b="1" lang="es" sz="2200">
                <a:solidFill>
                  <a:srgbClr val="C00000"/>
                </a:solidFill>
                <a:latin typeface="Calibri"/>
                <a:ea typeface="Calibri"/>
                <a:cs typeface="Calibri"/>
                <a:sym typeface="Calibri"/>
              </a:rPr>
              <a:t>512K+</a:t>
            </a:r>
            <a:endParaRPr sz="2200">
              <a:solidFill>
                <a:srgbClr val="C00000"/>
              </a:solidFill>
            </a:endParaRPr>
          </a:p>
        </p:txBody>
      </p:sp>
      <p:sp>
        <p:nvSpPr>
          <p:cNvPr id="577" name="Google Shape;577;p48"/>
          <p:cNvSpPr txBox="1"/>
          <p:nvPr/>
        </p:nvSpPr>
        <p:spPr>
          <a:xfrm>
            <a:off x="3251926" y="2529700"/>
            <a:ext cx="1721100" cy="577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sz="1100">
                <a:solidFill>
                  <a:schemeClr val="dk1"/>
                </a:solidFill>
              </a:rPr>
              <a:t>Captured Market (Forbidden City &amp; Wild Dog Combined) </a:t>
            </a:r>
            <a:endParaRPr sz="1100">
              <a:solidFill>
                <a:schemeClr val="dk1"/>
              </a:solidFill>
              <a:latin typeface="Quattrocento Sans"/>
              <a:ea typeface="Quattrocento Sans"/>
              <a:cs typeface="Quattrocento Sans"/>
              <a:sym typeface="Quattrocento Sans"/>
            </a:endParaRPr>
          </a:p>
        </p:txBody>
      </p:sp>
      <p:sp>
        <p:nvSpPr>
          <p:cNvPr id="578" name="Google Shape;578;p48"/>
          <p:cNvSpPr txBox="1"/>
          <p:nvPr/>
        </p:nvSpPr>
        <p:spPr>
          <a:xfrm>
            <a:off x="3251926" y="3431163"/>
            <a:ext cx="1721100" cy="408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sz="1100">
                <a:solidFill>
                  <a:schemeClr val="dk1"/>
                </a:solidFill>
              </a:rPr>
              <a:t>Customers Per Annum Purchasing EBC</a:t>
            </a:r>
            <a:endParaRPr sz="1100">
              <a:solidFill>
                <a:schemeClr val="dk1"/>
              </a:solidFill>
              <a:latin typeface="Quattrocento Sans"/>
              <a:ea typeface="Quattrocento Sans"/>
              <a:cs typeface="Quattrocento Sans"/>
              <a:sym typeface="Quattrocento Sans"/>
            </a:endParaRPr>
          </a:p>
        </p:txBody>
      </p:sp>
      <p:sp>
        <p:nvSpPr>
          <p:cNvPr id="579" name="Google Shape;579;p48"/>
          <p:cNvSpPr txBox="1"/>
          <p:nvPr/>
        </p:nvSpPr>
        <p:spPr>
          <a:xfrm>
            <a:off x="3673426" y="3825872"/>
            <a:ext cx="878100" cy="338700"/>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b="1" lang="es" sz="2200">
                <a:solidFill>
                  <a:srgbClr val="C00000"/>
                </a:solidFill>
                <a:latin typeface="Calibri"/>
                <a:ea typeface="Calibri"/>
                <a:cs typeface="Calibri"/>
                <a:sym typeface="Calibri"/>
              </a:rPr>
              <a:t>32.34%</a:t>
            </a:r>
            <a:endParaRPr sz="2200">
              <a:solidFill>
                <a:srgbClr val="C00000"/>
              </a:solidFill>
            </a:endParaRPr>
          </a:p>
        </p:txBody>
      </p:sp>
      <p:sp>
        <p:nvSpPr>
          <p:cNvPr id="580" name="Google Shape;580;p48"/>
          <p:cNvSpPr txBox="1"/>
          <p:nvPr/>
        </p:nvSpPr>
        <p:spPr>
          <a:xfrm>
            <a:off x="3417826" y="4137700"/>
            <a:ext cx="1389300" cy="577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sz="1100">
                <a:solidFill>
                  <a:schemeClr val="dk1"/>
                </a:solidFill>
              </a:rPr>
              <a:t>Net GPM for Forbidden City &amp; Wild Dog</a:t>
            </a:r>
            <a:endParaRPr sz="1100">
              <a:solidFill>
                <a:schemeClr val="dk1"/>
              </a:solidFill>
              <a:latin typeface="Quattrocento Sans"/>
              <a:ea typeface="Quattrocento Sans"/>
              <a:cs typeface="Quattrocento Sans"/>
              <a:sym typeface="Quattrocento Sans"/>
            </a:endParaRPr>
          </a:p>
        </p:txBody>
      </p:sp>
      <p:pic>
        <p:nvPicPr>
          <p:cNvPr id="581" name="Google Shape;581;p48"/>
          <p:cNvPicPr preferRelativeResize="0"/>
          <p:nvPr/>
        </p:nvPicPr>
        <p:blipFill rotWithShape="1">
          <a:blip r:embed="rId3">
            <a:alphaModFix/>
          </a:blip>
          <a:srcRect b="6446" l="20963" r="20969" t="0"/>
          <a:stretch/>
        </p:blipFill>
        <p:spPr>
          <a:xfrm>
            <a:off x="6025605" y="1163713"/>
            <a:ext cx="752100" cy="778800"/>
          </a:xfrm>
          <a:prstGeom prst="ellipse">
            <a:avLst/>
          </a:prstGeom>
          <a:noFill/>
          <a:ln>
            <a:noFill/>
          </a:ln>
        </p:spPr>
      </p:pic>
      <p:sp>
        <p:nvSpPr>
          <p:cNvPr id="582" name="Google Shape;582;p48"/>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s"/>
              <a:t>‹#›</a:t>
            </a:fld>
            <a:endParaRPr/>
          </a:p>
        </p:txBody>
      </p:sp>
      <p:pic>
        <p:nvPicPr>
          <p:cNvPr descr="Sam's Club - Wikipedia" id="583" name="Google Shape;583;p48"/>
          <p:cNvPicPr preferRelativeResize="0"/>
          <p:nvPr/>
        </p:nvPicPr>
        <p:blipFill>
          <a:blip r:embed="rId4">
            <a:alphaModFix/>
          </a:blip>
          <a:stretch>
            <a:fillRect/>
          </a:stretch>
        </p:blipFill>
        <p:spPr>
          <a:xfrm>
            <a:off x="3467900" y="1175418"/>
            <a:ext cx="751976" cy="755398"/>
          </a:xfrm>
          <a:prstGeom prst="rect">
            <a:avLst/>
          </a:prstGeom>
          <a:noFill/>
          <a:ln>
            <a:noFill/>
          </a:ln>
        </p:spPr>
      </p:pic>
      <p:sp>
        <p:nvSpPr>
          <p:cNvPr id="584" name="Google Shape;584;p48"/>
          <p:cNvSpPr txBox="1"/>
          <p:nvPr>
            <p:ph idx="4294967295" type="title"/>
          </p:nvPr>
        </p:nvSpPr>
        <p:spPr>
          <a:xfrm>
            <a:off x="198850" y="534075"/>
            <a:ext cx="68496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Play"/>
              <a:buNone/>
            </a:pPr>
            <a:r>
              <a:rPr lang="es" sz="1800">
                <a:latin typeface="Arial"/>
                <a:ea typeface="Arial"/>
                <a:cs typeface="Arial"/>
                <a:sym typeface="Arial"/>
              </a:rPr>
              <a:t>We bring stable &amp; rapid growth through our </a:t>
            </a:r>
            <a:r>
              <a:rPr lang="es" sz="1800"/>
              <a:t>ambitious</a:t>
            </a:r>
            <a:r>
              <a:rPr lang="es" sz="1800">
                <a:latin typeface="Arial"/>
                <a:ea typeface="Arial"/>
                <a:cs typeface="Arial"/>
                <a:sym typeface="Arial"/>
              </a:rPr>
              <a:t> strategy </a:t>
            </a:r>
            <a:r>
              <a:rPr lang="es" sz="1800"/>
              <a:t>across China</a:t>
            </a:r>
            <a:endParaRPr>
              <a:latin typeface="Arial"/>
              <a:ea typeface="Arial"/>
              <a:cs typeface="Arial"/>
              <a:sym typeface="Arial"/>
            </a:endParaRPr>
          </a:p>
        </p:txBody>
      </p:sp>
      <p:sp>
        <p:nvSpPr>
          <p:cNvPr id="585" name="Google Shape;585;p48"/>
          <p:cNvSpPr/>
          <p:nvPr/>
        </p:nvSpPr>
        <p:spPr>
          <a:xfrm>
            <a:off x="4065175" y="792275"/>
            <a:ext cx="4205700" cy="211800"/>
          </a:xfrm>
          <a:prstGeom prst="rect">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s" sz="1200">
                <a:solidFill>
                  <a:schemeClr val="lt1"/>
                </a:solidFill>
                <a:latin typeface="Quattrocento Sans"/>
                <a:ea typeface="Quattrocento Sans"/>
                <a:cs typeface="Quattrocento Sans"/>
                <a:sym typeface="Quattrocento Sans"/>
              </a:rPr>
              <a:t>15% </a:t>
            </a:r>
            <a:r>
              <a:rPr lang="es" sz="1200">
                <a:solidFill>
                  <a:schemeClr val="lt1"/>
                </a:solidFill>
                <a:latin typeface="Quattrocento Sans"/>
                <a:ea typeface="Quattrocento Sans"/>
                <a:cs typeface="Quattrocento Sans"/>
                <a:sym typeface="Quattrocento Sans"/>
              </a:rPr>
              <a:t>of grocery stores carry Forbidden City </a:t>
            </a:r>
            <a:endParaRPr sz="1100"/>
          </a:p>
        </p:txBody>
      </p:sp>
      <p:sp>
        <p:nvSpPr>
          <p:cNvPr id="586" name="Google Shape;586;p48"/>
          <p:cNvSpPr txBox="1"/>
          <p:nvPr/>
        </p:nvSpPr>
        <p:spPr>
          <a:xfrm>
            <a:off x="4296475" y="1160525"/>
            <a:ext cx="1830900" cy="74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s" sz="1100">
                <a:solidFill>
                  <a:schemeClr val="dk1"/>
                </a:solidFill>
              </a:rPr>
              <a:t>Sam’s Club</a:t>
            </a:r>
            <a:endParaRPr b="1" sz="1100">
              <a:solidFill>
                <a:schemeClr val="dk1"/>
              </a:solidFill>
            </a:endParaRPr>
          </a:p>
          <a:p>
            <a:pPr indent="0" lvl="0" marL="0" marR="0" rtl="0" algn="l">
              <a:spcBef>
                <a:spcPts val="0"/>
              </a:spcBef>
              <a:spcAft>
                <a:spcPts val="0"/>
              </a:spcAft>
              <a:buNone/>
            </a:pPr>
            <a:r>
              <a:rPr i="1" lang="es" sz="1100">
                <a:solidFill>
                  <a:schemeClr val="dk1"/>
                </a:solidFill>
              </a:rPr>
              <a:t>Walmart </a:t>
            </a:r>
            <a:r>
              <a:rPr i="1" lang="es" sz="1100">
                <a:solidFill>
                  <a:schemeClr val="dk1"/>
                </a:solidFill>
              </a:rPr>
              <a:t>Subsidiary</a:t>
            </a:r>
            <a:r>
              <a:rPr i="1" lang="es" sz="1100">
                <a:solidFill>
                  <a:schemeClr val="dk1"/>
                </a:solidFill>
              </a:rPr>
              <a:t> </a:t>
            </a:r>
            <a:endParaRPr i="1" sz="1100">
              <a:solidFill>
                <a:schemeClr val="dk1"/>
              </a:solidFill>
            </a:endParaRPr>
          </a:p>
          <a:p>
            <a:pPr indent="0" lvl="0" marL="0" marR="0" rtl="0" algn="l">
              <a:spcBef>
                <a:spcPts val="0"/>
              </a:spcBef>
              <a:spcAft>
                <a:spcPts val="0"/>
              </a:spcAft>
              <a:buNone/>
            </a:pPr>
            <a:r>
              <a:rPr lang="es" sz="1100">
                <a:solidFill>
                  <a:schemeClr val="dk1"/>
                </a:solidFill>
              </a:rPr>
              <a:t>F</a:t>
            </a:r>
            <a:r>
              <a:rPr lang="es" sz="1100">
                <a:solidFill>
                  <a:schemeClr val="dk1"/>
                </a:solidFill>
              </a:rPr>
              <a:t>ocus on </a:t>
            </a:r>
            <a:r>
              <a:rPr lang="es" sz="1100">
                <a:solidFill>
                  <a:schemeClr val="dk1"/>
                </a:solidFill>
              </a:rPr>
              <a:t>online services and curated products </a:t>
            </a:r>
            <a:endParaRPr sz="1100">
              <a:solidFill>
                <a:schemeClr val="dk1"/>
              </a:solidFill>
            </a:endParaRPr>
          </a:p>
        </p:txBody>
      </p:sp>
      <p:sp>
        <p:nvSpPr>
          <p:cNvPr id="587" name="Google Shape;587;p48"/>
          <p:cNvSpPr txBox="1"/>
          <p:nvPr/>
        </p:nvSpPr>
        <p:spPr>
          <a:xfrm>
            <a:off x="6914062" y="1179925"/>
            <a:ext cx="1830900" cy="74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s" sz="1100">
                <a:solidFill>
                  <a:schemeClr val="dk1"/>
                </a:solidFill>
              </a:rPr>
              <a:t>Hema Premium</a:t>
            </a:r>
            <a:endParaRPr b="1" sz="1100">
              <a:solidFill>
                <a:schemeClr val="dk1"/>
              </a:solidFill>
            </a:endParaRPr>
          </a:p>
          <a:p>
            <a:pPr indent="0" lvl="0" marL="0" marR="0" rtl="0" algn="l">
              <a:spcBef>
                <a:spcPts val="0"/>
              </a:spcBef>
              <a:spcAft>
                <a:spcPts val="0"/>
              </a:spcAft>
              <a:buNone/>
            </a:pPr>
            <a:r>
              <a:rPr i="1" lang="es" sz="1100">
                <a:solidFill>
                  <a:schemeClr val="dk1"/>
                </a:solidFill>
              </a:rPr>
              <a:t>Alibaba</a:t>
            </a:r>
            <a:r>
              <a:rPr i="1" lang="es" sz="1100">
                <a:solidFill>
                  <a:schemeClr val="dk1"/>
                </a:solidFill>
              </a:rPr>
              <a:t> </a:t>
            </a:r>
            <a:r>
              <a:rPr i="1" lang="es" sz="1100">
                <a:solidFill>
                  <a:schemeClr val="dk1"/>
                </a:solidFill>
              </a:rPr>
              <a:t>Subsidiary</a:t>
            </a:r>
            <a:r>
              <a:rPr i="1" lang="es" sz="1100">
                <a:solidFill>
                  <a:schemeClr val="dk1"/>
                </a:solidFill>
              </a:rPr>
              <a:t> </a:t>
            </a:r>
            <a:endParaRPr i="1" sz="1100">
              <a:solidFill>
                <a:schemeClr val="dk1"/>
              </a:solidFill>
            </a:endParaRPr>
          </a:p>
          <a:p>
            <a:pPr indent="0" lvl="0" marL="0" marR="0" rtl="0" algn="l">
              <a:spcBef>
                <a:spcPts val="0"/>
              </a:spcBef>
              <a:spcAft>
                <a:spcPts val="0"/>
              </a:spcAft>
              <a:buNone/>
            </a:pPr>
            <a:r>
              <a:rPr lang="es" sz="1100">
                <a:solidFill>
                  <a:schemeClr val="dk1"/>
                </a:solidFill>
              </a:rPr>
              <a:t>Black-label, high end supermarket </a:t>
            </a:r>
            <a:r>
              <a:rPr lang="es" sz="1100">
                <a:solidFill>
                  <a:schemeClr val="dk1"/>
                </a:solidFill>
              </a:rPr>
              <a:t> </a:t>
            </a:r>
            <a:endParaRPr sz="1100">
              <a:solidFill>
                <a:schemeClr val="dk1"/>
              </a:solidFill>
            </a:endParaRPr>
          </a:p>
        </p:txBody>
      </p:sp>
      <p:pic>
        <p:nvPicPr>
          <p:cNvPr id="588" name="Google Shape;588;p48"/>
          <p:cNvPicPr preferRelativeResize="0"/>
          <p:nvPr/>
        </p:nvPicPr>
        <p:blipFill>
          <a:blip r:embed="rId5">
            <a:alphaModFix/>
          </a:blip>
          <a:stretch>
            <a:fillRect/>
          </a:stretch>
        </p:blipFill>
        <p:spPr>
          <a:xfrm>
            <a:off x="1053350" y="996050"/>
            <a:ext cx="974050" cy="2399650"/>
          </a:xfrm>
          <a:prstGeom prst="rect">
            <a:avLst/>
          </a:prstGeom>
          <a:noFill/>
          <a:ln>
            <a:noFill/>
          </a:ln>
        </p:spPr>
      </p:pic>
      <p:cxnSp>
        <p:nvCxnSpPr>
          <p:cNvPr id="589" name="Google Shape;589;p48"/>
          <p:cNvCxnSpPr/>
          <p:nvPr/>
        </p:nvCxnSpPr>
        <p:spPr>
          <a:xfrm>
            <a:off x="5521246" y="4790797"/>
            <a:ext cx="405000" cy="0"/>
          </a:xfrm>
          <a:prstGeom prst="straightConnector1">
            <a:avLst/>
          </a:prstGeom>
          <a:noFill/>
          <a:ln cap="flat" cmpd="sng" w="12700">
            <a:solidFill>
              <a:srgbClr val="C00000"/>
            </a:solidFill>
            <a:prstDash val="solid"/>
            <a:miter lim="800000"/>
            <a:headEnd len="sm" w="sm" type="none"/>
            <a:tailEnd len="sm" w="sm" type="none"/>
          </a:ln>
        </p:spPr>
      </p:cxnSp>
      <p:pic>
        <p:nvPicPr>
          <p:cNvPr id="590" name="Google Shape;590;p48" title="Screenshot 2025-04-04 at 9.50.52 AM.png"/>
          <p:cNvPicPr preferRelativeResize="0"/>
          <p:nvPr/>
        </p:nvPicPr>
        <p:blipFill>
          <a:blip r:embed="rId6">
            <a:alphaModFix/>
          </a:blip>
          <a:stretch>
            <a:fillRect/>
          </a:stretch>
        </p:blipFill>
        <p:spPr>
          <a:xfrm>
            <a:off x="5019875" y="2351674"/>
            <a:ext cx="3725074" cy="2228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graphicFrame>
        <p:nvGraphicFramePr>
          <p:cNvPr id="596" name="Google Shape;596;p49"/>
          <p:cNvGraphicFramePr/>
          <p:nvPr/>
        </p:nvGraphicFramePr>
        <p:xfrm>
          <a:off x="420351" y="849649"/>
          <a:ext cx="3000000" cy="3000000"/>
        </p:xfrm>
        <a:graphic>
          <a:graphicData uri="http://schemas.openxmlformats.org/drawingml/2006/table">
            <a:tbl>
              <a:tblPr>
                <a:noFill/>
                <a:tableStyleId>{1D721C88-F452-4778-8C19-BF253FB8F64B}</a:tableStyleId>
              </a:tblPr>
              <a:tblGrid>
                <a:gridCol w="1605650"/>
                <a:gridCol w="414100"/>
                <a:gridCol w="586000"/>
                <a:gridCol w="586000"/>
                <a:gridCol w="789150"/>
                <a:gridCol w="382850"/>
                <a:gridCol w="586000"/>
                <a:gridCol w="586000"/>
                <a:gridCol w="586000"/>
                <a:gridCol w="586000"/>
                <a:gridCol w="586000"/>
                <a:gridCol w="586000"/>
                <a:gridCol w="586000"/>
              </a:tblGrid>
              <a:tr h="257600">
                <a:tc>
                  <a:txBody>
                    <a:bodyPr/>
                    <a:lstStyle/>
                    <a:p>
                      <a:pPr indent="0" lvl="0" marL="0" marR="0" rtl="0" algn="ctr">
                        <a:spcBef>
                          <a:spcPts val="0"/>
                        </a:spcBef>
                        <a:spcAft>
                          <a:spcPts val="0"/>
                        </a:spcAft>
                        <a:buNone/>
                      </a:pPr>
                      <a:r>
                        <a:rPr b="0" i="0" lang="es" sz="800" u="none" cap="none" strike="noStrike">
                          <a:solidFill>
                            <a:srgbClr val="FFFFFF"/>
                          </a:solidFill>
                          <a:latin typeface="Quattrocento Sans"/>
                          <a:ea typeface="Quattrocento Sans"/>
                          <a:cs typeface="Quattrocento Sans"/>
                          <a:sym typeface="Quattrocento Sans"/>
                        </a:rPr>
                        <a:t>Steps</a:t>
                      </a:r>
                      <a:endParaRPr sz="1100"/>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0000"/>
                    </a:solidFill>
                  </a:tcPr>
                </a:tc>
                <a:tc gridSpan="3">
                  <a:txBody>
                    <a:bodyPr/>
                    <a:lstStyle/>
                    <a:p>
                      <a:pPr indent="0" lvl="0" marL="0" marR="0" rtl="0" algn="ctr">
                        <a:spcBef>
                          <a:spcPts val="0"/>
                        </a:spcBef>
                        <a:spcAft>
                          <a:spcPts val="0"/>
                        </a:spcAft>
                        <a:buNone/>
                      </a:pPr>
                      <a:r>
                        <a:rPr lang="es" sz="800">
                          <a:solidFill>
                            <a:srgbClr val="FFFFFF"/>
                          </a:solidFill>
                          <a:latin typeface="Quattrocento Sans"/>
                          <a:ea typeface="Quattrocento Sans"/>
                          <a:cs typeface="Quattrocento Sans"/>
                          <a:sym typeface="Quattrocento Sans"/>
                        </a:rPr>
                        <a:t>Year 0</a:t>
                      </a:r>
                      <a:endParaRPr sz="1100"/>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solidFill>
                      <a:srgbClr val="000000"/>
                    </a:solidFill>
                  </a:tcPr>
                </a:tc>
                <a:tc hMerge="1"/>
                <a:tc hMerge="1"/>
                <a:tc gridSpan="3">
                  <a:txBody>
                    <a:bodyPr/>
                    <a:lstStyle/>
                    <a:p>
                      <a:pPr indent="0" lvl="0" marL="0" rtl="0" algn="ctr">
                        <a:spcBef>
                          <a:spcPts val="0"/>
                        </a:spcBef>
                        <a:spcAft>
                          <a:spcPts val="0"/>
                        </a:spcAft>
                        <a:buNone/>
                      </a:pPr>
                      <a:r>
                        <a:rPr lang="es" sz="800">
                          <a:solidFill>
                            <a:schemeClr val="lt1"/>
                          </a:solidFill>
                          <a:latin typeface="Quattrocento Sans"/>
                          <a:ea typeface="Quattrocento Sans"/>
                          <a:cs typeface="Quattrocento Sans"/>
                          <a:sym typeface="Quattrocento Sans"/>
                        </a:rPr>
                        <a:t>Year 1</a:t>
                      </a:r>
                      <a:endParaRPr sz="1100"/>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rgbClr val="000000"/>
                    </a:solidFill>
                  </a:tcPr>
                </a:tc>
                <a:tc hMerge="1"/>
                <a:tc hMerge="1"/>
                <a:tc gridSpan="3">
                  <a:txBody>
                    <a:bodyPr/>
                    <a:lstStyle/>
                    <a:p>
                      <a:pPr indent="0" lvl="0" marL="0" rtl="0" algn="ctr">
                        <a:spcBef>
                          <a:spcPts val="0"/>
                        </a:spcBef>
                        <a:spcAft>
                          <a:spcPts val="0"/>
                        </a:spcAft>
                        <a:buNone/>
                      </a:pPr>
                      <a:r>
                        <a:rPr lang="es" sz="800">
                          <a:solidFill>
                            <a:schemeClr val="lt1"/>
                          </a:solidFill>
                          <a:latin typeface="Quattrocento Sans"/>
                          <a:ea typeface="Quattrocento Sans"/>
                          <a:cs typeface="Quattrocento Sans"/>
                          <a:sym typeface="Quattrocento Sans"/>
                        </a:rPr>
                        <a:t>Year 2</a:t>
                      </a:r>
                      <a:endParaRPr sz="1100"/>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solidFill>
                      <a:srgbClr val="000000"/>
                    </a:solidFill>
                  </a:tcPr>
                </a:tc>
                <a:tc hMerge="1"/>
                <a:tc hMerge="1"/>
                <a:tc gridSpan="3">
                  <a:txBody>
                    <a:bodyPr/>
                    <a:lstStyle/>
                    <a:p>
                      <a:pPr indent="0" lvl="0" marL="0" rtl="0" algn="ctr">
                        <a:spcBef>
                          <a:spcPts val="0"/>
                        </a:spcBef>
                        <a:spcAft>
                          <a:spcPts val="0"/>
                        </a:spcAft>
                        <a:buNone/>
                      </a:pPr>
                      <a:r>
                        <a:rPr lang="es" sz="800">
                          <a:solidFill>
                            <a:schemeClr val="lt1"/>
                          </a:solidFill>
                          <a:latin typeface="Quattrocento Sans"/>
                          <a:ea typeface="Quattrocento Sans"/>
                          <a:cs typeface="Quattrocento Sans"/>
                          <a:sym typeface="Quattrocento Sans"/>
                        </a:rPr>
                        <a:t>Year 3</a:t>
                      </a:r>
                      <a:endParaRPr sz="800">
                        <a:solidFill>
                          <a:srgbClr val="FFFFFF"/>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solidFill>
                      <a:srgbClr val="000000"/>
                    </a:solidFill>
                  </a:tcPr>
                </a:tc>
                <a:tc hMerge="1"/>
                <a:tc hMerge="1"/>
              </a:tr>
              <a:tr h="257600">
                <a:tc>
                  <a:txBody>
                    <a:bodyPr/>
                    <a:lstStyle/>
                    <a:p>
                      <a:pPr indent="0" lvl="0" marL="0" marR="0" rtl="0" algn="l">
                        <a:spcBef>
                          <a:spcPts val="0"/>
                        </a:spcBef>
                        <a:spcAft>
                          <a:spcPts val="0"/>
                        </a:spcAft>
                        <a:buNone/>
                      </a:pPr>
                      <a:r>
                        <a:rPr lang="es" sz="800">
                          <a:latin typeface="Quattrocento Sans"/>
                          <a:ea typeface="Quattrocento Sans"/>
                          <a:cs typeface="Quattrocento Sans"/>
                          <a:sym typeface="Quattrocento Sans"/>
                        </a:rPr>
                        <a:t>Hybrid Model Finalization</a:t>
                      </a:r>
                      <a:endParaRPr sz="1100"/>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12700">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lnSpc>
                          <a:spcPct val="100000"/>
                        </a:lnSpc>
                        <a:spcBef>
                          <a:spcPts val="0"/>
                        </a:spcBef>
                        <a:spcAft>
                          <a:spcPts val="0"/>
                        </a:spcAft>
                        <a:buClr>
                          <a:schemeClr val="dk1"/>
                        </a:buClr>
                        <a:buSzPts val="600"/>
                        <a:buFont typeface="Arial"/>
                        <a:buNone/>
                      </a:pPr>
                      <a:r>
                        <a:t/>
                      </a:r>
                      <a:endParaRPr b="0" i="0" sz="600" u="none" cap="none" strike="noStrike">
                        <a:solidFill>
                          <a:schemeClr val="lt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chemeClr val="lt1">
                          <a:alpha val="0"/>
                        </a:scheme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12700">
                      <a:solidFill>
                        <a:schemeClr val="lt1"/>
                      </a:solidFill>
                      <a:prstDash val="solid"/>
                      <a:round/>
                      <a:headEnd len="sm" w="sm" type="none"/>
                      <a:tailEnd len="sm" w="sm" type="none"/>
                    </a:lnB>
                  </a:tcPr>
                </a:tc>
              </a:tr>
              <a:tr h="257600">
                <a:tc>
                  <a:txBody>
                    <a:bodyPr/>
                    <a:lstStyle/>
                    <a:p>
                      <a:pPr indent="0" lvl="0" marL="0" marR="0" rtl="0" algn="l">
                        <a:spcBef>
                          <a:spcPts val="0"/>
                        </a:spcBef>
                        <a:spcAft>
                          <a:spcPts val="0"/>
                        </a:spcAft>
                        <a:buNone/>
                      </a:pPr>
                      <a:r>
                        <a:rPr lang="es" sz="800">
                          <a:latin typeface="Quattrocento Sans"/>
                          <a:ea typeface="Quattrocento Sans"/>
                          <a:cs typeface="Quattrocento Sans"/>
                          <a:sym typeface="Quattrocento Sans"/>
                        </a:rPr>
                        <a:t>Legal &amp; Compliance Setup</a:t>
                      </a:r>
                      <a:endParaRPr sz="1100"/>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lnSpc>
                          <a:spcPct val="100000"/>
                        </a:lnSpc>
                        <a:spcBef>
                          <a:spcPts val="0"/>
                        </a:spcBef>
                        <a:spcAft>
                          <a:spcPts val="0"/>
                        </a:spcAft>
                        <a:buClr>
                          <a:schemeClr val="dk1"/>
                        </a:buClr>
                        <a:buFont typeface="Arial"/>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lnSpc>
                          <a:spcPct val="100000"/>
                        </a:lnSpc>
                        <a:spcBef>
                          <a:spcPts val="0"/>
                        </a:spcBef>
                        <a:spcAft>
                          <a:spcPts val="0"/>
                        </a:spcAft>
                        <a:buClr>
                          <a:schemeClr val="dk1"/>
                        </a:buClr>
                        <a:buSzPts val="600"/>
                        <a:buFont typeface="Arial"/>
                        <a:buNone/>
                      </a:pPr>
                      <a:r>
                        <a:t/>
                      </a:r>
                      <a:endParaRPr b="0" i="0" sz="600" u="none" cap="none" strike="noStrike">
                        <a:solidFill>
                          <a:schemeClr val="lt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chemeClr val="lt1">
                          <a:alpha val="0"/>
                        </a:scheme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57600">
                <a:tc>
                  <a:txBody>
                    <a:bodyPr/>
                    <a:lstStyle/>
                    <a:p>
                      <a:pPr indent="0" lvl="0" marL="0" marR="0" rtl="0" algn="l">
                        <a:spcBef>
                          <a:spcPts val="0"/>
                        </a:spcBef>
                        <a:spcAft>
                          <a:spcPts val="0"/>
                        </a:spcAft>
                        <a:buNone/>
                      </a:pPr>
                      <a:r>
                        <a:rPr lang="es" sz="800">
                          <a:latin typeface="Quattrocento Sans"/>
                          <a:ea typeface="Quattrocento Sans"/>
                          <a:cs typeface="Quattrocento Sans"/>
                          <a:sym typeface="Quattrocento Sans"/>
                        </a:rPr>
                        <a:t>Technology &amp; Platform Development</a:t>
                      </a:r>
                      <a:endParaRPr sz="1100"/>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lnSpc>
                          <a:spcPct val="100000"/>
                        </a:lnSpc>
                        <a:spcBef>
                          <a:spcPts val="0"/>
                        </a:spcBef>
                        <a:spcAft>
                          <a:spcPts val="0"/>
                        </a:spcAft>
                        <a:buClr>
                          <a:schemeClr val="dk1"/>
                        </a:buClr>
                        <a:buFont typeface="Arial"/>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lnSpc>
                          <a:spcPct val="100000"/>
                        </a:lnSpc>
                        <a:spcBef>
                          <a:spcPts val="0"/>
                        </a:spcBef>
                        <a:spcAft>
                          <a:spcPts val="0"/>
                        </a:spcAft>
                        <a:buClr>
                          <a:schemeClr val="dk1"/>
                        </a:buClr>
                        <a:buSzPts val="600"/>
                        <a:buFont typeface="Arial"/>
                        <a:buNone/>
                      </a:pPr>
                      <a:r>
                        <a:t/>
                      </a:r>
                      <a:endParaRPr b="0" i="0" sz="600" u="none" cap="none" strike="noStrike">
                        <a:solidFill>
                          <a:schemeClr val="lt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lt1"/>
                        </a:solidFill>
                        <a:latin typeface="Arial"/>
                        <a:ea typeface="Arial"/>
                        <a:cs typeface="Arial"/>
                        <a:sym typeface="Arial"/>
                      </a:endParaRPr>
                    </a:p>
                  </a:txBody>
                  <a:tcPr marT="6725" marB="0" marR="6725" marL="6725" anchor="ctr">
                    <a:lnL cap="flat" cmpd="sng" w="9525">
                      <a:solidFill>
                        <a:schemeClr val="lt1">
                          <a:alpha val="0"/>
                        </a:scheme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600"/>
                        <a:buFont typeface="Arial"/>
                        <a:buNone/>
                      </a:pPr>
                      <a:r>
                        <a:t/>
                      </a:r>
                      <a:endParaRPr b="0" i="0" sz="600" u="none" cap="none" strike="noStrike">
                        <a:solidFill>
                          <a:schemeClr val="lt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57600">
                <a:tc>
                  <a:txBody>
                    <a:bodyPr/>
                    <a:lstStyle/>
                    <a:p>
                      <a:pPr indent="0" lvl="0" marL="0" marR="0" rtl="0" algn="l">
                        <a:spcBef>
                          <a:spcPts val="0"/>
                        </a:spcBef>
                        <a:spcAft>
                          <a:spcPts val="0"/>
                        </a:spcAft>
                        <a:buNone/>
                      </a:pPr>
                      <a:r>
                        <a:rPr lang="es" sz="800">
                          <a:latin typeface="Quattrocento Sans"/>
                          <a:ea typeface="Quattrocento Sans"/>
                          <a:cs typeface="Quattrocento Sans"/>
                          <a:sym typeface="Quattrocento Sans"/>
                        </a:rPr>
                        <a:t>Location Scouting &amp; Micro-Hubs</a:t>
                      </a:r>
                      <a:endParaRPr sz="1100"/>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lnSpc>
                          <a:spcPct val="100000"/>
                        </a:lnSpc>
                        <a:spcBef>
                          <a:spcPts val="0"/>
                        </a:spcBef>
                        <a:spcAft>
                          <a:spcPts val="0"/>
                        </a:spcAft>
                        <a:buClr>
                          <a:schemeClr val="dk1"/>
                        </a:buClr>
                        <a:buSzPts val="600"/>
                        <a:buFont typeface="Arial"/>
                        <a:buNone/>
                      </a:pPr>
                      <a:r>
                        <a:t/>
                      </a:r>
                      <a:endParaRPr b="0" i="0" sz="600" u="none" cap="none" strike="noStrike">
                        <a:solidFill>
                          <a:schemeClr val="lt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lnSpc>
                          <a:spcPct val="100000"/>
                        </a:lnSpc>
                        <a:spcBef>
                          <a:spcPts val="0"/>
                        </a:spcBef>
                        <a:spcAft>
                          <a:spcPts val="0"/>
                        </a:spcAft>
                        <a:buClr>
                          <a:schemeClr val="dk1"/>
                        </a:buClr>
                        <a:buFont typeface="Arial"/>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lnSpc>
                          <a:spcPct val="100000"/>
                        </a:lnSpc>
                        <a:spcBef>
                          <a:spcPts val="0"/>
                        </a:spcBef>
                        <a:spcAft>
                          <a:spcPts val="0"/>
                        </a:spcAft>
                        <a:buClr>
                          <a:schemeClr val="dk1"/>
                        </a:buClr>
                        <a:buSzPts val="600"/>
                        <a:buFont typeface="Arial"/>
                        <a:buNone/>
                      </a:pPr>
                      <a:r>
                        <a:t/>
                      </a:r>
                      <a:endParaRPr b="0" i="0" sz="600" u="none" cap="none" strike="noStrike">
                        <a:solidFill>
                          <a:schemeClr val="lt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chemeClr val="lt1">
                          <a:alpha val="0"/>
                        </a:scheme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600"/>
                        <a:buFont typeface="Arial"/>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lt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57600">
                <a:tc>
                  <a:txBody>
                    <a:bodyPr/>
                    <a:lstStyle/>
                    <a:p>
                      <a:pPr indent="0" lvl="0" marL="0" rtl="0" algn="l">
                        <a:spcBef>
                          <a:spcPts val="0"/>
                        </a:spcBef>
                        <a:spcAft>
                          <a:spcPts val="0"/>
                        </a:spcAft>
                        <a:buClr>
                          <a:schemeClr val="dk1"/>
                        </a:buClr>
                        <a:buSzPts val="1100"/>
                        <a:buFont typeface="Arial"/>
                        <a:buNone/>
                      </a:pPr>
                      <a:r>
                        <a:rPr lang="es" sz="800">
                          <a:solidFill>
                            <a:schemeClr val="dk1"/>
                          </a:solidFill>
                          <a:latin typeface="Quattrocento Sans"/>
                          <a:ea typeface="Quattrocento Sans"/>
                          <a:cs typeface="Quattrocento Sans"/>
                          <a:sym typeface="Quattrocento Sans"/>
                        </a:rPr>
                        <a:t>Pilot Hybrid Launch</a:t>
                      </a:r>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lt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57600">
                <a:tc>
                  <a:txBody>
                    <a:bodyPr/>
                    <a:lstStyle/>
                    <a:p>
                      <a:pPr indent="0" lvl="0" marL="0" rtl="0" algn="l">
                        <a:spcBef>
                          <a:spcPts val="0"/>
                        </a:spcBef>
                        <a:spcAft>
                          <a:spcPts val="0"/>
                        </a:spcAft>
                        <a:buClr>
                          <a:schemeClr val="dk1"/>
                        </a:buClr>
                        <a:buSzPts val="1100"/>
                        <a:buFont typeface="Arial"/>
                        <a:buNone/>
                      </a:pPr>
                      <a:r>
                        <a:rPr lang="es" sz="800">
                          <a:solidFill>
                            <a:schemeClr val="dk1"/>
                          </a:solidFill>
                          <a:latin typeface="Quattrocento Sans"/>
                          <a:ea typeface="Quattrocento Sans"/>
                          <a:cs typeface="Quattrocento Sans"/>
                          <a:sym typeface="Quattrocento Sans"/>
                        </a:rPr>
                        <a:t>Hiring &amp; Training Workforce</a:t>
                      </a:r>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lt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lnSpc>
                          <a:spcPct val="100000"/>
                        </a:lnSpc>
                        <a:spcBef>
                          <a:spcPts val="0"/>
                        </a:spcBef>
                        <a:spcAft>
                          <a:spcPts val="0"/>
                        </a:spcAft>
                        <a:buClr>
                          <a:schemeClr val="dk1"/>
                        </a:buClr>
                        <a:buSzPts val="600"/>
                        <a:buFont typeface="Arial"/>
                        <a:buNone/>
                      </a:pPr>
                      <a:r>
                        <a:t/>
                      </a:r>
                      <a:endParaRPr b="0" i="0" sz="600" u="none" cap="none" strike="noStrike">
                        <a:solidFill>
                          <a:schemeClr val="lt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chemeClr val="lt1">
                          <a:alpha val="0"/>
                        </a:scheme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lnSpc>
                          <a:spcPct val="100000"/>
                        </a:lnSpc>
                        <a:spcBef>
                          <a:spcPts val="0"/>
                        </a:spcBef>
                        <a:spcAft>
                          <a:spcPts val="0"/>
                        </a:spcAft>
                        <a:buClr>
                          <a:schemeClr val="dk1"/>
                        </a:buClr>
                        <a:buSzPts val="600"/>
                        <a:buFont typeface="Arial"/>
                        <a:buNone/>
                      </a:pPr>
                      <a:r>
                        <a:t/>
                      </a:r>
                      <a:endParaRPr b="0" i="0" sz="600" u="none" cap="none" strike="noStrike">
                        <a:solidFill>
                          <a:schemeClr val="lt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A30303">
                        <a:alpha val="42410"/>
                      </a:srgbClr>
                    </a:solidFill>
                  </a:tcPr>
                </a:tc>
              </a:tr>
              <a:tr h="257600">
                <a:tc>
                  <a:txBody>
                    <a:bodyPr/>
                    <a:lstStyle/>
                    <a:p>
                      <a:pPr indent="0" lvl="0" marL="0" rtl="0" algn="l">
                        <a:spcBef>
                          <a:spcPts val="0"/>
                        </a:spcBef>
                        <a:spcAft>
                          <a:spcPts val="0"/>
                        </a:spcAft>
                        <a:buClr>
                          <a:schemeClr val="dk1"/>
                        </a:buClr>
                        <a:buSzPts val="1100"/>
                        <a:buFont typeface="Arial"/>
                        <a:buNone/>
                      </a:pPr>
                      <a:r>
                        <a:rPr lang="es" sz="800">
                          <a:solidFill>
                            <a:schemeClr val="dk1"/>
                          </a:solidFill>
                          <a:latin typeface="Quattrocento Sans"/>
                          <a:ea typeface="Quattrocento Sans"/>
                          <a:cs typeface="Quattrocento Sans"/>
                          <a:sym typeface="Quattrocento Sans"/>
                        </a:rPr>
                        <a:t>Omnichannel Marketing Campaign</a:t>
                      </a:r>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lt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lnSpc>
                          <a:spcPct val="100000"/>
                        </a:lnSpc>
                        <a:spcBef>
                          <a:spcPts val="0"/>
                        </a:spcBef>
                        <a:spcAft>
                          <a:spcPts val="0"/>
                        </a:spcAft>
                        <a:buClr>
                          <a:schemeClr val="dk1"/>
                        </a:buClr>
                        <a:buSzPts val="600"/>
                        <a:buFont typeface="Arial"/>
                        <a:buNone/>
                      </a:pPr>
                      <a:r>
                        <a:t/>
                      </a:r>
                      <a:endParaRPr b="0" i="0" sz="600" u="none" cap="none" strike="noStrike">
                        <a:solidFill>
                          <a:schemeClr val="lt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chemeClr val="lt1">
                          <a:alpha val="0"/>
                        </a:scheme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57600">
                <a:tc>
                  <a:txBody>
                    <a:bodyPr/>
                    <a:lstStyle/>
                    <a:p>
                      <a:pPr indent="0" lvl="0" marL="0" rtl="0" algn="l">
                        <a:spcBef>
                          <a:spcPts val="0"/>
                        </a:spcBef>
                        <a:spcAft>
                          <a:spcPts val="0"/>
                        </a:spcAft>
                        <a:buNone/>
                      </a:pPr>
                      <a:r>
                        <a:rPr lang="es" sz="800">
                          <a:solidFill>
                            <a:schemeClr val="dk1"/>
                          </a:solidFill>
                          <a:latin typeface="Quattrocento Sans"/>
                          <a:ea typeface="Quattrocento Sans"/>
                          <a:cs typeface="Quattrocento Sans"/>
                          <a:sym typeface="Quattrocento Sans"/>
                        </a:rPr>
                        <a:t>Operational Optimization</a:t>
                      </a:r>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A30303">
                        <a:alpha val="42410"/>
                      </a:srgbClr>
                    </a:solidFill>
                  </a:tcPr>
                </a:tc>
              </a:tr>
              <a:tr h="257600">
                <a:tc>
                  <a:txBody>
                    <a:bodyPr/>
                    <a:lstStyle/>
                    <a:p>
                      <a:pPr indent="0" lvl="0" marL="0" rtl="0" algn="l">
                        <a:spcBef>
                          <a:spcPts val="0"/>
                        </a:spcBef>
                        <a:spcAft>
                          <a:spcPts val="0"/>
                        </a:spcAft>
                        <a:buNone/>
                      </a:pPr>
                      <a:r>
                        <a:rPr lang="es" sz="800">
                          <a:solidFill>
                            <a:schemeClr val="dk1"/>
                          </a:solidFill>
                          <a:latin typeface="Quattrocento Sans"/>
                          <a:ea typeface="Quattrocento Sans"/>
                          <a:cs typeface="Quattrocento Sans"/>
                          <a:sym typeface="Quattrocento Sans"/>
                        </a:rPr>
                        <a:t>Scaling &amp; Expansion</a:t>
                      </a:r>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rgbClr val="FFFFFF">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rgbClr val="FFFFFF">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lt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rgbClr val="FFFFFF">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Arial"/>
                        <a:ea typeface="Arial"/>
                        <a:cs typeface="Arial"/>
                        <a:sym typeface="Arial"/>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rgbClr val="FFFFFF">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12700">
                      <a:solidFill>
                        <a:srgbClr val="FFFFFF">
                          <a:alpha val="0"/>
                        </a:srgbClr>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12700">
                      <a:solidFill>
                        <a:srgbClr val="FFFFFF">
                          <a:alpha val="0"/>
                        </a:srgbClr>
                      </a:solidFill>
                      <a:prstDash val="solid"/>
                      <a:round/>
                      <a:headEnd len="sm" w="sm" type="none"/>
                      <a:tailEnd len="sm" w="sm" type="none"/>
                    </a:lnB>
                    <a:solidFill>
                      <a:srgbClr val="A30303">
                        <a:alpha val="42410"/>
                      </a:srgbClr>
                    </a:solidFill>
                  </a:tcPr>
                </a:tc>
                <a:tc>
                  <a:txBody>
                    <a:bodyPr/>
                    <a:lstStyle/>
                    <a:p>
                      <a:pPr indent="0" lvl="0" marL="0" marR="0" rtl="0" algn="ctr">
                        <a:lnSpc>
                          <a:spcPct val="100000"/>
                        </a:lnSpc>
                        <a:spcBef>
                          <a:spcPts val="0"/>
                        </a:spcBef>
                        <a:spcAft>
                          <a:spcPts val="0"/>
                        </a:spcAft>
                        <a:buClr>
                          <a:schemeClr val="dk1"/>
                        </a:buClr>
                        <a:buSzPts val="600"/>
                        <a:buFont typeface="Arial"/>
                        <a:buNone/>
                      </a:pPr>
                      <a:r>
                        <a:t/>
                      </a:r>
                      <a:endParaRPr b="0" i="0" sz="600" u="none" cap="none" strike="noStrike">
                        <a:solidFill>
                          <a:schemeClr val="lt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12700">
                      <a:solidFill>
                        <a:srgbClr val="FFFFFF">
                          <a:alpha val="0"/>
                        </a:srgbClr>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12700">
                      <a:solidFill>
                        <a:srgbClr val="FFFFFF">
                          <a:alpha val="0"/>
                        </a:srgbClr>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12700">
                      <a:solidFill>
                        <a:srgbClr val="FFFFFF">
                          <a:alpha val="0"/>
                        </a:srgbClr>
                      </a:solidFill>
                      <a:prstDash val="solid"/>
                      <a:round/>
                      <a:headEnd len="sm" w="sm" type="none"/>
                      <a:tailEnd len="sm" w="sm" type="none"/>
                    </a:lnB>
                    <a:solidFill>
                      <a:srgbClr val="A30303">
                        <a:alpha val="42410"/>
                      </a:srgbClr>
                    </a:solidFill>
                  </a:tcPr>
                </a:tc>
                <a:tc>
                  <a:txBody>
                    <a:bodyPr/>
                    <a:lstStyle/>
                    <a:p>
                      <a:pPr indent="0" lvl="0" marL="0" marR="0" rtl="0" algn="ctr">
                        <a:lnSpc>
                          <a:spcPct val="100000"/>
                        </a:lnSpc>
                        <a:spcBef>
                          <a:spcPts val="0"/>
                        </a:spcBef>
                        <a:spcAft>
                          <a:spcPts val="0"/>
                        </a:spcAft>
                        <a:buClr>
                          <a:schemeClr val="dk1"/>
                        </a:buClr>
                        <a:buFont typeface="Arial"/>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12700">
                      <a:solidFill>
                        <a:srgbClr val="FFFFFF">
                          <a:alpha val="0"/>
                        </a:srgbClr>
                      </a:solidFill>
                      <a:prstDash val="solid"/>
                      <a:round/>
                      <a:headEnd len="sm" w="sm" type="none"/>
                      <a:tailEnd len="sm" w="sm" type="none"/>
                    </a:lnB>
                    <a:solidFill>
                      <a:srgbClr val="A30303">
                        <a:alpha val="42410"/>
                      </a:srgbClr>
                    </a:solidFill>
                  </a:tcPr>
                </a:tc>
                <a:tc>
                  <a:txBody>
                    <a:bodyPr/>
                    <a:lstStyle/>
                    <a:p>
                      <a:pPr indent="0" lvl="0" marL="0" marR="0" rtl="0" algn="ctr">
                        <a:lnSpc>
                          <a:spcPct val="100000"/>
                        </a:lnSpc>
                        <a:spcBef>
                          <a:spcPts val="0"/>
                        </a:spcBef>
                        <a:spcAft>
                          <a:spcPts val="0"/>
                        </a:spcAft>
                        <a:buClr>
                          <a:schemeClr val="dk1"/>
                        </a:buClr>
                        <a:buSzPts val="600"/>
                        <a:buFont typeface="Arial"/>
                        <a:buNone/>
                      </a:pPr>
                      <a:r>
                        <a:t/>
                      </a:r>
                      <a:endParaRPr b="0" i="0" sz="600" u="none" cap="none" strike="noStrike">
                        <a:solidFill>
                          <a:schemeClr val="lt1"/>
                        </a:solidFill>
                        <a:latin typeface="Quattrocento Sans"/>
                        <a:ea typeface="Quattrocento Sans"/>
                        <a:cs typeface="Quattrocento Sans"/>
                        <a:sym typeface="Quattrocento Sans"/>
                      </a:endParaRPr>
                    </a:p>
                  </a:txBody>
                  <a:tcPr marT="6725" marB="0" marR="6725" marL="6725" anchor="ctr">
                    <a:lnL cap="flat" cmpd="sng" w="9525">
                      <a:solidFill>
                        <a:srgbClr val="000000">
                          <a:alpha val="0"/>
                        </a:srgb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solidFill>
                      <a:prstDash val="solid"/>
                      <a:round/>
                      <a:headEnd len="sm" w="sm" type="none"/>
                      <a:tailEnd len="sm" w="sm" type="none"/>
                    </a:lnT>
                    <a:lnB cap="flat" cmpd="sng" w="12700">
                      <a:solidFill>
                        <a:srgbClr val="FFFFFF">
                          <a:alpha val="0"/>
                        </a:srgbClr>
                      </a:solidFill>
                      <a:prstDash val="solid"/>
                      <a:round/>
                      <a:headEnd len="sm" w="sm" type="none"/>
                      <a:tailEnd len="sm" w="sm" type="none"/>
                    </a:lnB>
                    <a:solidFill>
                      <a:srgbClr val="A30303">
                        <a:alpha val="42410"/>
                      </a:srgbClr>
                    </a:solidFill>
                  </a:tcPr>
                </a:tc>
                <a:tc>
                  <a:txBody>
                    <a:bodyPr/>
                    <a:lstStyle/>
                    <a:p>
                      <a:pPr indent="0" lvl="0" marL="0" marR="0" rtl="0" algn="ctr">
                        <a:spcBef>
                          <a:spcPts val="0"/>
                        </a:spcBef>
                        <a:spcAft>
                          <a:spcPts val="0"/>
                        </a:spcAft>
                        <a:buNone/>
                      </a:pPr>
                      <a:r>
                        <a:t/>
                      </a:r>
                      <a:endParaRPr b="0" i="0" sz="600" u="none" cap="none" strike="noStrike">
                        <a:solidFill>
                          <a:schemeClr val="dk1"/>
                        </a:solidFill>
                        <a:latin typeface="Quattrocento Sans"/>
                        <a:ea typeface="Quattrocento Sans"/>
                        <a:cs typeface="Quattrocento Sans"/>
                        <a:sym typeface="Quattrocento Sans"/>
                      </a:endParaRPr>
                    </a:p>
                  </a:txBody>
                  <a:tcPr marT="6725" marB="0" marR="6725" marL="6725" anchor="ctr">
                    <a:lnL cap="flat" cmpd="sng" w="9525">
                      <a:solidFill>
                        <a:schemeClr val="lt1">
                          <a:alpha val="0"/>
                        </a:scheme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rgbClr val="FFFFFF">
                          <a:alpha val="0"/>
                        </a:srgbClr>
                      </a:solidFill>
                      <a:prstDash val="solid"/>
                      <a:round/>
                      <a:headEnd len="sm" w="sm" type="none"/>
                      <a:tailEnd len="sm" w="sm" type="none"/>
                    </a:lnB>
                    <a:solidFill>
                      <a:srgbClr val="A30303">
                        <a:alpha val="42410"/>
                      </a:srgbClr>
                    </a:solidFill>
                  </a:tcPr>
                </a:tc>
              </a:tr>
            </a:tbl>
          </a:graphicData>
        </a:graphic>
      </p:graphicFrame>
      <p:sp>
        <p:nvSpPr>
          <p:cNvPr id="597" name="Google Shape;597;p49"/>
          <p:cNvSpPr/>
          <p:nvPr/>
        </p:nvSpPr>
        <p:spPr>
          <a:xfrm>
            <a:off x="420350" y="4306564"/>
            <a:ext cx="2418900" cy="436200"/>
          </a:xfrm>
          <a:prstGeom prst="rect">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000">
                <a:solidFill>
                  <a:schemeClr val="lt1"/>
                </a:solidFill>
              </a:rPr>
              <a:t>At least 3 locations &amp; e-commerce platform live by Q3, Year 1</a:t>
            </a:r>
            <a:endParaRPr i="1" sz="1000">
              <a:solidFill>
                <a:schemeClr val="lt1"/>
              </a:solidFill>
            </a:endParaRPr>
          </a:p>
        </p:txBody>
      </p:sp>
      <p:sp>
        <p:nvSpPr>
          <p:cNvPr id="598" name="Google Shape;598;p49"/>
          <p:cNvSpPr/>
          <p:nvPr/>
        </p:nvSpPr>
        <p:spPr>
          <a:xfrm>
            <a:off x="3406435" y="4303950"/>
            <a:ext cx="2418900" cy="436200"/>
          </a:xfrm>
          <a:prstGeom prst="rect">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100">
                <a:solidFill>
                  <a:schemeClr val="lt1"/>
                </a:solidFill>
              </a:rPr>
              <a:t>5 key digital and retail partnerships signed by end of Year 2</a:t>
            </a:r>
            <a:endParaRPr sz="1100">
              <a:solidFill>
                <a:schemeClr val="lt1"/>
              </a:solidFill>
              <a:latin typeface="Quattrocento Sans"/>
              <a:ea typeface="Quattrocento Sans"/>
              <a:cs typeface="Quattrocento Sans"/>
              <a:sym typeface="Quattrocento Sans"/>
            </a:endParaRPr>
          </a:p>
        </p:txBody>
      </p:sp>
      <p:sp>
        <p:nvSpPr>
          <p:cNvPr id="599" name="Google Shape;599;p49"/>
          <p:cNvSpPr/>
          <p:nvPr/>
        </p:nvSpPr>
        <p:spPr>
          <a:xfrm>
            <a:off x="6277398" y="4306564"/>
            <a:ext cx="2487900" cy="436200"/>
          </a:xfrm>
          <a:prstGeom prst="rect">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100">
                <a:solidFill>
                  <a:schemeClr val="lt1"/>
                </a:solidFill>
              </a:rPr>
              <a:t>+25% increase in digital and in-store conversion rates by Q1, Year 3</a:t>
            </a:r>
            <a:endParaRPr sz="1100">
              <a:solidFill>
                <a:schemeClr val="lt1"/>
              </a:solidFill>
            </a:endParaRPr>
          </a:p>
        </p:txBody>
      </p:sp>
      <p:sp>
        <p:nvSpPr>
          <p:cNvPr id="600" name="Google Shape;600;p49"/>
          <p:cNvSpPr txBox="1"/>
          <p:nvPr/>
        </p:nvSpPr>
        <p:spPr>
          <a:xfrm>
            <a:off x="198853" y="102394"/>
            <a:ext cx="33606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Risk, Mitigations, and Implementation Timeline </a:t>
            </a:r>
            <a:endParaRPr sz="1100"/>
          </a:p>
        </p:txBody>
      </p:sp>
      <p:sp>
        <p:nvSpPr>
          <p:cNvPr id="601" name="Google Shape;601;p49"/>
          <p:cNvSpPr txBox="1"/>
          <p:nvPr/>
        </p:nvSpPr>
        <p:spPr>
          <a:xfrm>
            <a:off x="185081" y="328687"/>
            <a:ext cx="78867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Quattrocento Sans"/>
              <a:buNone/>
            </a:pPr>
            <a:r>
              <a:rPr lang="es" sz="1800">
                <a:solidFill>
                  <a:schemeClr val="dk1"/>
                </a:solidFill>
              </a:rPr>
              <a:t>A Scalable Hybrid Model Strategy to Be Achieved in 3 Years</a:t>
            </a:r>
            <a:endParaRPr sz="1800">
              <a:solidFill>
                <a:schemeClr val="dk1"/>
              </a:solidFill>
            </a:endParaRPr>
          </a:p>
        </p:txBody>
      </p:sp>
      <p:sp>
        <p:nvSpPr>
          <p:cNvPr id="602" name="Google Shape;602;p49"/>
          <p:cNvSpPr txBox="1"/>
          <p:nvPr/>
        </p:nvSpPr>
        <p:spPr>
          <a:xfrm>
            <a:off x="631774" y="4084575"/>
            <a:ext cx="2230800" cy="163500"/>
          </a:xfrm>
          <a:prstGeom prst="rect">
            <a:avLst/>
          </a:prstGeom>
          <a:noFill/>
          <a:ln>
            <a:noFill/>
          </a:ln>
        </p:spPr>
        <p:txBody>
          <a:bodyPr anchorCtr="0" anchor="t" bIns="0" lIns="0" spcFirstLastPara="1" rIns="0" wrap="square" tIns="9525">
            <a:spAutoFit/>
          </a:bodyPr>
          <a:lstStyle/>
          <a:p>
            <a:pPr indent="0" lvl="0" marL="12700" marR="0" rtl="0" algn="l">
              <a:spcBef>
                <a:spcPts val="0"/>
              </a:spcBef>
              <a:spcAft>
                <a:spcPts val="0"/>
              </a:spcAft>
              <a:buNone/>
            </a:pPr>
            <a:r>
              <a:rPr b="1" lang="es" sz="1000">
                <a:solidFill>
                  <a:srgbClr val="0C0C0C"/>
                </a:solidFill>
                <a:latin typeface="Quattrocento Sans"/>
                <a:ea typeface="Quattrocento Sans"/>
                <a:cs typeface="Quattrocento Sans"/>
                <a:sym typeface="Quattrocento Sans"/>
              </a:rPr>
              <a:t>Pilot Hybrid Launch</a:t>
            </a:r>
            <a:endParaRPr sz="1200"/>
          </a:p>
        </p:txBody>
      </p:sp>
      <p:sp>
        <p:nvSpPr>
          <p:cNvPr id="603" name="Google Shape;603;p49"/>
          <p:cNvSpPr txBox="1"/>
          <p:nvPr/>
        </p:nvSpPr>
        <p:spPr>
          <a:xfrm>
            <a:off x="3662650" y="4060650"/>
            <a:ext cx="2132700" cy="163500"/>
          </a:xfrm>
          <a:prstGeom prst="rect">
            <a:avLst/>
          </a:prstGeom>
          <a:noFill/>
          <a:ln>
            <a:noFill/>
          </a:ln>
        </p:spPr>
        <p:txBody>
          <a:bodyPr anchorCtr="0" anchor="t" bIns="0" lIns="0" spcFirstLastPara="1" rIns="0" wrap="square" tIns="9525">
            <a:spAutoFit/>
          </a:bodyPr>
          <a:lstStyle/>
          <a:p>
            <a:pPr indent="0" lvl="0" marL="12700" marR="0" rtl="0" algn="l">
              <a:spcBef>
                <a:spcPts val="0"/>
              </a:spcBef>
              <a:spcAft>
                <a:spcPts val="0"/>
              </a:spcAft>
              <a:buNone/>
            </a:pPr>
            <a:r>
              <a:rPr b="1" lang="es" sz="1000">
                <a:solidFill>
                  <a:srgbClr val="0C0C0C"/>
                </a:solidFill>
                <a:latin typeface="Quattrocento Sans"/>
                <a:ea typeface="Quattrocento Sans"/>
                <a:cs typeface="Quattrocento Sans"/>
                <a:sym typeface="Quattrocento Sans"/>
              </a:rPr>
              <a:t>Strategic Partnerships Secured</a:t>
            </a:r>
            <a:endParaRPr sz="1200"/>
          </a:p>
        </p:txBody>
      </p:sp>
      <p:sp>
        <p:nvSpPr>
          <p:cNvPr id="604" name="Google Shape;604;p49"/>
          <p:cNvSpPr txBox="1"/>
          <p:nvPr/>
        </p:nvSpPr>
        <p:spPr>
          <a:xfrm>
            <a:off x="6520750" y="4053400"/>
            <a:ext cx="2365200" cy="163500"/>
          </a:xfrm>
          <a:prstGeom prst="rect">
            <a:avLst/>
          </a:prstGeom>
          <a:noFill/>
          <a:ln>
            <a:noFill/>
          </a:ln>
        </p:spPr>
        <p:txBody>
          <a:bodyPr anchorCtr="0" anchor="t" bIns="0" lIns="0" spcFirstLastPara="1" rIns="0" wrap="square" tIns="9525">
            <a:spAutoFit/>
          </a:bodyPr>
          <a:lstStyle/>
          <a:p>
            <a:pPr indent="0" lvl="0" marL="12700" marR="0" rtl="0" algn="l">
              <a:spcBef>
                <a:spcPts val="0"/>
              </a:spcBef>
              <a:spcAft>
                <a:spcPts val="0"/>
              </a:spcAft>
              <a:buNone/>
            </a:pPr>
            <a:r>
              <a:rPr b="1" lang="es" sz="1000">
                <a:solidFill>
                  <a:srgbClr val="0C0C0C"/>
                </a:solidFill>
                <a:latin typeface="Quattrocento Sans"/>
                <a:ea typeface="Quattrocento Sans"/>
                <a:cs typeface="Quattrocento Sans"/>
                <a:sym typeface="Quattrocento Sans"/>
              </a:rPr>
              <a:t>Brand Engagement &amp; Market Penetration</a:t>
            </a:r>
            <a:endParaRPr b="1" sz="1000">
              <a:solidFill>
                <a:srgbClr val="0C0C0C"/>
              </a:solidFill>
              <a:latin typeface="Quattrocento Sans"/>
              <a:ea typeface="Quattrocento Sans"/>
              <a:cs typeface="Quattrocento Sans"/>
              <a:sym typeface="Quattrocento Sans"/>
            </a:endParaRPr>
          </a:p>
        </p:txBody>
      </p:sp>
      <p:grpSp>
        <p:nvGrpSpPr>
          <p:cNvPr id="605" name="Google Shape;605;p49"/>
          <p:cNvGrpSpPr/>
          <p:nvPr/>
        </p:nvGrpSpPr>
        <p:grpSpPr>
          <a:xfrm>
            <a:off x="420353" y="4073312"/>
            <a:ext cx="211622" cy="202006"/>
            <a:chOff x="3668086" y="5468940"/>
            <a:chExt cx="368487" cy="351743"/>
          </a:xfrm>
        </p:grpSpPr>
        <p:grpSp>
          <p:nvGrpSpPr>
            <p:cNvPr id="606" name="Google Shape;606;p49"/>
            <p:cNvGrpSpPr/>
            <p:nvPr/>
          </p:nvGrpSpPr>
          <p:grpSpPr>
            <a:xfrm>
              <a:off x="3668086" y="5468940"/>
              <a:ext cx="368487" cy="351743"/>
              <a:chOff x="5713206" y="4911090"/>
              <a:chExt cx="368487" cy="357281"/>
            </a:xfrm>
          </p:grpSpPr>
          <p:sp>
            <p:nvSpPr>
              <p:cNvPr id="607" name="Google Shape;607;p49"/>
              <p:cNvSpPr/>
              <p:nvPr/>
            </p:nvSpPr>
            <p:spPr>
              <a:xfrm>
                <a:off x="5735618" y="4922296"/>
                <a:ext cx="346075" cy="346075"/>
              </a:xfrm>
              <a:custGeom>
                <a:rect b="b" l="l" r="r" t="t"/>
                <a:pathLst>
                  <a:path extrusionOk="0" h="346075" w="346075">
                    <a:moveTo>
                      <a:pt x="172974" y="0"/>
                    </a:moveTo>
                    <a:lnTo>
                      <a:pt x="127000" y="6180"/>
                    </a:lnTo>
                    <a:lnTo>
                      <a:pt x="85682" y="23622"/>
                    </a:lnTo>
                    <a:lnTo>
                      <a:pt x="50673" y="50673"/>
                    </a:lnTo>
                    <a:lnTo>
                      <a:pt x="23622" y="85682"/>
                    </a:lnTo>
                    <a:lnTo>
                      <a:pt x="6180" y="127000"/>
                    </a:lnTo>
                    <a:lnTo>
                      <a:pt x="0" y="172974"/>
                    </a:lnTo>
                    <a:lnTo>
                      <a:pt x="6180" y="218948"/>
                    </a:lnTo>
                    <a:lnTo>
                      <a:pt x="23622" y="260265"/>
                    </a:lnTo>
                    <a:lnTo>
                      <a:pt x="50673" y="295275"/>
                    </a:lnTo>
                    <a:lnTo>
                      <a:pt x="85682" y="322326"/>
                    </a:lnTo>
                    <a:lnTo>
                      <a:pt x="127000" y="339767"/>
                    </a:lnTo>
                    <a:lnTo>
                      <a:pt x="172974" y="345948"/>
                    </a:lnTo>
                    <a:lnTo>
                      <a:pt x="218948" y="339767"/>
                    </a:lnTo>
                    <a:lnTo>
                      <a:pt x="260265" y="322325"/>
                    </a:lnTo>
                    <a:lnTo>
                      <a:pt x="295275" y="295275"/>
                    </a:lnTo>
                    <a:lnTo>
                      <a:pt x="322325" y="260265"/>
                    </a:lnTo>
                    <a:lnTo>
                      <a:pt x="339767" y="218948"/>
                    </a:lnTo>
                    <a:lnTo>
                      <a:pt x="345948" y="172974"/>
                    </a:lnTo>
                    <a:lnTo>
                      <a:pt x="339767" y="127000"/>
                    </a:lnTo>
                    <a:lnTo>
                      <a:pt x="322325" y="85682"/>
                    </a:lnTo>
                    <a:lnTo>
                      <a:pt x="295275" y="50673"/>
                    </a:lnTo>
                    <a:lnTo>
                      <a:pt x="260265" y="23622"/>
                    </a:lnTo>
                    <a:lnTo>
                      <a:pt x="218948" y="6180"/>
                    </a:lnTo>
                    <a:lnTo>
                      <a:pt x="172974" y="0"/>
                    </a:lnTo>
                    <a:close/>
                  </a:path>
                </a:pathLst>
              </a:custGeom>
              <a:solidFill>
                <a:srgbClr val="073763"/>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900">
                  <a:solidFill>
                    <a:schemeClr val="lt1"/>
                  </a:solidFill>
                  <a:latin typeface="Quattrocento Sans"/>
                  <a:ea typeface="Quattrocento Sans"/>
                  <a:cs typeface="Quattrocento Sans"/>
                  <a:sym typeface="Quattrocento Sans"/>
                </a:endParaRPr>
              </a:p>
            </p:txBody>
          </p:sp>
          <p:sp>
            <p:nvSpPr>
              <p:cNvPr id="608" name="Google Shape;608;p49"/>
              <p:cNvSpPr/>
              <p:nvPr/>
            </p:nvSpPr>
            <p:spPr>
              <a:xfrm>
                <a:off x="5713206" y="4911090"/>
                <a:ext cx="346075" cy="346075"/>
              </a:xfrm>
              <a:custGeom>
                <a:rect b="b" l="l" r="r" t="t"/>
                <a:pathLst>
                  <a:path extrusionOk="0" h="346075" w="346075">
                    <a:moveTo>
                      <a:pt x="0" y="172974"/>
                    </a:moveTo>
                    <a:lnTo>
                      <a:pt x="6180" y="127000"/>
                    </a:lnTo>
                    <a:lnTo>
                      <a:pt x="23622" y="85682"/>
                    </a:lnTo>
                    <a:lnTo>
                      <a:pt x="50673" y="50673"/>
                    </a:lnTo>
                    <a:lnTo>
                      <a:pt x="85682" y="23622"/>
                    </a:lnTo>
                    <a:lnTo>
                      <a:pt x="127000" y="6180"/>
                    </a:lnTo>
                    <a:lnTo>
                      <a:pt x="172974" y="0"/>
                    </a:lnTo>
                    <a:lnTo>
                      <a:pt x="218948" y="6180"/>
                    </a:lnTo>
                    <a:lnTo>
                      <a:pt x="260265" y="23622"/>
                    </a:lnTo>
                    <a:lnTo>
                      <a:pt x="295275" y="50673"/>
                    </a:lnTo>
                    <a:lnTo>
                      <a:pt x="322325" y="85682"/>
                    </a:lnTo>
                    <a:lnTo>
                      <a:pt x="339767" y="127000"/>
                    </a:lnTo>
                    <a:lnTo>
                      <a:pt x="345948" y="172974"/>
                    </a:lnTo>
                    <a:lnTo>
                      <a:pt x="339767" y="218948"/>
                    </a:lnTo>
                    <a:lnTo>
                      <a:pt x="322325" y="260265"/>
                    </a:lnTo>
                    <a:lnTo>
                      <a:pt x="295275" y="295275"/>
                    </a:lnTo>
                    <a:lnTo>
                      <a:pt x="260265" y="322325"/>
                    </a:lnTo>
                    <a:lnTo>
                      <a:pt x="218948" y="339767"/>
                    </a:lnTo>
                    <a:lnTo>
                      <a:pt x="172974" y="345948"/>
                    </a:lnTo>
                    <a:lnTo>
                      <a:pt x="127000" y="339767"/>
                    </a:lnTo>
                    <a:lnTo>
                      <a:pt x="85682" y="322326"/>
                    </a:lnTo>
                    <a:lnTo>
                      <a:pt x="50673" y="295275"/>
                    </a:lnTo>
                    <a:lnTo>
                      <a:pt x="23622" y="260265"/>
                    </a:lnTo>
                    <a:lnTo>
                      <a:pt x="6180" y="218948"/>
                    </a:lnTo>
                    <a:lnTo>
                      <a:pt x="0" y="172974"/>
                    </a:lnTo>
                    <a:close/>
                  </a:path>
                </a:pathLst>
              </a:custGeom>
              <a:solidFill>
                <a:srgbClr val="073763"/>
              </a:solidFill>
              <a:ln cap="flat" cmpd="sng" w="381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900">
                  <a:solidFill>
                    <a:schemeClr val="lt1"/>
                  </a:solidFill>
                  <a:latin typeface="Quattrocento Sans"/>
                  <a:ea typeface="Quattrocento Sans"/>
                  <a:cs typeface="Quattrocento Sans"/>
                  <a:sym typeface="Quattrocento Sans"/>
                </a:endParaRPr>
              </a:p>
            </p:txBody>
          </p:sp>
        </p:grpSp>
        <p:sp>
          <p:nvSpPr>
            <p:cNvPr id="609" name="Google Shape;609;p49"/>
            <p:cNvSpPr txBox="1"/>
            <p:nvPr/>
          </p:nvSpPr>
          <p:spPr>
            <a:xfrm>
              <a:off x="3768511" y="5510276"/>
              <a:ext cx="138300" cy="257100"/>
            </a:xfrm>
            <a:prstGeom prst="rect">
              <a:avLst/>
            </a:prstGeom>
            <a:solidFill>
              <a:srgbClr val="073763"/>
            </a:solidFill>
            <a:ln>
              <a:noFill/>
            </a:ln>
          </p:spPr>
          <p:txBody>
            <a:bodyPr anchorCtr="0" anchor="ctr" bIns="0" lIns="0" spcFirstLastPara="1" rIns="0" wrap="square" tIns="9050">
              <a:spAutoFit/>
            </a:bodyPr>
            <a:lstStyle/>
            <a:p>
              <a:pPr indent="0" lvl="0" marL="12700" marR="0" rtl="0" algn="l">
                <a:lnSpc>
                  <a:spcPct val="100000"/>
                </a:lnSpc>
                <a:spcBef>
                  <a:spcPts val="0"/>
                </a:spcBef>
                <a:spcAft>
                  <a:spcPts val="0"/>
                </a:spcAft>
                <a:buNone/>
              </a:pPr>
              <a:r>
                <a:rPr b="1" lang="es" sz="900">
                  <a:solidFill>
                    <a:schemeClr val="lt1"/>
                  </a:solidFill>
                  <a:latin typeface="Quattrocento Sans"/>
                  <a:ea typeface="Quattrocento Sans"/>
                  <a:cs typeface="Quattrocento Sans"/>
                  <a:sym typeface="Quattrocento Sans"/>
                </a:rPr>
                <a:t>1</a:t>
              </a:r>
              <a:endParaRPr sz="900">
                <a:solidFill>
                  <a:schemeClr val="lt1"/>
                </a:solidFill>
                <a:latin typeface="Quattrocento Sans"/>
                <a:ea typeface="Quattrocento Sans"/>
                <a:cs typeface="Quattrocento Sans"/>
                <a:sym typeface="Quattrocento Sans"/>
              </a:endParaRPr>
            </a:p>
          </p:txBody>
        </p:sp>
      </p:grpSp>
      <p:grpSp>
        <p:nvGrpSpPr>
          <p:cNvPr id="610" name="Google Shape;610;p49"/>
          <p:cNvGrpSpPr/>
          <p:nvPr/>
        </p:nvGrpSpPr>
        <p:grpSpPr>
          <a:xfrm>
            <a:off x="3406428" y="4077449"/>
            <a:ext cx="211622" cy="202006"/>
            <a:chOff x="3668086" y="5468940"/>
            <a:chExt cx="368487" cy="351743"/>
          </a:xfrm>
        </p:grpSpPr>
        <p:grpSp>
          <p:nvGrpSpPr>
            <p:cNvPr id="611" name="Google Shape;611;p49"/>
            <p:cNvGrpSpPr/>
            <p:nvPr/>
          </p:nvGrpSpPr>
          <p:grpSpPr>
            <a:xfrm>
              <a:off x="3668086" y="5468940"/>
              <a:ext cx="368487" cy="351743"/>
              <a:chOff x="5713206" y="4911090"/>
              <a:chExt cx="368487" cy="357281"/>
            </a:xfrm>
          </p:grpSpPr>
          <p:sp>
            <p:nvSpPr>
              <p:cNvPr id="612" name="Google Shape;612;p49"/>
              <p:cNvSpPr/>
              <p:nvPr/>
            </p:nvSpPr>
            <p:spPr>
              <a:xfrm>
                <a:off x="5735618" y="4922296"/>
                <a:ext cx="346075" cy="346075"/>
              </a:xfrm>
              <a:custGeom>
                <a:rect b="b" l="l" r="r" t="t"/>
                <a:pathLst>
                  <a:path extrusionOk="0" h="346075" w="346075">
                    <a:moveTo>
                      <a:pt x="172974" y="0"/>
                    </a:moveTo>
                    <a:lnTo>
                      <a:pt x="127000" y="6180"/>
                    </a:lnTo>
                    <a:lnTo>
                      <a:pt x="85682" y="23622"/>
                    </a:lnTo>
                    <a:lnTo>
                      <a:pt x="50673" y="50673"/>
                    </a:lnTo>
                    <a:lnTo>
                      <a:pt x="23622" y="85682"/>
                    </a:lnTo>
                    <a:lnTo>
                      <a:pt x="6180" y="127000"/>
                    </a:lnTo>
                    <a:lnTo>
                      <a:pt x="0" y="172974"/>
                    </a:lnTo>
                    <a:lnTo>
                      <a:pt x="6180" y="218948"/>
                    </a:lnTo>
                    <a:lnTo>
                      <a:pt x="23622" y="260265"/>
                    </a:lnTo>
                    <a:lnTo>
                      <a:pt x="50673" y="295275"/>
                    </a:lnTo>
                    <a:lnTo>
                      <a:pt x="85682" y="322326"/>
                    </a:lnTo>
                    <a:lnTo>
                      <a:pt x="127000" y="339767"/>
                    </a:lnTo>
                    <a:lnTo>
                      <a:pt x="172974" y="345948"/>
                    </a:lnTo>
                    <a:lnTo>
                      <a:pt x="218948" y="339767"/>
                    </a:lnTo>
                    <a:lnTo>
                      <a:pt x="260265" y="322325"/>
                    </a:lnTo>
                    <a:lnTo>
                      <a:pt x="295275" y="295275"/>
                    </a:lnTo>
                    <a:lnTo>
                      <a:pt x="322325" y="260265"/>
                    </a:lnTo>
                    <a:lnTo>
                      <a:pt x="339767" y="218948"/>
                    </a:lnTo>
                    <a:lnTo>
                      <a:pt x="345948" y="172974"/>
                    </a:lnTo>
                    <a:lnTo>
                      <a:pt x="339767" y="127000"/>
                    </a:lnTo>
                    <a:lnTo>
                      <a:pt x="322325" y="85682"/>
                    </a:lnTo>
                    <a:lnTo>
                      <a:pt x="295275" y="50673"/>
                    </a:lnTo>
                    <a:lnTo>
                      <a:pt x="260265" y="23622"/>
                    </a:lnTo>
                    <a:lnTo>
                      <a:pt x="218948" y="6180"/>
                    </a:lnTo>
                    <a:lnTo>
                      <a:pt x="172974" y="0"/>
                    </a:lnTo>
                    <a:close/>
                  </a:path>
                </a:pathLst>
              </a:custGeom>
              <a:solidFill>
                <a:srgbClr val="073763"/>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900">
                  <a:solidFill>
                    <a:schemeClr val="lt1"/>
                  </a:solidFill>
                  <a:latin typeface="Quattrocento Sans"/>
                  <a:ea typeface="Quattrocento Sans"/>
                  <a:cs typeface="Quattrocento Sans"/>
                  <a:sym typeface="Quattrocento Sans"/>
                </a:endParaRPr>
              </a:p>
            </p:txBody>
          </p:sp>
          <p:sp>
            <p:nvSpPr>
              <p:cNvPr id="613" name="Google Shape;613;p49"/>
              <p:cNvSpPr/>
              <p:nvPr/>
            </p:nvSpPr>
            <p:spPr>
              <a:xfrm>
                <a:off x="5713206" y="4911090"/>
                <a:ext cx="346075" cy="346075"/>
              </a:xfrm>
              <a:custGeom>
                <a:rect b="b" l="l" r="r" t="t"/>
                <a:pathLst>
                  <a:path extrusionOk="0" h="346075" w="346075">
                    <a:moveTo>
                      <a:pt x="0" y="172974"/>
                    </a:moveTo>
                    <a:lnTo>
                      <a:pt x="6180" y="127000"/>
                    </a:lnTo>
                    <a:lnTo>
                      <a:pt x="23622" y="85682"/>
                    </a:lnTo>
                    <a:lnTo>
                      <a:pt x="50673" y="50673"/>
                    </a:lnTo>
                    <a:lnTo>
                      <a:pt x="85682" y="23622"/>
                    </a:lnTo>
                    <a:lnTo>
                      <a:pt x="127000" y="6180"/>
                    </a:lnTo>
                    <a:lnTo>
                      <a:pt x="172974" y="0"/>
                    </a:lnTo>
                    <a:lnTo>
                      <a:pt x="218948" y="6180"/>
                    </a:lnTo>
                    <a:lnTo>
                      <a:pt x="260265" y="23622"/>
                    </a:lnTo>
                    <a:lnTo>
                      <a:pt x="295275" y="50673"/>
                    </a:lnTo>
                    <a:lnTo>
                      <a:pt x="322325" y="85682"/>
                    </a:lnTo>
                    <a:lnTo>
                      <a:pt x="339767" y="127000"/>
                    </a:lnTo>
                    <a:lnTo>
                      <a:pt x="345948" y="172974"/>
                    </a:lnTo>
                    <a:lnTo>
                      <a:pt x="339767" y="218948"/>
                    </a:lnTo>
                    <a:lnTo>
                      <a:pt x="322325" y="260265"/>
                    </a:lnTo>
                    <a:lnTo>
                      <a:pt x="295275" y="295275"/>
                    </a:lnTo>
                    <a:lnTo>
                      <a:pt x="260265" y="322325"/>
                    </a:lnTo>
                    <a:lnTo>
                      <a:pt x="218948" y="339767"/>
                    </a:lnTo>
                    <a:lnTo>
                      <a:pt x="172974" y="345948"/>
                    </a:lnTo>
                    <a:lnTo>
                      <a:pt x="127000" y="339767"/>
                    </a:lnTo>
                    <a:lnTo>
                      <a:pt x="85682" y="322326"/>
                    </a:lnTo>
                    <a:lnTo>
                      <a:pt x="50673" y="295275"/>
                    </a:lnTo>
                    <a:lnTo>
                      <a:pt x="23622" y="260265"/>
                    </a:lnTo>
                    <a:lnTo>
                      <a:pt x="6180" y="218948"/>
                    </a:lnTo>
                    <a:lnTo>
                      <a:pt x="0" y="172974"/>
                    </a:lnTo>
                    <a:close/>
                  </a:path>
                </a:pathLst>
              </a:custGeom>
              <a:solidFill>
                <a:srgbClr val="073763"/>
              </a:solidFill>
              <a:ln cap="flat" cmpd="sng" w="381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900">
                  <a:solidFill>
                    <a:schemeClr val="lt1"/>
                  </a:solidFill>
                  <a:latin typeface="Quattrocento Sans"/>
                  <a:ea typeface="Quattrocento Sans"/>
                  <a:cs typeface="Quattrocento Sans"/>
                  <a:sym typeface="Quattrocento Sans"/>
                </a:endParaRPr>
              </a:p>
            </p:txBody>
          </p:sp>
        </p:grpSp>
        <p:sp>
          <p:nvSpPr>
            <p:cNvPr id="614" name="Google Shape;614;p49"/>
            <p:cNvSpPr txBox="1"/>
            <p:nvPr/>
          </p:nvSpPr>
          <p:spPr>
            <a:xfrm>
              <a:off x="3768511" y="5510276"/>
              <a:ext cx="138300" cy="257100"/>
            </a:xfrm>
            <a:prstGeom prst="rect">
              <a:avLst/>
            </a:prstGeom>
            <a:solidFill>
              <a:srgbClr val="073763"/>
            </a:solidFill>
            <a:ln>
              <a:noFill/>
            </a:ln>
          </p:spPr>
          <p:txBody>
            <a:bodyPr anchorCtr="0" anchor="ctr" bIns="0" lIns="0" spcFirstLastPara="1" rIns="0" wrap="square" tIns="9050">
              <a:spAutoFit/>
            </a:bodyPr>
            <a:lstStyle/>
            <a:p>
              <a:pPr indent="0" lvl="0" marL="12700" marR="0" rtl="0" algn="l">
                <a:lnSpc>
                  <a:spcPct val="100000"/>
                </a:lnSpc>
                <a:spcBef>
                  <a:spcPts val="0"/>
                </a:spcBef>
                <a:spcAft>
                  <a:spcPts val="0"/>
                </a:spcAft>
                <a:buNone/>
              </a:pPr>
              <a:r>
                <a:rPr b="1" lang="es" sz="900">
                  <a:solidFill>
                    <a:schemeClr val="lt1"/>
                  </a:solidFill>
                  <a:latin typeface="Quattrocento Sans"/>
                  <a:ea typeface="Quattrocento Sans"/>
                  <a:cs typeface="Quattrocento Sans"/>
                  <a:sym typeface="Quattrocento Sans"/>
                </a:rPr>
                <a:t>2</a:t>
              </a:r>
              <a:endParaRPr sz="900">
                <a:solidFill>
                  <a:schemeClr val="lt1"/>
                </a:solidFill>
                <a:latin typeface="Quattrocento Sans"/>
                <a:ea typeface="Quattrocento Sans"/>
                <a:cs typeface="Quattrocento Sans"/>
                <a:sym typeface="Quattrocento Sans"/>
              </a:endParaRPr>
            </a:p>
          </p:txBody>
        </p:sp>
      </p:grpSp>
      <p:grpSp>
        <p:nvGrpSpPr>
          <p:cNvPr id="615" name="Google Shape;615;p49"/>
          <p:cNvGrpSpPr/>
          <p:nvPr/>
        </p:nvGrpSpPr>
        <p:grpSpPr>
          <a:xfrm>
            <a:off x="6277406" y="4070874"/>
            <a:ext cx="211622" cy="202006"/>
            <a:chOff x="3668086" y="5468940"/>
            <a:chExt cx="368487" cy="351743"/>
          </a:xfrm>
        </p:grpSpPr>
        <p:grpSp>
          <p:nvGrpSpPr>
            <p:cNvPr id="616" name="Google Shape;616;p49"/>
            <p:cNvGrpSpPr/>
            <p:nvPr/>
          </p:nvGrpSpPr>
          <p:grpSpPr>
            <a:xfrm>
              <a:off x="3668086" y="5468940"/>
              <a:ext cx="368487" cy="351743"/>
              <a:chOff x="5713206" y="4911090"/>
              <a:chExt cx="368487" cy="357281"/>
            </a:xfrm>
          </p:grpSpPr>
          <p:sp>
            <p:nvSpPr>
              <p:cNvPr id="617" name="Google Shape;617;p49"/>
              <p:cNvSpPr/>
              <p:nvPr/>
            </p:nvSpPr>
            <p:spPr>
              <a:xfrm>
                <a:off x="5735618" y="4922296"/>
                <a:ext cx="346075" cy="346075"/>
              </a:xfrm>
              <a:custGeom>
                <a:rect b="b" l="l" r="r" t="t"/>
                <a:pathLst>
                  <a:path extrusionOk="0" h="346075" w="346075">
                    <a:moveTo>
                      <a:pt x="172974" y="0"/>
                    </a:moveTo>
                    <a:lnTo>
                      <a:pt x="127000" y="6180"/>
                    </a:lnTo>
                    <a:lnTo>
                      <a:pt x="85682" y="23622"/>
                    </a:lnTo>
                    <a:lnTo>
                      <a:pt x="50673" y="50673"/>
                    </a:lnTo>
                    <a:lnTo>
                      <a:pt x="23622" y="85682"/>
                    </a:lnTo>
                    <a:lnTo>
                      <a:pt x="6180" y="127000"/>
                    </a:lnTo>
                    <a:lnTo>
                      <a:pt x="0" y="172974"/>
                    </a:lnTo>
                    <a:lnTo>
                      <a:pt x="6180" y="218948"/>
                    </a:lnTo>
                    <a:lnTo>
                      <a:pt x="23622" y="260265"/>
                    </a:lnTo>
                    <a:lnTo>
                      <a:pt x="50673" y="295275"/>
                    </a:lnTo>
                    <a:lnTo>
                      <a:pt x="85682" y="322326"/>
                    </a:lnTo>
                    <a:lnTo>
                      <a:pt x="127000" y="339767"/>
                    </a:lnTo>
                    <a:lnTo>
                      <a:pt x="172974" y="345948"/>
                    </a:lnTo>
                    <a:lnTo>
                      <a:pt x="218948" y="339767"/>
                    </a:lnTo>
                    <a:lnTo>
                      <a:pt x="260265" y="322325"/>
                    </a:lnTo>
                    <a:lnTo>
                      <a:pt x="295275" y="295275"/>
                    </a:lnTo>
                    <a:lnTo>
                      <a:pt x="322325" y="260265"/>
                    </a:lnTo>
                    <a:lnTo>
                      <a:pt x="339767" y="218948"/>
                    </a:lnTo>
                    <a:lnTo>
                      <a:pt x="345948" y="172974"/>
                    </a:lnTo>
                    <a:lnTo>
                      <a:pt x="339767" y="127000"/>
                    </a:lnTo>
                    <a:lnTo>
                      <a:pt x="322325" y="85682"/>
                    </a:lnTo>
                    <a:lnTo>
                      <a:pt x="295275" y="50673"/>
                    </a:lnTo>
                    <a:lnTo>
                      <a:pt x="260265" y="23622"/>
                    </a:lnTo>
                    <a:lnTo>
                      <a:pt x="218948" y="6180"/>
                    </a:lnTo>
                    <a:lnTo>
                      <a:pt x="172974" y="0"/>
                    </a:lnTo>
                    <a:close/>
                  </a:path>
                </a:pathLst>
              </a:custGeom>
              <a:solidFill>
                <a:srgbClr val="073763"/>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900">
                  <a:solidFill>
                    <a:schemeClr val="lt1"/>
                  </a:solidFill>
                  <a:latin typeface="Quattrocento Sans"/>
                  <a:ea typeface="Quattrocento Sans"/>
                  <a:cs typeface="Quattrocento Sans"/>
                  <a:sym typeface="Quattrocento Sans"/>
                </a:endParaRPr>
              </a:p>
            </p:txBody>
          </p:sp>
          <p:sp>
            <p:nvSpPr>
              <p:cNvPr id="618" name="Google Shape;618;p49"/>
              <p:cNvSpPr/>
              <p:nvPr/>
            </p:nvSpPr>
            <p:spPr>
              <a:xfrm>
                <a:off x="5713206" y="4911090"/>
                <a:ext cx="346075" cy="346075"/>
              </a:xfrm>
              <a:custGeom>
                <a:rect b="b" l="l" r="r" t="t"/>
                <a:pathLst>
                  <a:path extrusionOk="0" h="346075" w="346075">
                    <a:moveTo>
                      <a:pt x="0" y="172974"/>
                    </a:moveTo>
                    <a:lnTo>
                      <a:pt x="6180" y="127000"/>
                    </a:lnTo>
                    <a:lnTo>
                      <a:pt x="23622" y="85682"/>
                    </a:lnTo>
                    <a:lnTo>
                      <a:pt x="50673" y="50673"/>
                    </a:lnTo>
                    <a:lnTo>
                      <a:pt x="85682" y="23622"/>
                    </a:lnTo>
                    <a:lnTo>
                      <a:pt x="127000" y="6180"/>
                    </a:lnTo>
                    <a:lnTo>
                      <a:pt x="172974" y="0"/>
                    </a:lnTo>
                    <a:lnTo>
                      <a:pt x="218948" y="6180"/>
                    </a:lnTo>
                    <a:lnTo>
                      <a:pt x="260265" y="23622"/>
                    </a:lnTo>
                    <a:lnTo>
                      <a:pt x="295275" y="50673"/>
                    </a:lnTo>
                    <a:lnTo>
                      <a:pt x="322325" y="85682"/>
                    </a:lnTo>
                    <a:lnTo>
                      <a:pt x="339767" y="127000"/>
                    </a:lnTo>
                    <a:lnTo>
                      <a:pt x="345948" y="172974"/>
                    </a:lnTo>
                    <a:lnTo>
                      <a:pt x="339767" y="218948"/>
                    </a:lnTo>
                    <a:lnTo>
                      <a:pt x="322325" y="260265"/>
                    </a:lnTo>
                    <a:lnTo>
                      <a:pt x="295275" y="295275"/>
                    </a:lnTo>
                    <a:lnTo>
                      <a:pt x="260265" y="322325"/>
                    </a:lnTo>
                    <a:lnTo>
                      <a:pt x="218948" y="339767"/>
                    </a:lnTo>
                    <a:lnTo>
                      <a:pt x="172974" y="345948"/>
                    </a:lnTo>
                    <a:lnTo>
                      <a:pt x="127000" y="339767"/>
                    </a:lnTo>
                    <a:lnTo>
                      <a:pt x="85682" y="322326"/>
                    </a:lnTo>
                    <a:lnTo>
                      <a:pt x="50673" y="295275"/>
                    </a:lnTo>
                    <a:lnTo>
                      <a:pt x="23622" y="260265"/>
                    </a:lnTo>
                    <a:lnTo>
                      <a:pt x="6180" y="218948"/>
                    </a:lnTo>
                    <a:lnTo>
                      <a:pt x="0" y="172974"/>
                    </a:lnTo>
                    <a:close/>
                  </a:path>
                </a:pathLst>
              </a:custGeom>
              <a:solidFill>
                <a:srgbClr val="073763"/>
              </a:solidFill>
              <a:ln cap="flat" cmpd="sng" w="381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900">
                  <a:solidFill>
                    <a:schemeClr val="lt1"/>
                  </a:solidFill>
                  <a:latin typeface="Quattrocento Sans"/>
                  <a:ea typeface="Quattrocento Sans"/>
                  <a:cs typeface="Quattrocento Sans"/>
                  <a:sym typeface="Quattrocento Sans"/>
                </a:endParaRPr>
              </a:p>
            </p:txBody>
          </p:sp>
        </p:grpSp>
        <p:sp>
          <p:nvSpPr>
            <p:cNvPr id="619" name="Google Shape;619;p49"/>
            <p:cNvSpPr txBox="1"/>
            <p:nvPr/>
          </p:nvSpPr>
          <p:spPr>
            <a:xfrm>
              <a:off x="3768511" y="5510276"/>
              <a:ext cx="138300" cy="257100"/>
            </a:xfrm>
            <a:prstGeom prst="rect">
              <a:avLst/>
            </a:prstGeom>
            <a:solidFill>
              <a:srgbClr val="073763"/>
            </a:solidFill>
            <a:ln>
              <a:noFill/>
            </a:ln>
          </p:spPr>
          <p:txBody>
            <a:bodyPr anchorCtr="0" anchor="ctr" bIns="0" lIns="0" spcFirstLastPara="1" rIns="0" wrap="square" tIns="9050">
              <a:spAutoFit/>
            </a:bodyPr>
            <a:lstStyle/>
            <a:p>
              <a:pPr indent="0" lvl="0" marL="12700" marR="0" rtl="0" algn="l">
                <a:lnSpc>
                  <a:spcPct val="100000"/>
                </a:lnSpc>
                <a:spcBef>
                  <a:spcPts val="0"/>
                </a:spcBef>
                <a:spcAft>
                  <a:spcPts val="0"/>
                </a:spcAft>
                <a:buNone/>
              </a:pPr>
              <a:r>
                <a:rPr b="1" lang="es" sz="900">
                  <a:solidFill>
                    <a:schemeClr val="lt1"/>
                  </a:solidFill>
                  <a:latin typeface="Quattrocento Sans"/>
                  <a:ea typeface="Quattrocento Sans"/>
                  <a:cs typeface="Quattrocento Sans"/>
                  <a:sym typeface="Quattrocento Sans"/>
                </a:rPr>
                <a:t>3</a:t>
              </a:r>
              <a:endParaRPr sz="900">
                <a:solidFill>
                  <a:schemeClr val="lt1"/>
                </a:solidFill>
                <a:latin typeface="Quattrocento Sans"/>
                <a:ea typeface="Quattrocento Sans"/>
                <a:cs typeface="Quattrocento Sans"/>
                <a:sym typeface="Quattrocento Sans"/>
              </a:endParaRPr>
            </a:p>
          </p:txBody>
        </p:sp>
      </p:grpSp>
      <p:cxnSp>
        <p:nvCxnSpPr>
          <p:cNvPr id="620" name="Google Shape;620;p49"/>
          <p:cNvCxnSpPr/>
          <p:nvPr/>
        </p:nvCxnSpPr>
        <p:spPr>
          <a:xfrm>
            <a:off x="374925" y="3997875"/>
            <a:ext cx="8511000" cy="0"/>
          </a:xfrm>
          <a:prstGeom prst="straightConnector1">
            <a:avLst/>
          </a:prstGeom>
          <a:noFill/>
          <a:ln cap="flat" cmpd="sng" w="15875">
            <a:solidFill>
              <a:srgbClr val="628B7C"/>
            </a:solidFill>
            <a:prstDash val="solid"/>
            <a:miter lim="800000"/>
            <a:headEnd len="sm" w="sm" type="none"/>
            <a:tailEnd len="sm" w="sm" type="none"/>
          </a:ln>
        </p:spPr>
      </p:cxnSp>
      <p:sp>
        <p:nvSpPr>
          <p:cNvPr id="621" name="Google Shape;621;p49"/>
          <p:cNvSpPr txBox="1"/>
          <p:nvPr/>
        </p:nvSpPr>
        <p:spPr>
          <a:xfrm>
            <a:off x="374925" y="3800600"/>
            <a:ext cx="2487600" cy="178800"/>
          </a:xfrm>
          <a:prstGeom prst="rect">
            <a:avLst/>
          </a:prstGeom>
          <a:noFill/>
          <a:ln>
            <a:noFill/>
          </a:ln>
        </p:spPr>
        <p:txBody>
          <a:bodyPr anchorCtr="0" anchor="t" bIns="0" lIns="0" spcFirstLastPara="1" rIns="0" wrap="square" tIns="9525">
            <a:spAutoFit/>
          </a:bodyPr>
          <a:lstStyle/>
          <a:p>
            <a:pPr indent="0" lvl="0" marL="12700" marR="0" rtl="0" algn="l">
              <a:lnSpc>
                <a:spcPct val="100000"/>
              </a:lnSpc>
              <a:spcBef>
                <a:spcPts val="0"/>
              </a:spcBef>
              <a:spcAft>
                <a:spcPts val="0"/>
              </a:spcAft>
              <a:buNone/>
            </a:pPr>
            <a:r>
              <a:rPr lang="es" sz="1100">
                <a:solidFill>
                  <a:srgbClr val="0C0C0C"/>
                </a:solidFill>
                <a:latin typeface="Quattrocento Sans"/>
                <a:ea typeface="Quattrocento Sans"/>
                <a:cs typeface="Quattrocento Sans"/>
                <a:sym typeface="Quattrocento Sans"/>
              </a:rPr>
              <a:t>Must Win Battles &amp; KPIs </a:t>
            </a:r>
            <a:endParaRPr sz="1100"/>
          </a:p>
        </p:txBody>
      </p:sp>
      <p:sp>
        <p:nvSpPr>
          <p:cNvPr id="622" name="Google Shape;622;p49"/>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cxnSp>
        <p:nvCxnSpPr>
          <p:cNvPr id="623" name="Google Shape;623;p49"/>
          <p:cNvCxnSpPr/>
          <p:nvPr/>
        </p:nvCxnSpPr>
        <p:spPr>
          <a:xfrm>
            <a:off x="5521246" y="4790797"/>
            <a:ext cx="405000" cy="0"/>
          </a:xfrm>
          <a:prstGeom prst="straightConnector1">
            <a:avLst/>
          </a:prstGeom>
          <a:noFill/>
          <a:ln cap="flat" cmpd="sng" w="12700">
            <a:solidFill>
              <a:srgbClr val="C00000"/>
            </a:solidFill>
            <a:prstDash val="solid"/>
            <a:miter lim="800000"/>
            <a:headEnd len="sm" w="sm" type="none"/>
            <a:tailEnd len="sm" w="sm"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pic>
        <p:nvPicPr>
          <p:cNvPr id="629" name="Google Shape;629;p50"/>
          <p:cNvPicPr preferRelativeResize="0"/>
          <p:nvPr/>
        </p:nvPicPr>
        <p:blipFill rotWithShape="1">
          <a:blip r:embed="rId3">
            <a:alphaModFix/>
          </a:blip>
          <a:srcRect b="7453" l="0" r="0" t="7462"/>
          <a:stretch/>
        </p:blipFill>
        <p:spPr>
          <a:xfrm>
            <a:off x="0" y="-42475"/>
            <a:ext cx="9144003" cy="5178000"/>
          </a:xfrm>
          <a:prstGeom prst="rect">
            <a:avLst/>
          </a:prstGeom>
          <a:noFill/>
          <a:ln>
            <a:noFill/>
          </a:ln>
        </p:spPr>
      </p:pic>
      <p:sp>
        <p:nvSpPr>
          <p:cNvPr id="630" name="Google Shape;630;p50"/>
          <p:cNvSpPr/>
          <p:nvPr/>
        </p:nvSpPr>
        <p:spPr>
          <a:xfrm>
            <a:off x="-149675" y="-541575"/>
            <a:ext cx="9460800" cy="5753100"/>
          </a:xfrm>
          <a:prstGeom prst="rect">
            <a:avLst/>
          </a:prstGeom>
          <a:solidFill>
            <a:schemeClr val="dk1">
              <a:alpha val="62750"/>
            </a:scheme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800"/>
              <a:buFont typeface="Arial"/>
              <a:buNone/>
            </a:pPr>
            <a:r>
              <a:t/>
            </a:r>
            <a:endParaRPr b="0" i="0" sz="800" u="none" cap="none" strike="noStrike">
              <a:solidFill>
                <a:srgbClr val="FFFFFF"/>
              </a:solidFill>
              <a:latin typeface="Calibri"/>
              <a:ea typeface="Calibri"/>
              <a:cs typeface="Calibri"/>
              <a:sym typeface="Calibri"/>
            </a:endParaRPr>
          </a:p>
        </p:txBody>
      </p:sp>
      <p:sp>
        <p:nvSpPr>
          <p:cNvPr id="631" name="Google Shape;631;p50"/>
          <p:cNvSpPr/>
          <p:nvPr/>
        </p:nvSpPr>
        <p:spPr>
          <a:xfrm>
            <a:off x="676850" y="1803568"/>
            <a:ext cx="37800" cy="1485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32" name="Google Shape;632;p50"/>
          <p:cNvSpPr txBox="1"/>
          <p:nvPr/>
        </p:nvSpPr>
        <p:spPr>
          <a:xfrm>
            <a:off x="812420" y="1605170"/>
            <a:ext cx="8234700" cy="1221300"/>
          </a:xfrm>
          <a:prstGeom prst="rect">
            <a:avLst/>
          </a:prstGeom>
          <a:noFill/>
          <a:ln>
            <a:noFill/>
          </a:ln>
        </p:spPr>
        <p:txBody>
          <a:bodyPr anchorCtr="0" anchor="b" bIns="34275" lIns="68575" spcFirstLastPara="1" rIns="68575" wrap="square" tIns="34275">
            <a:normAutofit/>
          </a:bodyPr>
          <a:lstStyle/>
          <a:p>
            <a:pPr indent="0" lvl="0" marL="0" marR="0" rtl="0" algn="l">
              <a:lnSpc>
                <a:spcPct val="120000"/>
              </a:lnSpc>
              <a:spcBef>
                <a:spcPts val="0"/>
              </a:spcBef>
              <a:spcAft>
                <a:spcPts val="0"/>
              </a:spcAft>
              <a:buClr>
                <a:schemeClr val="lt1"/>
              </a:buClr>
              <a:buSzPts val="3000"/>
              <a:buFont typeface="Quattrocento Sans"/>
              <a:buNone/>
            </a:pPr>
            <a:r>
              <a:rPr b="1" lang="es" sz="4000">
                <a:solidFill>
                  <a:schemeClr val="lt1"/>
                </a:solidFill>
                <a:latin typeface="Quattrocento Sans"/>
                <a:ea typeface="Quattrocento Sans"/>
                <a:cs typeface="Quattrocento Sans"/>
                <a:sym typeface="Quattrocento Sans"/>
              </a:rPr>
              <a:t>Impact</a:t>
            </a:r>
            <a:endParaRPr sz="2100"/>
          </a:p>
        </p:txBody>
      </p:sp>
      <p:sp>
        <p:nvSpPr>
          <p:cNvPr id="633" name="Google Shape;633;p50"/>
          <p:cNvSpPr txBox="1"/>
          <p:nvPr>
            <p:ph idx="4294967295" type="sldNum"/>
          </p:nvPr>
        </p:nvSpPr>
        <p:spPr>
          <a:xfrm>
            <a:off x="6822737" y="4905545"/>
            <a:ext cx="2057400" cy="121200"/>
          </a:xfrm>
          <a:prstGeom prst="rect">
            <a:avLst/>
          </a:prstGeom>
          <a:noFill/>
          <a:ln>
            <a:noFill/>
          </a:ln>
        </p:spPr>
        <p:txBody>
          <a:bodyPr anchorCtr="0" anchor="ctr" bIns="34275" lIns="68575" spcFirstLastPara="1" rIns="68575" wrap="square" tIns="34275">
            <a:normAutofit fontScale="40000" lnSpcReduction="20000"/>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grpSp>
        <p:nvGrpSpPr>
          <p:cNvPr id="639" name="Google Shape;639;p51"/>
          <p:cNvGrpSpPr/>
          <p:nvPr/>
        </p:nvGrpSpPr>
        <p:grpSpPr>
          <a:xfrm>
            <a:off x="198845" y="-2082551"/>
            <a:ext cx="8166154" cy="6559064"/>
            <a:chOff x="-143777" y="-2762458"/>
            <a:chExt cx="11266769" cy="9481157"/>
          </a:xfrm>
        </p:grpSpPr>
        <p:grpSp>
          <p:nvGrpSpPr>
            <p:cNvPr id="640" name="Google Shape;640;p51"/>
            <p:cNvGrpSpPr/>
            <p:nvPr/>
          </p:nvGrpSpPr>
          <p:grpSpPr>
            <a:xfrm>
              <a:off x="-143778" y="1549718"/>
              <a:ext cx="6042397" cy="5168981"/>
              <a:chOff x="-143777" y="1549718"/>
              <a:chExt cx="6042397" cy="5168981"/>
            </a:xfrm>
          </p:grpSpPr>
          <p:sp>
            <p:nvSpPr>
              <p:cNvPr id="641" name="Google Shape;641;p51"/>
              <p:cNvSpPr/>
              <p:nvPr/>
            </p:nvSpPr>
            <p:spPr>
              <a:xfrm>
                <a:off x="480665" y="1636295"/>
                <a:ext cx="5345100" cy="45045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Quattrocento Sans"/>
                  <a:ea typeface="Quattrocento Sans"/>
                  <a:cs typeface="Quattrocento Sans"/>
                  <a:sym typeface="Quattrocento Sans"/>
                </a:endParaRPr>
              </a:p>
            </p:txBody>
          </p:sp>
          <p:grpSp>
            <p:nvGrpSpPr>
              <p:cNvPr id="642" name="Google Shape;642;p51"/>
              <p:cNvGrpSpPr/>
              <p:nvPr/>
            </p:nvGrpSpPr>
            <p:grpSpPr>
              <a:xfrm>
                <a:off x="-143778" y="1549718"/>
                <a:ext cx="6042397" cy="5168981"/>
                <a:chOff x="-143777" y="1549718"/>
                <a:chExt cx="6042397" cy="5168981"/>
              </a:xfrm>
            </p:grpSpPr>
            <p:grpSp>
              <p:nvGrpSpPr>
                <p:cNvPr id="643" name="Google Shape;643;p51"/>
                <p:cNvGrpSpPr/>
                <p:nvPr/>
              </p:nvGrpSpPr>
              <p:grpSpPr>
                <a:xfrm>
                  <a:off x="-143777" y="1549718"/>
                  <a:ext cx="564461" cy="4591200"/>
                  <a:chOff x="-143777" y="1549718"/>
                  <a:chExt cx="564461" cy="4591200"/>
                </a:xfrm>
              </p:grpSpPr>
              <p:cxnSp>
                <p:nvCxnSpPr>
                  <p:cNvPr id="644" name="Google Shape;644;p51"/>
                  <p:cNvCxnSpPr/>
                  <p:nvPr/>
                </p:nvCxnSpPr>
                <p:spPr>
                  <a:xfrm rot="10800000">
                    <a:off x="420683" y="1549718"/>
                    <a:ext cx="0" cy="4591200"/>
                  </a:xfrm>
                  <a:prstGeom prst="straightConnector1">
                    <a:avLst/>
                  </a:prstGeom>
                  <a:noFill/>
                  <a:ln cap="flat" cmpd="sng" w="28575">
                    <a:solidFill>
                      <a:srgbClr val="0A3348"/>
                    </a:solidFill>
                    <a:prstDash val="solid"/>
                    <a:miter lim="800000"/>
                    <a:headEnd len="sm" w="sm" type="none"/>
                    <a:tailEnd len="med" w="med" type="triangle"/>
                  </a:ln>
                </p:spPr>
              </p:cxnSp>
              <p:sp>
                <p:nvSpPr>
                  <p:cNvPr id="645" name="Google Shape;645;p51"/>
                  <p:cNvSpPr/>
                  <p:nvPr/>
                </p:nvSpPr>
                <p:spPr>
                  <a:xfrm rot="-5400000">
                    <a:off x="-1544177" y="3531549"/>
                    <a:ext cx="3235200" cy="4344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747474"/>
                      </a:buClr>
                      <a:buSzPts val="900"/>
                      <a:buFont typeface="Quattrocento Sans"/>
                      <a:buNone/>
                    </a:pPr>
                    <a:r>
                      <a:rPr i="1" lang="es" sz="900">
                        <a:solidFill>
                          <a:srgbClr val="747474"/>
                        </a:solidFill>
                        <a:latin typeface="Quattrocento Sans"/>
                        <a:ea typeface="Quattrocento Sans"/>
                        <a:cs typeface="Quattrocento Sans"/>
                        <a:sym typeface="Quattrocento Sans"/>
                      </a:rPr>
                      <a:t>Severity of risk</a:t>
                    </a:r>
                    <a:endParaRPr i="1" sz="1400">
                      <a:solidFill>
                        <a:srgbClr val="747474"/>
                      </a:solidFill>
                      <a:latin typeface="Quattrocento Sans"/>
                      <a:ea typeface="Quattrocento Sans"/>
                      <a:cs typeface="Quattrocento Sans"/>
                      <a:sym typeface="Quattrocento Sans"/>
                    </a:endParaRPr>
                  </a:p>
                </p:txBody>
              </p:sp>
            </p:grpSp>
            <p:grpSp>
              <p:nvGrpSpPr>
                <p:cNvPr id="646" name="Google Shape;646;p51"/>
                <p:cNvGrpSpPr/>
                <p:nvPr/>
              </p:nvGrpSpPr>
              <p:grpSpPr>
                <a:xfrm>
                  <a:off x="429919" y="6140918"/>
                  <a:ext cx="5468700" cy="577781"/>
                  <a:chOff x="429919" y="6140918"/>
                  <a:chExt cx="5468700" cy="577781"/>
                </a:xfrm>
              </p:grpSpPr>
              <p:cxnSp>
                <p:nvCxnSpPr>
                  <p:cNvPr id="647" name="Google Shape;647;p51"/>
                  <p:cNvCxnSpPr/>
                  <p:nvPr/>
                </p:nvCxnSpPr>
                <p:spPr>
                  <a:xfrm>
                    <a:off x="429919" y="6140918"/>
                    <a:ext cx="5468700" cy="43500"/>
                  </a:xfrm>
                  <a:prstGeom prst="straightConnector1">
                    <a:avLst/>
                  </a:prstGeom>
                  <a:noFill/>
                  <a:ln cap="flat" cmpd="sng" w="28575">
                    <a:solidFill>
                      <a:srgbClr val="0A3348"/>
                    </a:solidFill>
                    <a:prstDash val="solid"/>
                    <a:miter lim="800000"/>
                    <a:headEnd len="sm" w="sm" type="none"/>
                    <a:tailEnd len="med" w="med" type="triangle"/>
                  </a:ln>
                </p:spPr>
              </p:cxnSp>
              <p:sp>
                <p:nvSpPr>
                  <p:cNvPr id="648" name="Google Shape;648;p51"/>
                  <p:cNvSpPr/>
                  <p:nvPr/>
                </p:nvSpPr>
                <p:spPr>
                  <a:xfrm>
                    <a:off x="658522" y="6338899"/>
                    <a:ext cx="5013000" cy="3798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747474"/>
                      </a:buClr>
                      <a:buSzPts val="900"/>
                      <a:buFont typeface="Quattrocento Sans"/>
                      <a:buNone/>
                    </a:pPr>
                    <a:r>
                      <a:rPr i="1" lang="es" sz="900">
                        <a:solidFill>
                          <a:srgbClr val="747474"/>
                        </a:solidFill>
                        <a:latin typeface="Quattrocento Sans"/>
                        <a:ea typeface="Quattrocento Sans"/>
                        <a:cs typeface="Quattrocento Sans"/>
                        <a:sym typeface="Quattrocento Sans"/>
                      </a:rPr>
                      <a:t>Probability of occurrence</a:t>
                    </a:r>
                    <a:endParaRPr i="1" sz="1400">
                      <a:solidFill>
                        <a:srgbClr val="747474"/>
                      </a:solidFill>
                      <a:latin typeface="Quattrocento Sans"/>
                      <a:ea typeface="Quattrocento Sans"/>
                      <a:cs typeface="Quattrocento Sans"/>
                      <a:sym typeface="Quattrocento Sans"/>
                    </a:endParaRPr>
                  </a:p>
                </p:txBody>
              </p:sp>
            </p:grpSp>
          </p:grpSp>
        </p:grpSp>
        <p:grpSp>
          <p:nvGrpSpPr>
            <p:cNvPr id="649" name="Google Shape;649;p51"/>
            <p:cNvGrpSpPr/>
            <p:nvPr/>
          </p:nvGrpSpPr>
          <p:grpSpPr>
            <a:xfrm>
              <a:off x="555791" y="-2762458"/>
              <a:ext cx="10567200" cy="8820000"/>
              <a:chOff x="555791" y="-2762458"/>
              <a:chExt cx="10567200" cy="8820000"/>
            </a:xfrm>
          </p:grpSpPr>
          <p:sp>
            <p:nvSpPr>
              <p:cNvPr id="650" name="Google Shape;650;p51"/>
              <p:cNvSpPr/>
              <p:nvPr/>
            </p:nvSpPr>
            <p:spPr>
              <a:xfrm rot="10800000">
                <a:off x="555791" y="-2762458"/>
                <a:ext cx="10567200" cy="8820000"/>
              </a:xfrm>
              <a:prstGeom prst="arc">
                <a:avLst>
                  <a:gd fmla="val 16200000" name="adj1"/>
                  <a:gd fmla="val 0" name="adj2"/>
                </a:avLst>
              </a:prstGeom>
              <a:solidFill>
                <a:srgbClr val="A30303">
                  <a:alpha val="4241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dk1"/>
                  </a:solidFill>
                  <a:latin typeface="Quattrocento Sans"/>
                  <a:ea typeface="Quattrocento Sans"/>
                  <a:cs typeface="Quattrocento Sans"/>
                  <a:sym typeface="Quattrocento Sans"/>
                </a:endParaRPr>
              </a:p>
            </p:txBody>
          </p:sp>
          <p:sp>
            <p:nvSpPr>
              <p:cNvPr id="651" name="Google Shape;651;p51"/>
              <p:cNvSpPr/>
              <p:nvPr/>
            </p:nvSpPr>
            <p:spPr>
              <a:xfrm rot="10800000">
                <a:off x="1545761" y="-2003662"/>
                <a:ext cx="8571900" cy="7308000"/>
              </a:xfrm>
              <a:prstGeom prst="arc">
                <a:avLst>
                  <a:gd fmla="val 16200000" name="adj1"/>
                  <a:gd fmla="val 0" name="adj2"/>
                </a:avLst>
              </a:prstGeom>
              <a:solidFill>
                <a:srgbClr val="A30303">
                  <a:alpha val="4241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dk1"/>
                  </a:solidFill>
                  <a:latin typeface="Quattrocento Sans"/>
                  <a:ea typeface="Quattrocento Sans"/>
                  <a:cs typeface="Quattrocento Sans"/>
                  <a:sym typeface="Quattrocento Sans"/>
                </a:endParaRPr>
              </a:p>
            </p:txBody>
          </p:sp>
          <p:sp>
            <p:nvSpPr>
              <p:cNvPr id="652" name="Google Shape;652;p51"/>
              <p:cNvSpPr/>
              <p:nvPr/>
            </p:nvSpPr>
            <p:spPr>
              <a:xfrm rot="10800000">
                <a:off x="2767696" y="-1090873"/>
                <a:ext cx="6127800" cy="5472000"/>
              </a:xfrm>
              <a:prstGeom prst="arc">
                <a:avLst>
                  <a:gd fmla="val 16200000" name="adj1"/>
                  <a:gd fmla="val 0" name="adj2"/>
                </a:avLst>
              </a:prstGeom>
              <a:solidFill>
                <a:srgbClr val="A30303">
                  <a:alpha val="4241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dk1"/>
                  </a:solidFill>
                  <a:latin typeface="Quattrocento Sans"/>
                  <a:ea typeface="Quattrocento Sans"/>
                  <a:cs typeface="Quattrocento Sans"/>
                  <a:sym typeface="Quattrocento Sans"/>
                </a:endParaRPr>
              </a:p>
            </p:txBody>
          </p:sp>
        </p:grpSp>
      </p:grpSp>
      <p:grpSp>
        <p:nvGrpSpPr>
          <p:cNvPr id="653" name="Google Shape;653;p51"/>
          <p:cNvGrpSpPr/>
          <p:nvPr/>
        </p:nvGrpSpPr>
        <p:grpSpPr>
          <a:xfrm>
            <a:off x="1100983" y="2091442"/>
            <a:ext cx="633882" cy="1733724"/>
            <a:chOff x="1678689" y="3105580"/>
            <a:chExt cx="821836" cy="2247795"/>
          </a:xfrm>
        </p:grpSpPr>
        <p:sp>
          <p:nvSpPr>
            <p:cNvPr id="654" name="Google Shape;654;p51"/>
            <p:cNvSpPr/>
            <p:nvPr/>
          </p:nvSpPr>
          <p:spPr>
            <a:xfrm>
              <a:off x="1995625" y="3105580"/>
              <a:ext cx="504900" cy="504900"/>
            </a:xfrm>
            <a:prstGeom prst="ellipse">
              <a:avLst/>
            </a:prstGeom>
            <a:solidFill>
              <a:srgbClr val="C00000"/>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900"/>
                <a:buFont typeface="Quattrocento Sans"/>
                <a:buNone/>
              </a:pPr>
              <a:r>
                <a:rPr b="1" lang="es" sz="900">
                  <a:solidFill>
                    <a:schemeClr val="lt1"/>
                  </a:solidFill>
                  <a:latin typeface="Quattrocento Sans"/>
                  <a:ea typeface="Quattrocento Sans"/>
                  <a:cs typeface="Quattrocento Sans"/>
                  <a:sym typeface="Quattrocento Sans"/>
                </a:rPr>
                <a:t>1</a:t>
              </a:r>
              <a:endParaRPr sz="1100"/>
            </a:p>
          </p:txBody>
        </p:sp>
        <p:sp>
          <p:nvSpPr>
            <p:cNvPr id="655" name="Google Shape;655;p51"/>
            <p:cNvSpPr/>
            <p:nvPr/>
          </p:nvSpPr>
          <p:spPr>
            <a:xfrm>
              <a:off x="1678689" y="4848475"/>
              <a:ext cx="504900" cy="504900"/>
            </a:xfrm>
            <a:prstGeom prst="ellipse">
              <a:avLst/>
            </a:prstGeom>
            <a:solidFill>
              <a:schemeClr val="dk2"/>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900"/>
                <a:buFont typeface="Quattrocento Sans"/>
                <a:buNone/>
              </a:pPr>
              <a:r>
                <a:rPr b="1" lang="es" sz="900">
                  <a:solidFill>
                    <a:schemeClr val="lt1"/>
                  </a:solidFill>
                  <a:latin typeface="Quattrocento Sans"/>
                  <a:ea typeface="Quattrocento Sans"/>
                  <a:cs typeface="Quattrocento Sans"/>
                  <a:sym typeface="Quattrocento Sans"/>
                </a:rPr>
                <a:t>1</a:t>
              </a:r>
              <a:endParaRPr b="1" sz="900">
                <a:solidFill>
                  <a:schemeClr val="lt1"/>
                </a:solidFill>
                <a:latin typeface="Quattrocento Sans"/>
                <a:ea typeface="Quattrocento Sans"/>
                <a:cs typeface="Quattrocento Sans"/>
                <a:sym typeface="Quattrocento Sans"/>
              </a:endParaRPr>
            </a:p>
          </p:txBody>
        </p:sp>
        <p:cxnSp>
          <p:nvCxnSpPr>
            <p:cNvPr id="656" name="Google Shape;656;p51"/>
            <p:cNvCxnSpPr>
              <a:stCxn id="654" idx="4"/>
            </p:cNvCxnSpPr>
            <p:nvPr/>
          </p:nvCxnSpPr>
          <p:spPr>
            <a:xfrm flipH="1">
              <a:off x="2038075" y="3610480"/>
              <a:ext cx="210000" cy="1248000"/>
            </a:xfrm>
            <a:prstGeom prst="straightConnector1">
              <a:avLst/>
            </a:prstGeom>
            <a:noFill/>
            <a:ln cap="flat" cmpd="sng" w="19050">
              <a:solidFill>
                <a:schemeClr val="lt1"/>
              </a:solidFill>
              <a:prstDash val="solid"/>
              <a:miter lim="800000"/>
              <a:headEnd len="sm" w="sm" type="none"/>
              <a:tailEnd len="med" w="med" type="triangle"/>
            </a:ln>
          </p:spPr>
        </p:cxnSp>
      </p:grpSp>
      <p:grpSp>
        <p:nvGrpSpPr>
          <p:cNvPr id="657" name="Google Shape;657;p51"/>
          <p:cNvGrpSpPr/>
          <p:nvPr/>
        </p:nvGrpSpPr>
        <p:grpSpPr>
          <a:xfrm>
            <a:off x="1987193" y="2529134"/>
            <a:ext cx="1084733" cy="1078647"/>
            <a:chOff x="2119695" y="4240336"/>
            <a:chExt cx="1406370" cy="1398479"/>
          </a:xfrm>
        </p:grpSpPr>
        <p:sp>
          <p:nvSpPr>
            <p:cNvPr id="658" name="Google Shape;658;p51"/>
            <p:cNvSpPr/>
            <p:nvPr/>
          </p:nvSpPr>
          <p:spPr>
            <a:xfrm>
              <a:off x="3021165" y="4240336"/>
              <a:ext cx="504900" cy="504900"/>
            </a:xfrm>
            <a:prstGeom prst="ellipse">
              <a:avLst/>
            </a:prstGeom>
            <a:solidFill>
              <a:srgbClr val="C00000"/>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900"/>
                <a:buFont typeface="Quattrocento Sans"/>
                <a:buNone/>
              </a:pPr>
              <a:r>
                <a:rPr b="1" lang="es" sz="900">
                  <a:solidFill>
                    <a:schemeClr val="lt1"/>
                  </a:solidFill>
                  <a:latin typeface="Quattrocento Sans"/>
                  <a:ea typeface="Quattrocento Sans"/>
                  <a:cs typeface="Quattrocento Sans"/>
                  <a:sym typeface="Quattrocento Sans"/>
                </a:rPr>
                <a:t>3</a:t>
              </a:r>
              <a:endParaRPr b="1" sz="900">
                <a:solidFill>
                  <a:schemeClr val="lt1"/>
                </a:solidFill>
                <a:latin typeface="Quattrocento Sans"/>
                <a:ea typeface="Quattrocento Sans"/>
                <a:cs typeface="Quattrocento Sans"/>
                <a:sym typeface="Quattrocento Sans"/>
              </a:endParaRPr>
            </a:p>
          </p:txBody>
        </p:sp>
        <p:sp>
          <p:nvSpPr>
            <p:cNvPr id="659" name="Google Shape;659;p51"/>
            <p:cNvSpPr/>
            <p:nvPr/>
          </p:nvSpPr>
          <p:spPr>
            <a:xfrm>
              <a:off x="2119695" y="5133915"/>
              <a:ext cx="504900" cy="504900"/>
            </a:xfrm>
            <a:prstGeom prst="ellipse">
              <a:avLst/>
            </a:prstGeom>
            <a:solidFill>
              <a:schemeClr val="dk2"/>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Clr>
                  <a:schemeClr val="lt1"/>
                </a:buClr>
                <a:buSzPts val="900"/>
                <a:buFont typeface="Quattrocento Sans"/>
                <a:buNone/>
              </a:pPr>
              <a:r>
                <a:rPr b="1" lang="es" sz="900">
                  <a:solidFill>
                    <a:schemeClr val="lt1"/>
                  </a:solidFill>
                  <a:latin typeface="Quattrocento Sans"/>
                  <a:ea typeface="Quattrocento Sans"/>
                  <a:cs typeface="Quattrocento Sans"/>
                  <a:sym typeface="Quattrocento Sans"/>
                </a:rPr>
                <a:t>3</a:t>
              </a:r>
              <a:endParaRPr b="1" sz="900">
                <a:solidFill>
                  <a:schemeClr val="lt1"/>
                </a:solidFill>
                <a:latin typeface="Quattrocento Sans"/>
                <a:ea typeface="Quattrocento Sans"/>
                <a:cs typeface="Quattrocento Sans"/>
                <a:sym typeface="Quattrocento Sans"/>
              </a:endParaRPr>
            </a:p>
          </p:txBody>
        </p:sp>
        <p:cxnSp>
          <p:nvCxnSpPr>
            <p:cNvPr id="660" name="Google Shape;660;p51"/>
            <p:cNvCxnSpPr>
              <a:stCxn id="658" idx="3"/>
            </p:cNvCxnSpPr>
            <p:nvPr/>
          </p:nvCxnSpPr>
          <p:spPr>
            <a:xfrm flipH="1">
              <a:off x="2629806" y="4671295"/>
              <a:ext cx="465300" cy="491400"/>
            </a:xfrm>
            <a:prstGeom prst="straightConnector1">
              <a:avLst/>
            </a:prstGeom>
            <a:noFill/>
            <a:ln cap="flat" cmpd="sng" w="19050">
              <a:solidFill>
                <a:schemeClr val="lt1"/>
              </a:solidFill>
              <a:prstDash val="solid"/>
              <a:miter lim="800000"/>
              <a:headEnd len="sm" w="sm" type="none"/>
              <a:tailEnd len="med" w="med" type="triangle"/>
            </a:ln>
          </p:spPr>
        </p:cxnSp>
      </p:grpSp>
      <p:grpSp>
        <p:nvGrpSpPr>
          <p:cNvPr id="661" name="Google Shape;661;p51"/>
          <p:cNvGrpSpPr/>
          <p:nvPr/>
        </p:nvGrpSpPr>
        <p:grpSpPr>
          <a:xfrm>
            <a:off x="3071934" y="2163752"/>
            <a:ext cx="1122016" cy="1589126"/>
            <a:chOff x="1251675" y="2154132"/>
            <a:chExt cx="1454707" cy="2060321"/>
          </a:xfrm>
        </p:grpSpPr>
        <p:sp>
          <p:nvSpPr>
            <p:cNvPr id="662" name="Google Shape;662;p51"/>
            <p:cNvSpPr/>
            <p:nvPr/>
          </p:nvSpPr>
          <p:spPr>
            <a:xfrm>
              <a:off x="2201482" y="2154132"/>
              <a:ext cx="504900" cy="504900"/>
            </a:xfrm>
            <a:prstGeom prst="ellipse">
              <a:avLst/>
            </a:prstGeom>
            <a:solidFill>
              <a:srgbClr val="C00000"/>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900"/>
                <a:buFont typeface="Quattrocento Sans"/>
                <a:buNone/>
              </a:pPr>
              <a:r>
                <a:rPr b="1" lang="es" sz="900">
                  <a:solidFill>
                    <a:schemeClr val="lt1"/>
                  </a:solidFill>
                  <a:latin typeface="Quattrocento Sans"/>
                  <a:ea typeface="Quattrocento Sans"/>
                  <a:cs typeface="Quattrocento Sans"/>
                  <a:sym typeface="Quattrocento Sans"/>
                </a:rPr>
                <a:t>2</a:t>
              </a:r>
              <a:endParaRPr b="1" sz="900">
                <a:solidFill>
                  <a:schemeClr val="lt1"/>
                </a:solidFill>
                <a:latin typeface="Quattrocento Sans"/>
                <a:ea typeface="Quattrocento Sans"/>
                <a:cs typeface="Quattrocento Sans"/>
                <a:sym typeface="Quattrocento Sans"/>
              </a:endParaRPr>
            </a:p>
          </p:txBody>
        </p:sp>
        <p:sp>
          <p:nvSpPr>
            <p:cNvPr id="663" name="Google Shape;663;p51"/>
            <p:cNvSpPr/>
            <p:nvPr/>
          </p:nvSpPr>
          <p:spPr>
            <a:xfrm>
              <a:off x="1251675" y="3709553"/>
              <a:ext cx="504900" cy="504900"/>
            </a:xfrm>
            <a:prstGeom prst="ellipse">
              <a:avLst/>
            </a:prstGeom>
            <a:solidFill>
              <a:schemeClr val="dk2"/>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Clr>
                  <a:schemeClr val="lt1"/>
                </a:buClr>
                <a:buSzPts val="900"/>
                <a:buFont typeface="Quattrocento Sans"/>
                <a:buNone/>
              </a:pPr>
              <a:r>
                <a:rPr b="1" lang="es" sz="900">
                  <a:solidFill>
                    <a:schemeClr val="lt1"/>
                  </a:solidFill>
                  <a:latin typeface="Quattrocento Sans"/>
                  <a:ea typeface="Quattrocento Sans"/>
                  <a:cs typeface="Quattrocento Sans"/>
                  <a:sym typeface="Quattrocento Sans"/>
                </a:rPr>
                <a:t>2</a:t>
              </a:r>
              <a:endParaRPr b="1" sz="900">
                <a:solidFill>
                  <a:schemeClr val="lt1"/>
                </a:solidFill>
                <a:latin typeface="Quattrocento Sans"/>
                <a:ea typeface="Quattrocento Sans"/>
                <a:cs typeface="Quattrocento Sans"/>
                <a:sym typeface="Quattrocento Sans"/>
              </a:endParaRPr>
            </a:p>
          </p:txBody>
        </p:sp>
        <p:cxnSp>
          <p:nvCxnSpPr>
            <p:cNvPr id="664" name="Google Shape;664;p51"/>
            <p:cNvCxnSpPr/>
            <p:nvPr/>
          </p:nvCxnSpPr>
          <p:spPr>
            <a:xfrm flipH="1">
              <a:off x="1690448" y="2626583"/>
              <a:ext cx="653100" cy="1071600"/>
            </a:xfrm>
            <a:prstGeom prst="straightConnector1">
              <a:avLst/>
            </a:prstGeom>
            <a:noFill/>
            <a:ln cap="flat" cmpd="sng" w="19050">
              <a:solidFill>
                <a:schemeClr val="lt1"/>
              </a:solidFill>
              <a:prstDash val="solid"/>
              <a:miter lim="800000"/>
              <a:headEnd len="sm" w="sm" type="none"/>
              <a:tailEnd len="med" w="med" type="triangle"/>
            </a:ln>
          </p:spPr>
        </p:cxnSp>
      </p:grpSp>
      <p:sp>
        <p:nvSpPr>
          <p:cNvPr id="665" name="Google Shape;665;p51"/>
          <p:cNvSpPr/>
          <p:nvPr/>
        </p:nvSpPr>
        <p:spPr>
          <a:xfrm flipH="1" rot="10800000">
            <a:off x="5029648" y="867936"/>
            <a:ext cx="3811200" cy="1033800"/>
          </a:xfrm>
          <a:prstGeom prst="rect">
            <a:avLst/>
          </a:prstGeom>
          <a:noFill/>
          <a:ln cap="flat" cmpd="sng" w="1905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666" name="Google Shape;666;p51"/>
          <p:cNvSpPr/>
          <p:nvPr/>
        </p:nvSpPr>
        <p:spPr>
          <a:xfrm>
            <a:off x="4819593" y="1136963"/>
            <a:ext cx="441000" cy="441000"/>
          </a:xfrm>
          <a:prstGeom prst="ellipse">
            <a:avLst/>
          </a:prstGeom>
          <a:solidFill>
            <a:schemeClr val="lt2"/>
          </a:solidFill>
          <a:ln cap="flat" cmpd="sng" w="539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dk1"/>
                </a:solidFill>
                <a:latin typeface="Arial"/>
                <a:ea typeface="Arial"/>
                <a:cs typeface="Arial"/>
                <a:sym typeface="Arial"/>
              </a:rPr>
              <a:t>1</a:t>
            </a:r>
            <a:endParaRPr sz="1100"/>
          </a:p>
        </p:txBody>
      </p:sp>
      <p:sp>
        <p:nvSpPr>
          <p:cNvPr id="667" name="Google Shape;667;p51"/>
          <p:cNvSpPr/>
          <p:nvPr/>
        </p:nvSpPr>
        <p:spPr>
          <a:xfrm flipH="1" rot="10800000">
            <a:off x="5029648" y="2000248"/>
            <a:ext cx="3811200" cy="1088400"/>
          </a:xfrm>
          <a:prstGeom prst="rect">
            <a:avLst/>
          </a:prstGeom>
          <a:noFill/>
          <a:ln cap="flat" cmpd="sng" w="1905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668" name="Google Shape;668;p51"/>
          <p:cNvSpPr/>
          <p:nvPr/>
        </p:nvSpPr>
        <p:spPr>
          <a:xfrm>
            <a:off x="4819593" y="2323874"/>
            <a:ext cx="441000" cy="441000"/>
          </a:xfrm>
          <a:prstGeom prst="ellipse">
            <a:avLst/>
          </a:prstGeom>
          <a:solidFill>
            <a:schemeClr val="lt2"/>
          </a:solidFill>
          <a:ln cap="flat" cmpd="sng" w="539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dk1"/>
                </a:solidFill>
                <a:latin typeface="Arial"/>
                <a:ea typeface="Arial"/>
                <a:cs typeface="Arial"/>
                <a:sym typeface="Arial"/>
              </a:rPr>
              <a:t>2</a:t>
            </a:r>
            <a:endParaRPr sz="1100"/>
          </a:p>
        </p:txBody>
      </p:sp>
      <p:sp>
        <p:nvSpPr>
          <p:cNvPr id="669" name="Google Shape;669;p51"/>
          <p:cNvSpPr/>
          <p:nvPr/>
        </p:nvSpPr>
        <p:spPr>
          <a:xfrm flipH="1" rot="10800000">
            <a:off x="5029648" y="3187158"/>
            <a:ext cx="3811200" cy="1088400"/>
          </a:xfrm>
          <a:prstGeom prst="rect">
            <a:avLst/>
          </a:prstGeom>
          <a:noFill/>
          <a:ln cap="flat" cmpd="sng" w="1905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670" name="Google Shape;670;p51"/>
          <p:cNvSpPr/>
          <p:nvPr/>
        </p:nvSpPr>
        <p:spPr>
          <a:xfrm>
            <a:off x="4819593" y="3510784"/>
            <a:ext cx="441000" cy="441000"/>
          </a:xfrm>
          <a:prstGeom prst="ellipse">
            <a:avLst/>
          </a:prstGeom>
          <a:solidFill>
            <a:schemeClr val="lt2"/>
          </a:solidFill>
          <a:ln cap="flat" cmpd="sng" w="539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400">
                <a:solidFill>
                  <a:schemeClr val="dk1"/>
                </a:solidFill>
                <a:latin typeface="Arial"/>
                <a:ea typeface="Arial"/>
                <a:cs typeface="Arial"/>
                <a:sym typeface="Arial"/>
              </a:rPr>
              <a:t>3</a:t>
            </a:r>
            <a:endParaRPr sz="1100"/>
          </a:p>
        </p:txBody>
      </p:sp>
      <p:sp>
        <p:nvSpPr>
          <p:cNvPr id="671" name="Google Shape;671;p51"/>
          <p:cNvSpPr txBox="1"/>
          <p:nvPr/>
        </p:nvSpPr>
        <p:spPr>
          <a:xfrm>
            <a:off x="5357525" y="957900"/>
            <a:ext cx="3416400" cy="946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1" lang="es" sz="1200">
                <a:solidFill>
                  <a:srgbClr val="C00000"/>
                </a:solidFill>
                <a:latin typeface="Quattrocento Sans"/>
                <a:ea typeface="Quattrocento Sans"/>
                <a:cs typeface="Quattrocento Sans"/>
                <a:sym typeface="Quattrocento Sans"/>
              </a:rPr>
              <a:t>Brand Dilution &amp; Confused Positioning on launching both brands with same company</a:t>
            </a:r>
            <a:endParaRPr sz="1200"/>
          </a:p>
          <a:p>
            <a:pPr indent="0" lvl="0" marL="0" marR="0" rtl="0" algn="l">
              <a:spcBef>
                <a:spcPts val="0"/>
              </a:spcBef>
              <a:spcAft>
                <a:spcPts val="0"/>
              </a:spcAft>
              <a:buNone/>
            </a:pPr>
            <a:r>
              <a:rPr lang="es" sz="1100">
                <a:solidFill>
                  <a:schemeClr val="dk1"/>
                </a:solidFill>
                <a:latin typeface="Quattrocento Sans"/>
                <a:ea typeface="Quattrocento Sans"/>
                <a:cs typeface="Quattrocento Sans"/>
                <a:sym typeface="Quattrocento Sans"/>
              </a:rPr>
              <a:t>Use distinct branding (packaging, pricing, distribution channels), high-end bars, hotels, and imported grocery chains vs convenience stores &amp; online</a:t>
            </a:r>
            <a:endParaRPr sz="1100">
              <a:solidFill>
                <a:schemeClr val="dk1"/>
              </a:solidFill>
              <a:latin typeface="Quattrocento Sans"/>
              <a:ea typeface="Quattrocento Sans"/>
              <a:cs typeface="Quattrocento Sans"/>
              <a:sym typeface="Quattrocento Sans"/>
            </a:endParaRPr>
          </a:p>
        </p:txBody>
      </p:sp>
      <p:sp>
        <p:nvSpPr>
          <p:cNvPr id="672" name="Google Shape;672;p51"/>
          <p:cNvSpPr txBox="1"/>
          <p:nvPr/>
        </p:nvSpPr>
        <p:spPr>
          <a:xfrm>
            <a:off x="5357525" y="2061375"/>
            <a:ext cx="3483300" cy="946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1" lang="es" sz="1300">
                <a:solidFill>
                  <a:srgbClr val="C00000"/>
                </a:solidFill>
                <a:latin typeface="Quattrocento Sans"/>
                <a:ea typeface="Quattrocento Sans"/>
                <a:cs typeface="Quattrocento Sans"/>
                <a:sym typeface="Quattrocento Sans"/>
              </a:rPr>
              <a:t>Distribution Channel Conflict </a:t>
            </a:r>
            <a:endParaRPr sz="1300"/>
          </a:p>
          <a:p>
            <a:pPr indent="0" lvl="0" marL="0" marR="0" rtl="0" algn="l">
              <a:spcBef>
                <a:spcPts val="0"/>
              </a:spcBef>
              <a:spcAft>
                <a:spcPts val="0"/>
              </a:spcAft>
              <a:buNone/>
            </a:pPr>
            <a:r>
              <a:rPr lang="es" sz="1100">
                <a:solidFill>
                  <a:schemeClr val="dk1"/>
                </a:solidFill>
                <a:latin typeface="Quattrocento Sans"/>
                <a:ea typeface="Quattrocento Sans"/>
                <a:cs typeface="Quattrocento Sans"/>
                <a:sym typeface="Quattrocento Sans"/>
              </a:rPr>
              <a:t>Dedicated Sales Teams, Channel Exclusivity &amp;  Incentivize Balanced Sales, Assign separate teams to avoid internal competition &amp; Limiting Forbidden City to premium venues, while Wild Dog targets broad retail.</a:t>
            </a:r>
            <a:endParaRPr sz="1100">
              <a:solidFill>
                <a:schemeClr val="dk1"/>
              </a:solidFill>
            </a:endParaRPr>
          </a:p>
        </p:txBody>
      </p:sp>
      <p:sp>
        <p:nvSpPr>
          <p:cNvPr id="673" name="Google Shape;673;p51"/>
          <p:cNvSpPr txBox="1"/>
          <p:nvPr/>
        </p:nvSpPr>
        <p:spPr>
          <a:xfrm>
            <a:off x="5357525" y="3231300"/>
            <a:ext cx="3360600" cy="931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1" lang="es" sz="1200">
                <a:solidFill>
                  <a:srgbClr val="C00000"/>
                </a:solidFill>
                <a:latin typeface="Quattrocento Sans"/>
                <a:ea typeface="Quattrocento Sans"/>
                <a:cs typeface="Quattrocento Sans"/>
                <a:sym typeface="Quattrocento Sans"/>
              </a:rPr>
              <a:t>Cost Management &amp; Margin Pressure, Wild Dog </a:t>
            </a:r>
            <a:endParaRPr sz="1200"/>
          </a:p>
          <a:p>
            <a:pPr indent="0" lvl="0" marL="0" marR="0" rtl="0" algn="l">
              <a:spcBef>
                <a:spcPts val="0"/>
              </a:spcBef>
              <a:spcAft>
                <a:spcPts val="0"/>
              </a:spcAft>
              <a:buNone/>
            </a:pPr>
            <a:r>
              <a:rPr lang="es" sz="1100">
                <a:solidFill>
                  <a:schemeClr val="dk1"/>
                </a:solidFill>
                <a:latin typeface="Quattrocento Sans"/>
                <a:ea typeface="Quattrocento Sans"/>
                <a:cs typeface="Quattrocento Sans"/>
                <a:sym typeface="Quattrocento Sans"/>
              </a:rPr>
              <a:t>Premium Subsidizes Mainstream: Use Forbidden City’s higher margins (40–60%) to fund Wild Dog’s scale-up, </a:t>
            </a:r>
            <a:r>
              <a:rPr lang="es" sz="1100">
                <a:solidFill>
                  <a:schemeClr val="dk1"/>
                </a:solidFill>
                <a:latin typeface="Quattrocento Sans"/>
                <a:ea typeface="Quattrocento Sans"/>
                <a:cs typeface="Quattrocento Sans"/>
                <a:sym typeface="Quattrocento Sans"/>
              </a:rPr>
              <a:t>focusing</a:t>
            </a:r>
            <a:r>
              <a:rPr lang="es" sz="1100">
                <a:solidFill>
                  <a:schemeClr val="dk1"/>
                </a:solidFill>
                <a:latin typeface="Quattrocento Sans"/>
                <a:ea typeface="Quattrocento Sans"/>
                <a:cs typeface="Quattrocento Sans"/>
                <a:sym typeface="Quattrocento Sans"/>
              </a:rPr>
              <a:t> on E-commerce to cut CAPEX costs </a:t>
            </a:r>
            <a:endParaRPr sz="1100">
              <a:solidFill>
                <a:schemeClr val="dk1"/>
              </a:solidFill>
            </a:endParaRPr>
          </a:p>
        </p:txBody>
      </p:sp>
      <p:sp>
        <p:nvSpPr>
          <p:cNvPr id="674" name="Google Shape;674;p51"/>
          <p:cNvSpPr txBox="1"/>
          <p:nvPr/>
        </p:nvSpPr>
        <p:spPr>
          <a:xfrm>
            <a:off x="198853" y="102394"/>
            <a:ext cx="33606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Risk, Mitigations, and Implementation Timeline </a:t>
            </a:r>
            <a:endParaRPr sz="1100"/>
          </a:p>
        </p:txBody>
      </p:sp>
      <p:sp>
        <p:nvSpPr>
          <p:cNvPr id="675" name="Google Shape;675;p51"/>
          <p:cNvSpPr txBox="1"/>
          <p:nvPr/>
        </p:nvSpPr>
        <p:spPr>
          <a:xfrm>
            <a:off x="185081" y="328687"/>
            <a:ext cx="7886700" cy="2841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1800"/>
              <a:buFont typeface="Quattrocento Sans"/>
              <a:buNone/>
            </a:pPr>
            <a:r>
              <a:rPr b="0" i="0" lang="es" sz="1800">
                <a:solidFill>
                  <a:schemeClr val="dk1"/>
                </a:solidFill>
                <a:latin typeface="Quattrocento Sans"/>
                <a:ea typeface="Quattrocento Sans"/>
                <a:cs typeface="Quattrocento Sans"/>
                <a:sym typeface="Quattrocento Sans"/>
              </a:rPr>
              <a:t>A Well-balanced Strategy to be Achieved </a:t>
            </a:r>
            <a:endParaRPr sz="1800">
              <a:solidFill>
                <a:schemeClr val="dk1"/>
              </a:solidFill>
              <a:latin typeface="Quattrocento Sans"/>
              <a:ea typeface="Quattrocento Sans"/>
              <a:cs typeface="Quattrocento Sans"/>
              <a:sym typeface="Quattrocento Sans"/>
            </a:endParaRPr>
          </a:p>
        </p:txBody>
      </p:sp>
      <p:sp>
        <p:nvSpPr>
          <p:cNvPr id="676" name="Google Shape;676;p51"/>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cxnSp>
        <p:nvCxnSpPr>
          <p:cNvPr id="677" name="Google Shape;677;p51"/>
          <p:cNvCxnSpPr/>
          <p:nvPr/>
        </p:nvCxnSpPr>
        <p:spPr>
          <a:xfrm>
            <a:off x="5521246" y="4790797"/>
            <a:ext cx="405000" cy="0"/>
          </a:xfrm>
          <a:prstGeom prst="straightConnector1">
            <a:avLst/>
          </a:prstGeom>
          <a:noFill/>
          <a:ln cap="flat" cmpd="sng" w="12700">
            <a:solidFill>
              <a:srgbClr val="C00000"/>
            </a:solidFill>
            <a:prstDash val="solid"/>
            <a:miter lim="800000"/>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52"/>
          <p:cNvSpPr/>
          <p:nvPr/>
        </p:nvSpPr>
        <p:spPr>
          <a:xfrm>
            <a:off x="284475" y="699800"/>
            <a:ext cx="4363800" cy="39270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900">
              <a:solidFill>
                <a:srgbClr val="FFFFFF"/>
              </a:solidFill>
              <a:latin typeface="Open Sans"/>
              <a:ea typeface="Open Sans"/>
              <a:cs typeface="Open Sans"/>
              <a:sym typeface="Open Sans"/>
            </a:endParaRPr>
          </a:p>
        </p:txBody>
      </p:sp>
      <p:sp>
        <p:nvSpPr>
          <p:cNvPr id="684" name="Google Shape;684;p52"/>
          <p:cNvSpPr txBox="1"/>
          <p:nvPr/>
        </p:nvSpPr>
        <p:spPr>
          <a:xfrm>
            <a:off x="198853" y="102394"/>
            <a:ext cx="12726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Financial Impact </a:t>
            </a:r>
            <a:endParaRPr sz="1100"/>
          </a:p>
        </p:txBody>
      </p:sp>
      <p:sp>
        <p:nvSpPr>
          <p:cNvPr id="685" name="Google Shape;685;p52"/>
          <p:cNvSpPr txBox="1"/>
          <p:nvPr/>
        </p:nvSpPr>
        <p:spPr>
          <a:xfrm>
            <a:off x="185081" y="328687"/>
            <a:ext cx="7886700" cy="2841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1800"/>
              <a:buFont typeface="Quattrocento Sans"/>
              <a:buNone/>
            </a:pPr>
            <a:r>
              <a:rPr lang="es" sz="1800">
                <a:solidFill>
                  <a:schemeClr val="dk1"/>
                </a:solidFill>
                <a:latin typeface="Quattrocento Sans"/>
                <a:ea typeface="Quattrocento Sans"/>
                <a:cs typeface="Quattrocento Sans"/>
                <a:sym typeface="Quattrocento Sans"/>
              </a:rPr>
              <a:t>Balancing Risk &amp; Reward while generating steady returns </a:t>
            </a:r>
            <a:endParaRPr sz="1100"/>
          </a:p>
        </p:txBody>
      </p:sp>
      <p:sp>
        <p:nvSpPr>
          <p:cNvPr id="686" name="Google Shape;686;p52"/>
          <p:cNvSpPr/>
          <p:nvPr/>
        </p:nvSpPr>
        <p:spPr>
          <a:xfrm>
            <a:off x="522488" y="3661700"/>
            <a:ext cx="3860700" cy="174900"/>
          </a:xfrm>
          <a:prstGeom prst="rect">
            <a:avLst/>
          </a:prstGeom>
          <a:solidFill>
            <a:srgbClr val="FFBFBF">
              <a:alpha val="4706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s" sz="800">
                <a:solidFill>
                  <a:schemeClr val="dk1"/>
                </a:solidFill>
                <a:latin typeface="Quattrocento Sans"/>
                <a:ea typeface="Quattrocento Sans"/>
                <a:cs typeface="Quattrocento Sans"/>
                <a:sym typeface="Quattrocento Sans"/>
              </a:rPr>
              <a:t>Assumptions</a:t>
            </a:r>
            <a:endParaRPr b="1" sz="800">
              <a:solidFill>
                <a:schemeClr val="lt1"/>
              </a:solidFill>
              <a:latin typeface="Quattrocento Sans"/>
              <a:ea typeface="Quattrocento Sans"/>
              <a:cs typeface="Quattrocento Sans"/>
              <a:sym typeface="Quattrocento Sans"/>
            </a:endParaRPr>
          </a:p>
        </p:txBody>
      </p:sp>
      <p:cxnSp>
        <p:nvCxnSpPr>
          <p:cNvPr id="687" name="Google Shape;687;p52"/>
          <p:cNvCxnSpPr/>
          <p:nvPr/>
        </p:nvCxnSpPr>
        <p:spPr>
          <a:xfrm>
            <a:off x="4796375" y="1079575"/>
            <a:ext cx="4148700" cy="0"/>
          </a:xfrm>
          <a:prstGeom prst="straightConnector1">
            <a:avLst/>
          </a:prstGeom>
          <a:noFill/>
          <a:ln cap="flat" cmpd="sng" w="19050">
            <a:solidFill>
              <a:schemeClr val="dk1"/>
            </a:solidFill>
            <a:prstDash val="solid"/>
            <a:round/>
            <a:headEnd len="sm" w="sm" type="none"/>
            <a:tailEnd len="sm" w="sm" type="none"/>
          </a:ln>
        </p:spPr>
      </p:cxnSp>
      <p:sp>
        <p:nvSpPr>
          <p:cNvPr id="688" name="Google Shape;688;p52"/>
          <p:cNvSpPr txBox="1"/>
          <p:nvPr/>
        </p:nvSpPr>
        <p:spPr>
          <a:xfrm>
            <a:off x="4796375" y="753775"/>
            <a:ext cx="39555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s" sz="1200">
                <a:latin typeface="Quattrocento Sans"/>
                <a:ea typeface="Quattrocento Sans"/>
                <a:cs typeface="Quattrocento Sans"/>
                <a:sym typeface="Quattrocento Sans"/>
              </a:rPr>
              <a:t>Comparative Analysis: Strategy Alternatives </a:t>
            </a:r>
            <a:endParaRPr b="1" sz="1200">
              <a:latin typeface="Quattrocento Sans"/>
              <a:ea typeface="Quattrocento Sans"/>
              <a:cs typeface="Quattrocento Sans"/>
              <a:sym typeface="Quattrocento Sans"/>
            </a:endParaRPr>
          </a:p>
        </p:txBody>
      </p:sp>
      <p:sp>
        <p:nvSpPr>
          <p:cNvPr id="689" name="Google Shape;689;p52"/>
          <p:cNvSpPr txBox="1"/>
          <p:nvPr/>
        </p:nvSpPr>
        <p:spPr>
          <a:xfrm>
            <a:off x="495375" y="3836600"/>
            <a:ext cx="3955500" cy="346200"/>
          </a:xfrm>
          <a:prstGeom prst="rect">
            <a:avLst/>
          </a:prstGeom>
          <a:noFill/>
          <a:ln>
            <a:noFill/>
          </a:ln>
        </p:spPr>
        <p:txBody>
          <a:bodyPr anchorCtr="0" anchor="t" bIns="34275" lIns="68575" spcFirstLastPara="1" rIns="68575" wrap="square" tIns="34275">
            <a:spAutoFit/>
          </a:bodyPr>
          <a:lstStyle/>
          <a:p>
            <a:pPr indent="-222250" lvl="0" marL="215900" marR="0" rtl="0" algn="l">
              <a:spcBef>
                <a:spcPts val="0"/>
              </a:spcBef>
              <a:spcAft>
                <a:spcPts val="0"/>
              </a:spcAft>
              <a:buClr>
                <a:schemeClr val="dk1"/>
              </a:buClr>
              <a:buSzPts val="900"/>
              <a:buFont typeface="Arial"/>
              <a:buChar char="•"/>
            </a:pPr>
            <a:r>
              <a:rPr lang="es" sz="800">
                <a:solidFill>
                  <a:schemeClr val="dk1"/>
                </a:solidFill>
                <a:latin typeface="Quattrocento Sans"/>
                <a:ea typeface="Quattrocento Sans"/>
                <a:cs typeface="Quattrocento Sans"/>
                <a:sym typeface="Quattrocento Sans"/>
              </a:rPr>
              <a:t>Growth Rate of current operations are not expected to change </a:t>
            </a:r>
            <a:endParaRPr sz="800">
              <a:solidFill>
                <a:schemeClr val="dk1"/>
              </a:solidFill>
              <a:latin typeface="Quattrocento Sans"/>
              <a:ea typeface="Quattrocento Sans"/>
              <a:cs typeface="Quattrocento Sans"/>
              <a:sym typeface="Quattrocento Sans"/>
            </a:endParaRPr>
          </a:p>
          <a:p>
            <a:pPr indent="-222250" lvl="0" marL="215900" marR="0" rtl="0" algn="l">
              <a:spcBef>
                <a:spcPts val="0"/>
              </a:spcBef>
              <a:spcAft>
                <a:spcPts val="0"/>
              </a:spcAft>
              <a:buClr>
                <a:schemeClr val="dk1"/>
              </a:buClr>
              <a:buSzPts val="900"/>
              <a:buFont typeface="Arial"/>
              <a:buChar char="•"/>
            </a:pPr>
            <a:r>
              <a:rPr lang="es" sz="800">
                <a:solidFill>
                  <a:schemeClr val="dk1"/>
                </a:solidFill>
                <a:latin typeface="Quattrocento Sans"/>
                <a:ea typeface="Quattrocento Sans"/>
                <a:cs typeface="Quattrocento Sans"/>
                <a:sym typeface="Quattrocento Sans"/>
              </a:rPr>
              <a:t>6.15% CAGR Expected to be maintained over 5 year period </a:t>
            </a:r>
            <a:endParaRPr sz="800">
              <a:solidFill>
                <a:schemeClr val="dk1"/>
              </a:solidFill>
              <a:latin typeface="Quattrocento Sans"/>
              <a:ea typeface="Quattrocento Sans"/>
              <a:cs typeface="Quattrocento Sans"/>
              <a:sym typeface="Quattrocento Sans"/>
            </a:endParaRPr>
          </a:p>
        </p:txBody>
      </p:sp>
      <p:sp>
        <p:nvSpPr>
          <p:cNvPr id="690" name="Google Shape;690;p52"/>
          <p:cNvSpPr txBox="1"/>
          <p:nvPr/>
        </p:nvSpPr>
        <p:spPr>
          <a:xfrm>
            <a:off x="522463" y="776122"/>
            <a:ext cx="3730200" cy="184800"/>
          </a:xfrm>
          <a:prstGeom prst="rect">
            <a:avLst/>
          </a:prstGeom>
          <a:noFill/>
          <a:ln>
            <a:noFill/>
          </a:ln>
        </p:spPr>
        <p:txBody>
          <a:bodyPr anchorCtr="0" anchor="t" bIns="0" lIns="0" spcFirstLastPara="1" rIns="0" wrap="square" tIns="0">
            <a:spAutoFit/>
          </a:bodyPr>
          <a:lstStyle/>
          <a:p>
            <a:pPr indent="0" lvl="0" marL="0" marR="0" rtl="0" algn="l">
              <a:lnSpc>
                <a:spcPct val="218687"/>
              </a:lnSpc>
              <a:spcBef>
                <a:spcPts val="0"/>
              </a:spcBef>
              <a:spcAft>
                <a:spcPts val="0"/>
              </a:spcAft>
              <a:buNone/>
            </a:pPr>
            <a:r>
              <a:rPr b="1" lang="es" sz="1200">
                <a:solidFill>
                  <a:srgbClr val="000000"/>
                </a:solidFill>
                <a:latin typeface="Quattrocento Sans"/>
                <a:ea typeface="Quattrocento Sans"/>
                <a:cs typeface="Quattrocento Sans"/>
                <a:sym typeface="Quattrocento Sans"/>
              </a:rPr>
              <a:t>Revenue Breakdown</a:t>
            </a:r>
            <a:endParaRPr sz="1100"/>
          </a:p>
        </p:txBody>
      </p:sp>
      <p:cxnSp>
        <p:nvCxnSpPr>
          <p:cNvPr id="691" name="Google Shape;691;p52"/>
          <p:cNvCxnSpPr/>
          <p:nvPr/>
        </p:nvCxnSpPr>
        <p:spPr>
          <a:xfrm>
            <a:off x="478023" y="1077152"/>
            <a:ext cx="3982200" cy="0"/>
          </a:xfrm>
          <a:prstGeom prst="straightConnector1">
            <a:avLst/>
          </a:prstGeom>
          <a:noFill/>
          <a:ln cap="flat" cmpd="sng" w="19050">
            <a:solidFill>
              <a:schemeClr val="dk1"/>
            </a:solidFill>
            <a:prstDash val="solid"/>
            <a:round/>
            <a:headEnd len="sm" w="sm" type="none"/>
            <a:tailEnd len="sm" w="sm" type="none"/>
          </a:ln>
        </p:spPr>
      </p:cxnSp>
      <p:sp>
        <p:nvSpPr>
          <p:cNvPr id="692" name="Google Shape;692;p52"/>
          <p:cNvSpPr txBox="1"/>
          <p:nvPr/>
        </p:nvSpPr>
        <p:spPr>
          <a:xfrm>
            <a:off x="3516749" y="892575"/>
            <a:ext cx="970800" cy="138600"/>
          </a:xfrm>
          <a:prstGeom prst="rect">
            <a:avLst/>
          </a:prstGeom>
          <a:noFill/>
          <a:ln>
            <a:noFill/>
          </a:ln>
        </p:spPr>
        <p:txBody>
          <a:bodyPr anchorCtr="0" anchor="t" bIns="0" lIns="0" spcFirstLastPara="1" rIns="0" wrap="square" tIns="0">
            <a:spAutoFit/>
          </a:bodyPr>
          <a:lstStyle/>
          <a:p>
            <a:pPr indent="0" lvl="0" marL="0" marR="0" rtl="0" algn="l">
              <a:lnSpc>
                <a:spcPct val="291583"/>
              </a:lnSpc>
              <a:spcBef>
                <a:spcPts val="0"/>
              </a:spcBef>
              <a:spcAft>
                <a:spcPts val="0"/>
              </a:spcAft>
              <a:buNone/>
            </a:pPr>
            <a:r>
              <a:rPr i="1" lang="es" sz="900">
                <a:solidFill>
                  <a:srgbClr val="000000"/>
                </a:solidFill>
                <a:latin typeface="Quattrocento Sans"/>
                <a:ea typeface="Quattrocento Sans"/>
                <a:cs typeface="Quattrocento Sans"/>
                <a:sym typeface="Quattrocento Sans"/>
              </a:rPr>
              <a:t>Values in 000</a:t>
            </a:r>
            <a:r>
              <a:rPr i="1" lang="es" sz="900">
                <a:latin typeface="Quattrocento Sans"/>
                <a:ea typeface="Quattrocento Sans"/>
                <a:cs typeface="Quattrocento Sans"/>
                <a:sym typeface="Quattrocento Sans"/>
              </a:rPr>
              <a:t>SGD</a:t>
            </a:r>
            <a:endParaRPr sz="1100"/>
          </a:p>
        </p:txBody>
      </p:sp>
      <p:sp>
        <p:nvSpPr>
          <p:cNvPr id="693" name="Google Shape;693;p52"/>
          <p:cNvSpPr/>
          <p:nvPr/>
        </p:nvSpPr>
        <p:spPr>
          <a:xfrm>
            <a:off x="284468" y="4250736"/>
            <a:ext cx="4363800" cy="309600"/>
          </a:xfrm>
          <a:prstGeom prst="rect">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s" sz="1100">
                <a:solidFill>
                  <a:schemeClr val="lt1"/>
                </a:solidFill>
                <a:latin typeface="Quattrocento Sans"/>
                <a:ea typeface="Quattrocento Sans"/>
                <a:cs typeface="Quattrocento Sans"/>
                <a:sym typeface="Quattrocento Sans"/>
              </a:rPr>
              <a:t>44.29% Gross Profit Firm Wide, 6.3%+ Revenue in 4 Years </a:t>
            </a:r>
            <a:endParaRPr sz="1000"/>
          </a:p>
        </p:txBody>
      </p:sp>
      <p:sp>
        <p:nvSpPr>
          <p:cNvPr id="694" name="Google Shape;694;p52"/>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s"/>
              <a:t>‹#›</a:t>
            </a:fld>
            <a:endParaRPr/>
          </a:p>
        </p:txBody>
      </p:sp>
      <p:sp>
        <p:nvSpPr>
          <p:cNvPr id="695" name="Google Shape;695;p52"/>
          <p:cNvSpPr/>
          <p:nvPr/>
        </p:nvSpPr>
        <p:spPr>
          <a:xfrm>
            <a:off x="1424150" y="1163600"/>
            <a:ext cx="2057400" cy="211800"/>
          </a:xfrm>
          <a:prstGeom prst="rect">
            <a:avLst/>
          </a:prstGeom>
          <a:solidFill>
            <a:srgbClr val="C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s" sz="1200">
                <a:solidFill>
                  <a:schemeClr val="lt1"/>
                </a:solidFill>
                <a:latin typeface="Quattrocento Sans"/>
                <a:ea typeface="Quattrocento Sans"/>
                <a:cs typeface="Quattrocento Sans"/>
                <a:sym typeface="Quattrocento Sans"/>
              </a:rPr>
              <a:t>1.143M+</a:t>
            </a:r>
            <a:r>
              <a:rPr lang="es" sz="1200">
                <a:solidFill>
                  <a:schemeClr val="lt1"/>
                </a:solidFill>
                <a:latin typeface="Quattrocento Sans"/>
                <a:ea typeface="Quattrocento Sans"/>
                <a:cs typeface="Quattrocento Sans"/>
                <a:sym typeface="Quattrocento Sans"/>
              </a:rPr>
              <a:t> in Total Revenue </a:t>
            </a:r>
            <a:endParaRPr sz="1100"/>
          </a:p>
        </p:txBody>
      </p:sp>
      <p:sp>
        <p:nvSpPr>
          <p:cNvPr id="696" name="Google Shape;696;p52"/>
          <p:cNvSpPr txBox="1"/>
          <p:nvPr/>
        </p:nvSpPr>
        <p:spPr>
          <a:xfrm>
            <a:off x="9658201" y="1192247"/>
            <a:ext cx="878100" cy="338700"/>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b="1" lang="es" sz="2200">
                <a:solidFill>
                  <a:srgbClr val="C00000"/>
                </a:solidFill>
                <a:latin typeface="Calibri"/>
                <a:ea typeface="Calibri"/>
                <a:cs typeface="Calibri"/>
                <a:sym typeface="Calibri"/>
              </a:rPr>
              <a:t>2.85%</a:t>
            </a:r>
            <a:endParaRPr sz="2200">
              <a:solidFill>
                <a:srgbClr val="C00000"/>
              </a:solidFill>
            </a:endParaRPr>
          </a:p>
        </p:txBody>
      </p:sp>
      <p:sp>
        <p:nvSpPr>
          <p:cNvPr id="697" name="Google Shape;697;p52"/>
          <p:cNvSpPr txBox="1"/>
          <p:nvPr/>
        </p:nvSpPr>
        <p:spPr>
          <a:xfrm>
            <a:off x="9402601" y="1450930"/>
            <a:ext cx="1389300" cy="346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sz="900">
                <a:solidFill>
                  <a:schemeClr val="dk1"/>
                </a:solidFill>
              </a:rPr>
              <a:t>Revenue CAGR (2013-2016) </a:t>
            </a:r>
            <a:endParaRPr sz="900">
              <a:solidFill>
                <a:schemeClr val="dk1"/>
              </a:solidFill>
              <a:latin typeface="Quattrocento Sans"/>
              <a:ea typeface="Quattrocento Sans"/>
              <a:cs typeface="Quattrocento Sans"/>
              <a:sym typeface="Quattrocento Sans"/>
            </a:endParaRPr>
          </a:p>
        </p:txBody>
      </p:sp>
      <p:sp>
        <p:nvSpPr>
          <p:cNvPr id="698" name="Google Shape;698;p52"/>
          <p:cNvSpPr txBox="1"/>
          <p:nvPr/>
        </p:nvSpPr>
        <p:spPr>
          <a:xfrm>
            <a:off x="9658201" y="1869514"/>
            <a:ext cx="878100" cy="338700"/>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b="1" lang="es" sz="2200">
                <a:solidFill>
                  <a:srgbClr val="C00000"/>
                </a:solidFill>
                <a:latin typeface="Calibri"/>
                <a:ea typeface="Calibri"/>
                <a:cs typeface="Calibri"/>
                <a:sym typeface="Calibri"/>
              </a:rPr>
              <a:t>88.9K+</a:t>
            </a:r>
            <a:endParaRPr sz="2200">
              <a:solidFill>
                <a:srgbClr val="C00000"/>
              </a:solidFill>
            </a:endParaRPr>
          </a:p>
        </p:txBody>
      </p:sp>
      <p:sp>
        <p:nvSpPr>
          <p:cNvPr id="699" name="Google Shape;699;p52"/>
          <p:cNvSpPr txBox="1"/>
          <p:nvPr/>
        </p:nvSpPr>
        <p:spPr>
          <a:xfrm>
            <a:off x="9402601" y="2128198"/>
            <a:ext cx="1389300" cy="346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sz="900">
                <a:solidFill>
                  <a:schemeClr val="dk1"/>
                </a:solidFill>
              </a:rPr>
              <a:t>Expected Royalties in Franchises by 2016 </a:t>
            </a:r>
            <a:endParaRPr sz="900">
              <a:solidFill>
                <a:schemeClr val="dk1"/>
              </a:solidFill>
              <a:latin typeface="Quattrocento Sans"/>
              <a:ea typeface="Quattrocento Sans"/>
              <a:cs typeface="Quattrocento Sans"/>
              <a:sym typeface="Quattrocento Sans"/>
            </a:endParaRPr>
          </a:p>
        </p:txBody>
      </p:sp>
      <p:sp>
        <p:nvSpPr>
          <p:cNvPr id="700" name="Google Shape;700;p52"/>
          <p:cNvSpPr txBox="1"/>
          <p:nvPr/>
        </p:nvSpPr>
        <p:spPr>
          <a:xfrm>
            <a:off x="9658201" y="2546782"/>
            <a:ext cx="878100" cy="338700"/>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b="1" lang="es" sz="2200">
                <a:solidFill>
                  <a:srgbClr val="C00000"/>
                </a:solidFill>
                <a:latin typeface="Calibri"/>
                <a:ea typeface="Calibri"/>
                <a:cs typeface="Calibri"/>
                <a:sym typeface="Calibri"/>
              </a:rPr>
              <a:t>4.7%</a:t>
            </a:r>
            <a:endParaRPr sz="2200">
              <a:solidFill>
                <a:srgbClr val="C00000"/>
              </a:solidFill>
            </a:endParaRPr>
          </a:p>
        </p:txBody>
      </p:sp>
      <p:sp>
        <p:nvSpPr>
          <p:cNvPr id="701" name="Google Shape;701;p52"/>
          <p:cNvSpPr txBox="1"/>
          <p:nvPr/>
        </p:nvSpPr>
        <p:spPr>
          <a:xfrm>
            <a:off x="9402601" y="2805465"/>
            <a:ext cx="1389300" cy="346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sz="900">
                <a:solidFill>
                  <a:schemeClr val="dk1"/>
                </a:solidFill>
              </a:rPr>
              <a:t>Gross Profit Margin (2013-2016) </a:t>
            </a:r>
            <a:endParaRPr sz="900">
              <a:solidFill>
                <a:schemeClr val="dk1"/>
              </a:solidFill>
              <a:latin typeface="Quattrocento Sans"/>
              <a:ea typeface="Quattrocento Sans"/>
              <a:cs typeface="Quattrocento Sans"/>
              <a:sym typeface="Quattrocento Sans"/>
            </a:endParaRPr>
          </a:p>
        </p:txBody>
      </p:sp>
      <p:sp>
        <p:nvSpPr>
          <p:cNvPr id="702" name="Google Shape;702;p52"/>
          <p:cNvSpPr txBox="1"/>
          <p:nvPr/>
        </p:nvSpPr>
        <p:spPr>
          <a:xfrm>
            <a:off x="9658201" y="3224049"/>
            <a:ext cx="878100" cy="338700"/>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b="1" lang="es" sz="2200">
                <a:solidFill>
                  <a:srgbClr val="C00000"/>
                </a:solidFill>
                <a:latin typeface="Calibri"/>
                <a:ea typeface="Calibri"/>
                <a:cs typeface="Calibri"/>
                <a:sym typeface="Calibri"/>
              </a:rPr>
              <a:t>3.08%</a:t>
            </a:r>
            <a:endParaRPr sz="2200">
              <a:solidFill>
                <a:srgbClr val="C00000"/>
              </a:solidFill>
            </a:endParaRPr>
          </a:p>
        </p:txBody>
      </p:sp>
      <p:sp>
        <p:nvSpPr>
          <p:cNvPr id="703" name="Google Shape;703;p52"/>
          <p:cNvSpPr txBox="1"/>
          <p:nvPr/>
        </p:nvSpPr>
        <p:spPr>
          <a:xfrm>
            <a:off x="9402601" y="3482733"/>
            <a:ext cx="1389300" cy="346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s" sz="900">
                <a:solidFill>
                  <a:schemeClr val="dk1"/>
                </a:solidFill>
              </a:rPr>
              <a:t>Capital Expenditure from Total Investment </a:t>
            </a:r>
            <a:endParaRPr sz="900">
              <a:solidFill>
                <a:schemeClr val="dk1"/>
              </a:solidFill>
              <a:latin typeface="Quattrocento Sans"/>
              <a:ea typeface="Quattrocento Sans"/>
              <a:cs typeface="Quattrocento Sans"/>
              <a:sym typeface="Quattrocento Sans"/>
            </a:endParaRPr>
          </a:p>
        </p:txBody>
      </p:sp>
      <p:sp>
        <p:nvSpPr>
          <p:cNvPr id="704" name="Google Shape;704;p52"/>
          <p:cNvSpPr txBox="1"/>
          <p:nvPr/>
        </p:nvSpPr>
        <p:spPr>
          <a:xfrm>
            <a:off x="9658201" y="3901316"/>
            <a:ext cx="878100" cy="338700"/>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b="1" lang="es" sz="2200">
                <a:solidFill>
                  <a:srgbClr val="C00000"/>
                </a:solidFill>
                <a:latin typeface="Calibri"/>
                <a:ea typeface="Calibri"/>
                <a:cs typeface="Calibri"/>
                <a:sym typeface="Calibri"/>
              </a:rPr>
              <a:t>0.03%</a:t>
            </a:r>
            <a:endParaRPr sz="2200">
              <a:solidFill>
                <a:srgbClr val="C00000"/>
              </a:solidFill>
            </a:endParaRPr>
          </a:p>
        </p:txBody>
      </p:sp>
      <p:sp>
        <p:nvSpPr>
          <p:cNvPr id="705" name="Google Shape;705;p52"/>
          <p:cNvSpPr txBox="1"/>
          <p:nvPr/>
        </p:nvSpPr>
        <p:spPr>
          <a:xfrm>
            <a:off x="9402601" y="4160000"/>
            <a:ext cx="1389300" cy="346200"/>
          </a:xfrm>
          <a:prstGeom prst="rect">
            <a:avLst/>
          </a:prstGeom>
          <a:noFill/>
          <a:ln>
            <a:noFill/>
          </a:ln>
        </p:spPr>
        <p:txBody>
          <a:bodyPr anchorCtr="0" anchor="t" bIns="34275" lIns="68575" spcFirstLastPara="1" rIns="68575" wrap="square" tIns="34275">
            <a:spAutoFit/>
          </a:bodyPr>
          <a:lstStyle/>
          <a:p>
            <a:pPr indent="0" lvl="0" marL="0" rtl="0" algn="ctr">
              <a:spcBef>
                <a:spcPts val="0"/>
              </a:spcBef>
              <a:spcAft>
                <a:spcPts val="0"/>
              </a:spcAft>
              <a:buNone/>
            </a:pPr>
            <a:r>
              <a:rPr lang="es" sz="900">
                <a:solidFill>
                  <a:schemeClr val="dk1"/>
                </a:solidFill>
              </a:rPr>
              <a:t>Operational Expenditure from Total Investment </a:t>
            </a:r>
            <a:endParaRPr sz="900">
              <a:solidFill>
                <a:schemeClr val="dk1"/>
              </a:solidFill>
            </a:endParaRPr>
          </a:p>
        </p:txBody>
      </p:sp>
      <p:cxnSp>
        <p:nvCxnSpPr>
          <p:cNvPr id="706" name="Google Shape;706;p52"/>
          <p:cNvCxnSpPr/>
          <p:nvPr/>
        </p:nvCxnSpPr>
        <p:spPr>
          <a:xfrm>
            <a:off x="5521246" y="4790797"/>
            <a:ext cx="405000" cy="0"/>
          </a:xfrm>
          <a:prstGeom prst="straightConnector1">
            <a:avLst/>
          </a:prstGeom>
          <a:noFill/>
          <a:ln cap="flat" cmpd="sng" w="12700">
            <a:solidFill>
              <a:srgbClr val="C00000"/>
            </a:solidFill>
            <a:prstDash val="solid"/>
            <a:miter lim="800000"/>
            <a:headEnd len="sm" w="sm" type="none"/>
            <a:tailEnd len="sm" w="sm" type="none"/>
          </a:ln>
        </p:spPr>
      </p:cxnSp>
      <p:sp>
        <p:nvSpPr>
          <p:cNvPr id="707" name="Google Shape;707;p52"/>
          <p:cNvSpPr txBox="1"/>
          <p:nvPr/>
        </p:nvSpPr>
        <p:spPr>
          <a:xfrm>
            <a:off x="4796376" y="1220575"/>
            <a:ext cx="1741800" cy="138600"/>
          </a:xfrm>
          <a:prstGeom prst="rect">
            <a:avLst/>
          </a:prstGeom>
          <a:noFill/>
          <a:ln>
            <a:noFill/>
          </a:ln>
        </p:spPr>
        <p:txBody>
          <a:bodyPr anchorCtr="0" anchor="t" bIns="0" lIns="0" spcFirstLastPara="1" rIns="0" wrap="square" tIns="0">
            <a:spAutoFit/>
          </a:bodyPr>
          <a:lstStyle/>
          <a:p>
            <a:pPr indent="0" lvl="0" marL="0" marR="0" rtl="0" algn="l">
              <a:lnSpc>
                <a:spcPct val="291583"/>
              </a:lnSpc>
              <a:spcBef>
                <a:spcPts val="0"/>
              </a:spcBef>
              <a:spcAft>
                <a:spcPts val="0"/>
              </a:spcAft>
              <a:buNone/>
            </a:pPr>
            <a:r>
              <a:rPr i="1" lang="es" sz="900">
                <a:latin typeface="Quattrocento Sans"/>
                <a:ea typeface="Quattrocento Sans"/>
                <a:cs typeface="Quattrocento Sans"/>
                <a:sym typeface="Quattrocento Sans"/>
              </a:rPr>
              <a:t>Forbidden City Projections</a:t>
            </a:r>
            <a:endParaRPr sz="1100"/>
          </a:p>
        </p:txBody>
      </p:sp>
      <p:sp>
        <p:nvSpPr>
          <p:cNvPr id="708" name="Google Shape;708;p52"/>
          <p:cNvSpPr txBox="1"/>
          <p:nvPr/>
        </p:nvSpPr>
        <p:spPr>
          <a:xfrm>
            <a:off x="4796376" y="2620725"/>
            <a:ext cx="1741800" cy="138600"/>
          </a:xfrm>
          <a:prstGeom prst="rect">
            <a:avLst/>
          </a:prstGeom>
          <a:noFill/>
          <a:ln>
            <a:noFill/>
          </a:ln>
        </p:spPr>
        <p:txBody>
          <a:bodyPr anchorCtr="0" anchor="t" bIns="0" lIns="0" spcFirstLastPara="1" rIns="0" wrap="square" tIns="0">
            <a:spAutoFit/>
          </a:bodyPr>
          <a:lstStyle/>
          <a:p>
            <a:pPr indent="0" lvl="0" marL="0" marR="0" rtl="0" algn="l">
              <a:lnSpc>
                <a:spcPct val="291583"/>
              </a:lnSpc>
              <a:spcBef>
                <a:spcPts val="0"/>
              </a:spcBef>
              <a:spcAft>
                <a:spcPts val="0"/>
              </a:spcAft>
              <a:buNone/>
            </a:pPr>
            <a:r>
              <a:rPr i="1" lang="es" sz="900">
                <a:latin typeface="Quattrocento Sans"/>
                <a:ea typeface="Quattrocento Sans"/>
                <a:cs typeface="Quattrocento Sans"/>
                <a:sym typeface="Quattrocento Sans"/>
              </a:rPr>
              <a:t>Wild Dog</a:t>
            </a:r>
            <a:r>
              <a:rPr i="1" lang="es" sz="900">
                <a:latin typeface="Quattrocento Sans"/>
                <a:ea typeface="Quattrocento Sans"/>
                <a:cs typeface="Quattrocento Sans"/>
                <a:sym typeface="Quattrocento Sans"/>
              </a:rPr>
              <a:t> Projections</a:t>
            </a:r>
            <a:endParaRPr sz="1100"/>
          </a:p>
        </p:txBody>
      </p:sp>
      <p:pic>
        <p:nvPicPr>
          <p:cNvPr id="709" name="Google Shape;709;p52"/>
          <p:cNvPicPr preferRelativeResize="0"/>
          <p:nvPr/>
        </p:nvPicPr>
        <p:blipFill>
          <a:blip r:embed="rId3">
            <a:alphaModFix/>
          </a:blip>
          <a:stretch>
            <a:fillRect/>
          </a:stretch>
        </p:blipFill>
        <p:spPr>
          <a:xfrm>
            <a:off x="478025" y="1449663"/>
            <a:ext cx="3982200" cy="2014425"/>
          </a:xfrm>
          <a:prstGeom prst="rect">
            <a:avLst/>
          </a:prstGeom>
          <a:noFill/>
          <a:ln>
            <a:noFill/>
          </a:ln>
        </p:spPr>
      </p:pic>
      <p:pic>
        <p:nvPicPr>
          <p:cNvPr id="710" name="Google Shape;710;p52" title="Screenshot 2025-04-04 at 11.02.33 AM.png"/>
          <p:cNvPicPr preferRelativeResize="0"/>
          <p:nvPr/>
        </p:nvPicPr>
        <p:blipFill>
          <a:blip r:embed="rId4">
            <a:alphaModFix/>
          </a:blip>
          <a:stretch>
            <a:fillRect/>
          </a:stretch>
        </p:blipFill>
        <p:spPr>
          <a:xfrm>
            <a:off x="4796375" y="1375400"/>
            <a:ext cx="4278400" cy="1156009"/>
          </a:xfrm>
          <a:prstGeom prst="rect">
            <a:avLst/>
          </a:prstGeom>
          <a:noFill/>
          <a:ln>
            <a:noFill/>
          </a:ln>
        </p:spPr>
      </p:pic>
      <p:pic>
        <p:nvPicPr>
          <p:cNvPr id="711" name="Google Shape;711;p52" title="Screenshot 2025-04-04 at 11.03.03 AM.png"/>
          <p:cNvPicPr preferRelativeResize="0"/>
          <p:nvPr/>
        </p:nvPicPr>
        <p:blipFill>
          <a:blip r:embed="rId5">
            <a:alphaModFix/>
          </a:blip>
          <a:stretch>
            <a:fillRect/>
          </a:stretch>
        </p:blipFill>
        <p:spPr>
          <a:xfrm>
            <a:off x="4796375" y="2759327"/>
            <a:ext cx="4276670" cy="1156000"/>
          </a:xfrm>
          <a:prstGeom prst="rect">
            <a:avLst/>
          </a:prstGeom>
          <a:noFill/>
          <a:ln>
            <a:noFill/>
          </a:ln>
        </p:spPr>
      </p:pic>
      <p:sp>
        <p:nvSpPr>
          <p:cNvPr id="712" name="Google Shape;712;p52"/>
          <p:cNvSpPr txBox="1"/>
          <p:nvPr/>
        </p:nvSpPr>
        <p:spPr>
          <a:xfrm>
            <a:off x="4796375" y="4020875"/>
            <a:ext cx="3955500" cy="484800"/>
          </a:xfrm>
          <a:prstGeom prst="rect">
            <a:avLst/>
          </a:prstGeom>
          <a:noFill/>
          <a:ln>
            <a:noFill/>
          </a:ln>
        </p:spPr>
        <p:txBody>
          <a:bodyPr anchorCtr="0" anchor="t" bIns="34275" lIns="68575" spcFirstLastPara="1" rIns="68575" wrap="square" tIns="34275">
            <a:spAutoFit/>
          </a:bodyPr>
          <a:lstStyle/>
          <a:p>
            <a:pPr indent="-222250" lvl="0" marL="215900" marR="0" rtl="0" algn="l">
              <a:spcBef>
                <a:spcPts val="0"/>
              </a:spcBef>
              <a:spcAft>
                <a:spcPts val="0"/>
              </a:spcAft>
              <a:buClr>
                <a:schemeClr val="dk1"/>
              </a:buClr>
              <a:buSzPts val="900"/>
              <a:buFont typeface="Arial"/>
              <a:buChar char="•"/>
            </a:pPr>
            <a:r>
              <a:rPr lang="es" sz="800">
                <a:solidFill>
                  <a:schemeClr val="dk1"/>
                </a:solidFill>
                <a:latin typeface="Quattrocento Sans"/>
                <a:ea typeface="Quattrocento Sans"/>
                <a:cs typeface="Quattrocento Sans"/>
                <a:sym typeface="Quattrocento Sans"/>
              </a:rPr>
              <a:t>Market Average GPM for Chinese Based Projects are </a:t>
            </a:r>
            <a:r>
              <a:rPr lang="es" sz="800">
                <a:solidFill>
                  <a:schemeClr val="dk1"/>
                </a:solidFill>
                <a:latin typeface="Quattrocento Sans"/>
                <a:ea typeface="Quattrocento Sans"/>
                <a:cs typeface="Quattrocento Sans"/>
                <a:sym typeface="Quattrocento Sans"/>
              </a:rPr>
              <a:t>expected</a:t>
            </a:r>
            <a:r>
              <a:rPr lang="es" sz="800">
                <a:solidFill>
                  <a:schemeClr val="dk1"/>
                </a:solidFill>
                <a:latin typeface="Quattrocento Sans"/>
                <a:ea typeface="Quattrocento Sans"/>
                <a:cs typeface="Quattrocento Sans"/>
                <a:sym typeface="Quattrocento Sans"/>
              </a:rPr>
              <a:t> to be from 29-35%</a:t>
            </a:r>
            <a:endParaRPr sz="800">
              <a:solidFill>
                <a:schemeClr val="dk1"/>
              </a:solidFill>
              <a:latin typeface="Quattrocento Sans"/>
              <a:ea typeface="Quattrocento Sans"/>
              <a:cs typeface="Quattrocento Sans"/>
              <a:sym typeface="Quattrocento Sans"/>
            </a:endParaRPr>
          </a:p>
          <a:p>
            <a:pPr indent="-222250" lvl="0" marL="215900" marR="0" rtl="0" algn="l">
              <a:spcBef>
                <a:spcPts val="0"/>
              </a:spcBef>
              <a:spcAft>
                <a:spcPts val="0"/>
              </a:spcAft>
              <a:buClr>
                <a:schemeClr val="dk1"/>
              </a:buClr>
              <a:buSzPts val="900"/>
              <a:buFont typeface="Arial"/>
              <a:buChar char="•"/>
            </a:pPr>
            <a:r>
              <a:rPr lang="es" sz="800">
                <a:solidFill>
                  <a:schemeClr val="dk1"/>
                </a:solidFill>
                <a:latin typeface="Quattrocento Sans"/>
                <a:ea typeface="Quattrocento Sans"/>
                <a:cs typeface="Quattrocento Sans"/>
                <a:sym typeface="Quattrocento Sans"/>
              </a:rPr>
              <a:t>Forbidden City serves as key revenue driver in all cases</a:t>
            </a:r>
            <a:endParaRPr sz="800">
              <a:solidFill>
                <a:schemeClr val="dk1"/>
              </a:solidFill>
              <a:latin typeface="Quattrocento Sans"/>
              <a:ea typeface="Quattrocento Sans"/>
              <a:cs typeface="Quattrocento Sans"/>
              <a:sym typeface="Quattrocento Sans"/>
            </a:endParaRPr>
          </a:p>
          <a:p>
            <a:pPr indent="-222250" lvl="0" marL="215900" marR="0" rtl="0" algn="l">
              <a:spcBef>
                <a:spcPts val="0"/>
              </a:spcBef>
              <a:spcAft>
                <a:spcPts val="0"/>
              </a:spcAft>
              <a:buClr>
                <a:schemeClr val="dk1"/>
              </a:buClr>
              <a:buSzPts val="900"/>
              <a:buFont typeface="Arial"/>
              <a:buChar char="•"/>
            </a:pPr>
            <a:r>
              <a:rPr lang="es" sz="800">
                <a:solidFill>
                  <a:schemeClr val="dk1"/>
                </a:solidFill>
                <a:latin typeface="Quattrocento Sans"/>
                <a:ea typeface="Quattrocento Sans"/>
                <a:cs typeface="Quattrocento Sans"/>
                <a:sym typeface="Quattrocento Sans"/>
              </a:rPr>
              <a:t>EBC has no historical debt/unable to take on equity </a:t>
            </a:r>
            <a:endParaRPr sz="80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pic>
        <p:nvPicPr>
          <p:cNvPr id="718" name="Google Shape;718;p53"/>
          <p:cNvPicPr preferRelativeResize="0"/>
          <p:nvPr/>
        </p:nvPicPr>
        <p:blipFill rotWithShape="1">
          <a:blip r:embed="rId3">
            <a:alphaModFix/>
          </a:blip>
          <a:srcRect b="7453" l="0" r="0" t="7462"/>
          <a:stretch/>
        </p:blipFill>
        <p:spPr>
          <a:xfrm>
            <a:off x="0" y="-42475"/>
            <a:ext cx="9144003" cy="5178000"/>
          </a:xfrm>
          <a:prstGeom prst="rect">
            <a:avLst/>
          </a:prstGeom>
          <a:noFill/>
          <a:ln>
            <a:noFill/>
          </a:ln>
        </p:spPr>
      </p:pic>
      <p:sp>
        <p:nvSpPr>
          <p:cNvPr id="719" name="Google Shape;719;p53"/>
          <p:cNvSpPr/>
          <p:nvPr/>
        </p:nvSpPr>
        <p:spPr>
          <a:xfrm>
            <a:off x="0" y="-304801"/>
            <a:ext cx="9196800" cy="5753100"/>
          </a:xfrm>
          <a:prstGeom prst="rect">
            <a:avLst/>
          </a:prstGeom>
          <a:solidFill>
            <a:schemeClr val="dk1">
              <a:alpha val="62750"/>
            </a:scheme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800"/>
              <a:buFont typeface="Arial"/>
              <a:buNone/>
            </a:pPr>
            <a:r>
              <a:t/>
            </a:r>
            <a:endParaRPr b="0" i="0" sz="800" u="none" cap="none" strike="noStrike">
              <a:solidFill>
                <a:srgbClr val="FFFFFF"/>
              </a:solidFill>
              <a:latin typeface="Calibri"/>
              <a:ea typeface="Calibri"/>
              <a:cs typeface="Calibri"/>
              <a:sym typeface="Calibri"/>
            </a:endParaRPr>
          </a:p>
        </p:txBody>
      </p:sp>
      <p:sp>
        <p:nvSpPr>
          <p:cNvPr id="720" name="Google Shape;720;p53"/>
          <p:cNvSpPr/>
          <p:nvPr/>
        </p:nvSpPr>
        <p:spPr>
          <a:xfrm>
            <a:off x="676850" y="1803568"/>
            <a:ext cx="37800" cy="1485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21" name="Google Shape;721;p53"/>
          <p:cNvSpPr txBox="1"/>
          <p:nvPr/>
        </p:nvSpPr>
        <p:spPr>
          <a:xfrm>
            <a:off x="812420" y="1605170"/>
            <a:ext cx="8234700" cy="1221300"/>
          </a:xfrm>
          <a:prstGeom prst="rect">
            <a:avLst/>
          </a:prstGeom>
          <a:noFill/>
          <a:ln>
            <a:noFill/>
          </a:ln>
        </p:spPr>
        <p:txBody>
          <a:bodyPr anchorCtr="0" anchor="b" bIns="34275" lIns="68575" spcFirstLastPara="1" rIns="68575" wrap="square" tIns="34275">
            <a:normAutofit/>
          </a:bodyPr>
          <a:lstStyle/>
          <a:p>
            <a:pPr indent="0" lvl="0" marL="0" marR="0" rtl="0" algn="l">
              <a:lnSpc>
                <a:spcPct val="120000"/>
              </a:lnSpc>
              <a:spcBef>
                <a:spcPts val="0"/>
              </a:spcBef>
              <a:spcAft>
                <a:spcPts val="0"/>
              </a:spcAft>
              <a:buClr>
                <a:schemeClr val="lt1"/>
              </a:buClr>
              <a:buSzPts val="3000"/>
              <a:buFont typeface="Quattrocento Sans"/>
              <a:buNone/>
            </a:pPr>
            <a:r>
              <a:rPr b="1" lang="es" sz="4000">
                <a:solidFill>
                  <a:schemeClr val="lt1"/>
                </a:solidFill>
                <a:latin typeface="Quattrocento Sans"/>
                <a:ea typeface="Quattrocento Sans"/>
                <a:cs typeface="Quattrocento Sans"/>
                <a:sym typeface="Quattrocento Sans"/>
              </a:rPr>
              <a:t>Appendix  </a:t>
            </a:r>
            <a:endParaRPr sz="2100"/>
          </a:p>
        </p:txBody>
      </p:sp>
      <p:sp>
        <p:nvSpPr>
          <p:cNvPr id="722" name="Google Shape;722;p53"/>
          <p:cNvSpPr txBox="1"/>
          <p:nvPr>
            <p:ph idx="4294967295" type="sldNum"/>
          </p:nvPr>
        </p:nvSpPr>
        <p:spPr>
          <a:xfrm>
            <a:off x="6822737" y="4905545"/>
            <a:ext cx="2057400" cy="121200"/>
          </a:xfrm>
          <a:prstGeom prst="rect">
            <a:avLst/>
          </a:prstGeom>
          <a:noFill/>
          <a:ln>
            <a:noFill/>
          </a:ln>
        </p:spPr>
        <p:txBody>
          <a:bodyPr anchorCtr="0" anchor="ctr" bIns="34275" lIns="68575" spcFirstLastPara="1" rIns="68575" wrap="square" tIns="34275">
            <a:normAutofit fontScale="40000" lnSpcReduction="20000"/>
          </a:bodyPr>
          <a:lstStyle/>
          <a:p>
            <a:pPr indent="0" lvl="0" marL="0" rtl="0" algn="r">
              <a:spcBef>
                <a:spcPts val="0"/>
              </a:spcBef>
              <a:spcAft>
                <a:spcPts val="0"/>
              </a:spcAft>
              <a:buNone/>
            </a:pPr>
            <a:fld id="{00000000-1234-1234-1234-123412341234}" type="slidenum">
              <a:rPr lang="es"/>
              <a:t>‹#›</a:t>
            </a:fld>
            <a:endParaRPr/>
          </a:p>
        </p:txBody>
      </p:sp>
      <p:sp>
        <p:nvSpPr>
          <p:cNvPr id="723" name="Google Shape;723;p53"/>
          <p:cNvSpPr txBox="1"/>
          <p:nvPr/>
        </p:nvSpPr>
        <p:spPr>
          <a:xfrm>
            <a:off x="4966197" y="906450"/>
            <a:ext cx="2262300" cy="2224200"/>
          </a:xfrm>
          <a:prstGeom prst="rect">
            <a:avLst/>
          </a:prstGeom>
          <a:noFill/>
          <a:ln>
            <a:noFill/>
          </a:ln>
        </p:spPr>
        <p:txBody>
          <a:bodyPr anchorCtr="0" anchor="t" bIns="34275" lIns="68575" spcFirstLastPara="1" rIns="68575" wrap="square" tIns="34275">
            <a:spAutoFit/>
          </a:bodyPr>
          <a:lstStyle/>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extLst>
                    <a:ext uri="{A12FA001-AC4F-418D-AE19-62706E023703}">
                      <ahyp:hlinkClr val="tx"/>
                    </a:ext>
                  </a:extLst>
                </a:hlinkClick>
              </a:rPr>
              <a:t>Executive Summary</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extLst>
                    <a:ext uri="{A12FA001-AC4F-418D-AE19-62706E023703}">
                      <ahyp:hlinkClr val="tx"/>
                    </a:ext>
                  </a:extLst>
                </a:hlinkClick>
              </a:rPr>
              <a:t>Company Overview </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extLst>
                    <a:ext uri="{A12FA001-AC4F-418D-AE19-62706E023703}">
                      <ahyp:hlinkClr val="tx"/>
                    </a:ext>
                  </a:extLst>
                </a:hlinkClick>
              </a:rPr>
              <a:t>Market Landscape  &amp; Competitor Analysis</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extLst>
                    <a:ext uri="{A12FA001-AC4F-418D-AE19-62706E023703}">
                      <ahyp:hlinkClr val="tx"/>
                    </a:ext>
                  </a:extLst>
                </a:hlinkClick>
              </a:rPr>
              <a:t>Customer Analysis </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extLst>
                    <a:ext uri="{A12FA001-AC4F-418D-AE19-62706E023703}">
                      <ahyp:hlinkClr val="tx"/>
                    </a:ext>
                  </a:extLst>
                </a:hlinkClick>
              </a:rPr>
              <a:t>Location Analysis </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extLst>
                    <a:ext uri="{A12FA001-AC4F-418D-AE19-62706E023703}">
                      <ahyp:hlinkClr val="tx"/>
                    </a:ext>
                  </a:extLst>
                </a:hlinkClick>
              </a:rPr>
              <a:t>Alternatives </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extLst>
                    <a:ext uri="{A12FA001-AC4F-418D-AE19-62706E023703}">
                      <ahyp:hlinkClr val="tx"/>
                    </a:ext>
                  </a:extLst>
                </a:hlinkClick>
              </a:rPr>
              <a:t>Alternative 1 </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extLst>
                    <a:ext uri="{A12FA001-AC4F-418D-AE19-62706E023703}">
                      <ahyp:hlinkClr val="tx"/>
                    </a:ext>
                  </a:extLst>
                </a:hlinkClick>
              </a:rPr>
              <a:t>Alternative 2</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extLst>
                    <a:ext uri="{A12FA001-AC4F-418D-AE19-62706E023703}">
                      <ahyp:hlinkClr val="tx"/>
                    </a:ext>
                  </a:extLst>
                </a:hlinkClick>
              </a:rPr>
              <a:t>Alternative 3</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extLst>
                    <a:ext uri="{A12FA001-AC4F-418D-AE19-62706E023703}">
                      <ahyp:hlinkClr val="tx"/>
                    </a:ext>
                  </a:extLst>
                </a:hlinkClick>
              </a:rPr>
              <a:t>Recommendations</a:t>
            </a:r>
            <a:r>
              <a:rPr lang="es" sz="1000">
                <a:solidFill>
                  <a:schemeClr val="lt1"/>
                </a:solidFill>
                <a:latin typeface="Quattrocento Sans"/>
                <a:ea typeface="Quattrocento Sans"/>
                <a:cs typeface="Quattrocento Sans"/>
                <a:sym typeface="Quattrocento Sans"/>
              </a:rPr>
              <a:t> </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extLst>
                    <a:ext uri="{A12FA001-AC4F-418D-AE19-62706E023703}">
                      <ahyp:hlinkClr val="tx"/>
                    </a:ext>
                  </a:extLst>
                </a:hlinkClick>
              </a:rPr>
              <a:t>Impact </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ction="ppaction://hlinksldjump" r:id="rId4">
                  <a:extLst>
                    <a:ext uri="{A12FA001-AC4F-418D-AE19-62706E023703}">
                      <ahyp:hlinkClr val="tx"/>
                    </a:ext>
                  </a:extLst>
                </a:hlinkClick>
              </a:rPr>
              <a:t>Implementation</a:t>
            </a:r>
            <a:endParaRPr sz="1000">
              <a:solidFill>
                <a:schemeClr val="lt1"/>
              </a:solidFill>
              <a:latin typeface="Quattrocento Sans"/>
              <a:ea typeface="Quattrocento Sans"/>
              <a:cs typeface="Quattrocento Sans"/>
              <a:sym typeface="Quattrocento Sans"/>
            </a:endParaRPr>
          </a:p>
          <a:p>
            <a:pPr indent="-292100" lvl="0" marL="457200" rtl="0" algn="l">
              <a:spcBef>
                <a:spcPts val="0"/>
              </a:spcBef>
              <a:spcAft>
                <a:spcPts val="0"/>
              </a:spcAft>
              <a:buClr>
                <a:schemeClr val="lt1"/>
              </a:buClr>
              <a:buSzPts val="1000"/>
              <a:buFont typeface="Quattrocento Sans"/>
              <a:buAutoNum type="arabicPeriod"/>
            </a:pPr>
            <a:r>
              <a:rPr lang="es" sz="1000" u="sng">
                <a:solidFill>
                  <a:schemeClr val="lt1"/>
                </a:solidFill>
                <a:latin typeface="Quattrocento Sans"/>
                <a:ea typeface="Quattrocento Sans"/>
                <a:cs typeface="Quattrocento Sans"/>
                <a:sym typeface="Quattrocento Sans"/>
                <a:hlinkClick>
                  <a:extLst>
                    <a:ext uri="{A12FA001-AC4F-418D-AE19-62706E023703}">
                      <ahyp:hlinkClr val="tx"/>
                    </a:ext>
                  </a:extLst>
                </a:hlinkClick>
              </a:rPr>
              <a:t>Risks </a:t>
            </a:r>
            <a:endParaRPr sz="1000">
              <a:solidFill>
                <a:schemeClr val="lt1"/>
              </a:solidFill>
              <a:latin typeface="Quattrocento Sans"/>
              <a:ea typeface="Quattrocento Sans"/>
              <a:cs typeface="Quattrocento Sans"/>
              <a:sym typeface="Quattrocento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54"/>
          <p:cNvSpPr txBox="1"/>
          <p:nvPr/>
        </p:nvSpPr>
        <p:spPr>
          <a:xfrm>
            <a:off x="198853" y="102394"/>
            <a:ext cx="33606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Financial Overview </a:t>
            </a:r>
            <a:endParaRPr sz="1100"/>
          </a:p>
        </p:txBody>
      </p:sp>
      <p:sp>
        <p:nvSpPr>
          <p:cNvPr id="729" name="Google Shape;729;p54"/>
          <p:cNvSpPr txBox="1"/>
          <p:nvPr/>
        </p:nvSpPr>
        <p:spPr>
          <a:xfrm>
            <a:off x="185081" y="328687"/>
            <a:ext cx="78867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Quattrocento Sans"/>
              <a:buNone/>
            </a:pPr>
            <a:r>
              <a:rPr lang="es" sz="1800">
                <a:solidFill>
                  <a:schemeClr val="dk1"/>
                </a:solidFill>
                <a:latin typeface="Quattrocento Sans"/>
                <a:ea typeface="Quattrocento Sans"/>
                <a:cs typeface="Quattrocento Sans"/>
                <a:sym typeface="Quattrocento Sans"/>
              </a:rPr>
              <a:t>Financial estimates for strategy</a:t>
            </a:r>
            <a:endParaRPr sz="1800">
              <a:solidFill>
                <a:schemeClr val="dk1"/>
              </a:solidFill>
              <a:latin typeface="Quattrocento Sans"/>
              <a:ea typeface="Quattrocento Sans"/>
              <a:cs typeface="Quattrocento Sans"/>
              <a:sym typeface="Quattrocento Sans"/>
            </a:endParaRPr>
          </a:p>
        </p:txBody>
      </p:sp>
      <p:sp>
        <p:nvSpPr>
          <p:cNvPr id="730" name="Google Shape;730;p54"/>
          <p:cNvSpPr/>
          <p:nvPr/>
        </p:nvSpPr>
        <p:spPr>
          <a:xfrm>
            <a:off x="3091600" y="4714075"/>
            <a:ext cx="4181400" cy="371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31" name="Google Shape;731;p54" title="Screenshot 2025-04-04 at 11.05.18 AM.png"/>
          <p:cNvPicPr preferRelativeResize="0"/>
          <p:nvPr/>
        </p:nvPicPr>
        <p:blipFill>
          <a:blip r:embed="rId3">
            <a:alphaModFix/>
          </a:blip>
          <a:stretch>
            <a:fillRect/>
          </a:stretch>
        </p:blipFill>
        <p:spPr>
          <a:xfrm>
            <a:off x="267075" y="612775"/>
            <a:ext cx="3876001" cy="4382774"/>
          </a:xfrm>
          <a:prstGeom prst="rect">
            <a:avLst/>
          </a:prstGeom>
          <a:noFill/>
          <a:ln>
            <a:noFill/>
          </a:ln>
        </p:spPr>
      </p:pic>
      <p:pic>
        <p:nvPicPr>
          <p:cNvPr id="732" name="Google Shape;732;p54" title="Screenshot 2025-04-04 at 11.05.42 AM.png"/>
          <p:cNvPicPr preferRelativeResize="0"/>
          <p:nvPr/>
        </p:nvPicPr>
        <p:blipFill>
          <a:blip r:embed="rId4">
            <a:alphaModFix/>
          </a:blip>
          <a:stretch>
            <a:fillRect/>
          </a:stretch>
        </p:blipFill>
        <p:spPr>
          <a:xfrm>
            <a:off x="4286250" y="1653725"/>
            <a:ext cx="3723400" cy="3060350"/>
          </a:xfrm>
          <a:prstGeom prst="rect">
            <a:avLst/>
          </a:prstGeom>
          <a:noFill/>
          <a:ln>
            <a:noFill/>
          </a:ln>
        </p:spPr>
      </p:pic>
      <p:pic>
        <p:nvPicPr>
          <p:cNvPr id="733" name="Google Shape;733;p54" title="Screenshot 2025-04-04 at 11.06.03 AM.png"/>
          <p:cNvPicPr preferRelativeResize="0"/>
          <p:nvPr/>
        </p:nvPicPr>
        <p:blipFill>
          <a:blip r:embed="rId5">
            <a:alphaModFix/>
          </a:blip>
          <a:stretch>
            <a:fillRect/>
          </a:stretch>
        </p:blipFill>
        <p:spPr>
          <a:xfrm>
            <a:off x="4286250" y="612775"/>
            <a:ext cx="3823876" cy="9071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55"/>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1200"/>
              </a:spcAft>
              <a:buNone/>
            </a:pPr>
            <a:r>
              <a:t/>
            </a:r>
            <a:endParaRPr/>
          </a:p>
        </p:txBody>
      </p:sp>
      <p:sp>
        <p:nvSpPr>
          <p:cNvPr id="739" name="Google Shape;739;p55"/>
          <p:cNvSpPr txBox="1"/>
          <p:nvPr/>
        </p:nvSpPr>
        <p:spPr>
          <a:xfrm>
            <a:off x="198853" y="102394"/>
            <a:ext cx="33606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s" sz="1200">
                <a:solidFill>
                  <a:srgbClr val="747474"/>
                </a:solidFill>
                <a:latin typeface="Quattrocento Sans"/>
                <a:ea typeface="Quattrocento Sans"/>
                <a:cs typeface="Quattrocento Sans"/>
                <a:sym typeface="Quattrocento Sans"/>
              </a:rPr>
              <a:t>Appendix </a:t>
            </a:r>
            <a:endParaRPr sz="1100"/>
          </a:p>
        </p:txBody>
      </p:sp>
      <p:sp>
        <p:nvSpPr>
          <p:cNvPr id="740" name="Google Shape;740;p55"/>
          <p:cNvSpPr txBox="1"/>
          <p:nvPr/>
        </p:nvSpPr>
        <p:spPr>
          <a:xfrm>
            <a:off x="185081" y="328687"/>
            <a:ext cx="7886700" cy="284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Quattrocento Sans"/>
              <a:buNone/>
            </a:pPr>
            <a:r>
              <a:rPr lang="es" sz="1800">
                <a:solidFill>
                  <a:schemeClr val="dk1"/>
                </a:solidFill>
                <a:latin typeface="Quattrocento Sans"/>
                <a:ea typeface="Quattrocento Sans"/>
                <a:cs typeface="Quattrocento Sans"/>
                <a:sym typeface="Quattrocento Sans"/>
              </a:rPr>
              <a:t>Store Front Examples</a:t>
            </a:r>
            <a:endParaRPr sz="1800">
              <a:solidFill>
                <a:schemeClr val="dk1"/>
              </a:solidFill>
              <a:latin typeface="Quattrocento Sans"/>
              <a:ea typeface="Quattrocento Sans"/>
              <a:cs typeface="Quattrocento Sans"/>
              <a:sym typeface="Quattrocento Sans"/>
            </a:endParaRPr>
          </a:p>
        </p:txBody>
      </p:sp>
      <p:sp>
        <p:nvSpPr>
          <p:cNvPr id="741" name="Google Shape;741;p55"/>
          <p:cNvSpPr/>
          <p:nvPr/>
        </p:nvSpPr>
        <p:spPr>
          <a:xfrm>
            <a:off x="3091600" y="4714075"/>
            <a:ext cx="4181400" cy="371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42" name="Google Shape;742;p55" title="twg-tea-leicester-square_exterior-of-twg-tea-leicester-square-image-courtesy-of-twg-tea_0e6291bc1dcfce95af09212406800680.jpg"/>
          <p:cNvPicPr preferRelativeResize="0"/>
          <p:nvPr/>
        </p:nvPicPr>
        <p:blipFill>
          <a:blip r:embed="rId3">
            <a:alphaModFix/>
          </a:blip>
          <a:stretch>
            <a:fillRect/>
          </a:stretch>
        </p:blipFill>
        <p:spPr>
          <a:xfrm>
            <a:off x="185075" y="820650"/>
            <a:ext cx="5080826" cy="2857975"/>
          </a:xfrm>
          <a:prstGeom prst="rect">
            <a:avLst/>
          </a:prstGeom>
          <a:solidFill>
            <a:schemeClr val="lt1"/>
          </a:solidFill>
          <a:ln cap="flat" cmpd="sng" w="9525">
            <a:solidFill>
              <a:schemeClr val="lt1"/>
            </a:solidFill>
            <a:prstDash val="solid"/>
            <a:round/>
            <a:headEnd len="sm" w="sm" type="none"/>
            <a:tailEnd len="sm" w="sm" type="none"/>
          </a:ln>
        </p:spPr>
      </p:pic>
      <p:pic>
        <p:nvPicPr>
          <p:cNvPr id="743" name="Google Shape;743;p55" title="cdn.corporate.walmart.com_.jpg"/>
          <p:cNvPicPr preferRelativeResize="0"/>
          <p:nvPr/>
        </p:nvPicPr>
        <p:blipFill>
          <a:blip r:embed="rId4">
            <a:alphaModFix/>
          </a:blip>
          <a:stretch>
            <a:fillRect/>
          </a:stretch>
        </p:blipFill>
        <p:spPr>
          <a:xfrm>
            <a:off x="5504300" y="557899"/>
            <a:ext cx="3164324" cy="2063679"/>
          </a:xfrm>
          <a:prstGeom prst="rect">
            <a:avLst/>
          </a:prstGeom>
          <a:solidFill>
            <a:schemeClr val="lt1"/>
          </a:solidFill>
          <a:ln cap="flat" cmpd="sng" w="9525">
            <a:solidFill>
              <a:schemeClr val="lt1"/>
            </a:solidFill>
            <a:prstDash val="solid"/>
            <a:round/>
            <a:headEnd len="sm" w="sm" type="none"/>
            <a:tailEnd len="sm" w="sm" type="none"/>
          </a:ln>
        </p:spPr>
      </p:pic>
      <p:pic>
        <p:nvPicPr>
          <p:cNvPr descr="vomFASS University Ave. | Madison, WI" id="744" name="Google Shape;744;p55"/>
          <p:cNvPicPr preferRelativeResize="0"/>
          <p:nvPr/>
        </p:nvPicPr>
        <p:blipFill>
          <a:blip r:embed="rId5">
            <a:alphaModFix/>
          </a:blip>
          <a:stretch>
            <a:fillRect/>
          </a:stretch>
        </p:blipFill>
        <p:spPr>
          <a:xfrm>
            <a:off x="5504300" y="2785800"/>
            <a:ext cx="3164325" cy="209800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